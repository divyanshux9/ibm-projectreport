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0"/>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57"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9708EE-1E99-CF88-258D-3814DE711E0C}" v="252" dt="2026-06-26T11:16:26.2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7" d="100"/>
          <a:sy n="107" d="100"/>
        </p:scale>
        <p:origin x="10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microsoft.com/office/2016/11/relationships/changesInfo" Target="changesInfos/changesInfo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9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athik" userId="S::swathik@adroittechnologies.in::d78ea159-0184-4562-b6aa-bbe80c6b055e" providerId="AD" clId="Web-{0B9708EE-1E99-CF88-258D-3814DE711E0C}"/>
    <pc:docChg chg="addSld delSld modSld">
      <pc:chgData name="Swathik" userId="S::swathik@adroittechnologies.in::d78ea159-0184-4562-b6aa-bbe80c6b055e" providerId="AD" clId="Web-{0B9708EE-1E99-CF88-258D-3814DE711E0C}" dt="2026-06-26T11:16:26.232" v="200" actId="14100"/>
      <pc:docMkLst>
        <pc:docMk/>
      </pc:docMkLst>
      <pc:sldChg chg="add">
        <pc:chgData name="Swathik" userId="S::swathik@adroittechnologies.in::d78ea159-0184-4562-b6aa-bbe80c6b055e" providerId="AD" clId="Web-{0B9708EE-1E99-CF88-258D-3814DE711E0C}" dt="2026-06-26T11:03:28.486" v="21"/>
        <pc:sldMkLst>
          <pc:docMk/>
          <pc:sldMk cId="0" sldId="257"/>
        </pc:sldMkLst>
      </pc:sldChg>
      <pc:sldChg chg="addSp modSp new">
        <pc:chgData name="Swathik" userId="S::swathik@adroittechnologies.in::d78ea159-0184-4562-b6aa-bbe80c6b055e" providerId="AD" clId="Web-{0B9708EE-1E99-CF88-258D-3814DE711E0C}" dt="2026-06-26T11:15:36.231" v="194" actId="14100"/>
        <pc:sldMkLst>
          <pc:docMk/>
          <pc:sldMk cId="1076328382" sldId="266"/>
        </pc:sldMkLst>
        <pc:spChg chg="add mod">
          <ac:chgData name="Swathik" userId="S::swathik@adroittechnologies.in::d78ea159-0184-4562-b6aa-bbe80c6b055e" providerId="AD" clId="Web-{0B9708EE-1E99-CF88-258D-3814DE711E0C}" dt="2026-06-26T11:15:36.231" v="194" actId="14100"/>
          <ac:spMkLst>
            <pc:docMk/>
            <pc:sldMk cId="1076328382" sldId="266"/>
            <ac:spMk id="2" creationId="{343B031A-BADC-3750-7CF1-F946E32FB40F}"/>
          </ac:spMkLst>
        </pc:spChg>
      </pc:sldChg>
      <pc:sldChg chg="new del">
        <pc:chgData name="Swathik" userId="S::swathik@adroittechnologies.in::d78ea159-0184-4562-b6aa-bbe80c6b055e" providerId="AD" clId="Web-{0B9708EE-1E99-CF88-258D-3814DE711E0C}" dt="2026-06-26T11:00:48.766" v="1"/>
        <pc:sldMkLst>
          <pc:docMk/>
          <pc:sldMk cId="3120757032" sldId="266"/>
        </pc:sldMkLst>
      </pc:sldChg>
      <pc:sldChg chg="add">
        <pc:chgData name="Swathik" userId="S::swathik@adroittechnologies.in::d78ea159-0184-4562-b6aa-bbe80c6b055e" providerId="AD" clId="Web-{0B9708EE-1E99-CF88-258D-3814DE711E0C}" dt="2026-06-26T11:02:20.689" v="3"/>
        <pc:sldMkLst>
          <pc:docMk/>
          <pc:sldMk cId="3805948605" sldId="267"/>
        </pc:sldMkLst>
      </pc:sldChg>
      <pc:sldChg chg="add">
        <pc:chgData name="Swathik" userId="S::swathik@adroittechnologies.in::d78ea159-0184-4562-b6aa-bbe80c6b055e" providerId="AD" clId="Web-{0B9708EE-1E99-CF88-258D-3814DE711E0C}" dt="2026-06-26T11:02:20.830" v="4"/>
        <pc:sldMkLst>
          <pc:docMk/>
          <pc:sldMk cId="842558355" sldId="268"/>
        </pc:sldMkLst>
      </pc:sldChg>
      <pc:sldChg chg="add">
        <pc:chgData name="Swathik" userId="S::swathik@adroittechnologies.in::d78ea159-0184-4562-b6aa-bbe80c6b055e" providerId="AD" clId="Web-{0B9708EE-1E99-CF88-258D-3814DE711E0C}" dt="2026-06-26T11:02:21.111" v="5"/>
        <pc:sldMkLst>
          <pc:docMk/>
          <pc:sldMk cId="3361366173" sldId="269"/>
        </pc:sldMkLst>
      </pc:sldChg>
      <pc:sldChg chg="add">
        <pc:chgData name="Swathik" userId="S::swathik@adroittechnologies.in::d78ea159-0184-4562-b6aa-bbe80c6b055e" providerId="AD" clId="Web-{0B9708EE-1E99-CF88-258D-3814DE711E0C}" dt="2026-06-26T11:02:21.298" v="6"/>
        <pc:sldMkLst>
          <pc:docMk/>
          <pc:sldMk cId="91588321" sldId="270"/>
        </pc:sldMkLst>
      </pc:sldChg>
      <pc:sldChg chg="add">
        <pc:chgData name="Swathik" userId="S::swathik@adroittechnologies.in::d78ea159-0184-4562-b6aa-bbe80c6b055e" providerId="AD" clId="Web-{0B9708EE-1E99-CF88-258D-3814DE711E0C}" dt="2026-06-26T11:02:21.502" v="7"/>
        <pc:sldMkLst>
          <pc:docMk/>
          <pc:sldMk cId="3861518441" sldId="271"/>
        </pc:sldMkLst>
      </pc:sldChg>
      <pc:sldChg chg="add">
        <pc:chgData name="Swathik" userId="S::swathik@adroittechnologies.in::d78ea159-0184-4562-b6aa-bbe80c6b055e" providerId="AD" clId="Web-{0B9708EE-1E99-CF88-258D-3814DE711E0C}" dt="2026-06-26T11:02:21.767" v="8"/>
        <pc:sldMkLst>
          <pc:docMk/>
          <pc:sldMk cId="3373287307" sldId="272"/>
        </pc:sldMkLst>
      </pc:sldChg>
      <pc:sldChg chg="add">
        <pc:chgData name="Swathik" userId="S::swathik@adroittechnologies.in::d78ea159-0184-4562-b6aa-bbe80c6b055e" providerId="AD" clId="Web-{0B9708EE-1E99-CF88-258D-3814DE711E0C}" dt="2026-06-26T11:02:21.986" v="9"/>
        <pc:sldMkLst>
          <pc:docMk/>
          <pc:sldMk cId="2401290178" sldId="273"/>
        </pc:sldMkLst>
      </pc:sldChg>
      <pc:sldChg chg="add">
        <pc:chgData name="Swathik" userId="S::swathik@adroittechnologies.in::d78ea159-0184-4562-b6aa-bbe80c6b055e" providerId="AD" clId="Web-{0B9708EE-1E99-CF88-258D-3814DE711E0C}" dt="2026-06-26T11:02:22.189" v="10"/>
        <pc:sldMkLst>
          <pc:docMk/>
          <pc:sldMk cId="2027491754" sldId="274"/>
        </pc:sldMkLst>
      </pc:sldChg>
      <pc:sldChg chg="add">
        <pc:chgData name="Swathik" userId="S::swathik@adroittechnologies.in::d78ea159-0184-4562-b6aa-bbe80c6b055e" providerId="AD" clId="Web-{0B9708EE-1E99-CF88-258D-3814DE711E0C}" dt="2026-06-26T11:02:22.408" v="11"/>
        <pc:sldMkLst>
          <pc:docMk/>
          <pc:sldMk cId="3508216255" sldId="275"/>
        </pc:sldMkLst>
      </pc:sldChg>
      <pc:sldChg chg="add">
        <pc:chgData name="Swathik" userId="S::swathik@adroittechnologies.in::d78ea159-0184-4562-b6aa-bbe80c6b055e" providerId="AD" clId="Web-{0B9708EE-1E99-CF88-258D-3814DE711E0C}" dt="2026-06-26T11:02:22.595" v="12"/>
        <pc:sldMkLst>
          <pc:docMk/>
          <pc:sldMk cId="71596717" sldId="276"/>
        </pc:sldMkLst>
      </pc:sldChg>
      <pc:sldChg chg="add">
        <pc:chgData name="Swathik" userId="S::swathik@adroittechnologies.in::d78ea159-0184-4562-b6aa-bbe80c6b055e" providerId="AD" clId="Web-{0B9708EE-1E99-CF88-258D-3814DE711E0C}" dt="2026-06-26T11:02:22.814" v="13"/>
        <pc:sldMkLst>
          <pc:docMk/>
          <pc:sldMk cId="386924285" sldId="277"/>
        </pc:sldMkLst>
      </pc:sldChg>
      <pc:sldChg chg="add">
        <pc:chgData name="Swathik" userId="S::swathik@adroittechnologies.in::d78ea159-0184-4562-b6aa-bbe80c6b055e" providerId="AD" clId="Web-{0B9708EE-1E99-CF88-258D-3814DE711E0C}" dt="2026-06-26T11:02:23.033" v="14"/>
        <pc:sldMkLst>
          <pc:docMk/>
          <pc:sldMk cId="181914618" sldId="278"/>
        </pc:sldMkLst>
      </pc:sldChg>
      <pc:sldChg chg="add">
        <pc:chgData name="Swathik" userId="S::swathik@adroittechnologies.in::d78ea159-0184-4562-b6aa-bbe80c6b055e" providerId="AD" clId="Web-{0B9708EE-1E99-CF88-258D-3814DE711E0C}" dt="2026-06-26T11:02:23.220" v="15"/>
        <pc:sldMkLst>
          <pc:docMk/>
          <pc:sldMk cId="1845331076" sldId="279"/>
        </pc:sldMkLst>
      </pc:sldChg>
      <pc:sldChg chg="add">
        <pc:chgData name="Swathik" userId="S::swathik@adroittechnologies.in::d78ea159-0184-4562-b6aa-bbe80c6b055e" providerId="AD" clId="Web-{0B9708EE-1E99-CF88-258D-3814DE711E0C}" dt="2026-06-26T11:02:23.392" v="16"/>
        <pc:sldMkLst>
          <pc:docMk/>
          <pc:sldMk cId="2909741414" sldId="280"/>
        </pc:sldMkLst>
      </pc:sldChg>
      <pc:sldChg chg="add">
        <pc:chgData name="Swathik" userId="S::swathik@adroittechnologies.in::d78ea159-0184-4562-b6aa-bbe80c6b055e" providerId="AD" clId="Web-{0B9708EE-1E99-CF88-258D-3814DE711E0C}" dt="2026-06-26T11:02:23.580" v="17"/>
        <pc:sldMkLst>
          <pc:docMk/>
          <pc:sldMk cId="3677386564" sldId="281"/>
        </pc:sldMkLst>
      </pc:sldChg>
      <pc:sldChg chg="add">
        <pc:chgData name="Swathik" userId="S::swathik@adroittechnologies.in::d78ea159-0184-4562-b6aa-bbe80c6b055e" providerId="AD" clId="Web-{0B9708EE-1E99-CF88-258D-3814DE711E0C}" dt="2026-06-26T11:02:23.752" v="18"/>
        <pc:sldMkLst>
          <pc:docMk/>
          <pc:sldMk cId="4046052291" sldId="282"/>
        </pc:sldMkLst>
      </pc:sldChg>
      <pc:sldChg chg="addSp modSp new">
        <pc:chgData name="Swathik" userId="S::swathik@adroittechnologies.in::d78ea159-0184-4562-b6aa-bbe80c6b055e" providerId="AD" clId="Web-{0B9708EE-1E99-CF88-258D-3814DE711E0C}" dt="2026-06-26T11:10:39.086" v="109" actId="20577"/>
        <pc:sldMkLst>
          <pc:docMk/>
          <pc:sldMk cId="3289702642" sldId="283"/>
        </pc:sldMkLst>
        <pc:spChg chg="add mod">
          <ac:chgData name="Swathik" userId="S::swathik@adroittechnologies.in::d78ea159-0184-4562-b6aa-bbe80c6b055e" providerId="AD" clId="Web-{0B9708EE-1E99-CF88-258D-3814DE711E0C}" dt="2026-06-26T11:10:39.086" v="109" actId="20577"/>
          <ac:spMkLst>
            <pc:docMk/>
            <pc:sldMk cId="3289702642" sldId="283"/>
            <ac:spMk id="2" creationId="{E85D3E5A-4156-623F-46FC-E9D858C905DA}"/>
          </ac:spMkLst>
        </pc:spChg>
      </pc:sldChg>
      <pc:sldChg chg="add">
        <pc:chgData name="Swathik" userId="S::swathik@adroittechnologies.in::d78ea159-0184-4562-b6aa-bbe80c6b055e" providerId="AD" clId="Web-{0B9708EE-1E99-CF88-258D-3814DE711E0C}" dt="2026-06-26T11:03:28.299" v="20"/>
        <pc:sldMkLst>
          <pc:docMk/>
          <pc:sldMk cId="80623135" sldId="284"/>
        </pc:sldMkLst>
      </pc:sldChg>
      <pc:sldChg chg="add">
        <pc:chgData name="Swathik" userId="S::swathik@adroittechnologies.in::d78ea159-0184-4562-b6aa-bbe80c6b055e" providerId="AD" clId="Web-{0B9708EE-1E99-CF88-258D-3814DE711E0C}" dt="2026-06-26T11:03:28.627" v="22"/>
        <pc:sldMkLst>
          <pc:docMk/>
          <pc:sldMk cId="988237843" sldId="285"/>
        </pc:sldMkLst>
      </pc:sldChg>
      <pc:sldChg chg="add">
        <pc:chgData name="Swathik" userId="S::swathik@adroittechnologies.in::d78ea159-0184-4562-b6aa-bbe80c6b055e" providerId="AD" clId="Web-{0B9708EE-1E99-CF88-258D-3814DE711E0C}" dt="2026-06-26T11:03:28.815" v="23"/>
        <pc:sldMkLst>
          <pc:docMk/>
          <pc:sldMk cId="2907501859" sldId="286"/>
        </pc:sldMkLst>
      </pc:sldChg>
      <pc:sldChg chg="add">
        <pc:chgData name="Swathik" userId="S::swathik@adroittechnologies.in::d78ea159-0184-4562-b6aa-bbe80c6b055e" providerId="AD" clId="Web-{0B9708EE-1E99-CF88-258D-3814DE711E0C}" dt="2026-06-26T11:03:29.033" v="24"/>
        <pc:sldMkLst>
          <pc:docMk/>
          <pc:sldMk cId="251683597" sldId="287"/>
        </pc:sldMkLst>
      </pc:sldChg>
      <pc:sldChg chg="add">
        <pc:chgData name="Swathik" userId="S::swathik@adroittechnologies.in::d78ea159-0184-4562-b6aa-bbe80c6b055e" providerId="AD" clId="Web-{0B9708EE-1E99-CF88-258D-3814DE711E0C}" dt="2026-06-26T11:03:29.252" v="25"/>
        <pc:sldMkLst>
          <pc:docMk/>
          <pc:sldMk cId="469354810" sldId="288"/>
        </pc:sldMkLst>
      </pc:sldChg>
      <pc:sldChg chg="add">
        <pc:chgData name="Swathik" userId="S::swathik@adroittechnologies.in::d78ea159-0184-4562-b6aa-bbe80c6b055e" providerId="AD" clId="Web-{0B9708EE-1E99-CF88-258D-3814DE711E0C}" dt="2026-06-26T11:03:29.408" v="26"/>
        <pc:sldMkLst>
          <pc:docMk/>
          <pc:sldMk cId="1014652732" sldId="289"/>
        </pc:sldMkLst>
      </pc:sldChg>
      <pc:sldChg chg="add">
        <pc:chgData name="Swathik" userId="S::swathik@adroittechnologies.in::d78ea159-0184-4562-b6aa-bbe80c6b055e" providerId="AD" clId="Web-{0B9708EE-1E99-CF88-258D-3814DE711E0C}" dt="2026-06-26T11:03:29.596" v="27"/>
        <pc:sldMkLst>
          <pc:docMk/>
          <pc:sldMk cId="856572966" sldId="290"/>
        </pc:sldMkLst>
      </pc:sldChg>
      <pc:sldChg chg="add">
        <pc:chgData name="Swathik" userId="S::swathik@adroittechnologies.in::d78ea159-0184-4562-b6aa-bbe80c6b055e" providerId="AD" clId="Web-{0B9708EE-1E99-CF88-258D-3814DE711E0C}" dt="2026-06-26T11:03:29.768" v="28"/>
        <pc:sldMkLst>
          <pc:docMk/>
          <pc:sldMk cId="3124679142" sldId="291"/>
        </pc:sldMkLst>
      </pc:sldChg>
      <pc:sldChg chg="add">
        <pc:chgData name="Swathik" userId="S::swathik@adroittechnologies.in::d78ea159-0184-4562-b6aa-bbe80c6b055e" providerId="AD" clId="Web-{0B9708EE-1E99-CF88-258D-3814DE711E0C}" dt="2026-06-26T11:03:29.940" v="29"/>
        <pc:sldMkLst>
          <pc:docMk/>
          <pc:sldMk cId="4097401277" sldId="292"/>
        </pc:sldMkLst>
      </pc:sldChg>
      <pc:sldChg chg="add">
        <pc:chgData name="Swathik" userId="S::swathik@adroittechnologies.in::d78ea159-0184-4562-b6aa-bbe80c6b055e" providerId="AD" clId="Web-{0B9708EE-1E99-CF88-258D-3814DE711E0C}" dt="2026-06-26T11:03:30.143" v="30"/>
        <pc:sldMkLst>
          <pc:docMk/>
          <pc:sldMk cId="3399227390" sldId="293"/>
        </pc:sldMkLst>
      </pc:sldChg>
      <pc:sldChg chg="add">
        <pc:chgData name="Swathik" userId="S::swathik@adroittechnologies.in::d78ea159-0184-4562-b6aa-bbe80c6b055e" providerId="AD" clId="Web-{0B9708EE-1E99-CF88-258D-3814DE711E0C}" dt="2026-06-26T11:03:30.330" v="31"/>
        <pc:sldMkLst>
          <pc:docMk/>
          <pc:sldMk cId="1907556096" sldId="294"/>
        </pc:sldMkLst>
      </pc:sldChg>
      <pc:sldChg chg="add">
        <pc:chgData name="Swathik" userId="S::swathik@adroittechnologies.in::d78ea159-0184-4562-b6aa-bbe80c6b055e" providerId="AD" clId="Web-{0B9708EE-1E99-CF88-258D-3814DE711E0C}" dt="2026-06-26T11:03:30.471" v="32"/>
        <pc:sldMkLst>
          <pc:docMk/>
          <pc:sldMk cId="1172911766" sldId="295"/>
        </pc:sldMkLst>
      </pc:sldChg>
      <pc:sldChg chg="add">
        <pc:chgData name="Swathik" userId="S::swathik@adroittechnologies.in::d78ea159-0184-4562-b6aa-bbe80c6b055e" providerId="AD" clId="Web-{0B9708EE-1E99-CF88-258D-3814DE711E0C}" dt="2026-06-26T11:03:30.658" v="33"/>
        <pc:sldMkLst>
          <pc:docMk/>
          <pc:sldMk cId="3157361121" sldId="296"/>
        </pc:sldMkLst>
      </pc:sldChg>
      <pc:sldChg chg="add">
        <pc:chgData name="Swathik" userId="S::swathik@adroittechnologies.in::d78ea159-0184-4562-b6aa-bbe80c6b055e" providerId="AD" clId="Web-{0B9708EE-1E99-CF88-258D-3814DE711E0C}" dt="2026-06-26T11:03:30.799" v="34"/>
        <pc:sldMkLst>
          <pc:docMk/>
          <pc:sldMk cId="3852487517" sldId="297"/>
        </pc:sldMkLst>
      </pc:sldChg>
      <pc:sldChg chg="addSp delSp modSp new">
        <pc:chgData name="Swathik" userId="S::swathik@adroittechnologies.in::d78ea159-0184-4562-b6aa-bbe80c6b055e" providerId="AD" clId="Web-{0B9708EE-1E99-CF88-258D-3814DE711E0C}" dt="2026-06-26T11:13:32.495" v="171" actId="14100"/>
        <pc:sldMkLst>
          <pc:docMk/>
          <pc:sldMk cId="1237413565" sldId="298"/>
        </pc:sldMkLst>
        <pc:spChg chg="add del mod">
          <ac:chgData name="Swathik" userId="S::swathik@adroittechnologies.in::d78ea159-0184-4562-b6aa-bbe80c6b055e" providerId="AD" clId="Web-{0B9708EE-1E99-CF88-258D-3814DE711E0C}" dt="2026-06-26T11:11:58.337" v="150"/>
          <ac:spMkLst>
            <pc:docMk/>
            <pc:sldMk cId="1237413565" sldId="298"/>
            <ac:spMk id="2" creationId="{375D8F10-27DF-AD8F-C943-C298C6FDB9EB}"/>
          </ac:spMkLst>
        </pc:spChg>
        <pc:spChg chg="add del mod">
          <ac:chgData name="Swathik" userId="S::swathik@adroittechnologies.in::d78ea159-0184-4562-b6aa-bbe80c6b055e" providerId="AD" clId="Web-{0B9708EE-1E99-CF88-258D-3814DE711E0C}" dt="2026-06-26T11:13:10.588" v="163"/>
          <ac:spMkLst>
            <pc:docMk/>
            <pc:sldMk cId="1237413565" sldId="298"/>
            <ac:spMk id="3" creationId="{AC8A44FA-E34A-A06D-0F4B-737F8DCBB1C3}"/>
          </ac:spMkLst>
        </pc:spChg>
        <pc:spChg chg="add mod">
          <ac:chgData name="Swathik" userId="S::swathik@adroittechnologies.in::d78ea159-0184-4562-b6aa-bbe80c6b055e" providerId="AD" clId="Web-{0B9708EE-1E99-CF88-258D-3814DE711E0C}" dt="2026-06-26T11:13:32.495" v="171" actId="14100"/>
          <ac:spMkLst>
            <pc:docMk/>
            <pc:sldMk cId="1237413565" sldId="298"/>
            <ac:spMk id="4" creationId="{D2915640-831A-0CB0-0A88-58BA78451DF7}"/>
          </ac:spMkLst>
        </pc:spChg>
      </pc:sldChg>
      <pc:sldChg chg="add">
        <pc:chgData name="Swathik" userId="S::swathik@adroittechnologies.in::d78ea159-0184-4562-b6aa-bbe80c6b055e" providerId="AD" clId="Web-{0B9708EE-1E99-CF88-258D-3814DE711E0C}" dt="2026-06-26T11:05:14.800" v="36"/>
        <pc:sldMkLst>
          <pc:docMk/>
          <pc:sldMk cId="3652594334" sldId="299"/>
        </pc:sldMkLst>
      </pc:sldChg>
      <pc:sldChg chg="add">
        <pc:chgData name="Swathik" userId="S::swathik@adroittechnologies.in::d78ea159-0184-4562-b6aa-bbe80c6b055e" providerId="AD" clId="Web-{0B9708EE-1E99-CF88-258D-3814DE711E0C}" dt="2026-06-26T11:05:15.019" v="37"/>
        <pc:sldMkLst>
          <pc:docMk/>
          <pc:sldMk cId="3983922669" sldId="300"/>
        </pc:sldMkLst>
      </pc:sldChg>
      <pc:sldChg chg="add">
        <pc:chgData name="Swathik" userId="S::swathik@adroittechnologies.in::d78ea159-0184-4562-b6aa-bbe80c6b055e" providerId="AD" clId="Web-{0B9708EE-1E99-CF88-258D-3814DE711E0C}" dt="2026-06-26T11:05:15.331" v="38"/>
        <pc:sldMkLst>
          <pc:docMk/>
          <pc:sldMk cId="2963941345" sldId="301"/>
        </pc:sldMkLst>
      </pc:sldChg>
      <pc:sldChg chg="add">
        <pc:chgData name="Swathik" userId="S::swathik@adroittechnologies.in::d78ea159-0184-4562-b6aa-bbe80c6b055e" providerId="AD" clId="Web-{0B9708EE-1E99-CF88-258D-3814DE711E0C}" dt="2026-06-26T11:05:15.534" v="39"/>
        <pc:sldMkLst>
          <pc:docMk/>
          <pc:sldMk cId="2536068519" sldId="302"/>
        </pc:sldMkLst>
      </pc:sldChg>
      <pc:sldChg chg="add">
        <pc:chgData name="Swathik" userId="S::swathik@adroittechnologies.in::d78ea159-0184-4562-b6aa-bbe80c6b055e" providerId="AD" clId="Web-{0B9708EE-1E99-CF88-258D-3814DE711E0C}" dt="2026-06-26T11:05:15.737" v="40"/>
        <pc:sldMkLst>
          <pc:docMk/>
          <pc:sldMk cId="456203533" sldId="303"/>
        </pc:sldMkLst>
      </pc:sldChg>
      <pc:sldChg chg="add">
        <pc:chgData name="Swathik" userId="S::swathik@adroittechnologies.in::d78ea159-0184-4562-b6aa-bbe80c6b055e" providerId="AD" clId="Web-{0B9708EE-1E99-CF88-258D-3814DE711E0C}" dt="2026-06-26T11:05:15.956" v="41"/>
        <pc:sldMkLst>
          <pc:docMk/>
          <pc:sldMk cId="1232898931" sldId="304"/>
        </pc:sldMkLst>
      </pc:sldChg>
      <pc:sldChg chg="add">
        <pc:chgData name="Swathik" userId="S::swathik@adroittechnologies.in::d78ea159-0184-4562-b6aa-bbe80c6b055e" providerId="AD" clId="Web-{0B9708EE-1E99-CF88-258D-3814DE711E0C}" dt="2026-06-26T11:05:16.206" v="42"/>
        <pc:sldMkLst>
          <pc:docMk/>
          <pc:sldMk cId="2289762637" sldId="305"/>
        </pc:sldMkLst>
      </pc:sldChg>
      <pc:sldChg chg="add">
        <pc:chgData name="Swathik" userId="S::swathik@adroittechnologies.in::d78ea159-0184-4562-b6aa-bbe80c6b055e" providerId="AD" clId="Web-{0B9708EE-1E99-CF88-258D-3814DE711E0C}" dt="2026-06-26T11:05:16.394" v="43"/>
        <pc:sldMkLst>
          <pc:docMk/>
          <pc:sldMk cId="1669980524" sldId="306"/>
        </pc:sldMkLst>
      </pc:sldChg>
      <pc:sldChg chg="add">
        <pc:chgData name="Swathik" userId="S::swathik@adroittechnologies.in::d78ea159-0184-4562-b6aa-bbe80c6b055e" providerId="AD" clId="Web-{0B9708EE-1E99-CF88-258D-3814DE711E0C}" dt="2026-06-26T11:05:16.722" v="44"/>
        <pc:sldMkLst>
          <pc:docMk/>
          <pc:sldMk cId="1118422802" sldId="307"/>
        </pc:sldMkLst>
      </pc:sldChg>
      <pc:sldChg chg="add">
        <pc:chgData name="Swathik" userId="S::swathik@adroittechnologies.in::d78ea159-0184-4562-b6aa-bbe80c6b055e" providerId="AD" clId="Web-{0B9708EE-1E99-CF88-258D-3814DE711E0C}" dt="2026-06-26T11:05:16.862" v="45"/>
        <pc:sldMkLst>
          <pc:docMk/>
          <pc:sldMk cId="3591379896" sldId="308"/>
        </pc:sldMkLst>
      </pc:sldChg>
      <pc:sldChg chg="add">
        <pc:chgData name="Swathik" userId="S::swathik@adroittechnologies.in::d78ea159-0184-4562-b6aa-bbe80c6b055e" providerId="AD" clId="Web-{0B9708EE-1E99-CF88-258D-3814DE711E0C}" dt="2026-06-26T11:05:17.065" v="46"/>
        <pc:sldMkLst>
          <pc:docMk/>
          <pc:sldMk cId="2005087003" sldId="309"/>
        </pc:sldMkLst>
      </pc:sldChg>
      <pc:sldChg chg="add">
        <pc:chgData name="Swathik" userId="S::swathik@adroittechnologies.in::d78ea159-0184-4562-b6aa-bbe80c6b055e" providerId="AD" clId="Web-{0B9708EE-1E99-CF88-258D-3814DE711E0C}" dt="2026-06-26T11:05:17.253" v="47"/>
        <pc:sldMkLst>
          <pc:docMk/>
          <pc:sldMk cId="1281711579" sldId="310"/>
        </pc:sldMkLst>
      </pc:sldChg>
      <pc:sldChg chg="add">
        <pc:chgData name="Swathik" userId="S::swathik@adroittechnologies.in::d78ea159-0184-4562-b6aa-bbe80c6b055e" providerId="AD" clId="Web-{0B9708EE-1E99-CF88-258D-3814DE711E0C}" dt="2026-06-26T11:05:17.347" v="48"/>
        <pc:sldMkLst>
          <pc:docMk/>
          <pc:sldMk cId="3825629594" sldId="311"/>
        </pc:sldMkLst>
      </pc:sldChg>
      <pc:sldChg chg="add">
        <pc:chgData name="Swathik" userId="S::swathik@adroittechnologies.in::d78ea159-0184-4562-b6aa-bbe80c6b055e" providerId="AD" clId="Web-{0B9708EE-1E99-CF88-258D-3814DE711E0C}" dt="2026-06-26T11:05:17.394" v="49"/>
        <pc:sldMkLst>
          <pc:docMk/>
          <pc:sldMk cId="4043707887" sldId="312"/>
        </pc:sldMkLst>
      </pc:sldChg>
      <pc:sldChg chg="addSp modSp new">
        <pc:chgData name="Swathik" userId="S::swathik@adroittechnologies.in::d78ea159-0184-4562-b6aa-bbe80c6b055e" providerId="AD" clId="Web-{0B9708EE-1E99-CF88-258D-3814DE711E0C}" dt="2026-06-26T11:16:26.232" v="200" actId="14100"/>
        <pc:sldMkLst>
          <pc:docMk/>
          <pc:sldMk cId="3131584773" sldId="313"/>
        </pc:sldMkLst>
        <pc:spChg chg="add mod">
          <ac:chgData name="Swathik" userId="S::swathik@adroittechnologies.in::d78ea159-0184-4562-b6aa-bbe80c6b055e" providerId="AD" clId="Web-{0B9708EE-1E99-CF88-258D-3814DE711E0C}" dt="2026-06-26T11:16:26.232" v="200" actId="14100"/>
          <ac:spMkLst>
            <pc:docMk/>
            <pc:sldMk cId="3131584773" sldId="313"/>
            <ac:spMk id="2" creationId="{D8640C3C-877C-9935-8EED-858DB1F8D6E8}"/>
          </ac:spMkLst>
        </pc:spChg>
      </pc:sldChg>
      <pc:sldChg chg="add">
        <pc:chgData name="Swathik" userId="S::swathik@adroittechnologies.in::d78ea159-0184-4562-b6aa-bbe80c6b055e" providerId="AD" clId="Web-{0B9708EE-1E99-CF88-258D-3814DE711E0C}" dt="2026-06-26T11:05:58.785" v="51"/>
        <pc:sldMkLst>
          <pc:docMk/>
          <pc:sldMk cId="266200063" sldId="314"/>
        </pc:sldMkLst>
      </pc:sldChg>
      <pc:sldChg chg="add">
        <pc:chgData name="Swathik" userId="S::swathik@adroittechnologies.in::d78ea159-0184-4562-b6aa-bbe80c6b055e" providerId="AD" clId="Web-{0B9708EE-1E99-CF88-258D-3814DE711E0C}" dt="2026-06-26T11:05:59.019" v="52"/>
        <pc:sldMkLst>
          <pc:docMk/>
          <pc:sldMk cId="757284888" sldId="315"/>
        </pc:sldMkLst>
      </pc:sldChg>
      <pc:sldChg chg="add">
        <pc:chgData name="Swathik" userId="S::swathik@adroittechnologies.in::d78ea159-0184-4562-b6aa-bbe80c6b055e" providerId="AD" clId="Web-{0B9708EE-1E99-CF88-258D-3814DE711E0C}" dt="2026-06-26T11:05:59.175" v="53"/>
        <pc:sldMkLst>
          <pc:docMk/>
          <pc:sldMk cId="2530894918" sldId="316"/>
        </pc:sldMkLst>
      </pc:sldChg>
      <pc:sldChg chg="add">
        <pc:chgData name="Swathik" userId="S::swathik@adroittechnologies.in::d78ea159-0184-4562-b6aa-bbe80c6b055e" providerId="AD" clId="Web-{0B9708EE-1E99-CF88-258D-3814DE711E0C}" dt="2026-06-26T11:05:59.378" v="54"/>
        <pc:sldMkLst>
          <pc:docMk/>
          <pc:sldMk cId="2089680176" sldId="317"/>
        </pc:sldMkLst>
      </pc:sldChg>
      <pc:sldChg chg="add">
        <pc:chgData name="Swathik" userId="S::swathik@adroittechnologies.in::d78ea159-0184-4562-b6aa-bbe80c6b055e" providerId="AD" clId="Web-{0B9708EE-1E99-CF88-258D-3814DE711E0C}" dt="2026-06-26T11:05:59.488" v="55"/>
        <pc:sldMkLst>
          <pc:docMk/>
          <pc:sldMk cId="1990111458" sldId="318"/>
        </pc:sldMkLst>
      </pc:sldChg>
      <pc:sldChg chg="add">
        <pc:chgData name="Swathik" userId="S::swathik@adroittechnologies.in::d78ea159-0184-4562-b6aa-bbe80c6b055e" providerId="AD" clId="Web-{0B9708EE-1E99-CF88-258D-3814DE711E0C}" dt="2026-06-26T11:05:59.675" v="56"/>
        <pc:sldMkLst>
          <pc:docMk/>
          <pc:sldMk cId="264972965" sldId="319"/>
        </pc:sldMkLst>
      </pc:sldChg>
      <pc:sldChg chg="add">
        <pc:chgData name="Swathik" userId="S::swathik@adroittechnologies.in::d78ea159-0184-4562-b6aa-bbe80c6b055e" providerId="AD" clId="Web-{0B9708EE-1E99-CF88-258D-3814DE711E0C}" dt="2026-06-26T11:05:59.863" v="57"/>
        <pc:sldMkLst>
          <pc:docMk/>
          <pc:sldMk cId="2348854025" sldId="320"/>
        </pc:sldMkLst>
      </pc:sldChg>
      <pc:sldChg chg="add">
        <pc:chgData name="Swathik" userId="S::swathik@adroittechnologies.in::d78ea159-0184-4562-b6aa-bbe80c6b055e" providerId="AD" clId="Web-{0B9708EE-1E99-CF88-258D-3814DE711E0C}" dt="2026-06-26T11:06:00.097" v="58"/>
        <pc:sldMkLst>
          <pc:docMk/>
          <pc:sldMk cId="949909945" sldId="321"/>
        </pc:sldMkLst>
      </pc:sldChg>
      <pc:sldChg chg="add">
        <pc:chgData name="Swathik" userId="S::swathik@adroittechnologies.in::d78ea159-0184-4562-b6aa-bbe80c6b055e" providerId="AD" clId="Web-{0B9708EE-1E99-CF88-258D-3814DE711E0C}" dt="2026-06-26T11:06:00.253" v="59"/>
        <pc:sldMkLst>
          <pc:docMk/>
          <pc:sldMk cId="1511504381" sldId="322"/>
        </pc:sldMkLst>
      </pc:sldChg>
      <pc:sldChg chg="add">
        <pc:chgData name="Swathik" userId="S::swathik@adroittechnologies.in::d78ea159-0184-4562-b6aa-bbe80c6b055e" providerId="AD" clId="Web-{0B9708EE-1E99-CF88-258D-3814DE711E0C}" dt="2026-06-26T11:06:00.363" v="60"/>
        <pc:sldMkLst>
          <pc:docMk/>
          <pc:sldMk cId="2050631689" sldId="323"/>
        </pc:sldMkLst>
      </pc:sldChg>
      <pc:sldChg chg="add">
        <pc:chgData name="Swathik" userId="S::swathik@adroittechnologies.in::d78ea159-0184-4562-b6aa-bbe80c6b055e" providerId="AD" clId="Web-{0B9708EE-1E99-CF88-258D-3814DE711E0C}" dt="2026-06-26T11:06:00.441" v="61"/>
        <pc:sldMkLst>
          <pc:docMk/>
          <pc:sldMk cId="1252519104" sldId="324"/>
        </pc:sldMkLst>
      </pc:sldChg>
      <pc:sldChg chg="add">
        <pc:chgData name="Swathik" userId="S::swathik@adroittechnologies.in::d78ea159-0184-4562-b6aa-bbe80c6b055e" providerId="AD" clId="Web-{0B9708EE-1E99-CF88-258D-3814DE711E0C}" dt="2026-06-26T11:06:00.503" v="62"/>
        <pc:sldMkLst>
          <pc:docMk/>
          <pc:sldMk cId="2861770652" sldId="325"/>
        </pc:sldMkLst>
      </pc:sldChg>
      <pc:sldChg chg="addSp modSp new">
        <pc:chgData name="Swathik" userId="S::swathik@adroittechnologies.in::d78ea159-0184-4562-b6aa-bbe80c6b055e" providerId="AD" clId="Web-{0B9708EE-1E99-CF88-258D-3814DE711E0C}" dt="2026-06-26T11:15:04.465" v="191" actId="14100"/>
        <pc:sldMkLst>
          <pc:docMk/>
          <pc:sldMk cId="1272713596" sldId="326"/>
        </pc:sldMkLst>
        <pc:spChg chg="add mod">
          <ac:chgData name="Swathik" userId="S::swathik@adroittechnologies.in::d78ea159-0184-4562-b6aa-bbe80c6b055e" providerId="AD" clId="Web-{0B9708EE-1E99-CF88-258D-3814DE711E0C}" dt="2026-06-26T11:15:04.465" v="191" actId="14100"/>
          <ac:spMkLst>
            <pc:docMk/>
            <pc:sldMk cId="1272713596" sldId="326"/>
            <ac:spMk id="2" creationId="{3D943B3E-CAB4-233B-B5BB-7D9033B8729C}"/>
          </ac:spMkLst>
        </pc:spChg>
      </pc:sldChg>
      <pc:sldChg chg="add">
        <pc:chgData name="Swathik" userId="S::swathik@adroittechnologies.in::d78ea159-0184-4562-b6aa-bbe80c6b055e" providerId="AD" clId="Web-{0B9708EE-1E99-CF88-258D-3814DE711E0C}" dt="2026-06-26T11:06:58.082" v="64"/>
        <pc:sldMkLst>
          <pc:docMk/>
          <pc:sldMk cId="515310172" sldId="327"/>
        </pc:sldMkLst>
      </pc:sldChg>
      <pc:sldChg chg="add">
        <pc:chgData name="Swathik" userId="S::swathik@adroittechnologies.in::d78ea159-0184-4562-b6aa-bbe80c6b055e" providerId="AD" clId="Web-{0B9708EE-1E99-CF88-258D-3814DE711E0C}" dt="2026-06-26T11:06:58.285" v="65"/>
        <pc:sldMkLst>
          <pc:docMk/>
          <pc:sldMk cId="882642290" sldId="328"/>
        </pc:sldMkLst>
      </pc:sldChg>
      <pc:sldChg chg="add">
        <pc:chgData name="Swathik" userId="S::swathik@adroittechnologies.in::d78ea159-0184-4562-b6aa-bbe80c6b055e" providerId="AD" clId="Web-{0B9708EE-1E99-CF88-258D-3814DE711E0C}" dt="2026-06-26T11:06:58.488" v="66"/>
        <pc:sldMkLst>
          <pc:docMk/>
          <pc:sldMk cId="1593702485" sldId="329"/>
        </pc:sldMkLst>
      </pc:sldChg>
      <pc:sldChg chg="add">
        <pc:chgData name="Swathik" userId="S::swathik@adroittechnologies.in::d78ea159-0184-4562-b6aa-bbe80c6b055e" providerId="AD" clId="Web-{0B9708EE-1E99-CF88-258D-3814DE711E0C}" dt="2026-06-26T11:06:58.723" v="67"/>
        <pc:sldMkLst>
          <pc:docMk/>
          <pc:sldMk cId="2743231889" sldId="330"/>
        </pc:sldMkLst>
      </pc:sldChg>
      <pc:sldChg chg="add">
        <pc:chgData name="Swathik" userId="S::swathik@adroittechnologies.in::d78ea159-0184-4562-b6aa-bbe80c6b055e" providerId="AD" clId="Web-{0B9708EE-1E99-CF88-258D-3814DE711E0C}" dt="2026-06-26T11:06:58.941" v="68"/>
        <pc:sldMkLst>
          <pc:docMk/>
          <pc:sldMk cId="865175852" sldId="331"/>
        </pc:sldMkLst>
      </pc:sldChg>
      <pc:sldChg chg="add">
        <pc:chgData name="Swathik" userId="S::swathik@adroittechnologies.in::d78ea159-0184-4562-b6aa-bbe80c6b055e" providerId="AD" clId="Web-{0B9708EE-1E99-CF88-258D-3814DE711E0C}" dt="2026-06-26T11:06:59.160" v="69"/>
        <pc:sldMkLst>
          <pc:docMk/>
          <pc:sldMk cId="2056092769" sldId="332"/>
        </pc:sldMkLst>
      </pc:sldChg>
      <pc:sldChg chg="add">
        <pc:chgData name="Swathik" userId="S::swathik@adroittechnologies.in::d78ea159-0184-4562-b6aa-bbe80c6b055e" providerId="AD" clId="Web-{0B9708EE-1E99-CF88-258D-3814DE711E0C}" dt="2026-06-26T11:06:59.332" v="70"/>
        <pc:sldMkLst>
          <pc:docMk/>
          <pc:sldMk cId="3063489628" sldId="333"/>
        </pc:sldMkLst>
      </pc:sldChg>
      <pc:sldChg chg="add">
        <pc:chgData name="Swathik" userId="S::swathik@adroittechnologies.in::d78ea159-0184-4562-b6aa-bbe80c6b055e" providerId="AD" clId="Web-{0B9708EE-1E99-CF88-258D-3814DE711E0C}" dt="2026-06-26T11:06:59.504" v="71"/>
        <pc:sldMkLst>
          <pc:docMk/>
          <pc:sldMk cId="1204022005" sldId="334"/>
        </pc:sldMkLst>
      </pc:sldChg>
      <pc:sldChg chg="add">
        <pc:chgData name="Swathik" userId="S::swathik@adroittechnologies.in::d78ea159-0184-4562-b6aa-bbe80c6b055e" providerId="AD" clId="Web-{0B9708EE-1E99-CF88-258D-3814DE711E0C}" dt="2026-06-26T11:06:59.738" v="72"/>
        <pc:sldMkLst>
          <pc:docMk/>
          <pc:sldMk cId="2576757400" sldId="335"/>
        </pc:sldMkLst>
      </pc:sldChg>
      <pc:sldChg chg="add">
        <pc:chgData name="Swathik" userId="S::swathik@adroittechnologies.in::d78ea159-0184-4562-b6aa-bbe80c6b055e" providerId="AD" clId="Web-{0B9708EE-1E99-CF88-258D-3814DE711E0C}" dt="2026-06-26T11:06:59.988" v="73"/>
        <pc:sldMkLst>
          <pc:docMk/>
          <pc:sldMk cId="3052273933" sldId="336"/>
        </pc:sldMkLst>
      </pc:sldChg>
      <pc:sldChg chg="add">
        <pc:chgData name="Swathik" userId="S::swathik@adroittechnologies.in::d78ea159-0184-4562-b6aa-bbe80c6b055e" providerId="AD" clId="Web-{0B9708EE-1E99-CF88-258D-3814DE711E0C}" dt="2026-06-26T11:07:00.223" v="74"/>
        <pc:sldMkLst>
          <pc:docMk/>
          <pc:sldMk cId="3236886819" sldId="337"/>
        </pc:sldMkLst>
      </pc:sldChg>
      <pc:sldChg chg="add">
        <pc:chgData name="Swathik" userId="S::swathik@adroittechnologies.in::d78ea159-0184-4562-b6aa-bbe80c6b055e" providerId="AD" clId="Web-{0B9708EE-1E99-CF88-258D-3814DE711E0C}" dt="2026-06-26T11:07:00.457" v="75"/>
        <pc:sldMkLst>
          <pc:docMk/>
          <pc:sldMk cId="4211247806" sldId="338"/>
        </pc:sldMkLst>
      </pc:sldChg>
      <pc:sldChg chg="add">
        <pc:chgData name="Swathik" userId="S::swathik@adroittechnologies.in::d78ea159-0184-4562-b6aa-bbe80c6b055e" providerId="AD" clId="Web-{0B9708EE-1E99-CF88-258D-3814DE711E0C}" dt="2026-06-26T11:07:00.676" v="76"/>
        <pc:sldMkLst>
          <pc:docMk/>
          <pc:sldMk cId="280520070" sldId="339"/>
        </pc:sldMkLst>
      </pc:sldChg>
      <pc:sldChg chg="add">
        <pc:chgData name="Swathik" userId="S::swathik@adroittechnologies.in::d78ea159-0184-4562-b6aa-bbe80c6b055e" providerId="AD" clId="Web-{0B9708EE-1E99-CF88-258D-3814DE711E0C}" dt="2026-06-26T11:07:00.863" v="77"/>
        <pc:sldMkLst>
          <pc:docMk/>
          <pc:sldMk cId="3937403774" sldId="340"/>
        </pc:sldMkLst>
      </pc:sldChg>
      <pc:sldChg chg="add">
        <pc:chgData name="Swathik" userId="S::swathik@adroittechnologies.in::d78ea159-0184-4562-b6aa-bbe80c6b055e" providerId="AD" clId="Web-{0B9708EE-1E99-CF88-258D-3814DE711E0C}" dt="2026-06-26T11:07:01.129" v="78"/>
        <pc:sldMkLst>
          <pc:docMk/>
          <pc:sldMk cId="2093260743" sldId="341"/>
        </pc:sldMkLst>
      </pc:sldChg>
      <pc:sldChg chg="add">
        <pc:chgData name="Swathik" userId="S::swathik@adroittechnologies.in::d78ea159-0184-4562-b6aa-bbe80c6b055e" providerId="AD" clId="Web-{0B9708EE-1E99-CF88-258D-3814DE711E0C}" dt="2026-06-26T11:07:01.395" v="79"/>
        <pc:sldMkLst>
          <pc:docMk/>
          <pc:sldMk cId="82107863" sldId="342"/>
        </pc:sldMkLst>
      </pc:sldChg>
      <pc:sldChg chg="add">
        <pc:chgData name="Swathik" userId="S::swathik@adroittechnologies.in::d78ea159-0184-4562-b6aa-bbe80c6b055e" providerId="AD" clId="Web-{0B9708EE-1E99-CF88-258D-3814DE711E0C}" dt="2026-06-26T11:07:01.457" v="80"/>
        <pc:sldMkLst>
          <pc:docMk/>
          <pc:sldMk cId="1387031233" sldId="343"/>
        </pc:sldMkLst>
      </pc:sldChg>
      <pc:sldChg chg="add del">
        <pc:chgData name="Swathik" userId="S::swathik@adroittechnologies.in::d78ea159-0184-4562-b6aa-bbe80c6b055e" providerId="AD" clId="Web-{0B9708EE-1E99-CF88-258D-3814DE711E0C}" dt="2026-06-26T11:11:56.665" v="149"/>
        <pc:sldMkLst>
          <pc:docMk/>
          <pc:sldMk cId="134164012" sldId="344"/>
        </pc:sldMkLst>
      </pc:sldChg>
      <pc:sldChg chg="new del">
        <pc:chgData name="Swathik" userId="S::swathik@adroittechnologies.in::d78ea159-0184-4562-b6aa-bbe80c6b055e" providerId="AD" clId="Web-{0B9708EE-1E99-CF88-258D-3814DE711E0C}" dt="2026-06-26T11:13:47.667" v="173"/>
        <pc:sldMkLst>
          <pc:docMk/>
          <pc:sldMk cId="2175332837" sldId="344"/>
        </pc:sldMkLst>
      </pc:sldChg>
      <pc:sldChg chg="new del">
        <pc:chgData name="Swathik" userId="S::swathik@adroittechnologies.in::d78ea159-0184-4562-b6aa-bbe80c6b055e" providerId="AD" clId="Web-{0B9708EE-1E99-CF88-258D-3814DE711E0C}" dt="2026-06-26T11:13:54.245" v="175"/>
        <pc:sldMkLst>
          <pc:docMk/>
          <pc:sldMk cId="3671990139" sldId="344"/>
        </pc:sldMkLst>
      </pc:sldChg>
      <pc:sldChg chg="add del">
        <pc:chgData name="Swathik" userId="S::swathik@adroittechnologies.in::d78ea159-0184-4562-b6aa-bbe80c6b055e" providerId="AD" clId="Web-{0B9708EE-1E99-CF88-258D-3814DE711E0C}" dt="2026-06-26T11:11:56.665" v="148"/>
        <pc:sldMkLst>
          <pc:docMk/>
          <pc:sldMk cId="12485284" sldId="345"/>
        </pc:sldMkLst>
      </pc:sldChg>
      <pc:sldChg chg="add del">
        <pc:chgData name="Swathik" userId="S::swathik@adroittechnologies.in::d78ea159-0184-4562-b6aa-bbe80c6b055e" providerId="AD" clId="Web-{0B9708EE-1E99-CF88-258D-3814DE711E0C}" dt="2026-06-26T11:11:56.665" v="147"/>
        <pc:sldMkLst>
          <pc:docMk/>
          <pc:sldMk cId="3606086770" sldId="346"/>
        </pc:sldMkLst>
      </pc:sldChg>
      <pc:sldChg chg="add del">
        <pc:chgData name="Swathik" userId="S::swathik@adroittechnologies.in::d78ea159-0184-4562-b6aa-bbe80c6b055e" providerId="AD" clId="Web-{0B9708EE-1E99-CF88-258D-3814DE711E0C}" dt="2026-06-26T11:11:56.665" v="146"/>
        <pc:sldMkLst>
          <pc:docMk/>
          <pc:sldMk cId="3572667095" sldId="347"/>
        </pc:sldMkLst>
      </pc:sldChg>
      <pc:sldChg chg="add del">
        <pc:chgData name="Swathik" userId="S::swathik@adroittechnologies.in::d78ea159-0184-4562-b6aa-bbe80c6b055e" providerId="AD" clId="Web-{0B9708EE-1E99-CF88-258D-3814DE711E0C}" dt="2026-06-26T11:11:56.650" v="145"/>
        <pc:sldMkLst>
          <pc:docMk/>
          <pc:sldMk cId="3956237048" sldId="348"/>
        </pc:sldMkLst>
      </pc:sldChg>
      <pc:sldChg chg="add del">
        <pc:chgData name="Swathik" userId="S::swathik@adroittechnologies.in::d78ea159-0184-4562-b6aa-bbe80c6b055e" providerId="AD" clId="Web-{0B9708EE-1E99-CF88-258D-3814DE711E0C}" dt="2026-06-26T11:11:56.650" v="144"/>
        <pc:sldMkLst>
          <pc:docMk/>
          <pc:sldMk cId="2536915864" sldId="349"/>
        </pc:sldMkLst>
      </pc:sldChg>
      <pc:sldChg chg="add del">
        <pc:chgData name="Swathik" userId="S::swathik@adroittechnologies.in::d78ea159-0184-4562-b6aa-bbe80c6b055e" providerId="AD" clId="Web-{0B9708EE-1E99-CF88-258D-3814DE711E0C}" dt="2026-06-26T11:11:56.650" v="143"/>
        <pc:sldMkLst>
          <pc:docMk/>
          <pc:sldMk cId="2327911040" sldId="350"/>
        </pc:sldMkLst>
      </pc:sldChg>
      <pc:sldChg chg="add del">
        <pc:chgData name="Swathik" userId="S::swathik@adroittechnologies.in::d78ea159-0184-4562-b6aa-bbe80c6b055e" providerId="AD" clId="Web-{0B9708EE-1E99-CF88-258D-3814DE711E0C}" dt="2026-06-26T11:11:56.650" v="142"/>
        <pc:sldMkLst>
          <pc:docMk/>
          <pc:sldMk cId="3641058714" sldId="351"/>
        </pc:sldMkLst>
      </pc:sldChg>
      <pc:sldChg chg="add del">
        <pc:chgData name="Swathik" userId="S::swathik@adroittechnologies.in::d78ea159-0184-4562-b6aa-bbe80c6b055e" providerId="AD" clId="Web-{0B9708EE-1E99-CF88-258D-3814DE711E0C}" dt="2026-06-26T11:11:56.650" v="141"/>
        <pc:sldMkLst>
          <pc:docMk/>
          <pc:sldMk cId="621195212" sldId="352"/>
        </pc:sldMkLst>
      </pc:sldChg>
      <pc:sldChg chg="add del">
        <pc:chgData name="Swathik" userId="S::swathik@adroittechnologies.in::d78ea159-0184-4562-b6aa-bbe80c6b055e" providerId="AD" clId="Web-{0B9708EE-1E99-CF88-258D-3814DE711E0C}" dt="2026-06-26T11:11:56.650" v="140"/>
        <pc:sldMkLst>
          <pc:docMk/>
          <pc:sldMk cId="514212437" sldId="353"/>
        </pc:sldMkLst>
      </pc:sldChg>
      <pc:sldChg chg="add del">
        <pc:chgData name="Swathik" userId="S::swathik@adroittechnologies.in::d78ea159-0184-4562-b6aa-bbe80c6b055e" providerId="AD" clId="Web-{0B9708EE-1E99-CF88-258D-3814DE711E0C}" dt="2026-06-26T11:11:56.650" v="139"/>
        <pc:sldMkLst>
          <pc:docMk/>
          <pc:sldMk cId="2106783548" sldId="354"/>
        </pc:sldMkLst>
      </pc:sldChg>
      <pc:sldChg chg="add del">
        <pc:chgData name="Swathik" userId="S::swathik@adroittechnologies.in::d78ea159-0184-4562-b6aa-bbe80c6b055e" providerId="AD" clId="Web-{0B9708EE-1E99-CF88-258D-3814DE711E0C}" dt="2026-06-26T11:11:56.634" v="138"/>
        <pc:sldMkLst>
          <pc:docMk/>
          <pc:sldMk cId="1924409997" sldId="355"/>
        </pc:sldMkLst>
      </pc:sldChg>
      <pc:sldChg chg="add del">
        <pc:chgData name="Swathik" userId="S::swathik@adroittechnologies.in::d78ea159-0184-4562-b6aa-bbe80c6b055e" providerId="AD" clId="Web-{0B9708EE-1E99-CF88-258D-3814DE711E0C}" dt="2026-06-26T11:11:56.634" v="137"/>
        <pc:sldMkLst>
          <pc:docMk/>
          <pc:sldMk cId="3974588929" sldId="356"/>
        </pc:sldMkLst>
      </pc:sldChg>
      <pc:sldChg chg="add del">
        <pc:chgData name="Swathik" userId="S::swathik@adroittechnologies.in::d78ea159-0184-4562-b6aa-bbe80c6b055e" providerId="AD" clId="Web-{0B9708EE-1E99-CF88-258D-3814DE711E0C}" dt="2026-06-26T11:11:56.634" v="136"/>
        <pc:sldMkLst>
          <pc:docMk/>
          <pc:sldMk cId="3323305771" sldId="357"/>
        </pc:sldMkLst>
      </pc:sldChg>
      <pc:sldChg chg="add del">
        <pc:chgData name="Swathik" userId="S::swathik@adroittechnologies.in::d78ea159-0184-4562-b6aa-bbe80c6b055e" providerId="AD" clId="Web-{0B9708EE-1E99-CF88-258D-3814DE711E0C}" dt="2026-06-26T11:11:56.634" v="135"/>
        <pc:sldMkLst>
          <pc:docMk/>
          <pc:sldMk cId="3061178356" sldId="358"/>
        </pc:sldMkLst>
      </pc:sldChg>
      <pc:sldChg chg="add del">
        <pc:chgData name="Swathik" userId="S::swathik@adroittechnologies.in::d78ea159-0184-4562-b6aa-bbe80c6b055e" providerId="AD" clId="Web-{0B9708EE-1E99-CF88-258D-3814DE711E0C}" dt="2026-06-26T11:11:56.618" v="134"/>
        <pc:sldMkLst>
          <pc:docMk/>
          <pc:sldMk cId="2843092822" sldId="359"/>
        </pc:sldMkLst>
      </pc:sldChg>
      <pc:sldChg chg="add del">
        <pc:chgData name="Swathik" userId="S::swathik@adroittechnologies.in::d78ea159-0184-4562-b6aa-bbe80c6b055e" providerId="AD" clId="Web-{0B9708EE-1E99-CF88-258D-3814DE711E0C}" dt="2026-06-26T11:11:56.618" v="133"/>
        <pc:sldMkLst>
          <pc:docMk/>
          <pc:sldMk cId="1285891568" sldId="3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8652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CEE5C-398A-65E2-F21D-A4D83BAFF2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B1117-4A88-D2AC-CDC7-86CE9A5E04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235BD-67A3-9F8D-4EAE-8C242239D1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51C72F-0726-37F0-B3BD-F7E355760A8D}"/>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5761993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7C9B9-ADC3-BFD0-5528-2F54D24E9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510563-6851-1724-836D-165579B04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2EC385-21F7-BE2B-61D0-E683B01001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3B61A8-1CCE-3CDE-DB42-8FBE9D1A7DAD}"/>
              </a:ext>
            </a:extLst>
          </p:cNvPr>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7382335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6BDBA-A8FE-7EC6-AED6-67DB01C678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0AE22-0632-E1E4-5C9D-A4854A7639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2787F3-2C6A-0B32-26DB-A6896D96CE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059DE1-49CB-0C13-4133-2E7D576A8762}"/>
              </a:ext>
            </a:extLst>
          </p:cNvPr>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296984255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7B5EA7"/>
          </a:solidFill>
          <a:ln w="12700">
            <a:solidFill>
              <a:srgbClr val="7B5EA7"/>
            </a:solidFill>
            <a:prstDash val="solid"/>
          </a:ln>
        </p:spPr>
        <p:txBody>
          <a:bodyPr/>
          <a:lstStyle/>
          <a:p>
            <a:endParaRPr lang="en-IN"/>
          </a:p>
        </p:txBody>
      </p:sp>
      <p:sp>
        <p:nvSpPr>
          <p:cNvPr id="4" name="Shape 2"/>
          <p:cNvSpPr/>
          <p:nvPr/>
        </p:nvSpPr>
        <p:spPr>
          <a:xfrm>
            <a:off x="7132320" y="731520"/>
            <a:ext cx="1645920" cy="1645920"/>
          </a:xfrm>
          <a:prstGeom prst="ellipse">
            <a:avLst/>
          </a:prstGeom>
          <a:solidFill>
            <a:srgbClr val="7B5EA7">
              <a:alpha val="30000"/>
            </a:srgbClr>
          </a:solidFill>
          <a:ln w="12700">
            <a:solidFill>
              <a:srgbClr val="7B5EA7"/>
            </a:solidFill>
            <a:prstDash val="solid"/>
          </a:ln>
        </p:spPr>
        <p:txBody>
          <a:bodyPr/>
          <a:lstStyle/>
          <a:p>
            <a:endParaRPr lang="en-IN"/>
          </a:p>
        </p:txBody>
      </p:sp>
      <p:sp>
        <p:nvSpPr>
          <p:cNvPr id="5" name="Shape 3"/>
          <p:cNvSpPr/>
          <p:nvPr/>
        </p:nvSpPr>
        <p:spPr>
          <a:xfrm>
            <a:off x="7589520" y="1371600"/>
            <a:ext cx="1097280" cy="1097280"/>
          </a:xfrm>
          <a:prstGeom prst="ellipse">
            <a:avLst/>
          </a:prstGeom>
          <a:solidFill>
            <a:srgbClr val="00C8FF">
              <a:alpha val="25000"/>
            </a:srgbClr>
          </a:solidFill>
          <a:ln w="12700">
            <a:solidFill>
              <a:srgbClr val="00C8FF"/>
            </a:solidFill>
            <a:prstDash val="solid"/>
          </a:ln>
        </p:spPr>
        <p:txBody>
          <a:bodyPr/>
          <a:lstStyle/>
          <a:p>
            <a:endParaRPr lang="en-IN"/>
          </a:p>
        </p:txBody>
      </p:sp>
      <p:sp>
        <p:nvSpPr>
          <p:cNvPr id="6" name="Shape 4"/>
          <p:cNvSpPr/>
          <p:nvPr/>
        </p:nvSpPr>
        <p:spPr>
          <a:xfrm>
            <a:off x="6766560" y="1645920"/>
            <a:ext cx="822960" cy="822960"/>
          </a:xfrm>
          <a:prstGeom prst="ellipse">
            <a:avLst/>
          </a:prstGeom>
          <a:solidFill>
            <a:srgbClr val="00E5A0">
              <a:alpha val="28000"/>
            </a:srgbClr>
          </a:solidFill>
          <a:ln w="12700">
            <a:solidFill>
              <a:srgbClr val="00E5A0"/>
            </a:solidFill>
            <a:prstDash val="solid"/>
          </a:ln>
        </p:spPr>
        <p:txBody>
          <a:bodyPr/>
          <a:lstStyle/>
          <a:p>
            <a:endParaRPr lang="en-IN"/>
          </a:p>
        </p:txBody>
      </p:sp>
      <p:sp>
        <p:nvSpPr>
          <p:cNvPr id="7" name="Text 5"/>
          <p:cNvSpPr/>
          <p:nvPr/>
        </p:nvSpPr>
        <p:spPr>
          <a:xfrm>
            <a:off x="457200" y="914400"/>
            <a:ext cx="6400800" cy="457200"/>
          </a:xfrm>
          <a:prstGeom prst="rect">
            <a:avLst/>
          </a:prstGeom>
          <a:noFill/>
          <a:ln/>
        </p:spPr>
        <p:txBody>
          <a:bodyPr wrap="square" rtlCol="0" anchor="ctr"/>
          <a:lstStyle/>
          <a:p>
            <a:pPr marL="0" indent="0">
              <a:buNone/>
            </a:pPr>
            <a:r>
              <a:rPr lang="en-US" sz="1300" b="1" kern="0" spc="600" dirty="0">
                <a:solidFill>
                  <a:srgbClr val="00C8FF"/>
                </a:solidFill>
              </a:rPr>
              <a:t>GENERATIVE AI FOR DATA ANALYTICS</a:t>
            </a:r>
            <a:endParaRPr lang="en-US" sz="1300" dirty="0"/>
          </a:p>
        </p:txBody>
      </p:sp>
      <p:sp>
        <p:nvSpPr>
          <p:cNvPr id="8" name="Text 6"/>
          <p:cNvSpPr/>
          <p:nvPr/>
        </p:nvSpPr>
        <p:spPr>
          <a:xfrm>
            <a:off x="457200" y="1371600"/>
            <a:ext cx="7772400" cy="1371600"/>
          </a:xfrm>
          <a:prstGeom prst="rect">
            <a:avLst/>
          </a:prstGeom>
          <a:noFill/>
          <a:ln/>
        </p:spPr>
        <p:txBody>
          <a:bodyPr wrap="square" rtlCol="0" anchor="ctr"/>
          <a:lstStyle/>
          <a:p>
            <a:pPr marL="0" indent="0">
              <a:lnSpc>
                <a:spcPct val="110000"/>
              </a:lnSpc>
              <a:buNone/>
            </a:pPr>
            <a:r>
              <a:rPr lang="en-US" sz="5400" b="1" dirty="0">
                <a:solidFill>
                  <a:srgbClr val="FFFFFF"/>
                </a:solidFill>
                <a:latin typeface="Calibri" pitchFamily="34" charset="0"/>
                <a:ea typeface="Calibri" pitchFamily="34" charset="-122"/>
                <a:cs typeface="Calibri" pitchFamily="34" charset="-120"/>
              </a:rPr>
              <a:t>Gen AI for</a:t>
            </a:r>
            <a:endParaRPr lang="en-US" sz="5400" dirty="0"/>
          </a:p>
          <a:p>
            <a:pPr marL="0" indent="0">
              <a:lnSpc>
                <a:spcPct val="110000"/>
              </a:lnSpc>
              <a:buNone/>
            </a:pPr>
            <a:r>
              <a:rPr lang="en-US" sz="5400" b="1" dirty="0">
                <a:solidFill>
                  <a:srgbClr val="FFFFFF"/>
                </a:solidFill>
                <a:latin typeface="Calibri" pitchFamily="34" charset="0"/>
                <a:ea typeface="Calibri" pitchFamily="34" charset="-122"/>
                <a:cs typeface="Calibri" pitchFamily="34" charset="-120"/>
              </a:rPr>
              <a:t>Data Analytics</a:t>
            </a:r>
            <a:endParaRPr lang="en-US" sz="5400" dirty="0"/>
          </a:p>
        </p:txBody>
      </p:sp>
      <p:sp>
        <p:nvSpPr>
          <p:cNvPr id="9" name="Shape 7"/>
          <p:cNvSpPr/>
          <p:nvPr/>
        </p:nvSpPr>
        <p:spPr>
          <a:xfrm>
            <a:off x="457200" y="2834640"/>
            <a:ext cx="1097280" cy="54864"/>
          </a:xfrm>
          <a:prstGeom prst="rect">
            <a:avLst/>
          </a:prstGeom>
          <a:solidFill>
            <a:srgbClr val="00C8FF"/>
          </a:solidFill>
          <a:ln w="12700">
            <a:solidFill>
              <a:srgbClr val="00C8FF"/>
            </a:solidFill>
            <a:prstDash val="solid"/>
          </a:ln>
        </p:spPr>
        <p:txBody>
          <a:bodyPr/>
          <a:lstStyle/>
          <a:p>
            <a:endParaRPr lang="en-IN"/>
          </a:p>
        </p:txBody>
      </p:sp>
      <p:sp>
        <p:nvSpPr>
          <p:cNvPr id="10" name="Text 8"/>
          <p:cNvSpPr/>
          <p:nvPr/>
        </p:nvSpPr>
        <p:spPr>
          <a:xfrm>
            <a:off x="457200" y="2962656"/>
            <a:ext cx="8229600" cy="310896"/>
          </a:xfrm>
          <a:prstGeom prst="rect">
            <a:avLst/>
          </a:prstGeom>
          <a:noFill/>
          <a:ln/>
        </p:spPr>
        <p:txBody>
          <a:bodyPr wrap="square" rtlCol="0" anchor="ctr"/>
          <a:lstStyle/>
          <a:p>
            <a:pPr marL="0" indent="0">
              <a:buNone/>
            </a:pPr>
            <a:r>
              <a:rPr lang="en-US" sz="1300" dirty="0">
                <a:solidFill>
                  <a:srgbClr val="A0B4C8"/>
                </a:solidFill>
              </a:rPr>
              <a:t>Unit 3  ·  Day 9  ·  2 Hours</a:t>
            </a:r>
            <a:endParaRPr lang="en-US" sz="1300" dirty="0"/>
          </a:p>
        </p:txBody>
      </p:sp>
      <p:sp>
        <p:nvSpPr>
          <p:cNvPr id="11" name="Text 9"/>
          <p:cNvSpPr/>
          <p:nvPr/>
        </p:nvSpPr>
        <p:spPr>
          <a:xfrm>
            <a:off x="457200" y="3364992"/>
            <a:ext cx="8229600" cy="347472"/>
          </a:xfrm>
          <a:prstGeom prst="rect">
            <a:avLst/>
          </a:prstGeom>
          <a:noFill/>
          <a:ln/>
        </p:spPr>
        <p:txBody>
          <a:bodyPr wrap="square" rtlCol="0" anchor="ctr"/>
          <a:lstStyle/>
          <a:p>
            <a:pPr marL="0" indent="0">
              <a:buNone/>
            </a:pPr>
            <a:r>
              <a:rPr lang="en-US" sz="1050" i="1" dirty="0">
                <a:solidFill>
                  <a:srgbClr val="00E5A0"/>
                </a:solidFill>
              </a:rPr>
              <a:t>Data Lifecycle · Gen AI Tools · IBM watsonx · Case Study · Data Augmentation · CTGAN Lab</a:t>
            </a:r>
            <a:endParaRPr lang="en-US" sz="1050" dirty="0"/>
          </a:p>
        </p:txBody>
      </p:sp>
      <p:sp>
        <p:nvSpPr>
          <p:cNvPr id="12" name="Text 10"/>
          <p:cNvSpPr/>
          <p:nvPr/>
        </p:nvSpPr>
        <p:spPr>
          <a:xfrm>
            <a:off x="457200" y="4389120"/>
            <a:ext cx="8229600" cy="274320"/>
          </a:xfrm>
          <a:prstGeom prst="rect">
            <a:avLst/>
          </a:prstGeom>
          <a:noFill/>
          <a:ln/>
        </p:spPr>
        <p:txBody>
          <a:bodyPr wrap="square" rtlCol="0" anchor="ctr"/>
          <a:lstStyle/>
          <a:p>
            <a:pPr marL="0" indent="0">
              <a:buNone/>
            </a:pPr>
            <a:r>
              <a:rPr lang="en-US" sz="1000" dirty="0">
                <a:solidFill>
                  <a:srgbClr val="A0B4C8"/>
                </a:solidFill>
              </a:rPr>
              <a:t>VIT College  |  Corporate Training Program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743200" cy="274320"/>
          </a:xfrm>
          <a:prstGeom prst="rect">
            <a:avLst/>
          </a:prstGeom>
          <a:solidFill>
            <a:srgbClr val="7B5EA7"/>
          </a:solidFill>
          <a:ln w="12700">
            <a:solidFill>
              <a:srgbClr val="7B5EA7"/>
            </a:solidFill>
            <a:prstDash val="solid"/>
          </a:ln>
        </p:spPr>
        <p:txBody>
          <a:bodyPr/>
          <a:lstStyle/>
          <a:p>
            <a:endParaRPr lang="en-IN"/>
          </a:p>
        </p:txBody>
      </p:sp>
      <p:sp>
        <p:nvSpPr>
          <p:cNvPr id="4" name="Text 2"/>
          <p:cNvSpPr/>
          <p:nvPr/>
        </p:nvSpPr>
        <p:spPr>
          <a:xfrm>
            <a:off x="365760" y="128016"/>
            <a:ext cx="2743200" cy="274320"/>
          </a:xfrm>
          <a:prstGeom prst="rect">
            <a:avLst/>
          </a:prstGeom>
          <a:noFill/>
          <a:ln/>
        </p:spPr>
        <p:txBody>
          <a:bodyPr wrap="square" rtlCol="0" anchor="ctr"/>
          <a:lstStyle/>
          <a:p>
            <a:pPr marL="0" indent="0" algn="ctr">
              <a:buNone/>
            </a:pPr>
            <a:r>
              <a:rPr lang="en-US" sz="900" b="1" dirty="0">
                <a:solidFill>
                  <a:srgbClr val="FFFFFF"/>
                </a:solidFill>
              </a:rPr>
              <a:t>LESSON 1 · CONCEPT</a:t>
            </a:r>
            <a:endParaRPr lang="en-US" sz="900" dirty="0"/>
          </a:p>
        </p:txBody>
      </p:sp>
      <p:sp>
        <p:nvSpPr>
          <p:cNvPr id="5" name="Text 3"/>
          <p:cNvSpPr/>
          <p:nvPr/>
        </p:nvSpPr>
        <p:spPr>
          <a:xfrm>
            <a:off x="365760" y="475488"/>
            <a:ext cx="7772400" cy="438912"/>
          </a:xfrm>
          <a:prstGeom prst="rect">
            <a:avLst/>
          </a:prstGeom>
          <a:noFill/>
          <a:ln/>
        </p:spPr>
        <p:txBody>
          <a:bodyPr wrap="square" rtlCol="0" anchor="ctr"/>
          <a:lstStyle/>
          <a:p>
            <a:pPr marL="0" indent="0">
              <a:buNone/>
            </a:pPr>
            <a:r>
              <a:rPr lang="en-US" sz="2200" b="1" dirty="0">
                <a:solidFill>
                  <a:srgbClr val="FFFFFF"/>
                </a:solidFill>
              </a:rPr>
              <a:t>Generative AI for Data Analytics</a:t>
            </a:r>
            <a:endParaRPr lang="en-US" sz="2200" dirty="0"/>
          </a:p>
        </p:txBody>
      </p:sp>
      <p:pic>
        <p:nvPicPr>
          <p:cNvPr id="6" name="Image 0" descr="preencoded.png"/>
          <p:cNvPicPr>
            <a:picLocks noChangeAspect="1"/>
          </p:cNvPicPr>
          <p:nvPr/>
        </p:nvPicPr>
        <p:blipFill>
          <a:blip r:embed="rId3"/>
          <a:stretch>
            <a:fillRect/>
          </a:stretch>
        </p:blipFill>
        <p:spPr>
          <a:xfrm>
            <a:off x="8092440" y="512064"/>
            <a:ext cx="594360" cy="594360"/>
          </a:xfrm>
          <a:prstGeom prst="rect">
            <a:avLst/>
          </a:prstGeom>
        </p:spPr>
      </p:pic>
      <p:sp>
        <p:nvSpPr>
          <p:cNvPr id="7" name="Shape 4"/>
          <p:cNvSpPr/>
          <p:nvPr/>
        </p:nvSpPr>
        <p:spPr>
          <a:xfrm>
            <a:off x="274320" y="822960"/>
            <a:ext cx="8595360" cy="713232"/>
          </a:xfrm>
          <a:prstGeom prst="rect">
            <a:avLst/>
          </a:prstGeom>
          <a:solidFill>
            <a:srgbClr val="0F2041"/>
          </a:solidFill>
          <a:ln w="19050">
            <a:solidFill>
              <a:srgbClr val="00C8FF"/>
            </a:solidFill>
            <a:prstDash val="solid"/>
          </a:ln>
        </p:spPr>
        <p:txBody>
          <a:bodyPr/>
          <a:lstStyle/>
          <a:p>
            <a:endParaRPr lang="en-IN"/>
          </a:p>
        </p:txBody>
      </p:sp>
      <p:sp>
        <p:nvSpPr>
          <p:cNvPr id="8" name="Text 5"/>
          <p:cNvSpPr/>
          <p:nvPr/>
        </p:nvSpPr>
        <p:spPr>
          <a:xfrm>
            <a:off x="457200" y="841248"/>
            <a:ext cx="8229600" cy="658368"/>
          </a:xfrm>
          <a:prstGeom prst="rect">
            <a:avLst/>
          </a:prstGeom>
          <a:noFill/>
          <a:ln/>
        </p:spPr>
        <p:txBody>
          <a:bodyPr wrap="square" rtlCol="0" anchor="ctr"/>
          <a:lstStyle/>
          <a:p>
            <a:pPr marL="0" indent="0">
              <a:buNone/>
            </a:pPr>
            <a:r>
              <a:rPr lang="en-US" sz="1150" b="1" dirty="0">
                <a:solidFill>
                  <a:srgbClr val="00C8FF"/>
                </a:solidFill>
              </a:rPr>
              <a:t>Core Concept:</a:t>
            </a:r>
            <a:r>
              <a:rPr lang="en-US" sz="1150" dirty="0">
                <a:solidFill>
                  <a:srgbClr val="E8F4FD"/>
                </a:solidFill>
              </a:rPr>
              <a:t> Generative AI is not just a tool for data analytics — it is a catalyst. It contributes at every stage: generating missing data, augmenting datasets, enabling natural language queries, driving visual dashboards, and powering data storytelling.</a:t>
            </a:r>
            <a:endParaRPr lang="en-US" sz="1150" dirty="0"/>
          </a:p>
        </p:txBody>
      </p:sp>
      <p:sp>
        <p:nvSpPr>
          <p:cNvPr id="9" name="Shape 6"/>
          <p:cNvSpPr/>
          <p:nvPr/>
        </p:nvSpPr>
        <p:spPr>
          <a:xfrm>
            <a:off x="256032" y="1664208"/>
            <a:ext cx="2761488" cy="1353312"/>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10" name="Shape 7"/>
          <p:cNvSpPr/>
          <p:nvPr/>
        </p:nvSpPr>
        <p:spPr>
          <a:xfrm>
            <a:off x="256032" y="1664208"/>
            <a:ext cx="2761488" cy="45720"/>
          </a:xfrm>
          <a:prstGeom prst="rect">
            <a:avLst/>
          </a:prstGeom>
          <a:solidFill>
            <a:srgbClr val="00C8FF"/>
          </a:solidFill>
          <a:ln w="12700">
            <a:solidFill>
              <a:srgbClr val="00C8FF"/>
            </a:solidFill>
            <a:prstDash val="solid"/>
          </a:ln>
        </p:spPr>
        <p:txBody>
          <a:bodyPr/>
          <a:lstStyle/>
          <a:p>
            <a:endParaRPr lang="en-IN"/>
          </a:p>
        </p:txBody>
      </p:sp>
      <p:sp>
        <p:nvSpPr>
          <p:cNvPr id="11" name="Text 8"/>
          <p:cNvSpPr/>
          <p:nvPr/>
        </p:nvSpPr>
        <p:spPr>
          <a:xfrm>
            <a:off x="347472" y="1737360"/>
            <a:ext cx="2578608" cy="347472"/>
          </a:xfrm>
          <a:prstGeom prst="rect">
            <a:avLst/>
          </a:prstGeom>
          <a:noFill/>
          <a:ln/>
        </p:spPr>
        <p:txBody>
          <a:bodyPr wrap="square" rtlCol="0" anchor="ctr"/>
          <a:lstStyle/>
          <a:p>
            <a:pPr marL="0" indent="0">
              <a:buNone/>
            </a:pPr>
            <a:r>
              <a:rPr lang="en-US" sz="1200" b="1" dirty="0">
                <a:solidFill>
                  <a:srgbClr val="00C8FF"/>
                </a:solidFill>
              </a:rPr>
              <a:t>Data Collection</a:t>
            </a:r>
            <a:endParaRPr lang="en-US" sz="1200" dirty="0"/>
          </a:p>
        </p:txBody>
      </p:sp>
      <p:sp>
        <p:nvSpPr>
          <p:cNvPr id="12" name="Text 9"/>
          <p:cNvSpPr/>
          <p:nvPr/>
        </p:nvSpPr>
        <p:spPr>
          <a:xfrm>
            <a:off x="347472" y="2139696"/>
            <a:ext cx="2578608" cy="804672"/>
          </a:xfrm>
          <a:prstGeom prst="rect">
            <a:avLst/>
          </a:prstGeom>
          <a:noFill/>
          <a:ln/>
        </p:spPr>
        <p:txBody>
          <a:bodyPr wrap="square" rtlCol="0" anchor="ctr"/>
          <a:lstStyle/>
          <a:p>
            <a:pPr marL="0" indent="0">
              <a:buNone/>
            </a:pPr>
            <a:r>
              <a:rPr lang="en-US" sz="1000" dirty="0">
                <a:solidFill>
                  <a:srgbClr val="E8F4FD"/>
                </a:solidFill>
              </a:rPr>
              <a:t>Generates synthetic data; augments sparse datasets</a:t>
            </a:r>
            <a:endParaRPr lang="en-US" sz="1000" dirty="0"/>
          </a:p>
        </p:txBody>
      </p:sp>
      <p:sp>
        <p:nvSpPr>
          <p:cNvPr id="13" name="Shape 10"/>
          <p:cNvSpPr/>
          <p:nvPr/>
        </p:nvSpPr>
        <p:spPr>
          <a:xfrm>
            <a:off x="3163824" y="1664208"/>
            <a:ext cx="2761488" cy="1353312"/>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14" name="Shape 11"/>
          <p:cNvSpPr/>
          <p:nvPr/>
        </p:nvSpPr>
        <p:spPr>
          <a:xfrm>
            <a:off x="3163824" y="1664208"/>
            <a:ext cx="2761488" cy="45720"/>
          </a:xfrm>
          <a:prstGeom prst="rect">
            <a:avLst/>
          </a:prstGeom>
          <a:solidFill>
            <a:srgbClr val="7B5EA7"/>
          </a:solidFill>
          <a:ln w="12700">
            <a:solidFill>
              <a:srgbClr val="7B5EA7"/>
            </a:solidFill>
            <a:prstDash val="solid"/>
          </a:ln>
        </p:spPr>
        <p:txBody>
          <a:bodyPr/>
          <a:lstStyle/>
          <a:p>
            <a:endParaRPr lang="en-IN"/>
          </a:p>
        </p:txBody>
      </p:sp>
      <p:sp>
        <p:nvSpPr>
          <p:cNvPr id="15" name="Text 12"/>
          <p:cNvSpPr/>
          <p:nvPr/>
        </p:nvSpPr>
        <p:spPr>
          <a:xfrm>
            <a:off x="3255264" y="1737360"/>
            <a:ext cx="2578608" cy="347472"/>
          </a:xfrm>
          <a:prstGeom prst="rect">
            <a:avLst/>
          </a:prstGeom>
          <a:noFill/>
          <a:ln/>
        </p:spPr>
        <p:txBody>
          <a:bodyPr wrap="square" rtlCol="0" anchor="ctr"/>
          <a:lstStyle/>
          <a:p>
            <a:pPr marL="0" indent="0">
              <a:buNone/>
            </a:pPr>
            <a:r>
              <a:rPr lang="en-US" sz="1200" b="1" dirty="0">
                <a:solidFill>
                  <a:srgbClr val="7B5EA7"/>
                </a:solidFill>
              </a:rPr>
              <a:t>Data Preparation</a:t>
            </a:r>
            <a:endParaRPr lang="en-US" sz="1200" dirty="0"/>
          </a:p>
        </p:txBody>
      </p:sp>
      <p:sp>
        <p:nvSpPr>
          <p:cNvPr id="16" name="Text 13"/>
          <p:cNvSpPr/>
          <p:nvPr/>
        </p:nvSpPr>
        <p:spPr>
          <a:xfrm>
            <a:off x="3255264" y="2139696"/>
            <a:ext cx="2578608" cy="804672"/>
          </a:xfrm>
          <a:prstGeom prst="rect">
            <a:avLst/>
          </a:prstGeom>
          <a:noFill/>
          <a:ln/>
        </p:spPr>
        <p:txBody>
          <a:bodyPr wrap="square" rtlCol="0" anchor="ctr"/>
          <a:lstStyle/>
          <a:p>
            <a:pPr marL="0" indent="0">
              <a:buNone/>
            </a:pPr>
            <a:r>
              <a:rPr lang="en-US" sz="1000" dirty="0">
                <a:solidFill>
                  <a:srgbClr val="E8F4FD"/>
                </a:solidFill>
              </a:rPr>
              <a:t>Imputes missing values; fixes outliers; standardises formats</a:t>
            </a:r>
            <a:endParaRPr lang="en-US" sz="1000" dirty="0"/>
          </a:p>
        </p:txBody>
      </p:sp>
      <p:sp>
        <p:nvSpPr>
          <p:cNvPr id="17" name="Shape 14"/>
          <p:cNvSpPr/>
          <p:nvPr/>
        </p:nvSpPr>
        <p:spPr>
          <a:xfrm>
            <a:off x="6071616" y="1664208"/>
            <a:ext cx="2761488" cy="1353312"/>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18" name="Shape 15"/>
          <p:cNvSpPr/>
          <p:nvPr/>
        </p:nvSpPr>
        <p:spPr>
          <a:xfrm>
            <a:off x="6071616" y="1664208"/>
            <a:ext cx="2761488" cy="45720"/>
          </a:xfrm>
          <a:prstGeom prst="rect">
            <a:avLst/>
          </a:prstGeom>
          <a:solidFill>
            <a:srgbClr val="00E5A0"/>
          </a:solidFill>
          <a:ln w="12700">
            <a:solidFill>
              <a:srgbClr val="00E5A0"/>
            </a:solidFill>
            <a:prstDash val="solid"/>
          </a:ln>
        </p:spPr>
        <p:txBody>
          <a:bodyPr/>
          <a:lstStyle/>
          <a:p>
            <a:endParaRPr lang="en-IN"/>
          </a:p>
        </p:txBody>
      </p:sp>
      <p:sp>
        <p:nvSpPr>
          <p:cNvPr id="19" name="Text 16"/>
          <p:cNvSpPr/>
          <p:nvPr/>
        </p:nvSpPr>
        <p:spPr>
          <a:xfrm>
            <a:off x="6163056" y="1737360"/>
            <a:ext cx="2578608" cy="347472"/>
          </a:xfrm>
          <a:prstGeom prst="rect">
            <a:avLst/>
          </a:prstGeom>
          <a:noFill/>
          <a:ln/>
        </p:spPr>
        <p:txBody>
          <a:bodyPr wrap="square" rtlCol="0" anchor="ctr"/>
          <a:lstStyle/>
          <a:p>
            <a:pPr marL="0" indent="0">
              <a:buNone/>
            </a:pPr>
            <a:r>
              <a:rPr lang="en-US" sz="1200" b="1" dirty="0">
                <a:solidFill>
                  <a:srgbClr val="00E5A0"/>
                </a:solidFill>
              </a:rPr>
              <a:t>Querying</a:t>
            </a:r>
            <a:endParaRPr lang="en-US" sz="1200" dirty="0"/>
          </a:p>
        </p:txBody>
      </p:sp>
      <p:sp>
        <p:nvSpPr>
          <p:cNvPr id="20" name="Text 17"/>
          <p:cNvSpPr/>
          <p:nvPr/>
        </p:nvSpPr>
        <p:spPr>
          <a:xfrm>
            <a:off x="6163056" y="2139696"/>
            <a:ext cx="2578608" cy="804672"/>
          </a:xfrm>
          <a:prstGeom prst="rect">
            <a:avLst/>
          </a:prstGeom>
          <a:noFill/>
          <a:ln/>
        </p:spPr>
        <p:txBody>
          <a:bodyPr wrap="square" rtlCol="0" anchor="ctr"/>
          <a:lstStyle/>
          <a:p>
            <a:pPr marL="0" indent="0">
              <a:buNone/>
            </a:pPr>
            <a:r>
              <a:rPr lang="en-US" sz="1000" dirty="0">
                <a:solidFill>
                  <a:srgbClr val="E8F4FD"/>
                </a:solidFill>
              </a:rPr>
              <a:t>Converts natural language to SQL; simplifies complex queries</a:t>
            </a:r>
            <a:endParaRPr lang="en-US" sz="1000" dirty="0"/>
          </a:p>
        </p:txBody>
      </p:sp>
      <p:sp>
        <p:nvSpPr>
          <p:cNvPr id="21" name="Shape 18"/>
          <p:cNvSpPr/>
          <p:nvPr/>
        </p:nvSpPr>
        <p:spPr>
          <a:xfrm>
            <a:off x="256032" y="3145536"/>
            <a:ext cx="2761488" cy="1353312"/>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22" name="Shape 19"/>
          <p:cNvSpPr/>
          <p:nvPr/>
        </p:nvSpPr>
        <p:spPr>
          <a:xfrm>
            <a:off x="256032" y="3145536"/>
            <a:ext cx="2761488" cy="45720"/>
          </a:xfrm>
          <a:prstGeom prst="rect">
            <a:avLst/>
          </a:prstGeom>
          <a:solidFill>
            <a:srgbClr val="FFD166"/>
          </a:solidFill>
          <a:ln w="12700">
            <a:solidFill>
              <a:srgbClr val="FFD166"/>
            </a:solidFill>
            <a:prstDash val="solid"/>
          </a:ln>
        </p:spPr>
        <p:txBody>
          <a:bodyPr/>
          <a:lstStyle/>
          <a:p>
            <a:endParaRPr lang="en-IN"/>
          </a:p>
        </p:txBody>
      </p:sp>
      <p:sp>
        <p:nvSpPr>
          <p:cNvPr id="23" name="Text 20"/>
          <p:cNvSpPr/>
          <p:nvPr/>
        </p:nvSpPr>
        <p:spPr>
          <a:xfrm>
            <a:off x="347472" y="3218688"/>
            <a:ext cx="2578608" cy="347472"/>
          </a:xfrm>
          <a:prstGeom prst="rect">
            <a:avLst/>
          </a:prstGeom>
          <a:noFill/>
          <a:ln/>
        </p:spPr>
        <p:txBody>
          <a:bodyPr wrap="square" rtlCol="0" anchor="ctr"/>
          <a:lstStyle/>
          <a:p>
            <a:pPr marL="0" indent="0">
              <a:buNone/>
            </a:pPr>
            <a:r>
              <a:rPr lang="en-US" sz="1200" b="1" dirty="0">
                <a:solidFill>
                  <a:srgbClr val="FFD166"/>
                </a:solidFill>
              </a:rPr>
              <a:t>Analysis</a:t>
            </a:r>
            <a:endParaRPr lang="en-US" sz="1200" dirty="0"/>
          </a:p>
        </p:txBody>
      </p:sp>
      <p:sp>
        <p:nvSpPr>
          <p:cNvPr id="24" name="Text 21"/>
          <p:cNvSpPr/>
          <p:nvPr/>
        </p:nvSpPr>
        <p:spPr>
          <a:xfrm>
            <a:off x="347472" y="3621024"/>
            <a:ext cx="2578608" cy="804672"/>
          </a:xfrm>
          <a:prstGeom prst="rect">
            <a:avLst/>
          </a:prstGeom>
          <a:noFill/>
          <a:ln/>
        </p:spPr>
        <p:txBody>
          <a:bodyPr wrap="square" rtlCol="0" anchor="ctr"/>
          <a:lstStyle/>
          <a:p>
            <a:pPr marL="0" indent="0">
              <a:buNone/>
            </a:pPr>
            <a:r>
              <a:rPr lang="en-US" sz="1000" dirty="0">
                <a:solidFill>
                  <a:srgbClr val="E8F4FD"/>
                </a:solidFill>
              </a:rPr>
              <a:t>Finds hidden patterns; explains trends and anomalies</a:t>
            </a:r>
            <a:endParaRPr lang="en-US" sz="1000" dirty="0"/>
          </a:p>
        </p:txBody>
      </p:sp>
      <p:sp>
        <p:nvSpPr>
          <p:cNvPr id="25" name="Shape 22"/>
          <p:cNvSpPr/>
          <p:nvPr/>
        </p:nvSpPr>
        <p:spPr>
          <a:xfrm>
            <a:off x="3163824" y="3145536"/>
            <a:ext cx="2761488" cy="1353312"/>
          </a:xfrm>
          <a:prstGeom prst="rect">
            <a:avLst/>
          </a:prstGeom>
          <a:solidFill>
            <a:srgbClr val="1122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IN"/>
          </a:p>
        </p:txBody>
      </p:sp>
      <p:sp>
        <p:nvSpPr>
          <p:cNvPr id="26" name="Shape 23"/>
          <p:cNvSpPr/>
          <p:nvPr/>
        </p:nvSpPr>
        <p:spPr>
          <a:xfrm>
            <a:off x="3163824" y="3145536"/>
            <a:ext cx="2761488" cy="45720"/>
          </a:xfrm>
          <a:prstGeom prst="rect">
            <a:avLst/>
          </a:prstGeom>
          <a:solidFill>
            <a:srgbClr val="FF6B6B"/>
          </a:solidFill>
          <a:ln w="12700">
            <a:solidFill>
              <a:srgbClr val="FF6B6B"/>
            </a:solidFill>
            <a:prstDash val="solid"/>
          </a:ln>
        </p:spPr>
        <p:txBody>
          <a:bodyPr/>
          <a:lstStyle/>
          <a:p>
            <a:endParaRPr lang="en-IN"/>
          </a:p>
        </p:txBody>
      </p:sp>
      <p:sp>
        <p:nvSpPr>
          <p:cNvPr id="27" name="Text 24"/>
          <p:cNvSpPr/>
          <p:nvPr/>
        </p:nvSpPr>
        <p:spPr>
          <a:xfrm>
            <a:off x="3255264" y="3218688"/>
            <a:ext cx="2578608" cy="347472"/>
          </a:xfrm>
          <a:prstGeom prst="rect">
            <a:avLst/>
          </a:prstGeom>
          <a:noFill/>
          <a:ln/>
        </p:spPr>
        <p:txBody>
          <a:bodyPr wrap="square" rtlCol="0" anchor="ctr"/>
          <a:lstStyle/>
          <a:p>
            <a:pPr marL="0" indent="0">
              <a:buNone/>
            </a:pPr>
            <a:r>
              <a:rPr lang="en-US" sz="1200" b="1" dirty="0">
                <a:solidFill>
                  <a:srgbClr val="FF6B6B"/>
                </a:solidFill>
              </a:rPr>
              <a:t>Visualisation</a:t>
            </a:r>
            <a:endParaRPr lang="en-US" sz="1200" dirty="0"/>
          </a:p>
        </p:txBody>
      </p:sp>
      <p:sp>
        <p:nvSpPr>
          <p:cNvPr id="28" name="Text 25"/>
          <p:cNvSpPr/>
          <p:nvPr/>
        </p:nvSpPr>
        <p:spPr>
          <a:xfrm>
            <a:off x="3255264" y="3621024"/>
            <a:ext cx="2578608" cy="804672"/>
          </a:xfrm>
          <a:prstGeom prst="rect">
            <a:avLst/>
          </a:prstGeom>
          <a:noFill/>
          <a:ln/>
        </p:spPr>
        <p:txBody>
          <a:bodyPr wrap="square" rtlCol="0" anchor="ctr"/>
          <a:lstStyle/>
          <a:p>
            <a:pPr marL="0" indent="0">
              <a:buNone/>
            </a:pPr>
            <a:r>
              <a:rPr lang="en-US" sz="1000" dirty="0">
                <a:solidFill>
                  <a:srgbClr val="E8F4FD"/>
                </a:solidFill>
              </a:rPr>
              <a:t>Builds dashboards; adapts charts for audience</a:t>
            </a:r>
            <a:endParaRPr lang="en-US" sz="1000" dirty="0"/>
          </a:p>
        </p:txBody>
      </p:sp>
      <p:sp>
        <p:nvSpPr>
          <p:cNvPr id="29" name="Shape 26"/>
          <p:cNvSpPr/>
          <p:nvPr/>
        </p:nvSpPr>
        <p:spPr>
          <a:xfrm>
            <a:off x="6071616" y="3145536"/>
            <a:ext cx="2761488" cy="1353312"/>
          </a:xfrm>
          <a:prstGeom prst="rect">
            <a:avLst/>
          </a:prstGeom>
          <a:solidFill>
            <a:srgbClr val="112244"/>
          </a:solidFill>
          <a:ln w="19050">
            <a:solidFill>
              <a:srgbClr val="00D4AA"/>
            </a:solidFill>
            <a:prstDash val="solid"/>
          </a:ln>
          <a:effectLst>
            <a:outerShdw blurRad="101600" dist="38100" dir="8100000" algn="bl" rotWithShape="0">
              <a:srgbClr val="000000">
                <a:alpha val="25000"/>
              </a:srgbClr>
            </a:outerShdw>
          </a:effectLst>
        </p:spPr>
        <p:txBody>
          <a:bodyPr/>
          <a:lstStyle/>
          <a:p>
            <a:endParaRPr lang="en-IN"/>
          </a:p>
        </p:txBody>
      </p:sp>
      <p:sp>
        <p:nvSpPr>
          <p:cNvPr id="30" name="Shape 27"/>
          <p:cNvSpPr/>
          <p:nvPr/>
        </p:nvSpPr>
        <p:spPr>
          <a:xfrm>
            <a:off x="6071616" y="3145536"/>
            <a:ext cx="2761488" cy="45720"/>
          </a:xfrm>
          <a:prstGeom prst="rect">
            <a:avLst/>
          </a:prstGeom>
          <a:solidFill>
            <a:srgbClr val="00D4AA"/>
          </a:solidFill>
          <a:ln w="12700">
            <a:solidFill>
              <a:srgbClr val="00D4AA"/>
            </a:solidFill>
            <a:prstDash val="solid"/>
          </a:ln>
        </p:spPr>
        <p:txBody>
          <a:bodyPr/>
          <a:lstStyle/>
          <a:p>
            <a:endParaRPr lang="en-IN"/>
          </a:p>
        </p:txBody>
      </p:sp>
      <p:sp>
        <p:nvSpPr>
          <p:cNvPr id="31" name="Text 28"/>
          <p:cNvSpPr/>
          <p:nvPr/>
        </p:nvSpPr>
        <p:spPr>
          <a:xfrm>
            <a:off x="6163056" y="3218688"/>
            <a:ext cx="2578608" cy="347472"/>
          </a:xfrm>
          <a:prstGeom prst="rect">
            <a:avLst/>
          </a:prstGeom>
          <a:noFill/>
          <a:ln/>
        </p:spPr>
        <p:txBody>
          <a:bodyPr wrap="square" rtlCol="0" anchor="ctr"/>
          <a:lstStyle/>
          <a:p>
            <a:pPr marL="0" indent="0">
              <a:buNone/>
            </a:pPr>
            <a:r>
              <a:rPr lang="en-US" sz="1200" b="1" dirty="0">
                <a:solidFill>
                  <a:srgbClr val="00D4AA"/>
                </a:solidFill>
              </a:rPr>
              <a:t>Storytelling</a:t>
            </a:r>
            <a:endParaRPr lang="en-US" sz="1200" dirty="0"/>
          </a:p>
        </p:txBody>
      </p:sp>
      <p:sp>
        <p:nvSpPr>
          <p:cNvPr id="32" name="Text 29"/>
          <p:cNvSpPr/>
          <p:nvPr/>
        </p:nvSpPr>
        <p:spPr>
          <a:xfrm>
            <a:off x="6163056" y="3621024"/>
            <a:ext cx="2578608" cy="804672"/>
          </a:xfrm>
          <a:prstGeom prst="rect">
            <a:avLst/>
          </a:prstGeom>
          <a:noFill/>
          <a:ln/>
        </p:spPr>
        <p:txBody>
          <a:bodyPr wrap="square" rtlCol="0" anchor="ctr"/>
          <a:lstStyle/>
          <a:p>
            <a:pPr marL="0" indent="0">
              <a:buNone/>
            </a:pPr>
            <a:r>
              <a:rPr lang="en-US" sz="1000" dirty="0">
                <a:solidFill>
                  <a:srgbClr val="E8F4FD"/>
                </a:solidFill>
              </a:rPr>
              <a:t>Auto-generates narratives; adapts tone for audience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743200" cy="274320"/>
          </a:xfrm>
          <a:prstGeom prst="rect">
            <a:avLst/>
          </a:prstGeom>
          <a:solidFill>
            <a:srgbClr val="7B5EA7"/>
          </a:solidFill>
          <a:ln w="12700">
            <a:solidFill>
              <a:srgbClr val="7B5EA7"/>
            </a:solidFill>
            <a:prstDash val="solid"/>
          </a:ln>
        </p:spPr>
        <p:txBody>
          <a:bodyPr/>
          <a:lstStyle/>
          <a:p>
            <a:endParaRPr lang="en-IN"/>
          </a:p>
        </p:txBody>
      </p:sp>
      <p:sp>
        <p:nvSpPr>
          <p:cNvPr id="4" name="Text 2"/>
          <p:cNvSpPr/>
          <p:nvPr/>
        </p:nvSpPr>
        <p:spPr>
          <a:xfrm>
            <a:off x="365760" y="128016"/>
            <a:ext cx="2743200" cy="274320"/>
          </a:xfrm>
          <a:prstGeom prst="rect">
            <a:avLst/>
          </a:prstGeom>
          <a:noFill/>
          <a:ln/>
        </p:spPr>
        <p:txBody>
          <a:bodyPr wrap="square" rtlCol="0" anchor="ctr"/>
          <a:lstStyle/>
          <a:p>
            <a:pPr marL="0" indent="0" algn="ctr">
              <a:buNone/>
            </a:pPr>
            <a:r>
              <a:rPr lang="en-US" sz="900" b="1" dirty="0">
                <a:solidFill>
                  <a:srgbClr val="FFFFFF"/>
                </a:solidFill>
              </a:rPr>
              <a:t>LESSON 1 · TOOLS</a:t>
            </a:r>
            <a:endParaRPr lang="en-US" sz="900" dirty="0"/>
          </a:p>
        </p:txBody>
      </p:sp>
      <p:sp>
        <p:nvSpPr>
          <p:cNvPr id="5" name="Text 3"/>
          <p:cNvSpPr/>
          <p:nvPr/>
        </p:nvSpPr>
        <p:spPr>
          <a:xfrm>
            <a:off x="365760" y="475488"/>
            <a:ext cx="7772400" cy="438912"/>
          </a:xfrm>
          <a:prstGeom prst="rect">
            <a:avLst/>
          </a:prstGeom>
          <a:noFill/>
          <a:ln/>
        </p:spPr>
        <p:txBody>
          <a:bodyPr wrap="square" rtlCol="0" anchor="ctr"/>
          <a:lstStyle/>
          <a:p>
            <a:pPr marL="0" indent="0">
              <a:buNone/>
            </a:pPr>
            <a:r>
              <a:rPr lang="en-US" sz="2200" b="1" dirty="0">
                <a:solidFill>
                  <a:srgbClr val="FFFFFF"/>
                </a:solidFill>
              </a:rPr>
              <a:t>Gen AI Tools for Data Analytics — By Category</a:t>
            </a:r>
            <a:endParaRPr lang="en-US" sz="2200" dirty="0"/>
          </a:p>
        </p:txBody>
      </p:sp>
      <p:sp>
        <p:nvSpPr>
          <p:cNvPr id="6" name="Shape 4"/>
          <p:cNvSpPr/>
          <p:nvPr/>
        </p:nvSpPr>
        <p:spPr>
          <a:xfrm>
            <a:off x="256032" y="987552"/>
            <a:ext cx="2761488" cy="1828800"/>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7" name="Shape 5"/>
          <p:cNvSpPr/>
          <p:nvPr/>
        </p:nvSpPr>
        <p:spPr>
          <a:xfrm>
            <a:off x="256032" y="987552"/>
            <a:ext cx="2761488" cy="347472"/>
          </a:xfrm>
          <a:prstGeom prst="rect">
            <a:avLst/>
          </a:prstGeom>
          <a:solidFill>
            <a:srgbClr val="00C8FF"/>
          </a:solidFill>
          <a:ln w="12700">
            <a:solidFill>
              <a:srgbClr val="00C8FF"/>
            </a:solidFill>
            <a:prstDash val="solid"/>
          </a:ln>
        </p:spPr>
        <p:txBody>
          <a:bodyPr/>
          <a:lstStyle/>
          <a:p>
            <a:endParaRPr lang="en-IN"/>
          </a:p>
        </p:txBody>
      </p:sp>
      <p:sp>
        <p:nvSpPr>
          <p:cNvPr id="8" name="Text 6"/>
          <p:cNvSpPr/>
          <p:nvPr/>
        </p:nvSpPr>
        <p:spPr>
          <a:xfrm>
            <a:off x="256032" y="987552"/>
            <a:ext cx="2761488" cy="347472"/>
          </a:xfrm>
          <a:prstGeom prst="rect">
            <a:avLst/>
          </a:prstGeom>
          <a:noFill/>
          <a:ln/>
        </p:spPr>
        <p:txBody>
          <a:bodyPr wrap="square" rtlCol="0" anchor="ctr"/>
          <a:lstStyle/>
          <a:p>
            <a:pPr marL="0" indent="0" algn="ctr">
              <a:buNone/>
            </a:pPr>
            <a:r>
              <a:rPr lang="en-US" sz="1050" b="1" dirty="0">
                <a:solidFill>
                  <a:srgbClr val="0A1628"/>
                </a:solidFill>
              </a:rPr>
              <a:t>BI &amp; Visualisation</a:t>
            </a:r>
            <a:endParaRPr lang="en-US" sz="1050" dirty="0"/>
          </a:p>
        </p:txBody>
      </p:sp>
      <p:sp>
        <p:nvSpPr>
          <p:cNvPr id="9" name="Text 7"/>
          <p:cNvSpPr/>
          <p:nvPr/>
        </p:nvSpPr>
        <p:spPr>
          <a:xfrm>
            <a:off x="347472" y="1389888"/>
            <a:ext cx="2578608" cy="1353312"/>
          </a:xfrm>
          <a:prstGeom prst="rect">
            <a:avLst/>
          </a:prstGeom>
          <a:noFill/>
          <a:ln/>
        </p:spPr>
        <p:txBody>
          <a:bodyPr wrap="square" rtlCol="0" anchor="ctr"/>
          <a:lstStyle/>
          <a:p>
            <a:pPr marL="342900" indent="-342900">
              <a:buSzPct val="100000"/>
              <a:buChar char="•"/>
            </a:pPr>
            <a:r>
              <a:rPr lang="en-US" sz="950" dirty="0">
                <a:solidFill>
                  <a:srgbClr val="E8F4FD"/>
                </a:solidFill>
              </a:rPr>
              <a:t>Tableau AI — NL queries → charts instantly</a:t>
            </a:r>
            <a:endParaRPr lang="en-US" sz="950" dirty="0"/>
          </a:p>
          <a:p>
            <a:pPr marL="342900" indent="-342900">
              <a:buSzPct val="100000"/>
              <a:buChar char="•"/>
            </a:pPr>
            <a:r>
              <a:rPr lang="en-US" sz="950" dirty="0">
                <a:solidFill>
                  <a:srgbClr val="E8F4FD"/>
                </a:solidFill>
              </a:rPr>
              <a:t>IBM Cognos Analytics — AI-powered dashboards</a:t>
            </a:r>
            <a:endParaRPr lang="en-US" sz="950" dirty="0"/>
          </a:p>
          <a:p>
            <a:pPr marL="342900" indent="-342900">
              <a:buSzPct val="100000"/>
              <a:buChar char="•"/>
            </a:pPr>
            <a:r>
              <a:rPr lang="en-US" sz="950" dirty="0">
                <a:solidFill>
                  <a:srgbClr val="E8F4FD"/>
                </a:solidFill>
              </a:rPr>
              <a:t>Google Looker AI — BigQuery NL queries</a:t>
            </a:r>
            <a:endParaRPr lang="en-US" sz="950" dirty="0"/>
          </a:p>
        </p:txBody>
      </p:sp>
      <p:sp>
        <p:nvSpPr>
          <p:cNvPr id="10" name="Shape 8"/>
          <p:cNvSpPr/>
          <p:nvPr/>
        </p:nvSpPr>
        <p:spPr>
          <a:xfrm>
            <a:off x="3163824" y="987552"/>
            <a:ext cx="2761488" cy="1828800"/>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3163824" y="987552"/>
            <a:ext cx="2761488" cy="347472"/>
          </a:xfrm>
          <a:prstGeom prst="rect">
            <a:avLst/>
          </a:prstGeom>
          <a:solidFill>
            <a:srgbClr val="00E5A0"/>
          </a:solidFill>
          <a:ln w="12700">
            <a:solidFill>
              <a:srgbClr val="00E5A0"/>
            </a:solidFill>
            <a:prstDash val="solid"/>
          </a:ln>
        </p:spPr>
        <p:txBody>
          <a:bodyPr/>
          <a:lstStyle/>
          <a:p>
            <a:endParaRPr lang="en-IN"/>
          </a:p>
        </p:txBody>
      </p:sp>
      <p:sp>
        <p:nvSpPr>
          <p:cNvPr id="12" name="Text 10"/>
          <p:cNvSpPr/>
          <p:nvPr/>
        </p:nvSpPr>
        <p:spPr>
          <a:xfrm>
            <a:off x="3163824" y="987552"/>
            <a:ext cx="2761488" cy="347472"/>
          </a:xfrm>
          <a:prstGeom prst="rect">
            <a:avLst/>
          </a:prstGeom>
          <a:noFill/>
          <a:ln/>
        </p:spPr>
        <p:txBody>
          <a:bodyPr wrap="square" rtlCol="0" anchor="ctr"/>
          <a:lstStyle/>
          <a:p>
            <a:pPr marL="0" indent="0" algn="ctr">
              <a:buNone/>
            </a:pPr>
            <a:r>
              <a:rPr lang="en-US" sz="1050" b="1" dirty="0">
                <a:solidFill>
                  <a:srgbClr val="0A1628"/>
                </a:solidFill>
              </a:rPr>
              <a:t>Data Augmentation</a:t>
            </a:r>
            <a:endParaRPr lang="en-US" sz="1050" dirty="0"/>
          </a:p>
        </p:txBody>
      </p:sp>
      <p:sp>
        <p:nvSpPr>
          <p:cNvPr id="13" name="Text 11"/>
          <p:cNvSpPr/>
          <p:nvPr/>
        </p:nvSpPr>
        <p:spPr>
          <a:xfrm>
            <a:off x="3255264" y="1389888"/>
            <a:ext cx="2578608" cy="1353312"/>
          </a:xfrm>
          <a:prstGeom prst="rect">
            <a:avLst/>
          </a:prstGeom>
          <a:noFill/>
          <a:ln/>
        </p:spPr>
        <p:txBody>
          <a:bodyPr wrap="square" rtlCol="0" anchor="ctr"/>
          <a:lstStyle/>
          <a:p>
            <a:pPr marL="342900" indent="-342900">
              <a:buSzPct val="100000"/>
              <a:buChar char="•"/>
            </a:pPr>
            <a:r>
              <a:rPr lang="en-US" sz="950" dirty="0">
                <a:solidFill>
                  <a:srgbClr val="E8F4FD"/>
                </a:solidFill>
              </a:rPr>
              <a:t>CTGAN — synthetic tabular data (GAN)</a:t>
            </a:r>
            <a:endParaRPr lang="en-US" sz="950" dirty="0"/>
          </a:p>
          <a:p>
            <a:pPr marL="342900" indent="-342900">
              <a:buSzPct val="100000"/>
              <a:buChar char="•"/>
            </a:pPr>
            <a:r>
              <a:rPr lang="en-US" sz="950" dirty="0">
                <a:solidFill>
                  <a:srgbClr val="E8F4FD"/>
                </a:solidFill>
              </a:rPr>
              <a:t>SDV — Synthetic Data Vault toolkit</a:t>
            </a:r>
            <a:endParaRPr lang="en-US" sz="950" dirty="0"/>
          </a:p>
          <a:p>
            <a:pPr marL="342900" indent="-342900">
              <a:buSzPct val="100000"/>
              <a:buChar char="•"/>
            </a:pPr>
            <a:r>
              <a:rPr lang="en-US" sz="950" dirty="0">
                <a:solidFill>
                  <a:srgbClr val="E8F4FD"/>
                </a:solidFill>
              </a:rPr>
              <a:t>StyleGAN2 / BigGAN — image augmentation</a:t>
            </a:r>
            <a:endParaRPr lang="en-US" sz="950" dirty="0"/>
          </a:p>
          <a:p>
            <a:pPr marL="342900" indent="-342900">
              <a:buSzPct val="100000"/>
              <a:buChar char="•"/>
            </a:pPr>
            <a:r>
              <a:rPr lang="en-US" sz="950" dirty="0">
                <a:solidFill>
                  <a:srgbClr val="E8F4FD"/>
                </a:solidFill>
              </a:rPr>
              <a:t>CycleGAN — image domain translation</a:t>
            </a:r>
            <a:endParaRPr lang="en-US" sz="950" dirty="0"/>
          </a:p>
        </p:txBody>
      </p:sp>
      <p:sp>
        <p:nvSpPr>
          <p:cNvPr id="14" name="Shape 12"/>
          <p:cNvSpPr/>
          <p:nvPr/>
        </p:nvSpPr>
        <p:spPr>
          <a:xfrm>
            <a:off x="6071616" y="987552"/>
            <a:ext cx="2761488" cy="1828800"/>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15" name="Shape 13"/>
          <p:cNvSpPr/>
          <p:nvPr/>
        </p:nvSpPr>
        <p:spPr>
          <a:xfrm>
            <a:off x="6071616" y="987552"/>
            <a:ext cx="2761488" cy="347472"/>
          </a:xfrm>
          <a:prstGeom prst="rect">
            <a:avLst/>
          </a:prstGeom>
          <a:solidFill>
            <a:srgbClr val="FFD166"/>
          </a:solidFill>
          <a:ln w="12700">
            <a:solidFill>
              <a:srgbClr val="FFD166"/>
            </a:solidFill>
            <a:prstDash val="solid"/>
          </a:ln>
        </p:spPr>
        <p:txBody>
          <a:bodyPr/>
          <a:lstStyle/>
          <a:p>
            <a:endParaRPr lang="en-IN"/>
          </a:p>
        </p:txBody>
      </p:sp>
      <p:sp>
        <p:nvSpPr>
          <p:cNvPr id="16" name="Text 14"/>
          <p:cNvSpPr/>
          <p:nvPr/>
        </p:nvSpPr>
        <p:spPr>
          <a:xfrm>
            <a:off x="6071616" y="987552"/>
            <a:ext cx="2761488" cy="347472"/>
          </a:xfrm>
          <a:prstGeom prst="rect">
            <a:avLst/>
          </a:prstGeom>
          <a:noFill/>
          <a:ln/>
        </p:spPr>
        <p:txBody>
          <a:bodyPr wrap="square" rtlCol="0" anchor="ctr"/>
          <a:lstStyle/>
          <a:p>
            <a:pPr marL="0" indent="0" algn="ctr">
              <a:buNone/>
            </a:pPr>
            <a:r>
              <a:rPr lang="en-US" sz="1050" b="1" dirty="0">
                <a:solidFill>
                  <a:srgbClr val="0A1628"/>
                </a:solidFill>
              </a:rPr>
              <a:t>AutoML &amp; Analysis</a:t>
            </a:r>
            <a:endParaRPr lang="en-US" sz="1050" dirty="0"/>
          </a:p>
        </p:txBody>
      </p:sp>
      <p:sp>
        <p:nvSpPr>
          <p:cNvPr id="17" name="Text 15"/>
          <p:cNvSpPr/>
          <p:nvPr/>
        </p:nvSpPr>
        <p:spPr>
          <a:xfrm>
            <a:off x="6163056" y="1389888"/>
            <a:ext cx="2578608" cy="1353312"/>
          </a:xfrm>
          <a:prstGeom prst="rect">
            <a:avLst/>
          </a:prstGeom>
          <a:noFill/>
          <a:ln/>
        </p:spPr>
        <p:txBody>
          <a:bodyPr wrap="square" rtlCol="0" anchor="ctr"/>
          <a:lstStyle/>
          <a:p>
            <a:pPr marL="342900" indent="-342900">
              <a:buSzPct val="100000"/>
              <a:buChar char="•"/>
            </a:pPr>
            <a:r>
              <a:rPr lang="en-US" sz="950" dirty="0">
                <a:solidFill>
                  <a:srgbClr val="E8F4FD"/>
                </a:solidFill>
              </a:rPr>
              <a:t>ChatGPT Code Interpreter — upload + analyse</a:t>
            </a:r>
            <a:endParaRPr lang="en-US" sz="950" dirty="0"/>
          </a:p>
          <a:p>
            <a:pPr marL="342900" indent="-342900">
              <a:buSzPct val="100000"/>
              <a:buChar char="•"/>
            </a:pPr>
            <a:r>
              <a:rPr lang="en-US" sz="950" dirty="0">
                <a:solidFill>
                  <a:srgbClr val="E8F4FD"/>
                </a:solidFill>
              </a:rPr>
              <a:t>TPOT — genetic algorithm pipeline builder</a:t>
            </a:r>
            <a:endParaRPr lang="en-US" sz="950" dirty="0"/>
          </a:p>
          <a:p>
            <a:pPr marL="342900" indent="-342900">
              <a:buSzPct val="100000"/>
              <a:buChar char="•"/>
            </a:pPr>
            <a:r>
              <a:rPr lang="en-US" sz="950" dirty="0">
                <a:solidFill>
                  <a:srgbClr val="E8F4FD"/>
                </a:solidFill>
              </a:rPr>
              <a:t>H2O Driverless AI — enterprise AutoML</a:t>
            </a:r>
            <a:endParaRPr lang="en-US" sz="950" dirty="0"/>
          </a:p>
          <a:p>
            <a:pPr marL="342900" indent="-342900">
              <a:buSzPct val="100000"/>
              <a:buChar char="•"/>
            </a:pPr>
            <a:r>
              <a:rPr lang="en-US" sz="950" dirty="0">
                <a:solidFill>
                  <a:srgbClr val="E8F4FD"/>
                </a:solidFill>
              </a:rPr>
              <a:t>Featuretools — auto feature engineering</a:t>
            </a:r>
            <a:endParaRPr lang="en-US" sz="950" dirty="0"/>
          </a:p>
        </p:txBody>
      </p:sp>
      <p:sp>
        <p:nvSpPr>
          <p:cNvPr id="18" name="Shape 16"/>
          <p:cNvSpPr/>
          <p:nvPr/>
        </p:nvSpPr>
        <p:spPr>
          <a:xfrm>
            <a:off x="256032" y="2953512"/>
            <a:ext cx="2761488" cy="1828800"/>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19" name="Shape 17"/>
          <p:cNvSpPr/>
          <p:nvPr/>
        </p:nvSpPr>
        <p:spPr>
          <a:xfrm>
            <a:off x="256032" y="2953512"/>
            <a:ext cx="2761488" cy="347472"/>
          </a:xfrm>
          <a:prstGeom prst="rect">
            <a:avLst/>
          </a:prstGeom>
          <a:solidFill>
            <a:srgbClr val="7B5EA7"/>
          </a:solidFill>
          <a:ln w="12700">
            <a:solidFill>
              <a:srgbClr val="7B5EA7"/>
            </a:solidFill>
            <a:prstDash val="solid"/>
          </a:ln>
        </p:spPr>
        <p:txBody>
          <a:bodyPr/>
          <a:lstStyle/>
          <a:p>
            <a:endParaRPr lang="en-IN"/>
          </a:p>
        </p:txBody>
      </p:sp>
      <p:sp>
        <p:nvSpPr>
          <p:cNvPr id="20" name="Text 18"/>
          <p:cNvSpPr/>
          <p:nvPr/>
        </p:nvSpPr>
        <p:spPr>
          <a:xfrm>
            <a:off x="256032" y="2953512"/>
            <a:ext cx="2761488" cy="347472"/>
          </a:xfrm>
          <a:prstGeom prst="rect">
            <a:avLst/>
          </a:prstGeom>
          <a:noFill/>
          <a:ln/>
        </p:spPr>
        <p:txBody>
          <a:bodyPr wrap="square" rtlCol="0" anchor="ctr"/>
          <a:lstStyle/>
          <a:p>
            <a:pPr marL="0" indent="0" algn="ctr">
              <a:buNone/>
            </a:pPr>
            <a:r>
              <a:rPr lang="en-US" sz="1050" b="1" dirty="0">
                <a:solidFill>
                  <a:srgbClr val="0A1628"/>
                </a:solidFill>
              </a:rPr>
              <a:t>Explainable AI (XAI)</a:t>
            </a:r>
            <a:endParaRPr lang="en-US" sz="1050" dirty="0"/>
          </a:p>
        </p:txBody>
      </p:sp>
      <p:sp>
        <p:nvSpPr>
          <p:cNvPr id="21" name="Text 19"/>
          <p:cNvSpPr/>
          <p:nvPr/>
        </p:nvSpPr>
        <p:spPr>
          <a:xfrm>
            <a:off x="347472" y="3355848"/>
            <a:ext cx="2578608" cy="1353312"/>
          </a:xfrm>
          <a:prstGeom prst="rect">
            <a:avLst/>
          </a:prstGeom>
          <a:noFill/>
          <a:ln/>
        </p:spPr>
        <p:txBody>
          <a:bodyPr wrap="square" rtlCol="0" anchor="ctr"/>
          <a:lstStyle/>
          <a:p>
            <a:pPr marL="342900" indent="-342900">
              <a:buSzPct val="100000"/>
              <a:buChar char="•"/>
            </a:pPr>
            <a:r>
              <a:rPr lang="en-US" sz="950" dirty="0">
                <a:solidFill>
                  <a:srgbClr val="E8F4FD"/>
                </a:solidFill>
              </a:rPr>
              <a:t>LIME — explains individual predictions</a:t>
            </a:r>
            <a:endParaRPr lang="en-US" sz="950" dirty="0"/>
          </a:p>
          <a:p>
            <a:pPr marL="342900" indent="-342900">
              <a:buSzPct val="100000"/>
              <a:buChar char="•"/>
            </a:pPr>
            <a:r>
              <a:rPr lang="en-US" sz="950" dirty="0">
                <a:solidFill>
                  <a:srgbClr val="E8F4FD"/>
                </a:solidFill>
              </a:rPr>
              <a:t>SHAP — feature importance via game theory</a:t>
            </a:r>
            <a:endParaRPr lang="en-US" sz="950" dirty="0"/>
          </a:p>
          <a:p>
            <a:pPr marL="342900" indent="-342900">
              <a:buSzPct val="100000"/>
              <a:buChar char="•"/>
            </a:pPr>
            <a:r>
              <a:rPr lang="en-US" sz="950" dirty="0">
                <a:solidFill>
                  <a:srgbClr val="E8F4FD"/>
                </a:solidFill>
              </a:rPr>
              <a:t>Captum — PyTorch model attribution</a:t>
            </a:r>
            <a:endParaRPr lang="en-US" sz="950" dirty="0"/>
          </a:p>
        </p:txBody>
      </p:sp>
      <p:sp>
        <p:nvSpPr>
          <p:cNvPr id="22" name="Shape 20"/>
          <p:cNvSpPr/>
          <p:nvPr/>
        </p:nvSpPr>
        <p:spPr>
          <a:xfrm>
            <a:off x="3163824" y="2953512"/>
            <a:ext cx="2761488" cy="1828800"/>
          </a:xfrm>
          <a:prstGeom prst="rect">
            <a:avLst/>
          </a:prstGeom>
          <a:solidFill>
            <a:srgbClr val="1122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IN"/>
          </a:p>
        </p:txBody>
      </p:sp>
      <p:sp>
        <p:nvSpPr>
          <p:cNvPr id="23" name="Shape 21"/>
          <p:cNvSpPr/>
          <p:nvPr/>
        </p:nvSpPr>
        <p:spPr>
          <a:xfrm>
            <a:off x="3163824" y="2953512"/>
            <a:ext cx="2761488" cy="347472"/>
          </a:xfrm>
          <a:prstGeom prst="rect">
            <a:avLst/>
          </a:prstGeom>
          <a:solidFill>
            <a:srgbClr val="FF6B6B"/>
          </a:solidFill>
          <a:ln w="12700">
            <a:solidFill>
              <a:srgbClr val="FF6B6B"/>
            </a:solidFill>
            <a:prstDash val="solid"/>
          </a:ln>
        </p:spPr>
        <p:txBody>
          <a:bodyPr/>
          <a:lstStyle/>
          <a:p>
            <a:endParaRPr lang="en-IN"/>
          </a:p>
        </p:txBody>
      </p:sp>
      <p:sp>
        <p:nvSpPr>
          <p:cNvPr id="24" name="Text 22"/>
          <p:cNvSpPr/>
          <p:nvPr/>
        </p:nvSpPr>
        <p:spPr>
          <a:xfrm>
            <a:off x="3163824" y="2953512"/>
            <a:ext cx="2761488" cy="347472"/>
          </a:xfrm>
          <a:prstGeom prst="rect">
            <a:avLst/>
          </a:prstGeom>
          <a:noFill/>
          <a:ln/>
        </p:spPr>
        <p:txBody>
          <a:bodyPr wrap="square" rtlCol="0" anchor="ctr"/>
          <a:lstStyle/>
          <a:p>
            <a:pPr marL="0" indent="0" algn="ctr">
              <a:buNone/>
            </a:pPr>
            <a:r>
              <a:rPr lang="en-US" sz="1050" b="1" dirty="0">
                <a:solidFill>
                  <a:srgbClr val="0A1628"/>
                </a:solidFill>
              </a:rPr>
              <a:t>NLP &amp; Data Cleaning</a:t>
            </a:r>
            <a:endParaRPr lang="en-US" sz="1050" dirty="0"/>
          </a:p>
        </p:txBody>
      </p:sp>
      <p:sp>
        <p:nvSpPr>
          <p:cNvPr id="25" name="Text 23"/>
          <p:cNvSpPr/>
          <p:nvPr/>
        </p:nvSpPr>
        <p:spPr>
          <a:xfrm>
            <a:off x="3255264" y="3355848"/>
            <a:ext cx="2578608" cy="1353312"/>
          </a:xfrm>
          <a:prstGeom prst="rect">
            <a:avLst/>
          </a:prstGeom>
          <a:noFill/>
          <a:ln/>
        </p:spPr>
        <p:txBody>
          <a:bodyPr wrap="square" rtlCol="0" anchor="ctr"/>
          <a:lstStyle/>
          <a:p>
            <a:pPr marL="342900" indent="-342900">
              <a:buSzPct val="100000"/>
              <a:buChar char="•"/>
            </a:pPr>
            <a:r>
              <a:rPr lang="en-US" sz="950" dirty="0">
                <a:solidFill>
                  <a:srgbClr val="E8F4FD"/>
                </a:solidFill>
              </a:rPr>
              <a:t>spaCy — fast Python NLP library</a:t>
            </a:r>
            <a:endParaRPr lang="en-US" sz="950" dirty="0"/>
          </a:p>
          <a:p>
            <a:pPr marL="342900" indent="-342900">
              <a:buSzPct val="100000"/>
              <a:buChar char="•"/>
            </a:pPr>
            <a:r>
              <a:rPr lang="en-US" sz="950" dirty="0">
                <a:solidFill>
                  <a:srgbClr val="E8F4FD"/>
                </a:solidFill>
              </a:rPr>
              <a:t>Stanford CoreNLP — deep text analysis</a:t>
            </a:r>
            <a:endParaRPr lang="en-US" sz="950" dirty="0"/>
          </a:p>
          <a:p>
            <a:pPr marL="342900" indent="-342900">
              <a:buSzPct val="100000"/>
              <a:buChar char="•"/>
            </a:pPr>
            <a:r>
              <a:rPr lang="en-US" sz="950" dirty="0">
                <a:solidFill>
                  <a:srgbClr val="E8F4FD"/>
                </a:solidFill>
              </a:rPr>
              <a:t>DataWrangler — NLP-powered data cleaning</a:t>
            </a:r>
            <a:endParaRPr lang="en-US" sz="950" dirty="0"/>
          </a:p>
          <a:p>
            <a:pPr marL="342900" indent="-342900">
              <a:buSzPct val="100000"/>
              <a:buChar char="•"/>
            </a:pPr>
            <a:r>
              <a:rPr lang="en-US" sz="950" dirty="0">
                <a:solidFill>
                  <a:srgbClr val="E8F4FD"/>
                </a:solidFill>
              </a:rPr>
              <a:t>OpenRefine — large dataset transformation</a:t>
            </a:r>
            <a:endParaRPr lang="en-US" sz="950" dirty="0"/>
          </a:p>
        </p:txBody>
      </p:sp>
      <p:sp>
        <p:nvSpPr>
          <p:cNvPr id="26" name="Shape 24"/>
          <p:cNvSpPr/>
          <p:nvPr/>
        </p:nvSpPr>
        <p:spPr>
          <a:xfrm>
            <a:off x="6071616" y="2953512"/>
            <a:ext cx="2761488" cy="1828800"/>
          </a:xfrm>
          <a:prstGeom prst="rect">
            <a:avLst/>
          </a:prstGeom>
          <a:solidFill>
            <a:srgbClr val="112244"/>
          </a:solidFill>
          <a:ln w="19050">
            <a:solidFill>
              <a:srgbClr val="00D4AA"/>
            </a:solidFill>
            <a:prstDash val="solid"/>
          </a:ln>
          <a:effectLst>
            <a:outerShdw blurRad="101600" dist="38100" dir="8100000" algn="bl" rotWithShape="0">
              <a:srgbClr val="000000">
                <a:alpha val="25000"/>
              </a:srgbClr>
            </a:outerShdw>
          </a:effectLst>
        </p:spPr>
        <p:txBody>
          <a:bodyPr/>
          <a:lstStyle/>
          <a:p>
            <a:endParaRPr lang="en-IN"/>
          </a:p>
        </p:txBody>
      </p:sp>
      <p:sp>
        <p:nvSpPr>
          <p:cNvPr id="27" name="Shape 25"/>
          <p:cNvSpPr/>
          <p:nvPr/>
        </p:nvSpPr>
        <p:spPr>
          <a:xfrm>
            <a:off x="6071616" y="2953512"/>
            <a:ext cx="2761488" cy="347472"/>
          </a:xfrm>
          <a:prstGeom prst="rect">
            <a:avLst/>
          </a:prstGeom>
          <a:solidFill>
            <a:srgbClr val="00D4AA"/>
          </a:solidFill>
          <a:ln w="12700">
            <a:solidFill>
              <a:srgbClr val="00D4AA"/>
            </a:solidFill>
            <a:prstDash val="solid"/>
          </a:ln>
        </p:spPr>
        <p:txBody>
          <a:bodyPr/>
          <a:lstStyle/>
          <a:p>
            <a:endParaRPr lang="en-IN"/>
          </a:p>
        </p:txBody>
      </p:sp>
      <p:sp>
        <p:nvSpPr>
          <p:cNvPr id="28" name="Text 26"/>
          <p:cNvSpPr/>
          <p:nvPr/>
        </p:nvSpPr>
        <p:spPr>
          <a:xfrm>
            <a:off x="6071616" y="2953512"/>
            <a:ext cx="2761488" cy="347472"/>
          </a:xfrm>
          <a:prstGeom prst="rect">
            <a:avLst/>
          </a:prstGeom>
          <a:noFill/>
          <a:ln/>
        </p:spPr>
        <p:txBody>
          <a:bodyPr wrap="square" rtlCol="0" anchor="ctr"/>
          <a:lstStyle/>
          <a:p>
            <a:pPr marL="0" indent="0" algn="ctr">
              <a:buNone/>
            </a:pPr>
            <a:r>
              <a:rPr lang="en-US" sz="1050" b="1" dirty="0">
                <a:solidFill>
                  <a:srgbClr val="0A1628"/>
                </a:solidFill>
              </a:rPr>
              <a:t>Popular ML Models</a:t>
            </a:r>
            <a:endParaRPr lang="en-US" sz="1050" dirty="0"/>
          </a:p>
        </p:txBody>
      </p:sp>
      <p:sp>
        <p:nvSpPr>
          <p:cNvPr id="29" name="Text 27"/>
          <p:cNvSpPr/>
          <p:nvPr/>
        </p:nvSpPr>
        <p:spPr>
          <a:xfrm>
            <a:off x="6163056" y="3355848"/>
            <a:ext cx="2578608" cy="1353312"/>
          </a:xfrm>
          <a:prstGeom prst="rect">
            <a:avLst/>
          </a:prstGeom>
          <a:noFill/>
          <a:ln/>
        </p:spPr>
        <p:txBody>
          <a:bodyPr wrap="square" rtlCol="0" anchor="ctr"/>
          <a:lstStyle/>
          <a:p>
            <a:pPr marL="342900" indent="-342900">
              <a:buSzPct val="100000"/>
              <a:buChar char="•"/>
            </a:pPr>
            <a:r>
              <a:rPr lang="en-US" sz="950" dirty="0">
                <a:solidFill>
                  <a:srgbClr val="E8F4FD"/>
                </a:solidFill>
              </a:rPr>
              <a:t>LightGBM — fast gradient boosting</a:t>
            </a:r>
            <a:endParaRPr lang="en-US" sz="950" dirty="0"/>
          </a:p>
          <a:p>
            <a:pPr marL="342900" indent="-342900">
              <a:buSzPct val="100000"/>
              <a:buChar char="•"/>
            </a:pPr>
            <a:r>
              <a:rPr lang="en-US" sz="950" dirty="0">
                <a:solidFill>
                  <a:srgbClr val="E8F4FD"/>
                </a:solidFill>
              </a:rPr>
              <a:t>XGBoost — structured data champion</a:t>
            </a:r>
            <a:endParaRPr lang="en-US" sz="950" dirty="0"/>
          </a:p>
          <a:p>
            <a:pPr marL="342900" indent="-342900">
              <a:buSzPct val="100000"/>
              <a:buChar char="•"/>
            </a:pPr>
            <a:r>
              <a:rPr lang="en-US" sz="950" dirty="0">
                <a:solidFill>
                  <a:srgbClr val="E8F4FD"/>
                </a:solidFill>
              </a:rPr>
              <a:t>Prophet — easy time series forecasting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743200" cy="274320"/>
          </a:xfrm>
          <a:prstGeom prst="rect">
            <a:avLst/>
          </a:prstGeom>
          <a:solidFill>
            <a:srgbClr val="00E5A0"/>
          </a:solidFill>
          <a:ln w="12700">
            <a:solidFill>
              <a:srgbClr val="00E5A0"/>
            </a:solidFill>
            <a:prstDash val="solid"/>
          </a:ln>
        </p:spPr>
        <p:txBody>
          <a:bodyPr/>
          <a:lstStyle/>
          <a:p>
            <a:endParaRPr lang="en-IN"/>
          </a:p>
        </p:txBody>
      </p:sp>
      <p:sp>
        <p:nvSpPr>
          <p:cNvPr id="4" name="Text 2"/>
          <p:cNvSpPr/>
          <p:nvPr/>
        </p:nvSpPr>
        <p:spPr>
          <a:xfrm>
            <a:off x="365760" y="128016"/>
            <a:ext cx="2743200" cy="274320"/>
          </a:xfrm>
          <a:prstGeom prst="rect">
            <a:avLst/>
          </a:prstGeom>
          <a:noFill/>
          <a:ln/>
        </p:spPr>
        <p:txBody>
          <a:bodyPr wrap="square" rtlCol="0" anchor="ctr"/>
          <a:lstStyle/>
          <a:p>
            <a:pPr marL="0" indent="0" algn="ctr">
              <a:buNone/>
            </a:pPr>
            <a:r>
              <a:rPr lang="en-US" sz="900" b="1" dirty="0">
                <a:solidFill>
                  <a:srgbClr val="FFFFFF"/>
                </a:solidFill>
              </a:rPr>
              <a:t>LESSON 1 · REAL-WORLD</a:t>
            </a:r>
            <a:endParaRPr lang="en-US" sz="900" dirty="0"/>
          </a:p>
        </p:txBody>
      </p:sp>
      <p:sp>
        <p:nvSpPr>
          <p:cNvPr id="5" name="Text 3"/>
          <p:cNvSpPr/>
          <p:nvPr/>
        </p:nvSpPr>
        <p:spPr>
          <a:xfrm>
            <a:off x="365760" y="475488"/>
            <a:ext cx="7772400" cy="438912"/>
          </a:xfrm>
          <a:prstGeom prst="rect">
            <a:avLst/>
          </a:prstGeom>
          <a:noFill/>
          <a:ln/>
        </p:spPr>
        <p:txBody>
          <a:bodyPr wrap="square" rtlCol="0" anchor="ctr"/>
          <a:lstStyle/>
          <a:p>
            <a:pPr marL="0" indent="0">
              <a:buNone/>
            </a:pPr>
            <a:r>
              <a:rPr lang="en-US" sz="2200" b="1" dirty="0">
                <a:solidFill>
                  <a:srgbClr val="FFFFFF"/>
                </a:solidFill>
              </a:rPr>
              <a:t>Real-World Deployments — Gen AI in Analytics</a:t>
            </a:r>
            <a:endParaRPr lang="en-US" sz="2200" dirty="0"/>
          </a:p>
        </p:txBody>
      </p:sp>
      <p:pic>
        <p:nvPicPr>
          <p:cNvPr id="6" name="Image 0" descr="preencoded.png"/>
          <p:cNvPicPr>
            <a:picLocks noChangeAspect="1"/>
          </p:cNvPicPr>
          <p:nvPr/>
        </p:nvPicPr>
        <p:blipFill>
          <a:blip r:embed="rId3"/>
          <a:stretch>
            <a:fillRect/>
          </a:stretch>
        </p:blipFill>
        <p:spPr>
          <a:xfrm>
            <a:off x="8092440" y="512064"/>
            <a:ext cx="594360" cy="594360"/>
          </a:xfrm>
          <a:prstGeom prst="rect">
            <a:avLst/>
          </a:prstGeom>
        </p:spPr>
      </p:pic>
      <p:sp>
        <p:nvSpPr>
          <p:cNvPr id="7" name="Shape 4"/>
          <p:cNvSpPr/>
          <p:nvPr/>
        </p:nvSpPr>
        <p:spPr>
          <a:xfrm>
            <a:off x="274320" y="822960"/>
            <a:ext cx="8595360" cy="713232"/>
          </a:xfrm>
          <a:prstGeom prst="rect">
            <a:avLst/>
          </a:prstGeom>
          <a:solidFill>
            <a:srgbClr val="0F2041"/>
          </a:solidFill>
          <a:ln w="19050">
            <a:solidFill>
              <a:srgbClr val="00E5A0"/>
            </a:solidFill>
            <a:prstDash val="solid"/>
          </a:ln>
        </p:spPr>
        <p:txBody>
          <a:bodyPr/>
          <a:lstStyle/>
          <a:p>
            <a:endParaRPr lang="en-IN"/>
          </a:p>
        </p:txBody>
      </p:sp>
      <p:sp>
        <p:nvSpPr>
          <p:cNvPr id="8" name="Text 5"/>
          <p:cNvSpPr/>
          <p:nvPr/>
        </p:nvSpPr>
        <p:spPr>
          <a:xfrm>
            <a:off x="457200" y="841248"/>
            <a:ext cx="8229600" cy="658368"/>
          </a:xfrm>
          <a:prstGeom prst="rect">
            <a:avLst/>
          </a:prstGeom>
          <a:noFill/>
          <a:ln/>
        </p:spPr>
        <p:txBody>
          <a:bodyPr wrap="square" rtlCol="0" anchor="ctr"/>
          <a:lstStyle/>
          <a:p>
            <a:pPr marL="0" indent="0">
              <a:buNone/>
            </a:pPr>
            <a:r>
              <a:rPr lang="en-US" sz="1150" b="1" dirty="0">
                <a:solidFill>
                  <a:srgbClr val="00E5A0"/>
                </a:solidFill>
              </a:rPr>
              <a:t>Key Point:</a:t>
            </a:r>
            <a:r>
              <a:rPr lang="en-US" sz="1150" dirty="0">
                <a:solidFill>
                  <a:srgbClr val="E8F4FD"/>
                </a:solidFill>
              </a:rPr>
              <a:t> These are live, production deployments — not prototypes. Gen AI in data analytics is delivering measurable business impact at scale today.</a:t>
            </a:r>
            <a:endParaRPr lang="en-US" sz="1150" dirty="0"/>
          </a:p>
        </p:txBody>
      </p:sp>
      <p:sp>
        <p:nvSpPr>
          <p:cNvPr id="9" name="Shape 6"/>
          <p:cNvSpPr/>
          <p:nvPr/>
        </p:nvSpPr>
        <p:spPr>
          <a:xfrm>
            <a:off x="274320" y="1664208"/>
            <a:ext cx="4187952" cy="960120"/>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10" name="Shape 7"/>
          <p:cNvSpPr/>
          <p:nvPr/>
        </p:nvSpPr>
        <p:spPr>
          <a:xfrm>
            <a:off x="274320" y="1664208"/>
            <a:ext cx="4187952" cy="45720"/>
          </a:xfrm>
          <a:prstGeom prst="rect">
            <a:avLst/>
          </a:prstGeom>
          <a:solidFill>
            <a:srgbClr val="00C8FF"/>
          </a:solidFill>
          <a:ln w="12700">
            <a:solidFill>
              <a:srgbClr val="00C8FF"/>
            </a:solidFill>
            <a:prstDash val="solid"/>
          </a:ln>
        </p:spPr>
        <p:txBody>
          <a:bodyPr/>
          <a:lstStyle/>
          <a:p>
            <a:endParaRPr lang="en-IN"/>
          </a:p>
        </p:txBody>
      </p:sp>
      <p:sp>
        <p:nvSpPr>
          <p:cNvPr id="11" name="Text 8"/>
          <p:cNvSpPr/>
          <p:nvPr/>
        </p:nvSpPr>
        <p:spPr>
          <a:xfrm>
            <a:off x="365760" y="1737360"/>
            <a:ext cx="3931920" cy="347472"/>
          </a:xfrm>
          <a:prstGeom prst="rect">
            <a:avLst/>
          </a:prstGeom>
          <a:noFill/>
          <a:ln/>
        </p:spPr>
        <p:txBody>
          <a:bodyPr wrap="square" rtlCol="0" anchor="ctr"/>
          <a:lstStyle/>
          <a:p>
            <a:pPr marL="0" indent="0">
              <a:buNone/>
            </a:pPr>
            <a:r>
              <a:rPr lang="en-US" sz="1100" b="1" dirty="0">
                <a:solidFill>
                  <a:srgbClr val="00C8FF"/>
                </a:solidFill>
              </a:rPr>
              <a:t>Alteryx AiDIN</a:t>
            </a:r>
            <a:endParaRPr lang="en-US" sz="1100" dirty="0"/>
          </a:p>
        </p:txBody>
      </p:sp>
      <p:sp>
        <p:nvSpPr>
          <p:cNvPr id="12" name="Text 9"/>
          <p:cNvSpPr/>
          <p:nvPr/>
        </p:nvSpPr>
        <p:spPr>
          <a:xfrm>
            <a:off x="365760" y="2121408"/>
            <a:ext cx="3931920" cy="438912"/>
          </a:xfrm>
          <a:prstGeom prst="rect">
            <a:avLst/>
          </a:prstGeom>
          <a:noFill/>
          <a:ln/>
        </p:spPr>
        <p:txBody>
          <a:bodyPr wrap="square" rtlCol="0" anchor="ctr"/>
          <a:lstStyle/>
          <a:p>
            <a:pPr marL="0" indent="0">
              <a:buNone/>
            </a:pPr>
            <a:r>
              <a:rPr lang="en-US" sz="950" dirty="0">
                <a:solidFill>
                  <a:srgbClr val="E8F4FD"/>
                </a:solidFill>
              </a:rPr>
              <a:t>Democratised analytics for non-technical business users</a:t>
            </a:r>
            <a:endParaRPr lang="en-US" sz="950" dirty="0"/>
          </a:p>
        </p:txBody>
      </p:sp>
      <p:sp>
        <p:nvSpPr>
          <p:cNvPr id="13" name="Shape 10"/>
          <p:cNvSpPr/>
          <p:nvPr/>
        </p:nvSpPr>
        <p:spPr>
          <a:xfrm>
            <a:off x="4645152" y="1664208"/>
            <a:ext cx="4187952" cy="960120"/>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14" name="Shape 11"/>
          <p:cNvSpPr/>
          <p:nvPr/>
        </p:nvSpPr>
        <p:spPr>
          <a:xfrm>
            <a:off x="4645152" y="1664208"/>
            <a:ext cx="4187952" cy="45720"/>
          </a:xfrm>
          <a:prstGeom prst="rect">
            <a:avLst/>
          </a:prstGeom>
          <a:solidFill>
            <a:srgbClr val="00E5A0"/>
          </a:solidFill>
          <a:ln w="12700">
            <a:solidFill>
              <a:srgbClr val="00E5A0"/>
            </a:solidFill>
            <a:prstDash val="solid"/>
          </a:ln>
        </p:spPr>
        <p:txBody>
          <a:bodyPr/>
          <a:lstStyle/>
          <a:p>
            <a:endParaRPr lang="en-IN"/>
          </a:p>
        </p:txBody>
      </p:sp>
      <p:sp>
        <p:nvSpPr>
          <p:cNvPr id="15" name="Text 12"/>
          <p:cNvSpPr/>
          <p:nvPr/>
        </p:nvSpPr>
        <p:spPr>
          <a:xfrm>
            <a:off x="4736592" y="1737360"/>
            <a:ext cx="3931920" cy="347472"/>
          </a:xfrm>
          <a:prstGeom prst="rect">
            <a:avLst/>
          </a:prstGeom>
          <a:noFill/>
          <a:ln/>
        </p:spPr>
        <p:txBody>
          <a:bodyPr wrap="square" rtlCol="0" anchor="ctr"/>
          <a:lstStyle/>
          <a:p>
            <a:pPr marL="0" indent="0">
              <a:buNone/>
            </a:pPr>
            <a:r>
              <a:rPr lang="en-US" sz="1100" b="1" dirty="0">
                <a:solidFill>
                  <a:srgbClr val="00E5A0"/>
                </a:solidFill>
              </a:rPr>
              <a:t>Netmeds + Haptik</a:t>
            </a:r>
            <a:endParaRPr lang="en-US" sz="1100" dirty="0"/>
          </a:p>
          <a:p>
            <a:pPr marL="0" indent="0">
              <a:buNone/>
            </a:pPr>
            <a:r>
              <a:rPr lang="en-US" sz="1100" b="1" dirty="0">
                <a:solidFill>
                  <a:srgbClr val="00E5A0"/>
                </a:solidFill>
              </a:rPr>
              <a:t>(India)</a:t>
            </a:r>
            <a:endParaRPr lang="en-US" sz="1100" dirty="0"/>
          </a:p>
        </p:txBody>
      </p:sp>
      <p:sp>
        <p:nvSpPr>
          <p:cNvPr id="16" name="Text 13"/>
          <p:cNvSpPr/>
          <p:nvPr/>
        </p:nvSpPr>
        <p:spPr>
          <a:xfrm>
            <a:off x="4736592" y="2121408"/>
            <a:ext cx="3931920" cy="438912"/>
          </a:xfrm>
          <a:prstGeom prst="rect">
            <a:avLst/>
          </a:prstGeom>
          <a:noFill/>
          <a:ln/>
        </p:spPr>
        <p:txBody>
          <a:bodyPr wrap="square" rtlCol="0" anchor="ctr"/>
          <a:lstStyle/>
          <a:p>
            <a:pPr marL="0" indent="0">
              <a:buNone/>
            </a:pPr>
            <a:r>
              <a:rPr lang="en-US" sz="950" dirty="0">
                <a:solidFill>
                  <a:srgbClr val="E8F4FD"/>
                </a:solidFill>
              </a:rPr>
              <a:t>Saved thousands of agent hours · Improved response times</a:t>
            </a:r>
            <a:endParaRPr lang="en-US" sz="950" dirty="0"/>
          </a:p>
        </p:txBody>
      </p:sp>
      <p:sp>
        <p:nvSpPr>
          <p:cNvPr id="17" name="Shape 14"/>
          <p:cNvSpPr/>
          <p:nvPr/>
        </p:nvSpPr>
        <p:spPr>
          <a:xfrm>
            <a:off x="274320" y="2743200"/>
            <a:ext cx="4187952" cy="960120"/>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18" name="Shape 15"/>
          <p:cNvSpPr/>
          <p:nvPr/>
        </p:nvSpPr>
        <p:spPr>
          <a:xfrm>
            <a:off x="274320" y="2743200"/>
            <a:ext cx="4187952" cy="45720"/>
          </a:xfrm>
          <a:prstGeom prst="rect">
            <a:avLst/>
          </a:prstGeom>
          <a:solidFill>
            <a:srgbClr val="FFD166"/>
          </a:solidFill>
          <a:ln w="12700">
            <a:solidFill>
              <a:srgbClr val="FFD166"/>
            </a:solidFill>
            <a:prstDash val="solid"/>
          </a:ln>
        </p:spPr>
        <p:txBody>
          <a:bodyPr/>
          <a:lstStyle/>
          <a:p>
            <a:endParaRPr lang="en-IN"/>
          </a:p>
        </p:txBody>
      </p:sp>
      <p:sp>
        <p:nvSpPr>
          <p:cNvPr id="19" name="Text 16"/>
          <p:cNvSpPr/>
          <p:nvPr/>
        </p:nvSpPr>
        <p:spPr>
          <a:xfrm>
            <a:off x="365760" y="2816352"/>
            <a:ext cx="3931920" cy="347472"/>
          </a:xfrm>
          <a:prstGeom prst="rect">
            <a:avLst/>
          </a:prstGeom>
          <a:noFill/>
          <a:ln/>
        </p:spPr>
        <p:txBody>
          <a:bodyPr wrap="square" rtlCol="0" anchor="ctr"/>
          <a:lstStyle/>
          <a:p>
            <a:pPr marL="0" indent="0">
              <a:buNone/>
            </a:pPr>
            <a:r>
              <a:rPr lang="en-US" sz="1100" b="1" dirty="0">
                <a:solidFill>
                  <a:srgbClr val="FFD166"/>
                </a:solidFill>
              </a:rPr>
              <a:t>DataRobot</a:t>
            </a:r>
            <a:endParaRPr lang="en-US" sz="1100" dirty="0"/>
          </a:p>
        </p:txBody>
      </p:sp>
      <p:sp>
        <p:nvSpPr>
          <p:cNvPr id="20" name="Text 17"/>
          <p:cNvSpPr/>
          <p:nvPr/>
        </p:nvSpPr>
        <p:spPr>
          <a:xfrm>
            <a:off x="365760" y="3200400"/>
            <a:ext cx="3931920" cy="438912"/>
          </a:xfrm>
          <a:prstGeom prst="rect">
            <a:avLst/>
          </a:prstGeom>
          <a:noFill/>
          <a:ln/>
        </p:spPr>
        <p:txBody>
          <a:bodyPr wrap="square" rtlCol="0" anchor="ctr"/>
          <a:lstStyle/>
          <a:p>
            <a:pPr marL="0" indent="0">
              <a:buNone/>
            </a:pPr>
            <a:r>
              <a:rPr lang="en-US" sz="950" dirty="0">
                <a:solidFill>
                  <a:srgbClr val="E8F4FD"/>
                </a:solidFill>
              </a:rPr>
              <a:t>Synthetic data → better ML models · Improved manufacturing quality</a:t>
            </a:r>
            <a:endParaRPr lang="en-US" sz="950" dirty="0"/>
          </a:p>
        </p:txBody>
      </p:sp>
      <p:sp>
        <p:nvSpPr>
          <p:cNvPr id="21" name="Shape 18"/>
          <p:cNvSpPr/>
          <p:nvPr/>
        </p:nvSpPr>
        <p:spPr>
          <a:xfrm>
            <a:off x="4645152" y="2743200"/>
            <a:ext cx="4187952" cy="960120"/>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22" name="Shape 19"/>
          <p:cNvSpPr/>
          <p:nvPr/>
        </p:nvSpPr>
        <p:spPr>
          <a:xfrm>
            <a:off x="4645152" y="2743200"/>
            <a:ext cx="4187952" cy="45720"/>
          </a:xfrm>
          <a:prstGeom prst="rect">
            <a:avLst/>
          </a:prstGeom>
          <a:solidFill>
            <a:srgbClr val="7B5EA7"/>
          </a:solidFill>
          <a:ln w="12700">
            <a:solidFill>
              <a:srgbClr val="7B5EA7"/>
            </a:solidFill>
            <a:prstDash val="solid"/>
          </a:ln>
        </p:spPr>
        <p:txBody>
          <a:bodyPr/>
          <a:lstStyle/>
          <a:p>
            <a:endParaRPr lang="en-IN"/>
          </a:p>
        </p:txBody>
      </p:sp>
      <p:sp>
        <p:nvSpPr>
          <p:cNvPr id="23" name="Text 20"/>
          <p:cNvSpPr/>
          <p:nvPr/>
        </p:nvSpPr>
        <p:spPr>
          <a:xfrm>
            <a:off x="4736592" y="2816352"/>
            <a:ext cx="3931920" cy="347472"/>
          </a:xfrm>
          <a:prstGeom prst="rect">
            <a:avLst/>
          </a:prstGeom>
          <a:noFill/>
          <a:ln/>
        </p:spPr>
        <p:txBody>
          <a:bodyPr wrap="square" rtlCol="0" anchor="ctr"/>
          <a:lstStyle/>
          <a:p>
            <a:pPr marL="0" indent="0">
              <a:buNone/>
            </a:pPr>
            <a:r>
              <a:rPr lang="en-US" sz="1100" b="1" dirty="0">
                <a:solidFill>
                  <a:srgbClr val="7B5EA7"/>
                </a:solidFill>
              </a:rPr>
              <a:t>Palantir AIP</a:t>
            </a:r>
            <a:endParaRPr lang="en-US" sz="1100" dirty="0"/>
          </a:p>
        </p:txBody>
      </p:sp>
      <p:sp>
        <p:nvSpPr>
          <p:cNvPr id="24" name="Text 21"/>
          <p:cNvSpPr/>
          <p:nvPr/>
        </p:nvSpPr>
        <p:spPr>
          <a:xfrm>
            <a:off x="4736592" y="3200400"/>
            <a:ext cx="3931920" cy="438912"/>
          </a:xfrm>
          <a:prstGeom prst="rect">
            <a:avLst/>
          </a:prstGeom>
          <a:noFill/>
          <a:ln/>
        </p:spPr>
        <p:txBody>
          <a:bodyPr wrap="square" rtlCol="0" anchor="ctr"/>
          <a:lstStyle/>
          <a:p>
            <a:pPr marL="0" indent="0">
              <a:buNone/>
            </a:pPr>
            <a:r>
              <a:rPr lang="en-US" sz="950" dirty="0">
                <a:solidFill>
                  <a:srgbClr val="E8F4FD"/>
                </a:solidFill>
              </a:rPr>
              <a:t>Secure LLM deployment inside private networks</a:t>
            </a:r>
            <a:endParaRPr lang="en-US" sz="950" dirty="0"/>
          </a:p>
        </p:txBody>
      </p:sp>
      <p:sp>
        <p:nvSpPr>
          <p:cNvPr id="25" name="Shape 22"/>
          <p:cNvSpPr/>
          <p:nvPr/>
        </p:nvSpPr>
        <p:spPr>
          <a:xfrm>
            <a:off x="274320" y="3822192"/>
            <a:ext cx="4187952" cy="960120"/>
          </a:xfrm>
          <a:prstGeom prst="rect">
            <a:avLst/>
          </a:prstGeom>
          <a:solidFill>
            <a:srgbClr val="1122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IN"/>
          </a:p>
        </p:txBody>
      </p:sp>
      <p:sp>
        <p:nvSpPr>
          <p:cNvPr id="26" name="Shape 23"/>
          <p:cNvSpPr/>
          <p:nvPr/>
        </p:nvSpPr>
        <p:spPr>
          <a:xfrm>
            <a:off x="274320" y="3822192"/>
            <a:ext cx="4187952" cy="45720"/>
          </a:xfrm>
          <a:prstGeom prst="rect">
            <a:avLst/>
          </a:prstGeom>
          <a:solidFill>
            <a:srgbClr val="FF6B6B"/>
          </a:solidFill>
          <a:ln w="12700">
            <a:solidFill>
              <a:srgbClr val="FF6B6B"/>
            </a:solidFill>
            <a:prstDash val="solid"/>
          </a:ln>
        </p:spPr>
        <p:txBody>
          <a:bodyPr/>
          <a:lstStyle/>
          <a:p>
            <a:endParaRPr lang="en-IN"/>
          </a:p>
        </p:txBody>
      </p:sp>
      <p:sp>
        <p:nvSpPr>
          <p:cNvPr id="27" name="Text 24"/>
          <p:cNvSpPr/>
          <p:nvPr/>
        </p:nvSpPr>
        <p:spPr>
          <a:xfrm>
            <a:off x="365760" y="3895344"/>
            <a:ext cx="3931920" cy="347472"/>
          </a:xfrm>
          <a:prstGeom prst="rect">
            <a:avLst/>
          </a:prstGeom>
          <a:noFill/>
          <a:ln/>
        </p:spPr>
        <p:txBody>
          <a:bodyPr wrap="square" rtlCol="0" anchor="ctr"/>
          <a:lstStyle/>
          <a:p>
            <a:pPr marL="0" indent="0">
              <a:buNone/>
            </a:pPr>
            <a:r>
              <a:rPr lang="en-US" sz="1100" b="1" dirty="0">
                <a:solidFill>
                  <a:srgbClr val="FF6B6B"/>
                </a:solidFill>
              </a:rPr>
              <a:t>IBM + McDonald's</a:t>
            </a:r>
            <a:endParaRPr lang="en-US" sz="1100" dirty="0"/>
          </a:p>
          <a:p>
            <a:pPr marL="0" indent="0">
              <a:buNone/>
            </a:pPr>
            <a:r>
              <a:rPr lang="en-US" sz="1100" b="1" dirty="0">
                <a:solidFill>
                  <a:srgbClr val="FF6B6B"/>
                </a:solidFill>
              </a:rPr>
              <a:t>HK</a:t>
            </a:r>
            <a:endParaRPr lang="en-US" sz="1100" dirty="0"/>
          </a:p>
        </p:txBody>
      </p:sp>
      <p:sp>
        <p:nvSpPr>
          <p:cNvPr id="28" name="Text 25"/>
          <p:cNvSpPr/>
          <p:nvPr/>
        </p:nvSpPr>
        <p:spPr>
          <a:xfrm>
            <a:off x="365760" y="4279392"/>
            <a:ext cx="3931920" cy="438912"/>
          </a:xfrm>
          <a:prstGeom prst="rect">
            <a:avLst/>
          </a:prstGeom>
          <a:noFill/>
          <a:ln/>
        </p:spPr>
        <p:txBody>
          <a:bodyPr wrap="square" rtlCol="0" anchor="ctr"/>
          <a:lstStyle/>
          <a:p>
            <a:pPr marL="0" indent="0">
              <a:buNone/>
            </a:pPr>
            <a:r>
              <a:rPr lang="en-US" sz="950" dirty="0">
                <a:solidFill>
                  <a:srgbClr val="E8F4FD"/>
                </a:solidFill>
              </a:rPr>
              <a:t>Auto-generated data narratives · Faster business insights</a:t>
            </a:r>
            <a:endParaRPr lang="en-US" sz="950" dirty="0"/>
          </a:p>
        </p:txBody>
      </p:sp>
      <p:sp>
        <p:nvSpPr>
          <p:cNvPr id="29" name="Shape 26"/>
          <p:cNvSpPr/>
          <p:nvPr/>
        </p:nvSpPr>
        <p:spPr>
          <a:xfrm>
            <a:off x="4645152" y="3822192"/>
            <a:ext cx="4187952" cy="960120"/>
          </a:xfrm>
          <a:prstGeom prst="rect">
            <a:avLst/>
          </a:prstGeom>
          <a:solidFill>
            <a:srgbClr val="112244"/>
          </a:solidFill>
          <a:ln w="19050">
            <a:solidFill>
              <a:srgbClr val="00D4AA"/>
            </a:solidFill>
            <a:prstDash val="solid"/>
          </a:ln>
          <a:effectLst>
            <a:outerShdw blurRad="101600" dist="38100" dir="8100000" algn="bl" rotWithShape="0">
              <a:srgbClr val="000000">
                <a:alpha val="25000"/>
              </a:srgbClr>
            </a:outerShdw>
          </a:effectLst>
        </p:spPr>
        <p:txBody>
          <a:bodyPr/>
          <a:lstStyle/>
          <a:p>
            <a:endParaRPr lang="en-IN"/>
          </a:p>
        </p:txBody>
      </p:sp>
      <p:sp>
        <p:nvSpPr>
          <p:cNvPr id="30" name="Shape 27"/>
          <p:cNvSpPr/>
          <p:nvPr/>
        </p:nvSpPr>
        <p:spPr>
          <a:xfrm>
            <a:off x="4645152" y="3822192"/>
            <a:ext cx="4187952" cy="45720"/>
          </a:xfrm>
          <a:prstGeom prst="rect">
            <a:avLst/>
          </a:prstGeom>
          <a:solidFill>
            <a:srgbClr val="00D4AA"/>
          </a:solidFill>
          <a:ln w="12700">
            <a:solidFill>
              <a:srgbClr val="00D4AA"/>
            </a:solidFill>
            <a:prstDash val="solid"/>
          </a:ln>
        </p:spPr>
        <p:txBody>
          <a:bodyPr/>
          <a:lstStyle/>
          <a:p>
            <a:endParaRPr lang="en-IN"/>
          </a:p>
        </p:txBody>
      </p:sp>
      <p:sp>
        <p:nvSpPr>
          <p:cNvPr id="31" name="Text 28"/>
          <p:cNvSpPr/>
          <p:nvPr/>
        </p:nvSpPr>
        <p:spPr>
          <a:xfrm>
            <a:off x="4736592" y="3895344"/>
            <a:ext cx="3931920" cy="347472"/>
          </a:xfrm>
          <a:prstGeom prst="rect">
            <a:avLst/>
          </a:prstGeom>
          <a:noFill/>
          <a:ln/>
        </p:spPr>
        <p:txBody>
          <a:bodyPr wrap="square" rtlCol="0" anchor="ctr"/>
          <a:lstStyle/>
          <a:p>
            <a:pPr marL="0" indent="0">
              <a:buNone/>
            </a:pPr>
            <a:r>
              <a:rPr lang="en-US" sz="1100" b="1" dirty="0">
                <a:solidFill>
                  <a:srgbClr val="00D4AA"/>
                </a:solidFill>
              </a:rPr>
              <a:t>Facebook + Vision</a:t>
            </a:r>
            <a:endParaRPr lang="en-US" sz="1100" dirty="0"/>
          </a:p>
          <a:p>
            <a:pPr marL="0" indent="0">
              <a:buNone/>
            </a:pPr>
            <a:r>
              <a:rPr lang="en-US" sz="1100" b="1" dirty="0">
                <a:solidFill>
                  <a:srgbClr val="00D4AA"/>
                </a:solidFill>
              </a:rPr>
              <a:t>Express</a:t>
            </a:r>
            <a:endParaRPr lang="en-US" sz="1100" dirty="0"/>
          </a:p>
        </p:txBody>
      </p:sp>
      <p:sp>
        <p:nvSpPr>
          <p:cNvPr id="32" name="Text 29"/>
          <p:cNvSpPr/>
          <p:nvPr/>
        </p:nvSpPr>
        <p:spPr>
          <a:xfrm>
            <a:off x="4736592" y="4279392"/>
            <a:ext cx="3931920" cy="438912"/>
          </a:xfrm>
          <a:prstGeom prst="rect">
            <a:avLst/>
          </a:prstGeom>
          <a:noFill/>
          <a:ln/>
        </p:spPr>
        <p:txBody>
          <a:bodyPr wrap="square" rtlCol="0" anchor="ctr"/>
          <a:lstStyle/>
          <a:p>
            <a:pPr marL="0" indent="0">
              <a:buNone/>
            </a:pPr>
            <a:r>
              <a:rPr lang="en-US" sz="950" dirty="0">
                <a:solidFill>
                  <a:srgbClr val="E8F4FD"/>
                </a:solidFill>
              </a:rPr>
              <a:t>Better ad targeting · Improved digital ROI</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743200" cy="274320"/>
          </a:xfrm>
          <a:prstGeom prst="rect">
            <a:avLst/>
          </a:prstGeom>
          <a:solidFill>
            <a:srgbClr val="FFD166"/>
          </a:solidFill>
          <a:ln w="12700">
            <a:solidFill>
              <a:srgbClr val="FFD166"/>
            </a:solidFill>
            <a:prstDash val="solid"/>
          </a:ln>
        </p:spPr>
        <p:txBody>
          <a:bodyPr/>
          <a:lstStyle/>
          <a:p>
            <a:endParaRPr lang="en-IN"/>
          </a:p>
        </p:txBody>
      </p:sp>
      <p:sp>
        <p:nvSpPr>
          <p:cNvPr id="4" name="Text 2"/>
          <p:cNvSpPr/>
          <p:nvPr/>
        </p:nvSpPr>
        <p:spPr>
          <a:xfrm>
            <a:off x="365760" y="128016"/>
            <a:ext cx="2743200" cy="274320"/>
          </a:xfrm>
          <a:prstGeom prst="rect">
            <a:avLst/>
          </a:prstGeom>
          <a:noFill/>
          <a:ln/>
        </p:spPr>
        <p:txBody>
          <a:bodyPr wrap="square" rtlCol="0" anchor="ctr"/>
          <a:lstStyle/>
          <a:p>
            <a:pPr marL="0" indent="0" algn="ctr">
              <a:buNone/>
            </a:pPr>
            <a:r>
              <a:rPr lang="en-US" sz="900" b="1" dirty="0">
                <a:solidFill>
                  <a:srgbClr val="FFFFFF"/>
                </a:solidFill>
              </a:rPr>
              <a:t>CASE STUDY · IBM WATSONX</a:t>
            </a:r>
            <a:endParaRPr lang="en-US" sz="900" dirty="0"/>
          </a:p>
        </p:txBody>
      </p:sp>
      <p:sp>
        <p:nvSpPr>
          <p:cNvPr id="5" name="Text 3"/>
          <p:cNvSpPr/>
          <p:nvPr/>
        </p:nvSpPr>
        <p:spPr>
          <a:xfrm>
            <a:off x="365760" y="475488"/>
            <a:ext cx="7772400" cy="438912"/>
          </a:xfrm>
          <a:prstGeom prst="rect">
            <a:avLst/>
          </a:prstGeom>
          <a:noFill/>
          <a:ln/>
        </p:spPr>
        <p:txBody>
          <a:bodyPr wrap="square" rtlCol="0" anchor="ctr"/>
          <a:lstStyle/>
          <a:p>
            <a:pPr marL="0" indent="0">
              <a:buNone/>
            </a:pPr>
            <a:r>
              <a:rPr lang="en-US" sz="2200" b="1" dirty="0">
                <a:solidFill>
                  <a:srgbClr val="FFFFFF"/>
                </a:solidFill>
              </a:rPr>
              <a:t>IBM watsonx + NatWest Group — 'Marge'</a:t>
            </a:r>
            <a:endParaRPr lang="en-US" sz="2200" dirty="0"/>
          </a:p>
        </p:txBody>
      </p:sp>
      <p:sp>
        <p:nvSpPr>
          <p:cNvPr id="6" name="Shape 4"/>
          <p:cNvSpPr/>
          <p:nvPr/>
        </p:nvSpPr>
        <p:spPr>
          <a:xfrm>
            <a:off x="274320" y="987552"/>
            <a:ext cx="4160520" cy="1938528"/>
          </a:xfrm>
          <a:prstGeom prst="rect">
            <a:avLst/>
          </a:prstGeom>
          <a:solidFill>
            <a:srgbClr val="112244"/>
          </a:solidFill>
          <a:ln w="25400">
            <a:solidFill>
              <a:srgbClr val="FF6B6B"/>
            </a:solidFill>
            <a:prstDash val="solid"/>
          </a:ln>
          <a:effectLst>
            <a:outerShdw blurRad="101600" dist="38100" dir="8100000" algn="bl" rotWithShape="0">
              <a:srgbClr val="000000">
                <a:alpha val="25000"/>
              </a:srgbClr>
            </a:outerShdw>
          </a:effectLst>
        </p:spPr>
        <p:txBody>
          <a:bodyPr/>
          <a:lstStyle/>
          <a:p>
            <a:endParaRPr lang="en-IN"/>
          </a:p>
        </p:txBody>
      </p:sp>
      <p:sp>
        <p:nvSpPr>
          <p:cNvPr id="7" name="Shape 5"/>
          <p:cNvSpPr/>
          <p:nvPr/>
        </p:nvSpPr>
        <p:spPr>
          <a:xfrm>
            <a:off x="274320" y="987552"/>
            <a:ext cx="4160520" cy="347472"/>
          </a:xfrm>
          <a:prstGeom prst="rect">
            <a:avLst/>
          </a:prstGeom>
          <a:solidFill>
            <a:srgbClr val="FF6B6B"/>
          </a:solidFill>
          <a:ln w="12700">
            <a:solidFill>
              <a:srgbClr val="FF6B6B"/>
            </a:solidFill>
            <a:prstDash val="solid"/>
          </a:ln>
        </p:spPr>
        <p:txBody>
          <a:bodyPr/>
          <a:lstStyle/>
          <a:p>
            <a:endParaRPr lang="en-IN"/>
          </a:p>
        </p:txBody>
      </p:sp>
      <p:sp>
        <p:nvSpPr>
          <p:cNvPr id="8" name="Text 6"/>
          <p:cNvSpPr/>
          <p:nvPr/>
        </p:nvSpPr>
        <p:spPr>
          <a:xfrm>
            <a:off x="320040" y="987552"/>
            <a:ext cx="4069080" cy="347472"/>
          </a:xfrm>
          <a:prstGeom prst="rect">
            <a:avLst/>
          </a:prstGeom>
          <a:noFill/>
          <a:ln/>
        </p:spPr>
        <p:txBody>
          <a:bodyPr wrap="square" rtlCol="0" anchor="ctr"/>
          <a:lstStyle/>
          <a:p>
            <a:pPr marL="0" indent="0">
              <a:buNone/>
            </a:pPr>
            <a:r>
              <a:rPr lang="en-US" sz="1200" b="1" dirty="0">
                <a:solidFill>
                  <a:srgbClr val="FFFFFF"/>
                </a:solidFill>
              </a:rPr>
              <a:t>The Problem</a:t>
            </a:r>
            <a:endParaRPr lang="en-US" sz="1200" dirty="0"/>
          </a:p>
        </p:txBody>
      </p:sp>
      <p:sp>
        <p:nvSpPr>
          <p:cNvPr id="9" name="Text 7"/>
          <p:cNvSpPr/>
          <p:nvPr/>
        </p:nvSpPr>
        <p:spPr>
          <a:xfrm>
            <a:off x="411480" y="1389888"/>
            <a:ext cx="3886200" cy="1481328"/>
          </a:xfrm>
          <a:prstGeom prst="rect">
            <a:avLst/>
          </a:prstGeom>
          <a:noFill/>
          <a:ln/>
        </p:spPr>
        <p:txBody>
          <a:bodyPr wrap="square" rtlCol="0" anchor="ctr"/>
          <a:lstStyle/>
          <a:p>
            <a:pPr marL="0" indent="0">
              <a:buNone/>
            </a:pPr>
            <a:r>
              <a:rPr lang="en-US" sz="1050" dirty="0">
                <a:solidFill>
                  <a:srgbClr val="E8F4FD"/>
                </a:solidFill>
              </a:rPr>
              <a:t>• Mortgages are complex, regulated, personalised
• Customers needed real-time accurate policy info
• Employees needed faster data access during calls
• Manual lookup was slow and error-prone</a:t>
            </a:r>
            <a:endParaRPr lang="en-US" sz="1050" dirty="0"/>
          </a:p>
        </p:txBody>
      </p:sp>
      <p:sp>
        <p:nvSpPr>
          <p:cNvPr id="10" name="Shape 8"/>
          <p:cNvSpPr/>
          <p:nvPr/>
        </p:nvSpPr>
        <p:spPr>
          <a:xfrm>
            <a:off x="4663440" y="987552"/>
            <a:ext cx="4206240" cy="1938528"/>
          </a:xfrm>
          <a:prstGeom prst="rect">
            <a:avLst/>
          </a:prstGeom>
          <a:solidFill>
            <a:srgbClr val="112244"/>
          </a:solidFill>
          <a:ln w="2540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4663440" y="987552"/>
            <a:ext cx="4206240" cy="347472"/>
          </a:xfrm>
          <a:prstGeom prst="rect">
            <a:avLst/>
          </a:prstGeom>
          <a:solidFill>
            <a:srgbClr val="00E5A0"/>
          </a:solidFill>
          <a:ln w="12700">
            <a:solidFill>
              <a:srgbClr val="00E5A0"/>
            </a:solidFill>
            <a:prstDash val="solid"/>
          </a:ln>
        </p:spPr>
        <p:txBody>
          <a:bodyPr/>
          <a:lstStyle/>
          <a:p>
            <a:endParaRPr lang="en-IN"/>
          </a:p>
        </p:txBody>
      </p:sp>
      <p:sp>
        <p:nvSpPr>
          <p:cNvPr id="12" name="Text 10"/>
          <p:cNvSpPr/>
          <p:nvPr/>
        </p:nvSpPr>
        <p:spPr>
          <a:xfrm>
            <a:off x="4709160" y="987552"/>
            <a:ext cx="4114800" cy="347472"/>
          </a:xfrm>
          <a:prstGeom prst="rect">
            <a:avLst/>
          </a:prstGeom>
          <a:noFill/>
          <a:ln/>
        </p:spPr>
        <p:txBody>
          <a:bodyPr wrap="square" rtlCol="0" anchor="ctr"/>
          <a:lstStyle/>
          <a:p>
            <a:pPr marL="0" indent="0">
              <a:buNone/>
            </a:pPr>
            <a:r>
              <a:rPr lang="en-US" sz="1200" b="1" dirty="0">
                <a:solidFill>
                  <a:srgbClr val="0A1628"/>
                </a:solidFill>
              </a:rPr>
              <a:t>The Solution — 'Marge'</a:t>
            </a:r>
            <a:endParaRPr lang="en-US" sz="1200" dirty="0"/>
          </a:p>
        </p:txBody>
      </p:sp>
      <p:sp>
        <p:nvSpPr>
          <p:cNvPr id="13" name="Text 11"/>
          <p:cNvSpPr/>
          <p:nvPr/>
        </p:nvSpPr>
        <p:spPr>
          <a:xfrm>
            <a:off x="4754880" y="1389888"/>
            <a:ext cx="3977640" cy="1481328"/>
          </a:xfrm>
          <a:prstGeom prst="rect">
            <a:avLst/>
          </a:prstGeom>
          <a:noFill/>
          <a:ln/>
        </p:spPr>
        <p:txBody>
          <a:bodyPr wrap="square" rtlCol="0" anchor="ctr"/>
          <a:lstStyle/>
          <a:p>
            <a:pPr marL="0" indent="0">
              <a:buNone/>
            </a:pPr>
            <a:r>
              <a:rPr lang="en-US" sz="1050" dirty="0">
                <a:solidFill>
                  <a:srgbClr val="E8F4FD"/>
                </a:solidFill>
              </a:rPr>
              <a:t>Built on IBM Watson Assistant + IBM Cloud
• Acts as a team member with evolving personality
• Real-time responses during customer calls
• Single access point for all mortgage data</a:t>
            </a:r>
            <a:endParaRPr lang="en-US" sz="1050" dirty="0"/>
          </a:p>
        </p:txBody>
      </p:sp>
      <p:sp>
        <p:nvSpPr>
          <p:cNvPr id="14" name="Shape 12"/>
          <p:cNvSpPr/>
          <p:nvPr/>
        </p:nvSpPr>
        <p:spPr>
          <a:xfrm>
            <a:off x="274320" y="3035808"/>
            <a:ext cx="8595360" cy="1024128"/>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15" name="Shape 13"/>
          <p:cNvSpPr/>
          <p:nvPr/>
        </p:nvSpPr>
        <p:spPr>
          <a:xfrm>
            <a:off x="274320" y="3035808"/>
            <a:ext cx="8595360" cy="347472"/>
          </a:xfrm>
          <a:prstGeom prst="rect">
            <a:avLst/>
          </a:prstGeom>
          <a:solidFill>
            <a:srgbClr val="FFD166"/>
          </a:solidFill>
          <a:ln w="12700">
            <a:solidFill>
              <a:srgbClr val="FFD166"/>
            </a:solidFill>
            <a:prstDash val="solid"/>
          </a:ln>
        </p:spPr>
        <p:txBody>
          <a:bodyPr/>
          <a:lstStyle/>
          <a:p>
            <a:endParaRPr lang="en-IN"/>
          </a:p>
        </p:txBody>
      </p:sp>
      <p:sp>
        <p:nvSpPr>
          <p:cNvPr id="16" name="Text 14"/>
          <p:cNvSpPr/>
          <p:nvPr/>
        </p:nvSpPr>
        <p:spPr>
          <a:xfrm>
            <a:off x="320040" y="3035808"/>
            <a:ext cx="8503920" cy="347472"/>
          </a:xfrm>
          <a:prstGeom prst="rect">
            <a:avLst/>
          </a:prstGeom>
          <a:noFill/>
          <a:ln/>
        </p:spPr>
        <p:txBody>
          <a:bodyPr wrap="square" rtlCol="0" anchor="ctr"/>
          <a:lstStyle/>
          <a:p>
            <a:pPr marL="0" indent="0">
              <a:buNone/>
            </a:pPr>
            <a:r>
              <a:rPr lang="en-US" sz="1200" b="1" dirty="0">
                <a:solidFill>
                  <a:srgbClr val="0A1628"/>
                </a:solidFill>
              </a:rPr>
              <a:t>Measurable Results</a:t>
            </a:r>
            <a:endParaRPr lang="en-US" sz="1200" dirty="0"/>
          </a:p>
        </p:txBody>
      </p:sp>
      <p:sp>
        <p:nvSpPr>
          <p:cNvPr id="17" name="Text 15"/>
          <p:cNvSpPr/>
          <p:nvPr/>
        </p:nvSpPr>
        <p:spPr>
          <a:xfrm>
            <a:off x="457200" y="3438144"/>
            <a:ext cx="2651760" cy="274320"/>
          </a:xfrm>
          <a:prstGeom prst="rect">
            <a:avLst/>
          </a:prstGeom>
          <a:noFill/>
          <a:ln/>
        </p:spPr>
        <p:txBody>
          <a:bodyPr wrap="square" rtlCol="0" anchor="ctr"/>
          <a:lstStyle/>
          <a:p>
            <a:pPr marL="0" indent="0">
              <a:buNone/>
            </a:pPr>
            <a:r>
              <a:rPr lang="en-US" sz="1000" b="1" dirty="0">
                <a:solidFill>
                  <a:srgbClr val="00E5A0"/>
                </a:solidFill>
              </a:rPr>
              <a:t>Net Promoter Score (NPS)</a:t>
            </a:r>
            <a:endParaRPr lang="en-US" sz="1000" dirty="0"/>
          </a:p>
        </p:txBody>
      </p:sp>
      <p:sp>
        <p:nvSpPr>
          <p:cNvPr id="18" name="Text 16"/>
          <p:cNvSpPr/>
          <p:nvPr/>
        </p:nvSpPr>
        <p:spPr>
          <a:xfrm>
            <a:off x="457200" y="3730752"/>
            <a:ext cx="2651760" cy="274320"/>
          </a:xfrm>
          <a:prstGeom prst="rect">
            <a:avLst/>
          </a:prstGeom>
          <a:noFill/>
          <a:ln/>
        </p:spPr>
        <p:txBody>
          <a:bodyPr wrap="square" rtlCol="0" anchor="ctr"/>
          <a:lstStyle/>
          <a:p>
            <a:pPr marL="0" indent="0">
              <a:buNone/>
            </a:pPr>
            <a:r>
              <a:rPr lang="en-US" sz="1050" dirty="0">
                <a:solidFill>
                  <a:srgbClr val="E8F4FD"/>
                </a:solidFill>
              </a:rPr>
              <a:t>Improved up to +20%</a:t>
            </a:r>
            <a:endParaRPr lang="en-US" sz="1050" dirty="0"/>
          </a:p>
        </p:txBody>
      </p:sp>
      <p:sp>
        <p:nvSpPr>
          <p:cNvPr id="19" name="Text 17"/>
          <p:cNvSpPr/>
          <p:nvPr/>
        </p:nvSpPr>
        <p:spPr>
          <a:xfrm>
            <a:off x="3310128" y="3438144"/>
            <a:ext cx="2651760" cy="274320"/>
          </a:xfrm>
          <a:prstGeom prst="rect">
            <a:avLst/>
          </a:prstGeom>
          <a:noFill/>
          <a:ln/>
        </p:spPr>
        <p:txBody>
          <a:bodyPr wrap="square" rtlCol="0" anchor="ctr"/>
          <a:lstStyle/>
          <a:p>
            <a:pPr marL="0" indent="0">
              <a:buNone/>
            </a:pPr>
            <a:r>
              <a:rPr lang="en-US" sz="1000" b="1" dirty="0">
                <a:solidFill>
                  <a:srgbClr val="00C8FF"/>
                </a:solidFill>
              </a:rPr>
              <a:t>Average Call Duration</a:t>
            </a:r>
            <a:endParaRPr lang="en-US" sz="1000" dirty="0"/>
          </a:p>
        </p:txBody>
      </p:sp>
      <p:sp>
        <p:nvSpPr>
          <p:cNvPr id="20" name="Text 18"/>
          <p:cNvSpPr/>
          <p:nvPr/>
        </p:nvSpPr>
        <p:spPr>
          <a:xfrm>
            <a:off x="3310128" y="3730752"/>
            <a:ext cx="2651760" cy="274320"/>
          </a:xfrm>
          <a:prstGeom prst="rect">
            <a:avLst/>
          </a:prstGeom>
          <a:noFill/>
          <a:ln/>
        </p:spPr>
        <p:txBody>
          <a:bodyPr wrap="square" rtlCol="0" anchor="ctr"/>
          <a:lstStyle/>
          <a:p>
            <a:pPr marL="0" indent="0">
              <a:buNone/>
            </a:pPr>
            <a:r>
              <a:rPr lang="en-US" sz="1050" dirty="0">
                <a:solidFill>
                  <a:srgbClr val="E8F4FD"/>
                </a:solidFill>
              </a:rPr>
              <a:t>Reduced by 10%</a:t>
            </a:r>
            <a:endParaRPr lang="en-US" sz="1050" dirty="0"/>
          </a:p>
        </p:txBody>
      </p:sp>
      <p:sp>
        <p:nvSpPr>
          <p:cNvPr id="21" name="Text 19"/>
          <p:cNvSpPr/>
          <p:nvPr/>
        </p:nvSpPr>
        <p:spPr>
          <a:xfrm>
            <a:off x="6163056" y="3438144"/>
            <a:ext cx="2651760" cy="274320"/>
          </a:xfrm>
          <a:prstGeom prst="rect">
            <a:avLst/>
          </a:prstGeom>
          <a:noFill/>
          <a:ln/>
        </p:spPr>
        <p:txBody>
          <a:bodyPr wrap="square" rtlCol="0" anchor="ctr"/>
          <a:lstStyle/>
          <a:p>
            <a:pPr marL="0" indent="0">
              <a:buNone/>
            </a:pPr>
            <a:r>
              <a:rPr lang="en-US" sz="1000" b="1" dirty="0">
                <a:solidFill>
                  <a:srgbClr val="FFD166"/>
                </a:solidFill>
              </a:rPr>
              <a:t>Employee Experience</a:t>
            </a:r>
            <a:endParaRPr lang="en-US" sz="1000" dirty="0"/>
          </a:p>
        </p:txBody>
      </p:sp>
      <p:sp>
        <p:nvSpPr>
          <p:cNvPr id="22" name="Text 20"/>
          <p:cNvSpPr/>
          <p:nvPr/>
        </p:nvSpPr>
        <p:spPr>
          <a:xfrm>
            <a:off x="6163056" y="3730752"/>
            <a:ext cx="2651760" cy="274320"/>
          </a:xfrm>
          <a:prstGeom prst="rect">
            <a:avLst/>
          </a:prstGeom>
          <a:noFill/>
          <a:ln/>
        </p:spPr>
        <p:txBody>
          <a:bodyPr wrap="square" rtlCol="0" anchor="ctr"/>
          <a:lstStyle/>
          <a:p>
            <a:pPr marL="0" indent="0">
              <a:buNone/>
            </a:pPr>
            <a:r>
              <a:rPr lang="en-US" sz="1050" dirty="0">
                <a:solidFill>
                  <a:srgbClr val="E8F4FD"/>
                </a:solidFill>
              </a:rPr>
              <a:t>Significantly easier mortgage data management</a:t>
            </a:r>
            <a:endParaRPr lang="en-US" sz="1050" dirty="0"/>
          </a:p>
        </p:txBody>
      </p:sp>
      <p:sp>
        <p:nvSpPr>
          <p:cNvPr id="23" name="Shape 21"/>
          <p:cNvSpPr/>
          <p:nvPr/>
        </p:nvSpPr>
        <p:spPr>
          <a:xfrm>
            <a:off x="274320" y="4114800"/>
            <a:ext cx="8595360" cy="804672"/>
          </a:xfrm>
          <a:prstGeom prst="rect">
            <a:avLst/>
          </a:prstGeom>
          <a:solidFill>
            <a:srgbClr val="0F2041"/>
          </a:solidFill>
          <a:ln w="12700">
            <a:solidFill>
              <a:srgbClr val="00C8FF"/>
            </a:solidFill>
            <a:prstDash val="solid"/>
          </a:ln>
        </p:spPr>
        <p:txBody>
          <a:bodyPr/>
          <a:lstStyle/>
          <a:p>
            <a:endParaRPr lang="en-IN"/>
          </a:p>
        </p:txBody>
      </p:sp>
      <p:sp>
        <p:nvSpPr>
          <p:cNvPr id="24" name="Text 22"/>
          <p:cNvSpPr/>
          <p:nvPr/>
        </p:nvSpPr>
        <p:spPr>
          <a:xfrm>
            <a:off x="457200" y="4169664"/>
            <a:ext cx="8229600" cy="320040"/>
          </a:xfrm>
          <a:prstGeom prst="rect">
            <a:avLst/>
          </a:prstGeom>
          <a:noFill/>
          <a:ln/>
        </p:spPr>
        <p:txBody>
          <a:bodyPr wrap="square" rtlCol="0" anchor="ctr"/>
          <a:lstStyle/>
          <a:p>
            <a:pPr marL="0" indent="0">
              <a:buNone/>
            </a:pPr>
            <a:r>
              <a:rPr lang="en-US" sz="1050" b="1" dirty="0">
                <a:solidFill>
                  <a:srgbClr val="00C8FF"/>
                </a:solidFill>
              </a:rPr>
              <a:t>IBM watsonx Key Features: Data Integration · EDA · ML Training · Model Deployment · Real-Time Analytics</a:t>
            </a:r>
            <a:endParaRPr lang="en-US" sz="1050" dirty="0"/>
          </a:p>
        </p:txBody>
      </p:sp>
      <p:sp>
        <p:nvSpPr>
          <p:cNvPr id="25" name="Text 23"/>
          <p:cNvSpPr/>
          <p:nvPr/>
        </p:nvSpPr>
        <p:spPr>
          <a:xfrm>
            <a:off x="457200" y="4480560"/>
            <a:ext cx="8229600" cy="274320"/>
          </a:xfrm>
          <a:prstGeom prst="rect">
            <a:avLst/>
          </a:prstGeom>
          <a:noFill/>
          <a:ln/>
        </p:spPr>
        <p:txBody>
          <a:bodyPr wrap="square" rtlCol="0" anchor="ctr"/>
          <a:lstStyle/>
          <a:p>
            <a:pPr marL="0" indent="0">
              <a:buNone/>
            </a:pPr>
            <a:r>
              <a:rPr lang="en-US" sz="1000" dirty="0">
                <a:solidFill>
                  <a:srgbClr val="A0B4C8"/>
                </a:solidFill>
              </a:rPr>
              <a:t>Industries: Healthcare · Financial Services · Retail · Manufacturing · Energy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743200" cy="274320"/>
          </a:xfrm>
          <a:prstGeom prst="rect">
            <a:avLst/>
          </a:prstGeom>
          <a:solidFill>
            <a:srgbClr val="7B5EA7"/>
          </a:solidFill>
          <a:ln w="12700">
            <a:solidFill>
              <a:srgbClr val="7B5EA7"/>
            </a:solidFill>
            <a:prstDash val="solid"/>
          </a:ln>
        </p:spPr>
        <p:txBody>
          <a:bodyPr/>
          <a:lstStyle/>
          <a:p>
            <a:endParaRPr lang="en-IN"/>
          </a:p>
        </p:txBody>
      </p:sp>
      <p:sp>
        <p:nvSpPr>
          <p:cNvPr id="4" name="Text 2"/>
          <p:cNvSpPr/>
          <p:nvPr/>
        </p:nvSpPr>
        <p:spPr>
          <a:xfrm>
            <a:off x="365760" y="128016"/>
            <a:ext cx="2743200" cy="274320"/>
          </a:xfrm>
          <a:prstGeom prst="rect">
            <a:avLst/>
          </a:prstGeom>
          <a:noFill/>
          <a:ln/>
        </p:spPr>
        <p:txBody>
          <a:bodyPr wrap="square" rtlCol="0" anchor="ctr"/>
          <a:lstStyle/>
          <a:p>
            <a:pPr marL="0" indent="0" algn="ctr">
              <a:buNone/>
            </a:pPr>
            <a:r>
              <a:rPr lang="en-US" sz="900" b="1" dirty="0">
                <a:solidFill>
                  <a:srgbClr val="FFFFFF"/>
                </a:solidFill>
              </a:rPr>
              <a:t>LESSON 2 · CONCEPT</a:t>
            </a:r>
            <a:endParaRPr lang="en-US" sz="900" dirty="0"/>
          </a:p>
        </p:txBody>
      </p:sp>
      <p:sp>
        <p:nvSpPr>
          <p:cNvPr id="5" name="Text 3"/>
          <p:cNvSpPr/>
          <p:nvPr/>
        </p:nvSpPr>
        <p:spPr>
          <a:xfrm>
            <a:off x="365760" y="475488"/>
            <a:ext cx="7772400" cy="438912"/>
          </a:xfrm>
          <a:prstGeom prst="rect">
            <a:avLst/>
          </a:prstGeom>
          <a:noFill/>
          <a:ln/>
        </p:spPr>
        <p:txBody>
          <a:bodyPr wrap="square" rtlCol="0" anchor="ctr"/>
          <a:lstStyle/>
          <a:p>
            <a:pPr marL="0" indent="0">
              <a:buNone/>
            </a:pPr>
            <a:r>
              <a:rPr lang="en-US" sz="2100" b="1" dirty="0">
                <a:solidFill>
                  <a:srgbClr val="FFFFFF"/>
                </a:solidFill>
              </a:rPr>
              <a:t>Leveraging Gen AI Across the Analytics Process</a:t>
            </a:r>
            <a:endParaRPr lang="en-US" sz="2100" dirty="0"/>
          </a:p>
        </p:txBody>
      </p:sp>
      <p:pic>
        <p:nvPicPr>
          <p:cNvPr id="6" name="Image 0" descr="preencoded.png"/>
          <p:cNvPicPr>
            <a:picLocks noChangeAspect="1"/>
          </p:cNvPicPr>
          <p:nvPr/>
        </p:nvPicPr>
        <p:blipFill>
          <a:blip r:embed="rId3"/>
          <a:stretch>
            <a:fillRect/>
          </a:stretch>
        </p:blipFill>
        <p:spPr>
          <a:xfrm>
            <a:off x="8092440" y="512064"/>
            <a:ext cx="594360" cy="594360"/>
          </a:xfrm>
          <a:prstGeom prst="rect">
            <a:avLst/>
          </a:prstGeom>
        </p:spPr>
      </p:pic>
      <p:sp>
        <p:nvSpPr>
          <p:cNvPr id="7" name="Shape 4"/>
          <p:cNvSpPr/>
          <p:nvPr/>
        </p:nvSpPr>
        <p:spPr>
          <a:xfrm>
            <a:off x="274320" y="822960"/>
            <a:ext cx="8595360" cy="713232"/>
          </a:xfrm>
          <a:prstGeom prst="rect">
            <a:avLst/>
          </a:prstGeom>
          <a:solidFill>
            <a:srgbClr val="0F2041"/>
          </a:solidFill>
          <a:ln w="19050">
            <a:solidFill>
              <a:srgbClr val="7B5EA7"/>
            </a:solidFill>
            <a:prstDash val="solid"/>
          </a:ln>
        </p:spPr>
        <p:txBody>
          <a:bodyPr/>
          <a:lstStyle/>
          <a:p>
            <a:endParaRPr lang="en-IN"/>
          </a:p>
        </p:txBody>
      </p:sp>
      <p:sp>
        <p:nvSpPr>
          <p:cNvPr id="8" name="Text 5"/>
          <p:cNvSpPr/>
          <p:nvPr/>
        </p:nvSpPr>
        <p:spPr>
          <a:xfrm>
            <a:off x="457200" y="841248"/>
            <a:ext cx="8229600" cy="658368"/>
          </a:xfrm>
          <a:prstGeom prst="rect">
            <a:avLst/>
          </a:prstGeom>
          <a:noFill/>
          <a:ln/>
        </p:spPr>
        <p:txBody>
          <a:bodyPr wrap="square" rtlCol="0" anchor="ctr"/>
          <a:lstStyle/>
          <a:p>
            <a:pPr marL="0" indent="0">
              <a:buNone/>
            </a:pPr>
            <a:r>
              <a:rPr lang="en-US" sz="1150" b="1" dirty="0">
                <a:solidFill>
                  <a:srgbClr val="7B5EA7"/>
                </a:solidFill>
              </a:rPr>
              <a:t>Core Concept:</a:t>
            </a:r>
            <a:r>
              <a:rPr lang="en-US" sz="1150" dirty="0">
                <a:solidFill>
                  <a:srgbClr val="E8F4FD"/>
                </a:solidFill>
              </a:rPr>
              <a:t> Gen AI now plays a meaningful role at every stage — from generating synthetic data through automated cleaning and NL querying to building visualisations and crafting data-driven narratives.</a:t>
            </a:r>
            <a:endParaRPr lang="en-US" sz="1150" dirty="0"/>
          </a:p>
        </p:txBody>
      </p:sp>
      <p:sp>
        <p:nvSpPr>
          <p:cNvPr id="9" name="Shape 6"/>
          <p:cNvSpPr/>
          <p:nvPr/>
        </p:nvSpPr>
        <p:spPr>
          <a:xfrm>
            <a:off x="274320" y="1664208"/>
            <a:ext cx="4187952" cy="950976"/>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10" name="Shape 7"/>
          <p:cNvSpPr/>
          <p:nvPr/>
        </p:nvSpPr>
        <p:spPr>
          <a:xfrm>
            <a:off x="365760" y="1773936"/>
            <a:ext cx="438912" cy="438912"/>
          </a:xfrm>
          <a:prstGeom prst="ellipse">
            <a:avLst/>
          </a:prstGeom>
          <a:solidFill>
            <a:srgbClr val="00C8FF"/>
          </a:solidFill>
          <a:ln w="12700">
            <a:solidFill>
              <a:srgbClr val="00C8FF"/>
            </a:solidFill>
            <a:prstDash val="solid"/>
          </a:ln>
        </p:spPr>
        <p:txBody>
          <a:bodyPr/>
          <a:lstStyle/>
          <a:p>
            <a:endParaRPr lang="en-IN"/>
          </a:p>
        </p:txBody>
      </p:sp>
      <p:sp>
        <p:nvSpPr>
          <p:cNvPr id="11" name="Text 8"/>
          <p:cNvSpPr/>
          <p:nvPr/>
        </p:nvSpPr>
        <p:spPr>
          <a:xfrm>
            <a:off x="365760" y="1773936"/>
            <a:ext cx="438912" cy="438912"/>
          </a:xfrm>
          <a:prstGeom prst="rect">
            <a:avLst/>
          </a:prstGeom>
          <a:noFill/>
          <a:ln/>
        </p:spPr>
        <p:txBody>
          <a:bodyPr wrap="square" rtlCol="0" anchor="ctr"/>
          <a:lstStyle/>
          <a:p>
            <a:pPr marL="0" indent="0" algn="ctr">
              <a:buNone/>
            </a:pPr>
            <a:r>
              <a:rPr lang="en-US" sz="1200" b="1" dirty="0">
                <a:solidFill>
                  <a:srgbClr val="0A1628"/>
                </a:solidFill>
              </a:rPr>
              <a:t>1</a:t>
            </a:r>
            <a:endParaRPr lang="en-US" sz="1200" dirty="0"/>
          </a:p>
        </p:txBody>
      </p:sp>
      <p:sp>
        <p:nvSpPr>
          <p:cNvPr id="12" name="Text 9"/>
          <p:cNvSpPr/>
          <p:nvPr/>
        </p:nvSpPr>
        <p:spPr>
          <a:xfrm>
            <a:off x="914400" y="1755648"/>
            <a:ext cx="3438144" cy="347472"/>
          </a:xfrm>
          <a:prstGeom prst="rect">
            <a:avLst/>
          </a:prstGeom>
          <a:noFill/>
          <a:ln/>
        </p:spPr>
        <p:txBody>
          <a:bodyPr wrap="square" rtlCol="0" anchor="ctr"/>
          <a:lstStyle/>
          <a:p>
            <a:pPr marL="0" indent="0">
              <a:buNone/>
            </a:pPr>
            <a:r>
              <a:rPr lang="en-US" sz="1100" b="1" dirty="0">
                <a:solidFill>
                  <a:srgbClr val="00C8FF"/>
                </a:solidFill>
              </a:rPr>
              <a:t>Data Generation &amp; Augmentation</a:t>
            </a:r>
            <a:endParaRPr lang="en-US" sz="1100" dirty="0"/>
          </a:p>
        </p:txBody>
      </p:sp>
      <p:sp>
        <p:nvSpPr>
          <p:cNvPr id="13" name="Text 10"/>
          <p:cNvSpPr/>
          <p:nvPr/>
        </p:nvSpPr>
        <p:spPr>
          <a:xfrm>
            <a:off x="914400" y="2121408"/>
            <a:ext cx="3438144" cy="411480"/>
          </a:xfrm>
          <a:prstGeom prst="rect">
            <a:avLst/>
          </a:prstGeom>
          <a:noFill/>
          <a:ln/>
        </p:spPr>
        <p:txBody>
          <a:bodyPr wrap="square" rtlCol="0" anchor="ctr"/>
          <a:lstStyle/>
          <a:p>
            <a:pPr marL="0" indent="0">
              <a:buNone/>
            </a:pPr>
            <a:r>
              <a:rPr lang="en-US" sz="1000" dirty="0">
                <a:solidFill>
                  <a:srgbClr val="E8F4FD"/>
                </a:solidFill>
              </a:rPr>
              <a:t>More training data without privacy risk</a:t>
            </a:r>
            <a:endParaRPr lang="en-US" sz="1000" dirty="0"/>
          </a:p>
        </p:txBody>
      </p:sp>
      <p:sp>
        <p:nvSpPr>
          <p:cNvPr id="14" name="Shape 11"/>
          <p:cNvSpPr/>
          <p:nvPr/>
        </p:nvSpPr>
        <p:spPr>
          <a:xfrm>
            <a:off x="4645152" y="1664208"/>
            <a:ext cx="4187952" cy="950976"/>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15" name="Shape 12"/>
          <p:cNvSpPr/>
          <p:nvPr/>
        </p:nvSpPr>
        <p:spPr>
          <a:xfrm>
            <a:off x="4736592" y="1773936"/>
            <a:ext cx="438912" cy="438912"/>
          </a:xfrm>
          <a:prstGeom prst="ellipse">
            <a:avLst/>
          </a:prstGeom>
          <a:solidFill>
            <a:srgbClr val="7B5EA7"/>
          </a:solidFill>
          <a:ln w="12700">
            <a:solidFill>
              <a:srgbClr val="7B5EA7"/>
            </a:solidFill>
            <a:prstDash val="solid"/>
          </a:ln>
        </p:spPr>
        <p:txBody>
          <a:bodyPr/>
          <a:lstStyle/>
          <a:p>
            <a:endParaRPr lang="en-IN"/>
          </a:p>
        </p:txBody>
      </p:sp>
      <p:sp>
        <p:nvSpPr>
          <p:cNvPr id="16" name="Text 13"/>
          <p:cNvSpPr/>
          <p:nvPr/>
        </p:nvSpPr>
        <p:spPr>
          <a:xfrm>
            <a:off x="4736592" y="1773936"/>
            <a:ext cx="438912" cy="438912"/>
          </a:xfrm>
          <a:prstGeom prst="rect">
            <a:avLst/>
          </a:prstGeom>
          <a:noFill/>
          <a:ln/>
        </p:spPr>
        <p:txBody>
          <a:bodyPr wrap="square" rtlCol="0" anchor="ctr"/>
          <a:lstStyle/>
          <a:p>
            <a:pPr marL="0" indent="0" algn="ctr">
              <a:buNone/>
            </a:pPr>
            <a:r>
              <a:rPr lang="en-US" sz="1200" b="1" dirty="0">
                <a:solidFill>
                  <a:srgbClr val="0A1628"/>
                </a:solidFill>
              </a:rPr>
              <a:t>2</a:t>
            </a:r>
            <a:endParaRPr lang="en-US" sz="1200" dirty="0"/>
          </a:p>
        </p:txBody>
      </p:sp>
      <p:sp>
        <p:nvSpPr>
          <p:cNvPr id="17" name="Text 14"/>
          <p:cNvSpPr/>
          <p:nvPr/>
        </p:nvSpPr>
        <p:spPr>
          <a:xfrm>
            <a:off x="5285232" y="1755648"/>
            <a:ext cx="3438144" cy="347472"/>
          </a:xfrm>
          <a:prstGeom prst="rect">
            <a:avLst/>
          </a:prstGeom>
          <a:noFill/>
          <a:ln/>
        </p:spPr>
        <p:txBody>
          <a:bodyPr wrap="square" rtlCol="0" anchor="ctr"/>
          <a:lstStyle/>
          <a:p>
            <a:pPr marL="0" indent="0">
              <a:buNone/>
            </a:pPr>
            <a:r>
              <a:rPr lang="en-US" sz="1100" b="1" dirty="0">
                <a:solidFill>
                  <a:srgbClr val="7B5EA7"/>
                </a:solidFill>
              </a:rPr>
              <a:t>Data Preparation</a:t>
            </a:r>
            <a:endParaRPr lang="en-US" sz="1100" dirty="0"/>
          </a:p>
        </p:txBody>
      </p:sp>
      <p:sp>
        <p:nvSpPr>
          <p:cNvPr id="18" name="Text 15"/>
          <p:cNvSpPr/>
          <p:nvPr/>
        </p:nvSpPr>
        <p:spPr>
          <a:xfrm>
            <a:off x="5285232" y="2121408"/>
            <a:ext cx="3438144" cy="411480"/>
          </a:xfrm>
          <a:prstGeom prst="rect">
            <a:avLst/>
          </a:prstGeom>
          <a:noFill/>
          <a:ln/>
        </p:spPr>
        <p:txBody>
          <a:bodyPr wrap="square" rtlCol="0" anchor="ctr"/>
          <a:lstStyle/>
          <a:p>
            <a:pPr marL="0" indent="0">
              <a:buNone/>
            </a:pPr>
            <a:r>
              <a:rPr lang="en-US" sz="1000" dirty="0">
                <a:solidFill>
                  <a:srgbClr val="E8F4FD"/>
                </a:solidFill>
              </a:rPr>
              <a:t>Cuts 60–80% time spent on cleaning</a:t>
            </a:r>
            <a:endParaRPr lang="en-US" sz="1000" dirty="0"/>
          </a:p>
        </p:txBody>
      </p:sp>
      <p:sp>
        <p:nvSpPr>
          <p:cNvPr id="19" name="Shape 16"/>
          <p:cNvSpPr/>
          <p:nvPr/>
        </p:nvSpPr>
        <p:spPr>
          <a:xfrm>
            <a:off x="274320" y="2743200"/>
            <a:ext cx="4187952" cy="950976"/>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20" name="Shape 17"/>
          <p:cNvSpPr/>
          <p:nvPr/>
        </p:nvSpPr>
        <p:spPr>
          <a:xfrm>
            <a:off x="365760" y="2852928"/>
            <a:ext cx="438912" cy="438912"/>
          </a:xfrm>
          <a:prstGeom prst="ellipse">
            <a:avLst/>
          </a:prstGeom>
          <a:solidFill>
            <a:srgbClr val="00E5A0"/>
          </a:solidFill>
          <a:ln w="12700">
            <a:solidFill>
              <a:srgbClr val="00E5A0"/>
            </a:solidFill>
            <a:prstDash val="solid"/>
          </a:ln>
        </p:spPr>
        <p:txBody>
          <a:bodyPr/>
          <a:lstStyle/>
          <a:p>
            <a:endParaRPr lang="en-IN"/>
          </a:p>
        </p:txBody>
      </p:sp>
      <p:sp>
        <p:nvSpPr>
          <p:cNvPr id="21" name="Text 18"/>
          <p:cNvSpPr/>
          <p:nvPr/>
        </p:nvSpPr>
        <p:spPr>
          <a:xfrm>
            <a:off x="365760" y="2852928"/>
            <a:ext cx="438912" cy="438912"/>
          </a:xfrm>
          <a:prstGeom prst="rect">
            <a:avLst/>
          </a:prstGeom>
          <a:noFill/>
          <a:ln/>
        </p:spPr>
        <p:txBody>
          <a:bodyPr wrap="square" rtlCol="0" anchor="ctr"/>
          <a:lstStyle/>
          <a:p>
            <a:pPr marL="0" indent="0" algn="ctr">
              <a:buNone/>
            </a:pPr>
            <a:r>
              <a:rPr lang="en-US" sz="1200" b="1" dirty="0">
                <a:solidFill>
                  <a:srgbClr val="0A1628"/>
                </a:solidFill>
              </a:rPr>
              <a:t>3</a:t>
            </a:r>
            <a:endParaRPr lang="en-US" sz="1200" dirty="0"/>
          </a:p>
        </p:txBody>
      </p:sp>
      <p:sp>
        <p:nvSpPr>
          <p:cNvPr id="22" name="Text 19"/>
          <p:cNvSpPr/>
          <p:nvPr/>
        </p:nvSpPr>
        <p:spPr>
          <a:xfrm>
            <a:off x="914400" y="2834640"/>
            <a:ext cx="3438144" cy="347472"/>
          </a:xfrm>
          <a:prstGeom prst="rect">
            <a:avLst/>
          </a:prstGeom>
          <a:noFill/>
          <a:ln/>
        </p:spPr>
        <p:txBody>
          <a:bodyPr wrap="square" rtlCol="0" anchor="ctr"/>
          <a:lstStyle/>
          <a:p>
            <a:pPr marL="0" indent="0">
              <a:buNone/>
            </a:pPr>
            <a:r>
              <a:rPr lang="en-US" sz="1100" b="1" dirty="0">
                <a:solidFill>
                  <a:srgbClr val="00E5A0"/>
                </a:solidFill>
              </a:rPr>
              <a:t>Data Querying (NL to SQL)</a:t>
            </a:r>
            <a:endParaRPr lang="en-US" sz="1100" dirty="0"/>
          </a:p>
        </p:txBody>
      </p:sp>
      <p:sp>
        <p:nvSpPr>
          <p:cNvPr id="23" name="Text 20"/>
          <p:cNvSpPr/>
          <p:nvPr/>
        </p:nvSpPr>
        <p:spPr>
          <a:xfrm>
            <a:off x="914400" y="3200400"/>
            <a:ext cx="3438144" cy="411480"/>
          </a:xfrm>
          <a:prstGeom prst="rect">
            <a:avLst/>
          </a:prstGeom>
          <a:noFill/>
          <a:ln/>
        </p:spPr>
        <p:txBody>
          <a:bodyPr wrap="square" rtlCol="0" anchor="ctr"/>
          <a:lstStyle/>
          <a:p>
            <a:pPr marL="0" indent="0">
              <a:buNone/>
            </a:pPr>
            <a:r>
              <a:rPr lang="en-US" sz="1000" dirty="0">
                <a:solidFill>
                  <a:srgbClr val="E8F4FD"/>
                </a:solidFill>
              </a:rPr>
              <a:t>Non-technical users can query databases</a:t>
            </a:r>
            <a:endParaRPr lang="en-US" sz="1000" dirty="0"/>
          </a:p>
        </p:txBody>
      </p:sp>
      <p:sp>
        <p:nvSpPr>
          <p:cNvPr id="24" name="Shape 21"/>
          <p:cNvSpPr/>
          <p:nvPr/>
        </p:nvSpPr>
        <p:spPr>
          <a:xfrm>
            <a:off x="4645152" y="2743200"/>
            <a:ext cx="4187952" cy="950976"/>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25" name="Shape 22"/>
          <p:cNvSpPr/>
          <p:nvPr/>
        </p:nvSpPr>
        <p:spPr>
          <a:xfrm>
            <a:off x="4736592" y="2852928"/>
            <a:ext cx="438912" cy="438912"/>
          </a:xfrm>
          <a:prstGeom prst="ellipse">
            <a:avLst/>
          </a:prstGeom>
          <a:solidFill>
            <a:srgbClr val="FFD166"/>
          </a:solidFill>
          <a:ln w="12700">
            <a:solidFill>
              <a:srgbClr val="FFD166"/>
            </a:solidFill>
            <a:prstDash val="solid"/>
          </a:ln>
        </p:spPr>
        <p:txBody>
          <a:bodyPr/>
          <a:lstStyle/>
          <a:p>
            <a:endParaRPr lang="en-IN"/>
          </a:p>
        </p:txBody>
      </p:sp>
      <p:sp>
        <p:nvSpPr>
          <p:cNvPr id="26" name="Text 23"/>
          <p:cNvSpPr/>
          <p:nvPr/>
        </p:nvSpPr>
        <p:spPr>
          <a:xfrm>
            <a:off x="4736592" y="2852928"/>
            <a:ext cx="438912" cy="438912"/>
          </a:xfrm>
          <a:prstGeom prst="rect">
            <a:avLst/>
          </a:prstGeom>
          <a:noFill/>
          <a:ln/>
        </p:spPr>
        <p:txBody>
          <a:bodyPr wrap="square" rtlCol="0" anchor="ctr"/>
          <a:lstStyle/>
          <a:p>
            <a:pPr marL="0" indent="0" algn="ctr">
              <a:buNone/>
            </a:pPr>
            <a:r>
              <a:rPr lang="en-US" sz="1200" b="1" dirty="0">
                <a:solidFill>
                  <a:srgbClr val="0A1628"/>
                </a:solidFill>
              </a:rPr>
              <a:t>4</a:t>
            </a:r>
            <a:endParaRPr lang="en-US" sz="1200" dirty="0"/>
          </a:p>
        </p:txBody>
      </p:sp>
      <p:sp>
        <p:nvSpPr>
          <p:cNvPr id="27" name="Text 24"/>
          <p:cNvSpPr/>
          <p:nvPr/>
        </p:nvSpPr>
        <p:spPr>
          <a:xfrm>
            <a:off x="5285232" y="2834640"/>
            <a:ext cx="3438144" cy="347472"/>
          </a:xfrm>
          <a:prstGeom prst="rect">
            <a:avLst/>
          </a:prstGeom>
          <a:noFill/>
          <a:ln/>
        </p:spPr>
        <p:txBody>
          <a:bodyPr wrap="square" rtlCol="0" anchor="ctr"/>
          <a:lstStyle/>
          <a:p>
            <a:pPr marL="0" indent="0">
              <a:buNone/>
            </a:pPr>
            <a:r>
              <a:rPr lang="en-US" sz="1100" b="1" dirty="0">
                <a:solidFill>
                  <a:srgbClr val="FFD166"/>
                </a:solidFill>
              </a:rPr>
              <a:t>Insight Extraction</a:t>
            </a:r>
            <a:endParaRPr lang="en-US" sz="1100" dirty="0"/>
          </a:p>
        </p:txBody>
      </p:sp>
      <p:sp>
        <p:nvSpPr>
          <p:cNvPr id="28" name="Text 25"/>
          <p:cNvSpPr/>
          <p:nvPr/>
        </p:nvSpPr>
        <p:spPr>
          <a:xfrm>
            <a:off x="5285232" y="3200400"/>
            <a:ext cx="3438144" cy="411480"/>
          </a:xfrm>
          <a:prstGeom prst="rect">
            <a:avLst/>
          </a:prstGeom>
          <a:noFill/>
          <a:ln/>
        </p:spPr>
        <p:txBody>
          <a:bodyPr wrap="square" rtlCol="0" anchor="ctr"/>
          <a:lstStyle/>
          <a:p>
            <a:pPr marL="0" indent="0">
              <a:buNone/>
            </a:pPr>
            <a:r>
              <a:rPr lang="en-US" sz="1000" dirty="0">
                <a:solidFill>
                  <a:srgbClr val="E8F4FD"/>
                </a:solidFill>
              </a:rPr>
              <a:t>Faster discovery of hidden patterns</a:t>
            </a:r>
            <a:endParaRPr lang="en-US" sz="1000" dirty="0"/>
          </a:p>
        </p:txBody>
      </p:sp>
      <p:sp>
        <p:nvSpPr>
          <p:cNvPr id="29" name="Shape 26"/>
          <p:cNvSpPr/>
          <p:nvPr/>
        </p:nvSpPr>
        <p:spPr>
          <a:xfrm>
            <a:off x="274320" y="3822192"/>
            <a:ext cx="4187952" cy="950976"/>
          </a:xfrm>
          <a:prstGeom prst="rect">
            <a:avLst/>
          </a:prstGeom>
          <a:solidFill>
            <a:srgbClr val="1122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IN"/>
          </a:p>
        </p:txBody>
      </p:sp>
      <p:sp>
        <p:nvSpPr>
          <p:cNvPr id="30" name="Shape 27"/>
          <p:cNvSpPr/>
          <p:nvPr/>
        </p:nvSpPr>
        <p:spPr>
          <a:xfrm>
            <a:off x="365760" y="3931920"/>
            <a:ext cx="438912" cy="438912"/>
          </a:xfrm>
          <a:prstGeom prst="ellipse">
            <a:avLst/>
          </a:prstGeom>
          <a:solidFill>
            <a:srgbClr val="FF6B6B"/>
          </a:solidFill>
          <a:ln w="12700">
            <a:solidFill>
              <a:srgbClr val="FF6B6B"/>
            </a:solidFill>
            <a:prstDash val="solid"/>
          </a:ln>
        </p:spPr>
        <p:txBody>
          <a:bodyPr/>
          <a:lstStyle/>
          <a:p>
            <a:endParaRPr lang="en-IN"/>
          </a:p>
        </p:txBody>
      </p:sp>
      <p:sp>
        <p:nvSpPr>
          <p:cNvPr id="31" name="Text 28"/>
          <p:cNvSpPr/>
          <p:nvPr/>
        </p:nvSpPr>
        <p:spPr>
          <a:xfrm>
            <a:off x="365760" y="3931920"/>
            <a:ext cx="438912" cy="438912"/>
          </a:xfrm>
          <a:prstGeom prst="rect">
            <a:avLst/>
          </a:prstGeom>
          <a:noFill/>
          <a:ln/>
        </p:spPr>
        <p:txBody>
          <a:bodyPr wrap="square" rtlCol="0" anchor="ctr"/>
          <a:lstStyle/>
          <a:p>
            <a:pPr marL="0" indent="0" algn="ctr">
              <a:buNone/>
            </a:pPr>
            <a:r>
              <a:rPr lang="en-US" sz="1200" b="1" dirty="0">
                <a:solidFill>
                  <a:srgbClr val="0A1628"/>
                </a:solidFill>
              </a:rPr>
              <a:t>5</a:t>
            </a:r>
            <a:endParaRPr lang="en-US" sz="1200" dirty="0"/>
          </a:p>
        </p:txBody>
      </p:sp>
      <p:sp>
        <p:nvSpPr>
          <p:cNvPr id="32" name="Text 29"/>
          <p:cNvSpPr/>
          <p:nvPr/>
        </p:nvSpPr>
        <p:spPr>
          <a:xfrm>
            <a:off x="914400" y="3913632"/>
            <a:ext cx="3438144" cy="347472"/>
          </a:xfrm>
          <a:prstGeom prst="rect">
            <a:avLst/>
          </a:prstGeom>
          <a:noFill/>
          <a:ln/>
        </p:spPr>
        <p:txBody>
          <a:bodyPr wrap="square" rtlCol="0" anchor="ctr"/>
          <a:lstStyle/>
          <a:p>
            <a:pPr marL="0" indent="0">
              <a:buNone/>
            </a:pPr>
            <a:r>
              <a:rPr lang="en-US" sz="1100" b="1" dirty="0">
                <a:solidFill>
                  <a:srgbClr val="FF6B6B"/>
                </a:solidFill>
              </a:rPr>
              <a:t>Visualisation Creation</a:t>
            </a:r>
            <a:endParaRPr lang="en-US" sz="1100" dirty="0"/>
          </a:p>
        </p:txBody>
      </p:sp>
      <p:sp>
        <p:nvSpPr>
          <p:cNvPr id="33" name="Text 30"/>
          <p:cNvSpPr/>
          <p:nvPr/>
        </p:nvSpPr>
        <p:spPr>
          <a:xfrm>
            <a:off x="914400" y="4279392"/>
            <a:ext cx="3438144" cy="411480"/>
          </a:xfrm>
          <a:prstGeom prst="rect">
            <a:avLst/>
          </a:prstGeom>
          <a:noFill/>
          <a:ln/>
        </p:spPr>
        <p:txBody>
          <a:bodyPr wrap="square" rtlCol="0" anchor="ctr"/>
          <a:lstStyle/>
          <a:p>
            <a:pPr marL="0" indent="0">
              <a:buNone/>
            </a:pPr>
            <a:r>
              <a:rPr lang="en-US" sz="1000" dirty="0">
                <a:solidFill>
                  <a:srgbClr val="E8F4FD"/>
                </a:solidFill>
              </a:rPr>
              <a:t>Audience-ready dashboards built faster</a:t>
            </a:r>
            <a:endParaRPr lang="en-US" sz="1000" dirty="0"/>
          </a:p>
        </p:txBody>
      </p:sp>
      <p:sp>
        <p:nvSpPr>
          <p:cNvPr id="34" name="Shape 31"/>
          <p:cNvSpPr/>
          <p:nvPr/>
        </p:nvSpPr>
        <p:spPr>
          <a:xfrm>
            <a:off x="4645152" y="3822192"/>
            <a:ext cx="4187952" cy="950976"/>
          </a:xfrm>
          <a:prstGeom prst="rect">
            <a:avLst/>
          </a:prstGeom>
          <a:solidFill>
            <a:srgbClr val="112244"/>
          </a:solidFill>
          <a:ln w="19050">
            <a:solidFill>
              <a:srgbClr val="00D4AA"/>
            </a:solidFill>
            <a:prstDash val="solid"/>
          </a:ln>
          <a:effectLst>
            <a:outerShdw blurRad="101600" dist="38100" dir="8100000" algn="bl" rotWithShape="0">
              <a:srgbClr val="000000">
                <a:alpha val="25000"/>
              </a:srgbClr>
            </a:outerShdw>
          </a:effectLst>
        </p:spPr>
        <p:txBody>
          <a:bodyPr/>
          <a:lstStyle/>
          <a:p>
            <a:endParaRPr lang="en-IN"/>
          </a:p>
        </p:txBody>
      </p:sp>
      <p:sp>
        <p:nvSpPr>
          <p:cNvPr id="35" name="Shape 32"/>
          <p:cNvSpPr/>
          <p:nvPr/>
        </p:nvSpPr>
        <p:spPr>
          <a:xfrm>
            <a:off x="4736592" y="3931920"/>
            <a:ext cx="438912" cy="438912"/>
          </a:xfrm>
          <a:prstGeom prst="ellipse">
            <a:avLst/>
          </a:prstGeom>
          <a:solidFill>
            <a:srgbClr val="00D4AA"/>
          </a:solidFill>
          <a:ln w="12700">
            <a:solidFill>
              <a:srgbClr val="00D4AA"/>
            </a:solidFill>
            <a:prstDash val="solid"/>
          </a:ln>
        </p:spPr>
        <p:txBody>
          <a:bodyPr/>
          <a:lstStyle/>
          <a:p>
            <a:endParaRPr lang="en-IN"/>
          </a:p>
        </p:txBody>
      </p:sp>
      <p:sp>
        <p:nvSpPr>
          <p:cNvPr id="36" name="Text 33"/>
          <p:cNvSpPr/>
          <p:nvPr/>
        </p:nvSpPr>
        <p:spPr>
          <a:xfrm>
            <a:off x="4736592" y="3931920"/>
            <a:ext cx="438912" cy="438912"/>
          </a:xfrm>
          <a:prstGeom prst="rect">
            <a:avLst/>
          </a:prstGeom>
          <a:noFill/>
          <a:ln/>
        </p:spPr>
        <p:txBody>
          <a:bodyPr wrap="square" rtlCol="0" anchor="ctr"/>
          <a:lstStyle/>
          <a:p>
            <a:pPr marL="0" indent="0" algn="ctr">
              <a:buNone/>
            </a:pPr>
            <a:r>
              <a:rPr lang="en-US" sz="1200" b="1" dirty="0">
                <a:solidFill>
                  <a:srgbClr val="0A1628"/>
                </a:solidFill>
              </a:rPr>
              <a:t>6</a:t>
            </a:r>
            <a:endParaRPr lang="en-US" sz="1200" dirty="0"/>
          </a:p>
        </p:txBody>
      </p:sp>
      <p:sp>
        <p:nvSpPr>
          <p:cNvPr id="37" name="Text 34"/>
          <p:cNvSpPr/>
          <p:nvPr/>
        </p:nvSpPr>
        <p:spPr>
          <a:xfrm>
            <a:off x="5285232" y="3913632"/>
            <a:ext cx="3438144" cy="347472"/>
          </a:xfrm>
          <a:prstGeom prst="rect">
            <a:avLst/>
          </a:prstGeom>
          <a:noFill/>
          <a:ln/>
        </p:spPr>
        <p:txBody>
          <a:bodyPr wrap="square" rtlCol="0" anchor="ctr"/>
          <a:lstStyle/>
          <a:p>
            <a:pPr marL="0" indent="0">
              <a:buNone/>
            </a:pPr>
            <a:r>
              <a:rPr lang="en-US" sz="1100" b="1" dirty="0">
                <a:solidFill>
                  <a:srgbClr val="00D4AA"/>
                </a:solidFill>
              </a:rPr>
              <a:t>Data Storytelling</a:t>
            </a:r>
            <a:endParaRPr lang="en-US" sz="1100" dirty="0"/>
          </a:p>
        </p:txBody>
      </p:sp>
      <p:sp>
        <p:nvSpPr>
          <p:cNvPr id="38" name="Text 35"/>
          <p:cNvSpPr/>
          <p:nvPr/>
        </p:nvSpPr>
        <p:spPr>
          <a:xfrm>
            <a:off x="5285232" y="4279392"/>
            <a:ext cx="3438144" cy="411480"/>
          </a:xfrm>
          <a:prstGeom prst="rect">
            <a:avLst/>
          </a:prstGeom>
          <a:noFill/>
          <a:ln/>
        </p:spPr>
        <p:txBody>
          <a:bodyPr wrap="square" rtlCol="0" anchor="ctr"/>
          <a:lstStyle/>
          <a:p>
            <a:pPr marL="0" indent="0">
              <a:buNone/>
            </a:pPr>
            <a:r>
              <a:rPr lang="en-US" sz="1000" dirty="0">
                <a:solidFill>
                  <a:srgbClr val="E8F4FD"/>
                </a:solidFill>
              </a:rPr>
              <a:t>Faster reports; more engaging findings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743200" cy="274320"/>
          </a:xfrm>
          <a:prstGeom prst="rect">
            <a:avLst/>
          </a:prstGeom>
          <a:solidFill>
            <a:srgbClr val="00E5A0"/>
          </a:solidFill>
          <a:ln w="12700">
            <a:solidFill>
              <a:srgbClr val="00E5A0"/>
            </a:solidFill>
            <a:prstDash val="solid"/>
          </a:ln>
        </p:spPr>
        <p:txBody>
          <a:bodyPr/>
          <a:lstStyle/>
          <a:p>
            <a:endParaRPr lang="en-IN"/>
          </a:p>
        </p:txBody>
      </p:sp>
      <p:sp>
        <p:nvSpPr>
          <p:cNvPr id="4" name="Text 2"/>
          <p:cNvSpPr/>
          <p:nvPr/>
        </p:nvSpPr>
        <p:spPr>
          <a:xfrm>
            <a:off x="365760" y="128016"/>
            <a:ext cx="2743200" cy="274320"/>
          </a:xfrm>
          <a:prstGeom prst="rect">
            <a:avLst/>
          </a:prstGeom>
          <a:noFill/>
          <a:ln/>
        </p:spPr>
        <p:txBody>
          <a:bodyPr wrap="square" rtlCol="0" anchor="ctr"/>
          <a:lstStyle/>
          <a:p>
            <a:pPr marL="0" indent="0" algn="ctr">
              <a:buNone/>
            </a:pPr>
            <a:r>
              <a:rPr lang="en-US" sz="900" b="1" dirty="0">
                <a:solidFill>
                  <a:srgbClr val="FFFFFF"/>
                </a:solidFill>
              </a:rPr>
              <a:t>LESSON 2 · HANDS-ON LAB</a:t>
            </a:r>
            <a:endParaRPr lang="en-US" sz="900" dirty="0"/>
          </a:p>
        </p:txBody>
      </p:sp>
      <p:sp>
        <p:nvSpPr>
          <p:cNvPr id="5" name="Text 3"/>
          <p:cNvSpPr/>
          <p:nvPr/>
        </p:nvSpPr>
        <p:spPr>
          <a:xfrm>
            <a:off x="365760" y="475488"/>
            <a:ext cx="7772400" cy="438912"/>
          </a:xfrm>
          <a:prstGeom prst="rect">
            <a:avLst/>
          </a:prstGeom>
          <a:noFill/>
          <a:ln/>
        </p:spPr>
        <p:txBody>
          <a:bodyPr wrap="square" rtlCol="0" anchor="ctr"/>
          <a:lstStyle/>
          <a:p>
            <a:pPr marL="0" indent="0">
              <a:buNone/>
            </a:pPr>
            <a:r>
              <a:rPr lang="en-US" sz="2200" b="1" dirty="0">
                <a:solidFill>
                  <a:srgbClr val="FFFFFF"/>
                </a:solidFill>
              </a:rPr>
              <a:t>Data Augmentation — 3 Types, 3 Approaches</a:t>
            </a:r>
            <a:endParaRPr lang="en-US" sz="2200" dirty="0"/>
          </a:p>
        </p:txBody>
      </p:sp>
      <p:sp>
        <p:nvSpPr>
          <p:cNvPr id="6" name="Shape 4"/>
          <p:cNvSpPr/>
          <p:nvPr/>
        </p:nvSpPr>
        <p:spPr>
          <a:xfrm>
            <a:off x="274320" y="822960"/>
            <a:ext cx="8595360" cy="713232"/>
          </a:xfrm>
          <a:prstGeom prst="rect">
            <a:avLst/>
          </a:prstGeom>
          <a:solidFill>
            <a:srgbClr val="0F2041"/>
          </a:solidFill>
          <a:ln w="19050">
            <a:solidFill>
              <a:srgbClr val="00E5A0"/>
            </a:solidFill>
            <a:prstDash val="solid"/>
          </a:ln>
        </p:spPr>
        <p:txBody>
          <a:bodyPr/>
          <a:lstStyle/>
          <a:p>
            <a:endParaRPr lang="en-IN"/>
          </a:p>
        </p:txBody>
      </p:sp>
      <p:sp>
        <p:nvSpPr>
          <p:cNvPr id="7" name="Text 5"/>
          <p:cNvSpPr/>
          <p:nvPr/>
        </p:nvSpPr>
        <p:spPr>
          <a:xfrm>
            <a:off x="457200" y="841248"/>
            <a:ext cx="8229600" cy="658368"/>
          </a:xfrm>
          <a:prstGeom prst="rect">
            <a:avLst/>
          </a:prstGeom>
          <a:noFill/>
          <a:ln/>
        </p:spPr>
        <p:txBody>
          <a:bodyPr wrap="square" rtlCol="0" anchor="ctr"/>
          <a:lstStyle/>
          <a:p>
            <a:pPr marL="0" indent="0">
              <a:buNone/>
            </a:pPr>
            <a:r>
              <a:rPr lang="en-US" sz="1150" b="1" dirty="0">
                <a:solidFill>
                  <a:srgbClr val="00E5A0"/>
                </a:solidFill>
              </a:rPr>
              <a:t>Why It Matters:</a:t>
            </a:r>
            <a:r>
              <a:rPr lang="en-US" sz="1150" dirty="0">
                <a:solidFill>
                  <a:srgbClr val="E8F4FD"/>
                </a:solidFill>
              </a:rPr>
              <a:t> Data augmentation artificially increases dataset size and diversity — solving class imbalance, data scarcity, and privacy constraints. It is one of the highest-leverage applications of Gen AI for data professionals.</a:t>
            </a:r>
            <a:endParaRPr lang="en-US" sz="1150" dirty="0"/>
          </a:p>
        </p:txBody>
      </p:sp>
      <p:sp>
        <p:nvSpPr>
          <p:cNvPr id="8" name="Shape 6"/>
          <p:cNvSpPr/>
          <p:nvPr/>
        </p:nvSpPr>
        <p:spPr>
          <a:xfrm>
            <a:off x="256032" y="1664208"/>
            <a:ext cx="2798064" cy="3090672"/>
          </a:xfrm>
          <a:prstGeom prst="rect">
            <a:avLst/>
          </a:prstGeom>
          <a:solidFill>
            <a:srgbClr val="112244"/>
          </a:solidFill>
          <a:ln w="2540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9" name="Shape 7"/>
          <p:cNvSpPr/>
          <p:nvPr/>
        </p:nvSpPr>
        <p:spPr>
          <a:xfrm>
            <a:off x="256032" y="1664208"/>
            <a:ext cx="2798064" cy="347472"/>
          </a:xfrm>
          <a:prstGeom prst="rect">
            <a:avLst/>
          </a:prstGeom>
          <a:solidFill>
            <a:srgbClr val="00C8FF"/>
          </a:solidFill>
          <a:ln w="12700">
            <a:solidFill>
              <a:srgbClr val="00C8FF"/>
            </a:solidFill>
            <a:prstDash val="solid"/>
          </a:ln>
        </p:spPr>
        <p:txBody>
          <a:bodyPr/>
          <a:lstStyle/>
          <a:p>
            <a:endParaRPr lang="en-IN"/>
          </a:p>
        </p:txBody>
      </p:sp>
      <p:sp>
        <p:nvSpPr>
          <p:cNvPr id="10" name="Text 8"/>
          <p:cNvSpPr/>
          <p:nvPr/>
        </p:nvSpPr>
        <p:spPr>
          <a:xfrm>
            <a:off x="256032" y="1664208"/>
            <a:ext cx="2798064" cy="347472"/>
          </a:xfrm>
          <a:prstGeom prst="rect">
            <a:avLst/>
          </a:prstGeom>
          <a:noFill/>
          <a:ln/>
        </p:spPr>
        <p:txBody>
          <a:bodyPr wrap="square" rtlCol="0" anchor="ctr"/>
          <a:lstStyle/>
          <a:p>
            <a:pPr marL="0" indent="0" algn="ctr">
              <a:buNone/>
            </a:pPr>
            <a:r>
              <a:rPr lang="en-US" sz="1100" b="1" dirty="0">
                <a:solidFill>
                  <a:srgbClr val="0A1628"/>
                </a:solidFill>
              </a:rPr>
              <a:t>Structured Data</a:t>
            </a:r>
            <a:endParaRPr lang="en-US" sz="1100" dirty="0"/>
          </a:p>
        </p:txBody>
      </p:sp>
      <p:sp>
        <p:nvSpPr>
          <p:cNvPr id="11" name="Text 9"/>
          <p:cNvSpPr/>
          <p:nvPr/>
        </p:nvSpPr>
        <p:spPr>
          <a:xfrm>
            <a:off x="347472" y="2066544"/>
            <a:ext cx="2615184" cy="256032"/>
          </a:xfrm>
          <a:prstGeom prst="rect">
            <a:avLst/>
          </a:prstGeom>
          <a:noFill/>
          <a:ln/>
        </p:spPr>
        <p:txBody>
          <a:bodyPr wrap="square" rtlCol="0" anchor="ctr"/>
          <a:lstStyle/>
          <a:p>
            <a:pPr marL="0" indent="0">
              <a:buNone/>
            </a:pPr>
            <a:r>
              <a:rPr lang="en-US" sz="1000" b="1" dirty="0">
                <a:solidFill>
                  <a:srgbClr val="00C8FF"/>
                </a:solidFill>
              </a:rPr>
              <a:t>Examples:</a:t>
            </a:r>
            <a:endParaRPr lang="en-US" sz="1000" dirty="0"/>
          </a:p>
        </p:txBody>
      </p:sp>
      <p:sp>
        <p:nvSpPr>
          <p:cNvPr id="12" name="Text 10"/>
          <p:cNvSpPr/>
          <p:nvPr/>
        </p:nvSpPr>
        <p:spPr>
          <a:xfrm>
            <a:off x="347472" y="2340864"/>
            <a:ext cx="2615184" cy="329184"/>
          </a:xfrm>
          <a:prstGeom prst="rect">
            <a:avLst/>
          </a:prstGeom>
          <a:noFill/>
          <a:ln/>
        </p:spPr>
        <p:txBody>
          <a:bodyPr wrap="square" rtlCol="0" anchor="ctr"/>
          <a:lstStyle/>
          <a:p>
            <a:pPr marL="0" indent="0">
              <a:buNone/>
            </a:pPr>
            <a:r>
              <a:rPr lang="en-US" sz="1000" dirty="0">
                <a:solidFill>
                  <a:srgbClr val="E8F4FD"/>
                </a:solidFill>
              </a:rPr>
              <a:t>Tables, CSVs, databases</a:t>
            </a:r>
            <a:endParaRPr lang="en-US" sz="1000" dirty="0"/>
          </a:p>
        </p:txBody>
      </p:sp>
      <p:sp>
        <p:nvSpPr>
          <p:cNvPr id="13" name="Text 11"/>
          <p:cNvSpPr/>
          <p:nvPr/>
        </p:nvSpPr>
        <p:spPr>
          <a:xfrm>
            <a:off x="347472" y="2724912"/>
            <a:ext cx="2615184" cy="256032"/>
          </a:xfrm>
          <a:prstGeom prst="rect">
            <a:avLst/>
          </a:prstGeom>
          <a:noFill/>
          <a:ln/>
        </p:spPr>
        <p:txBody>
          <a:bodyPr wrap="square" rtlCol="0" anchor="ctr"/>
          <a:lstStyle/>
          <a:p>
            <a:pPr marL="0" indent="0">
              <a:buNone/>
            </a:pPr>
            <a:r>
              <a:rPr lang="en-US" sz="1000" b="1" dirty="0">
                <a:solidFill>
                  <a:srgbClr val="00C8FF"/>
                </a:solidFill>
              </a:rPr>
              <a:t>Tool:</a:t>
            </a:r>
            <a:endParaRPr lang="en-US" sz="1000" dirty="0"/>
          </a:p>
        </p:txBody>
      </p:sp>
      <p:sp>
        <p:nvSpPr>
          <p:cNvPr id="14" name="Text 12"/>
          <p:cNvSpPr/>
          <p:nvPr/>
        </p:nvSpPr>
        <p:spPr>
          <a:xfrm>
            <a:off x="347472" y="2999232"/>
            <a:ext cx="2615184" cy="329184"/>
          </a:xfrm>
          <a:prstGeom prst="rect">
            <a:avLst/>
          </a:prstGeom>
          <a:noFill/>
          <a:ln/>
        </p:spPr>
        <p:txBody>
          <a:bodyPr wrap="square" rtlCol="0" anchor="ctr"/>
          <a:lstStyle/>
          <a:p>
            <a:pPr marL="0" indent="0">
              <a:buNone/>
            </a:pPr>
            <a:r>
              <a:rPr lang="en-US" sz="1000" dirty="0">
                <a:solidFill>
                  <a:srgbClr val="E8F4FD"/>
                </a:solidFill>
              </a:rPr>
              <a:t>CTGAN, SDV</a:t>
            </a:r>
            <a:endParaRPr lang="en-US" sz="1000" dirty="0"/>
          </a:p>
        </p:txBody>
      </p:sp>
      <p:sp>
        <p:nvSpPr>
          <p:cNvPr id="15" name="Text 13"/>
          <p:cNvSpPr/>
          <p:nvPr/>
        </p:nvSpPr>
        <p:spPr>
          <a:xfrm>
            <a:off x="347472" y="3383280"/>
            <a:ext cx="2615184" cy="256032"/>
          </a:xfrm>
          <a:prstGeom prst="rect">
            <a:avLst/>
          </a:prstGeom>
          <a:noFill/>
          <a:ln/>
        </p:spPr>
        <p:txBody>
          <a:bodyPr wrap="square" rtlCol="0" anchor="ctr"/>
          <a:lstStyle/>
          <a:p>
            <a:pPr marL="0" indent="0">
              <a:buNone/>
            </a:pPr>
            <a:r>
              <a:rPr lang="en-US" sz="1000" b="1" dirty="0">
                <a:solidFill>
                  <a:srgbClr val="00C8FF"/>
                </a:solidFill>
              </a:rPr>
              <a:t>How:</a:t>
            </a:r>
            <a:endParaRPr lang="en-US" sz="1000" dirty="0"/>
          </a:p>
        </p:txBody>
      </p:sp>
      <p:sp>
        <p:nvSpPr>
          <p:cNvPr id="16" name="Text 14"/>
          <p:cNvSpPr/>
          <p:nvPr/>
        </p:nvSpPr>
        <p:spPr>
          <a:xfrm>
            <a:off x="347472" y="3657600"/>
            <a:ext cx="2615184" cy="566928"/>
          </a:xfrm>
          <a:prstGeom prst="rect">
            <a:avLst/>
          </a:prstGeom>
          <a:noFill/>
          <a:ln/>
        </p:spPr>
        <p:txBody>
          <a:bodyPr wrap="square" rtlCol="0" anchor="ctr"/>
          <a:lstStyle/>
          <a:p>
            <a:pPr marL="0" indent="0">
              <a:buNone/>
            </a:pPr>
            <a:r>
              <a:rPr lang="en-US" sz="950" i="1" dirty="0">
                <a:solidFill>
                  <a:srgbClr val="A0B4C8"/>
                </a:solidFill>
              </a:rPr>
              <a:t>Generates synthetic rows preserving statistical correlations</a:t>
            </a:r>
            <a:endParaRPr lang="en-US" sz="950" dirty="0"/>
          </a:p>
        </p:txBody>
      </p:sp>
      <p:sp>
        <p:nvSpPr>
          <p:cNvPr id="17" name="Shape 15"/>
          <p:cNvSpPr/>
          <p:nvPr/>
        </p:nvSpPr>
        <p:spPr>
          <a:xfrm>
            <a:off x="3200400" y="1664208"/>
            <a:ext cx="2798064" cy="3090672"/>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18" name="Shape 16"/>
          <p:cNvSpPr/>
          <p:nvPr/>
        </p:nvSpPr>
        <p:spPr>
          <a:xfrm>
            <a:off x="3200400" y="1664208"/>
            <a:ext cx="2798064" cy="347472"/>
          </a:xfrm>
          <a:prstGeom prst="rect">
            <a:avLst/>
          </a:prstGeom>
          <a:solidFill>
            <a:srgbClr val="FFD166"/>
          </a:solidFill>
          <a:ln w="12700">
            <a:solidFill>
              <a:srgbClr val="FFD166"/>
            </a:solidFill>
            <a:prstDash val="solid"/>
          </a:ln>
        </p:spPr>
        <p:txBody>
          <a:bodyPr/>
          <a:lstStyle/>
          <a:p>
            <a:endParaRPr lang="en-IN"/>
          </a:p>
        </p:txBody>
      </p:sp>
      <p:sp>
        <p:nvSpPr>
          <p:cNvPr id="19" name="Text 17"/>
          <p:cNvSpPr/>
          <p:nvPr/>
        </p:nvSpPr>
        <p:spPr>
          <a:xfrm>
            <a:off x="3200400" y="1664208"/>
            <a:ext cx="2798064" cy="347472"/>
          </a:xfrm>
          <a:prstGeom prst="rect">
            <a:avLst/>
          </a:prstGeom>
          <a:noFill/>
          <a:ln/>
        </p:spPr>
        <p:txBody>
          <a:bodyPr wrap="square" rtlCol="0" anchor="ctr"/>
          <a:lstStyle/>
          <a:p>
            <a:pPr marL="0" indent="0" algn="ctr">
              <a:buNone/>
            </a:pPr>
            <a:r>
              <a:rPr lang="en-US" sz="1100" b="1" dirty="0">
                <a:solidFill>
                  <a:srgbClr val="0A1628"/>
                </a:solidFill>
              </a:rPr>
              <a:t>Semi-Structured Data</a:t>
            </a:r>
            <a:endParaRPr lang="en-US" sz="1100" dirty="0"/>
          </a:p>
        </p:txBody>
      </p:sp>
      <p:sp>
        <p:nvSpPr>
          <p:cNvPr id="20" name="Text 18"/>
          <p:cNvSpPr/>
          <p:nvPr/>
        </p:nvSpPr>
        <p:spPr>
          <a:xfrm>
            <a:off x="3291840" y="2066544"/>
            <a:ext cx="2615184" cy="256032"/>
          </a:xfrm>
          <a:prstGeom prst="rect">
            <a:avLst/>
          </a:prstGeom>
          <a:noFill/>
          <a:ln/>
        </p:spPr>
        <p:txBody>
          <a:bodyPr wrap="square" rtlCol="0" anchor="ctr"/>
          <a:lstStyle/>
          <a:p>
            <a:pPr marL="0" indent="0">
              <a:buNone/>
            </a:pPr>
            <a:r>
              <a:rPr lang="en-US" sz="1000" b="1" dirty="0">
                <a:solidFill>
                  <a:srgbClr val="FFD166"/>
                </a:solidFill>
              </a:rPr>
              <a:t>Examples:</a:t>
            </a:r>
            <a:endParaRPr lang="en-US" sz="1000" dirty="0"/>
          </a:p>
        </p:txBody>
      </p:sp>
      <p:sp>
        <p:nvSpPr>
          <p:cNvPr id="21" name="Text 19"/>
          <p:cNvSpPr/>
          <p:nvPr/>
        </p:nvSpPr>
        <p:spPr>
          <a:xfrm>
            <a:off x="3291840" y="2340864"/>
            <a:ext cx="2615184" cy="329184"/>
          </a:xfrm>
          <a:prstGeom prst="rect">
            <a:avLst/>
          </a:prstGeom>
          <a:noFill/>
          <a:ln/>
        </p:spPr>
        <p:txBody>
          <a:bodyPr wrap="square" rtlCol="0" anchor="ctr"/>
          <a:lstStyle/>
          <a:p>
            <a:pPr marL="0" indent="0">
              <a:buNone/>
            </a:pPr>
            <a:r>
              <a:rPr lang="en-US" sz="1000" dirty="0">
                <a:solidFill>
                  <a:srgbClr val="E8F4FD"/>
                </a:solidFill>
              </a:rPr>
              <a:t>Text, JSON, code snippets</a:t>
            </a:r>
            <a:endParaRPr lang="en-US" sz="1000" dirty="0"/>
          </a:p>
        </p:txBody>
      </p:sp>
      <p:sp>
        <p:nvSpPr>
          <p:cNvPr id="22" name="Text 20"/>
          <p:cNvSpPr/>
          <p:nvPr/>
        </p:nvSpPr>
        <p:spPr>
          <a:xfrm>
            <a:off x="3291840" y="2724912"/>
            <a:ext cx="2615184" cy="256032"/>
          </a:xfrm>
          <a:prstGeom prst="rect">
            <a:avLst/>
          </a:prstGeom>
          <a:noFill/>
          <a:ln/>
        </p:spPr>
        <p:txBody>
          <a:bodyPr wrap="square" rtlCol="0" anchor="ctr"/>
          <a:lstStyle/>
          <a:p>
            <a:pPr marL="0" indent="0">
              <a:buNone/>
            </a:pPr>
            <a:r>
              <a:rPr lang="en-US" sz="1000" b="1" dirty="0">
                <a:solidFill>
                  <a:srgbClr val="FFD166"/>
                </a:solidFill>
              </a:rPr>
              <a:t>Tool:</a:t>
            </a:r>
            <a:endParaRPr lang="en-US" sz="1000" dirty="0"/>
          </a:p>
        </p:txBody>
      </p:sp>
      <p:sp>
        <p:nvSpPr>
          <p:cNvPr id="23" name="Text 21"/>
          <p:cNvSpPr/>
          <p:nvPr/>
        </p:nvSpPr>
        <p:spPr>
          <a:xfrm>
            <a:off x="3291840" y="2999232"/>
            <a:ext cx="2615184" cy="329184"/>
          </a:xfrm>
          <a:prstGeom prst="rect">
            <a:avLst/>
          </a:prstGeom>
          <a:noFill/>
          <a:ln/>
        </p:spPr>
        <p:txBody>
          <a:bodyPr wrap="square" rtlCol="0" anchor="ctr"/>
          <a:lstStyle/>
          <a:p>
            <a:pPr marL="0" indent="0">
              <a:buNone/>
            </a:pPr>
            <a:r>
              <a:rPr lang="en-US" sz="1000" dirty="0">
                <a:solidFill>
                  <a:srgbClr val="E8F4FD"/>
                </a:solidFill>
              </a:rPr>
              <a:t>GPT-4, GauGAN, Imagen</a:t>
            </a:r>
            <a:endParaRPr lang="en-US" sz="1000" dirty="0"/>
          </a:p>
        </p:txBody>
      </p:sp>
      <p:sp>
        <p:nvSpPr>
          <p:cNvPr id="24" name="Text 22"/>
          <p:cNvSpPr/>
          <p:nvPr/>
        </p:nvSpPr>
        <p:spPr>
          <a:xfrm>
            <a:off x="3291840" y="3383280"/>
            <a:ext cx="2615184" cy="256032"/>
          </a:xfrm>
          <a:prstGeom prst="rect">
            <a:avLst/>
          </a:prstGeom>
          <a:noFill/>
          <a:ln/>
        </p:spPr>
        <p:txBody>
          <a:bodyPr wrap="square" rtlCol="0" anchor="ctr"/>
          <a:lstStyle/>
          <a:p>
            <a:pPr marL="0" indent="0">
              <a:buNone/>
            </a:pPr>
            <a:r>
              <a:rPr lang="en-US" sz="1000" b="1" dirty="0">
                <a:solidFill>
                  <a:srgbClr val="FFD166"/>
                </a:solidFill>
              </a:rPr>
              <a:t>How:</a:t>
            </a:r>
            <a:endParaRPr lang="en-US" sz="1000" dirty="0"/>
          </a:p>
        </p:txBody>
      </p:sp>
      <p:sp>
        <p:nvSpPr>
          <p:cNvPr id="25" name="Text 23"/>
          <p:cNvSpPr/>
          <p:nvPr/>
        </p:nvSpPr>
        <p:spPr>
          <a:xfrm>
            <a:off x="3291840" y="3657600"/>
            <a:ext cx="2615184" cy="566928"/>
          </a:xfrm>
          <a:prstGeom prst="rect">
            <a:avLst/>
          </a:prstGeom>
          <a:noFill/>
          <a:ln/>
        </p:spPr>
        <p:txBody>
          <a:bodyPr wrap="square" rtlCol="0" anchor="ctr"/>
          <a:lstStyle/>
          <a:p>
            <a:pPr marL="0" indent="0">
              <a:buNone/>
            </a:pPr>
            <a:r>
              <a:rPr lang="en-US" sz="950" i="1" dirty="0">
                <a:solidFill>
                  <a:srgbClr val="A0B4C8"/>
                </a:solidFill>
              </a:rPr>
              <a:t>Generates realistic text or code for NLP training data</a:t>
            </a:r>
            <a:endParaRPr lang="en-US" sz="950" dirty="0"/>
          </a:p>
        </p:txBody>
      </p:sp>
      <p:sp>
        <p:nvSpPr>
          <p:cNvPr id="26" name="Shape 24"/>
          <p:cNvSpPr/>
          <p:nvPr/>
        </p:nvSpPr>
        <p:spPr>
          <a:xfrm>
            <a:off x="6144768" y="1664208"/>
            <a:ext cx="2798064" cy="3090672"/>
          </a:xfrm>
          <a:prstGeom prst="rect">
            <a:avLst/>
          </a:prstGeom>
          <a:solidFill>
            <a:srgbClr val="112244"/>
          </a:solidFill>
          <a:ln w="25400">
            <a:solidFill>
              <a:srgbClr val="FF6B6B"/>
            </a:solidFill>
            <a:prstDash val="solid"/>
          </a:ln>
          <a:effectLst>
            <a:outerShdw blurRad="101600" dist="38100" dir="8100000" algn="bl" rotWithShape="0">
              <a:srgbClr val="000000">
                <a:alpha val="25000"/>
              </a:srgbClr>
            </a:outerShdw>
          </a:effectLst>
        </p:spPr>
        <p:txBody>
          <a:bodyPr/>
          <a:lstStyle/>
          <a:p>
            <a:endParaRPr lang="en-IN"/>
          </a:p>
        </p:txBody>
      </p:sp>
      <p:sp>
        <p:nvSpPr>
          <p:cNvPr id="27" name="Shape 25"/>
          <p:cNvSpPr/>
          <p:nvPr/>
        </p:nvSpPr>
        <p:spPr>
          <a:xfrm>
            <a:off x="6144768" y="1664208"/>
            <a:ext cx="2798064" cy="347472"/>
          </a:xfrm>
          <a:prstGeom prst="rect">
            <a:avLst/>
          </a:prstGeom>
          <a:solidFill>
            <a:srgbClr val="FF6B6B"/>
          </a:solidFill>
          <a:ln w="12700">
            <a:solidFill>
              <a:srgbClr val="FF6B6B"/>
            </a:solidFill>
            <a:prstDash val="solid"/>
          </a:ln>
        </p:spPr>
        <p:txBody>
          <a:bodyPr/>
          <a:lstStyle/>
          <a:p>
            <a:endParaRPr lang="en-IN"/>
          </a:p>
        </p:txBody>
      </p:sp>
      <p:sp>
        <p:nvSpPr>
          <p:cNvPr id="28" name="Text 26"/>
          <p:cNvSpPr/>
          <p:nvPr/>
        </p:nvSpPr>
        <p:spPr>
          <a:xfrm>
            <a:off x="6144768" y="1664208"/>
            <a:ext cx="2798064" cy="347472"/>
          </a:xfrm>
          <a:prstGeom prst="rect">
            <a:avLst/>
          </a:prstGeom>
          <a:noFill/>
          <a:ln/>
        </p:spPr>
        <p:txBody>
          <a:bodyPr wrap="square" rtlCol="0" anchor="ctr"/>
          <a:lstStyle/>
          <a:p>
            <a:pPr marL="0" indent="0" algn="ctr">
              <a:buNone/>
            </a:pPr>
            <a:r>
              <a:rPr lang="en-US" sz="1100" b="1" dirty="0">
                <a:solidFill>
                  <a:srgbClr val="0A1628"/>
                </a:solidFill>
              </a:rPr>
              <a:t>Unstructured Data</a:t>
            </a:r>
            <a:endParaRPr lang="en-US" sz="1100" dirty="0"/>
          </a:p>
        </p:txBody>
      </p:sp>
      <p:sp>
        <p:nvSpPr>
          <p:cNvPr id="29" name="Text 27"/>
          <p:cNvSpPr/>
          <p:nvPr/>
        </p:nvSpPr>
        <p:spPr>
          <a:xfrm>
            <a:off x="6236208" y="2066544"/>
            <a:ext cx="2615184" cy="256032"/>
          </a:xfrm>
          <a:prstGeom prst="rect">
            <a:avLst/>
          </a:prstGeom>
          <a:noFill/>
          <a:ln/>
        </p:spPr>
        <p:txBody>
          <a:bodyPr wrap="square" rtlCol="0" anchor="ctr"/>
          <a:lstStyle/>
          <a:p>
            <a:pPr marL="0" indent="0">
              <a:buNone/>
            </a:pPr>
            <a:r>
              <a:rPr lang="en-US" sz="1000" b="1" dirty="0">
                <a:solidFill>
                  <a:srgbClr val="FF6B6B"/>
                </a:solidFill>
              </a:rPr>
              <a:t>Examples:</a:t>
            </a:r>
            <a:endParaRPr lang="en-US" sz="1000" dirty="0"/>
          </a:p>
        </p:txBody>
      </p:sp>
      <p:sp>
        <p:nvSpPr>
          <p:cNvPr id="30" name="Text 28"/>
          <p:cNvSpPr/>
          <p:nvPr/>
        </p:nvSpPr>
        <p:spPr>
          <a:xfrm>
            <a:off x="6236208" y="2340864"/>
            <a:ext cx="2615184" cy="329184"/>
          </a:xfrm>
          <a:prstGeom prst="rect">
            <a:avLst/>
          </a:prstGeom>
          <a:noFill/>
          <a:ln/>
        </p:spPr>
        <p:txBody>
          <a:bodyPr wrap="square" rtlCol="0" anchor="ctr"/>
          <a:lstStyle/>
          <a:p>
            <a:pPr marL="0" indent="0">
              <a:buNone/>
            </a:pPr>
            <a:r>
              <a:rPr lang="en-US" sz="1000" dirty="0">
                <a:solidFill>
                  <a:srgbClr val="E8F4FD"/>
                </a:solidFill>
              </a:rPr>
              <a:t>Images, audio recordings</a:t>
            </a:r>
            <a:endParaRPr lang="en-US" sz="1000" dirty="0"/>
          </a:p>
        </p:txBody>
      </p:sp>
      <p:sp>
        <p:nvSpPr>
          <p:cNvPr id="31" name="Text 29"/>
          <p:cNvSpPr/>
          <p:nvPr/>
        </p:nvSpPr>
        <p:spPr>
          <a:xfrm>
            <a:off x="6236208" y="2724912"/>
            <a:ext cx="2615184" cy="256032"/>
          </a:xfrm>
          <a:prstGeom prst="rect">
            <a:avLst/>
          </a:prstGeom>
          <a:noFill/>
          <a:ln/>
        </p:spPr>
        <p:txBody>
          <a:bodyPr wrap="square" rtlCol="0" anchor="ctr"/>
          <a:lstStyle/>
          <a:p>
            <a:pPr marL="0" indent="0">
              <a:buNone/>
            </a:pPr>
            <a:r>
              <a:rPr lang="en-US" sz="1000" b="1" dirty="0">
                <a:solidFill>
                  <a:srgbClr val="FF6B6B"/>
                </a:solidFill>
              </a:rPr>
              <a:t>Tool:</a:t>
            </a:r>
            <a:endParaRPr lang="en-US" sz="1000" dirty="0"/>
          </a:p>
        </p:txBody>
      </p:sp>
      <p:sp>
        <p:nvSpPr>
          <p:cNvPr id="32" name="Text 30"/>
          <p:cNvSpPr/>
          <p:nvPr/>
        </p:nvSpPr>
        <p:spPr>
          <a:xfrm>
            <a:off x="6236208" y="2999232"/>
            <a:ext cx="2615184" cy="329184"/>
          </a:xfrm>
          <a:prstGeom prst="rect">
            <a:avLst/>
          </a:prstGeom>
          <a:noFill/>
          <a:ln/>
        </p:spPr>
        <p:txBody>
          <a:bodyPr wrap="square" rtlCol="0" anchor="ctr"/>
          <a:lstStyle/>
          <a:p>
            <a:pPr marL="0" indent="0">
              <a:buNone/>
            </a:pPr>
            <a:r>
              <a:rPr lang="en-US" sz="1000" dirty="0">
                <a:solidFill>
                  <a:srgbClr val="E8F4FD"/>
                </a:solidFill>
              </a:rPr>
              <a:t>StyleGAN2, BigGAN, SoundGAN</a:t>
            </a:r>
            <a:endParaRPr lang="en-US" sz="1000" dirty="0"/>
          </a:p>
        </p:txBody>
      </p:sp>
      <p:sp>
        <p:nvSpPr>
          <p:cNvPr id="33" name="Text 31"/>
          <p:cNvSpPr/>
          <p:nvPr/>
        </p:nvSpPr>
        <p:spPr>
          <a:xfrm>
            <a:off x="6236208" y="3383280"/>
            <a:ext cx="2615184" cy="256032"/>
          </a:xfrm>
          <a:prstGeom prst="rect">
            <a:avLst/>
          </a:prstGeom>
          <a:noFill/>
          <a:ln/>
        </p:spPr>
        <p:txBody>
          <a:bodyPr wrap="square" rtlCol="0" anchor="ctr"/>
          <a:lstStyle/>
          <a:p>
            <a:pPr marL="0" indent="0">
              <a:buNone/>
            </a:pPr>
            <a:r>
              <a:rPr lang="en-US" sz="1000" b="1" dirty="0">
                <a:solidFill>
                  <a:srgbClr val="FF6B6B"/>
                </a:solidFill>
              </a:rPr>
              <a:t>How:</a:t>
            </a:r>
            <a:endParaRPr lang="en-US" sz="1000" dirty="0"/>
          </a:p>
        </p:txBody>
      </p:sp>
      <p:sp>
        <p:nvSpPr>
          <p:cNvPr id="34" name="Text 32"/>
          <p:cNvSpPr/>
          <p:nvPr/>
        </p:nvSpPr>
        <p:spPr>
          <a:xfrm>
            <a:off x="6236208" y="3657600"/>
            <a:ext cx="2615184" cy="566928"/>
          </a:xfrm>
          <a:prstGeom prst="rect">
            <a:avLst/>
          </a:prstGeom>
          <a:noFill/>
          <a:ln/>
        </p:spPr>
        <p:txBody>
          <a:bodyPr wrap="square" rtlCol="0" anchor="ctr"/>
          <a:lstStyle/>
          <a:p>
            <a:pPr marL="0" indent="0">
              <a:buNone/>
            </a:pPr>
            <a:r>
              <a:rPr lang="en-US" sz="950" i="1" dirty="0">
                <a:solidFill>
                  <a:srgbClr val="A0B4C8"/>
                </a:solidFill>
              </a:rPr>
              <a:t>Generates high-resolution images or audio samples</a:t>
            </a:r>
            <a:endParaRPr lang="en-US" sz="950" dirty="0"/>
          </a:p>
        </p:txBody>
      </p:sp>
      <p:sp>
        <p:nvSpPr>
          <p:cNvPr id="35" name="Shape 33"/>
          <p:cNvSpPr/>
          <p:nvPr/>
        </p:nvSpPr>
        <p:spPr>
          <a:xfrm>
            <a:off x="274320" y="4791456"/>
            <a:ext cx="8595360" cy="292608"/>
          </a:xfrm>
          <a:prstGeom prst="rect">
            <a:avLst/>
          </a:prstGeom>
          <a:solidFill>
            <a:srgbClr val="0F2041"/>
          </a:solidFill>
          <a:ln w="12700">
            <a:solidFill>
              <a:srgbClr val="00E5A0"/>
            </a:solidFill>
            <a:prstDash val="solid"/>
          </a:ln>
        </p:spPr>
        <p:txBody>
          <a:bodyPr/>
          <a:lstStyle/>
          <a:p>
            <a:endParaRPr lang="en-IN"/>
          </a:p>
        </p:txBody>
      </p:sp>
      <p:sp>
        <p:nvSpPr>
          <p:cNvPr id="36" name="Text 34"/>
          <p:cNvSpPr/>
          <p:nvPr/>
        </p:nvSpPr>
        <p:spPr>
          <a:xfrm>
            <a:off x="274320" y="4791456"/>
            <a:ext cx="8595360" cy="292608"/>
          </a:xfrm>
          <a:prstGeom prst="rect">
            <a:avLst/>
          </a:prstGeom>
          <a:noFill/>
          <a:ln/>
        </p:spPr>
        <p:txBody>
          <a:bodyPr wrap="square" rtlCol="0" anchor="ctr"/>
          <a:lstStyle/>
          <a:p>
            <a:pPr marL="0" indent="0" algn="ctr">
              <a:buNone/>
            </a:pPr>
            <a:r>
              <a:rPr lang="en-US" sz="1000" dirty="0">
                <a:solidFill>
                  <a:srgbClr val="00E5A0"/>
                </a:solidFill>
              </a:rPr>
              <a:t>Tools: CTGAN · SDV · Mostly AI · Universal Data · ChatGPT · StyleGAN2 · SoundGAN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743200" cy="274320"/>
          </a:xfrm>
          <a:prstGeom prst="rect">
            <a:avLst/>
          </a:prstGeom>
          <a:solidFill>
            <a:srgbClr val="00C8FF"/>
          </a:solidFill>
          <a:ln w="12700">
            <a:solidFill>
              <a:srgbClr val="00C8FF"/>
            </a:solidFill>
            <a:prstDash val="solid"/>
          </a:ln>
        </p:spPr>
        <p:txBody>
          <a:bodyPr/>
          <a:lstStyle/>
          <a:p>
            <a:endParaRPr lang="en-IN"/>
          </a:p>
        </p:txBody>
      </p:sp>
      <p:sp>
        <p:nvSpPr>
          <p:cNvPr id="4" name="Text 2"/>
          <p:cNvSpPr/>
          <p:nvPr/>
        </p:nvSpPr>
        <p:spPr>
          <a:xfrm>
            <a:off x="365760" y="128016"/>
            <a:ext cx="2743200" cy="274320"/>
          </a:xfrm>
          <a:prstGeom prst="rect">
            <a:avLst/>
          </a:prstGeom>
          <a:noFill/>
          <a:ln/>
        </p:spPr>
        <p:txBody>
          <a:bodyPr wrap="square" rtlCol="0" anchor="ctr"/>
          <a:lstStyle/>
          <a:p>
            <a:pPr marL="0" indent="0" algn="ctr">
              <a:buNone/>
            </a:pPr>
            <a:r>
              <a:rPr lang="en-US" sz="900" b="1" dirty="0">
                <a:solidFill>
                  <a:srgbClr val="FFFFFF"/>
                </a:solidFill>
              </a:rPr>
              <a:t>LAB · CTGAN IN GOOGLE COLAB</a:t>
            </a:r>
            <a:endParaRPr lang="en-US" sz="900" dirty="0"/>
          </a:p>
        </p:txBody>
      </p:sp>
      <p:sp>
        <p:nvSpPr>
          <p:cNvPr id="5" name="Text 3"/>
          <p:cNvSpPr/>
          <p:nvPr/>
        </p:nvSpPr>
        <p:spPr>
          <a:xfrm>
            <a:off x="365760" y="475488"/>
            <a:ext cx="7772400" cy="438912"/>
          </a:xfrm>
          <a:prstGeom prst="rect">
            <a:avLst/>
          </a:prstGeom>
          <a:noFill/>
          <a:ln/>
        </p:spPr>
        <p:txBody>
          <a:bodyPr wrap="square" rtlCol="0" anchor="ctr"/>
          <a:lstStyle/>
          <a:p>
            <a:pPr marL="0" indent="0">
              <a:buNone/>
            </a:pPr>
            <a:r>
              <a:rPr lang="en-US" sz="2200" b="1" dirty="0">
                <a:solidFill>
                  <a:srgbClr val="FFFFFF"/>
                </a:solidFill>
              </a:rPr>
              <a:t>Hands-On: Synthetic Data with CTGAN</a:t>
            </a:r>
            <a:endParaRPr lang="en-US" sz="2200" dirty="0"/>
          </a:p>
        </p:txBody>
      </p:sp>
      <p:sp>
        <p:nvSpPr>
          <p:cNvPr id="6" name="Shape 4"/>
          <p:cNvSpPr/>
          <p:nvPr/>
        </p:nvSpPr>
        <p:spPr>
          <a:xfrm>
            <a:off x="274320" y="987552"/>
            <a:ext cx="8595360" cy="347472"/>
          </a:xfrm>
          <a:prstGeom prst="rect">
            <a:avLst/>
          </a:prstGeom>
          <a:solidFill>
            <a:srgbClr val="00C8FF">
              <a:alpha val="20000"/>
            </a:srgbClr>
          </a:solidFill>
          <a:ln w="12700">
            <a:solidFill>
              <a:srgbClr val="00C8FF"/>
            </a:solidFill>
            <a:prstDash val="solid"/>
          </a:ln>
        </p:spPr>
        <p:txBody>
          <a:bodyPr/>
          <a:lstStyle/>
          <a:p>
            <a:endParaRPr lang="en-IN"/>
          </a:p>
        </p:txBody>
      </p:sp>
      <p:sp>
        <p:nvSpPr>
          <p:cNvPr id="7" name="Text 5"/>
          <p:cNvSpPr/>
          <p:nvPr/>
        </p:nvSpPr>
        <p:spPr>
          <a:xfrm>
            <a:off x="274320" y="987552"/>
            <a:ext cx="8595360" cy="347472"/>
          </a:xfrm>
          <a:prstGeom prst="rect">
            <a:avLst/>
          </a:prstGeom>
          <a:noFill/>
          <a:ln/>
        </p:spPr>
        <p:txBody>
          <a:bodyPr wrap="square" rtlCol="0" anchor="ctr"/>
          <a:lstStyle/>
          <a:p>
            <a:pPr marL="0" indent="0" algn="ctr">
              <a:buNone/>
            </a:pPr>
            <a:r>
              <a:rPr lang="en-US" sz="1100" b="1" dirty="0">
                <a:solidFill>
                  <a:srgbClr val="00C8FF"/>
                </a:solidFill>
              </a:rPr>
              <a:t>Platform: Google Colab  ·  Duration: 35 minutes  ·  Dataset: California Housing</a:t>
            </a:r>
            <a:endParaRPr lang="en-US" sz="1100" dirty="0"/>
          </a:p>
        </p:txBody>
      </p:sp>
      <p:sp>
        <p:nvSpPr>
          <p:cNvPr id="8" name="Shape 6"/>
          <p:cNvSpPr/>
          <p:nvPr/>
        </p:nvSpPr>
        <p:spPr>
          <a:xfrm>
            <a:off x="256032" y="1426464"/>
            <a:ext cx="4187952" cy="1700784"/>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9" name="Shape 7"/>
          <p:cNvSpPr/>
          <p:nvPr/>
        </p:nvSpPr>
        <p:spPr>
          <a:xfrm>
            <a:off x="347472" y="1517904"/>
            <a:ext cx="438912" cy="438912"/>
          </a:xfrm>
          <a:prstGeom prst="ellipse">
            <a:avLst/>
          </a:prstGeom>
          <a:solidFill>
            <a:srgbClr val="00C8FF"/>
          </a:solidFill>
          <a:ln w="12700">
            <a:solidFill>
              <a:srgbClr val="00C8FF"/>
            </a:solidFill>
            <a:prstDash val="solid"/>
          </a:ln>
        </p:spPr>
        <p:txBody>
          <a:bodyPr/>
          <a:lstStyle/>
          <a:p>
            <a:endParaRPr lang="en-IN"/>
          </a:p>
        </p:txBody>
      </p:sp>
      <p:sp>
        <p:nvSpPr>
          <p:cNvPr id="10" name="Text 8"/>
          <p:cNvSpPr/>
          <p:nvPr/>
        </p:nvSpPr>
        <p:spPr>
          <a:xfrm>
            <a:off x="347472" y="1517904"/>
            <a:ext cx="438912" cy="438912"/>
          </a:xfrm>
          <a:prstGeom prst="rect">
            <a:avLst/>
          </a:prstGeom>
          <a:noFill/>
          <a:ln/>
        </p:spPr>
        <p:txBody>
          <a:bodyPr wrap="square" rtlCol="0" anchor="ctr"/>
          <a:lstStyle/>
          <a:p>
            <a:pPr marL="0" indent="0" algn="ctr">
              <a:buNone/>
            </a:pPr>
            <a:r>
              <a:rPr lang="en-US" sz="1200" b="1" dirty="0">
                <a:solidFill>
                  <a:srgbClr val="0A1628"/>
                </a:solidFill>
              </a:rPr>
              <a:t>01</a:t>
            </a:r>
            <a:endParaRPr lang="en-US" sz="1200" dirty="0"/>
          </a:p>
        </p:txBody>
      </p:sp>
      <p:sp>
        <p:nvSpPr>
          <p:cNvPr id="11" name="Text 9"/>
          <p:cNvSpPr/>
          <p:nvPr/>
        </p:nvSpPr>
        <p:spPr>
          <a:xfrm>
            <a:off x="877824" y="1536192"/>
            <a:ext cx="3456432" cy="347472"/>
          </a:xfrm>
          <a:prstGeom prst="rect">
            <a:avLst/>
          </a:prstGeom>
          <a:noFill/>
          <a:ln/>
        </p:spPr>
        <p:txBody>
          <a:bodyPr wrap="square" rtlCol="0" anchor="ctr"/>
          <a:lstStyle/>
          <a:p>
            <a:pPr marL="0" indent="0">
              <a:buNone/>
            </a:pPr>
            <a:r>
              <a:rPr lang="en-US" sz="1200" b="1" dirty="0">
                <a:solidFill>
                  <a:srgbClr val="00C8FF"/>
                </a:solidFill>
              </a:rPr>
              <a:t>Install Libraries</a:t>
            </a:r>
            <a:endParaRPr lang="en-US" sz="1200" dirty="0"/>
          </a:p>
        </p:txBody>
      </p:sp>
      <p:sp>
        <p:nvSpPr>
          <p:cNvPr id="12" name="Shape 10"/>
          <p:cNvSpPr/>
          <p:nvPr/>
        </p:nvSpPr>
        <p:spPr>
          <a:xfrm>
            <a:off x="347472" y="1993392"/>
            <a:ext cx="3950208" cy="1042416"/>
          </a:xfrm>
          <a:prstGeom prst="rect">
            <a:avLst/>
          </a:prstGeom>
          <a:solidFill>
            <a:srgbClr val="0A1628"/>
          </a:solidFill>
          <a:ln w="12700">
            <a:solidFill>
              <a:srgbClr val="00C8FF"/>
            </a:solidFill>
            <a:prstDash val="solid"/>
          </a:ln>
        </p:spPr>
        <p:txBody>
          <a:bodyPr/>
          <a:lstStyle/>
          <a:p>
            <a:endParaRPr lang="en-IN"/>
          </a:p>
        </p:txBody>
      </p:sp>
      <p:sp>
        <p:nvSpPr>
          <p:cNvPr id="13" name="Text 11"/>
          <p:cNvSpPr/>
          <p:nvPr/>
        </p:nvSpPr>
        <p:spPr>
          <a:xfrm>
            <a:off x="420624" y="2029968"/>
            <a:ext cx="3785616" cy="969264"/>
          </a:xfrm>
          <a:prstGeom prst="rect">
            <a:avLst/>
          </a:prstGeom>
          <a:noFill/>
          <a:ln/>
        </p:spPr>
        <p:txBody>
          <a:bodyPr wrap="square" rtlCol="0" anchor="ctr"/>
          <a:lstStyle/>
          <a:p>
            <a:pPr marL="0" indent="0">
              <a:buNone/>
            </a:pPr>
            <a:r>
              <a:rPr lang="en-US" sz="850" dirty="0">
                <a:solidFill>
                  <a:srgbClr val="00C8FF"/>
                </a:solidFill>
                <a:latin typeface="Consolas" pitchFamily="34" charset="0"/>
                <a:ea typeface="Consolas" pitchFamily="34" charset="-122"/>
                <a:cs typeface="Consolas" pitchFamily="34" charset="-120"/>
              </a:rPr>
              <a:t>!pip install ctgan sdv table_evaluator -q</a:t>
            </a:r>
            <a:endParaRPr lang="en-US" sz="850" dirty="0"/>
          </a:p>
        </p:txBody>
      </p:sp>
      <p:sp>
        <p:nvSpPr>
          <p:cNvPr id="14" name="Shape 12"/>
          <p:cNvSpPr/>
          <p:nvPr/>
        </p:nvSpPr>
        <p:spPr>
          <a:xfrm>
            <a:off x="4626864" y="1426464"/>
            <a:ext cx="4187952" cy="1700784"/>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15" name="Shape 13"/>
          <p:cNvSpPr/>
          <p:nvPr/>
        </p:nvSpPr>
        <p:spPr>
          <a:xfrm>
            <a:off x="4718304" y="1517904"/>
            <a:ext cx="438912" cy="438912"/>
          </a:xfrm>
          <a:prstGeom prst="ellipse">
            <a:avLst/>
          </a:prstGeom>
          <a:solidFill>
            <a:srgbClr val="7B5EA7"/>
          </a:solidFill>
          <a:ln w="12700">
            <a:solidFill>
              <a:srgbClr val="7B5EA7"/>
            </a:solidFill>
            <a:prstDash val="solid"/>
          </a:ln>
        </p:spPr>
        <p:txBody>
          <a:bodyPr/>
          <a:lstStyle/>
          <a:p>
            <a:endParaRPr lang="en-IN"/>
          </a:p>
        </p:txBody>
      </p:sp>
      <p:sp>
        <p:nvSpPr>
          <p:cNvPr id="16" name="Text 14"/>
          <p:cNvSpPr/>
          <p:nvPr/>
        </p:nvSpPr>
        <p:spPr>
          <a:xfrm>
            <a:off x="4718304" y="1517904"/>
            <a:ext cx="438912" cy="438912"/>
          </a:xfrm>
          <a:prstGeom prst="rect">
            <a:avLst/>
          </a:prstGeom>
          <a:noFill/>
          <a:ln/>
        </p:spPr>
        <p:txBody>
          <a:bodyPr wrap="square" rtlCol="0" anchor="ctr"/>
          <a:lstStyle/>
          <a:p>
            <a:pPr marL="0" indent="0" algn="ctr">
              <a:buNone/>
            </a:pPr>
            <a:r>
              <a:rPr lang="en-US" sz="1200" b="1" dirty="0">
                <a:solidFill>
                  <a:srgbClr val="0A1628"/>
                </a:solidFill>
              </a:rPr>
              <a:t>02</a:t>
            </a:r>
            <a:endParaRPr lang="en-US" sz="1200" dirty="0"/>
          </a:p>
        </p:txBody>
      </p:sp>
      <p:sp>
        <p:nvSpPr>
          <p:cNvPr id="17" name="Text 15"/>
          <p:cNvSpPr/>
          <p:nvPr/>
        </p:nvSpPr>
        <p:spPr>
          <a:xfrm>
            <a:off x="5248656" y="1536192"/>
            <a:ext cx="3456432" cy="347472"/>
          </a:xfrm>
          <a:prstGeom prst="rect">
            <a:avLst/>
          </a:prstGeom>
          <a:noFill/>
          <a:ln/>
        </p:spPr>
        <p:txBody>
          <a:bodyPr wrap="square" rtlCol="0" anchor="ctr"/>
          <a:lstStyle/>
          <a:p>
            <a:pPr marL="0" indent="0">
              <a:buNone/>
            </a:pPr>
            <a:r>
              <a:rPr lang="en-US" sz="1200" b="1" dirty="0">
                <a:solidFill>
                  <a:srgbClr val="7B5EA7"/>
                </a:solidFill>
              </a:rPr>
              <a:t>Load Real Dataset</a:t>
            </a:r>
            <a:endParaRPr lang="en-US" sz="1200" dirty="0"/>
          </a:p>
        </p:txBody>
      </p:sp>
      <p:sp>
        <p:nvSpPr>
          <p:cNvPr id="18" name="Shape 16"/>
          <p:cNvSpPr/>
          <p:nvPr/>
        </p:nvSpPr>
        <p:spPr>
          <a:xfrm>
            <a:off x="4718304" y="1993392"/>
            <a:ext cx="3950208" cy="1042416"/>
          </a:xfrm>
          <a:prstGeom prst="rect">
            <a:avLst/>
          </a:prstGeom>
          <a:solidFill>
            <a:srgbClr val="0A1628"/>
          </a:solidFill>
          <a:ln w="12700">
            <a:solidFill>
              <a:srgbClr val="7B5EA7"/>
            </a:solidFill>
            <a:prstDash val="solid"/>
          </a:ln>
        </p:spPr>
        <p:txBody>
          <a:bodyPr/>
          <a:lstStyle/>
          <a:p>
            <a:endParaRPr lang="en-IN"/>
          </a:p>
        </p:txBody>
      </p:sp>
      <p:sp>
        <p:nvSpPr>
          <p:cNvPr id="19" name="Text 17"/>
          <p:cNvSpPr/>
          <p:nvPr/>
        </p:nvSpPr>
        <p:spPr>
          <a:xfrm>
            <a:off x="4791456" y="2029968"/>
            <a:ext cx="3785616" cy="969264"/>
          </a:xfrm>
          <a:prstGeom prst="rect">
            <a:avLst/>
          </a:prstGeom>
          <a:noFill/>
          <a:ln/>
        </p:spPr>
        <p:txBody>
          <a:bodyPr wrap="square" rtlCol="0" anchor="ctr"/>
          <a:lstStyle/>
          <a:p>
            <a:pPr marL="0" indent="0">
              <a:buNone/>
            </a:pPr>
            <a:r>
              <a:rPr lang="en-US" sz="850" dirty="0">
                <a:solidFill>
                  <a:srgbClr val="00C8FF"/>
                </a:solidFill>
                <a:latin typeface="Consolas" pitchFamily="34" charset="0"/>
                <a:ea typeface="Consolas" pitchFamily="34" charset="-122"/>
                <a:cs typeface="Consolas" pitchFamily="34" charset="-120"/>
              </a:rPr>
              <a:t>from sklearn.datasets import fetch_california_housing</a:t>
            </a:r>
            <a:endParaRPr lang="en-US" sz="850" dirty="0"/>
          </a:p>
          <a:p>
            <a:pPr marL="0" indent="0">
              <a:buNone/>
            </a:pPr>
            <a:r>
              <a:rPr lang="en-US" sz="850" dirty="0">
                <a:solidFill>
                  <a:srgbClr val="00C8FF"/>
                </a:solidFill>
                <a:latin typeface="Consolas" pitchFamily="34" charset="0"/>
                <a:ea typeface="Consolas" pitchFamily="34" charset="-122"/>
                <a:cs typeface="Consolas" pitchFamily="34" charset="-120"/>
              </a:rPr>
              <a:t>housing = fetch_california_housing(as_frame=True)</a:t>
            </a:r>
            <a:endParaRPr lang="en-US" sz="850" dirty="0"/>
          </a:p>
          <a:p>
            <a:pPr marL="0" indent="0">
              <a:buNone/>
            </a:pPr>
            <a:r>
              <a:rPr lang="en-US" sz="850" dirty="0">
                <a:solidFill>
                  <a:srgbClr val="00C8FF"/>
                </a:solidFill>
                <a:latin typeface="Consolas" pitchFamily="34" charset="0"/>
                <a:ea typeface="Consolas" pitchFamily="34" charset="-122"/>
                <a:cs typeface="Consolas" pitchFamily="34" charset="-120"/>
              </a:rPr>
              <a:t>real_data = housing.frame</a:t>
            </a:r>
            <a:endParaRPr lang="en-US" sz="850" dirty="0"/>
          </a:p>
          <a:p>
            <a:pPr marL="0" indent="0">
              <a:buNone/>
            </a:pPr>
            <a:r>
              <a:rPr lang="en-US" sz="850" dirty="0">
                <a:solidFill>
                  <a:srgbClr val="00C8FF"/>
                </a:solidFill>
                <a:latin typeface="Consolas" pitchFamily="34" charset="0"/>
                <a:ea typeface="Consolas" pitchFamily="34" charset="-122"/>
                <a:cs typeface="Consolas" pitchFamily="34" charset="-120"/>
              </a:rPr>
              <a:t>print(real_data.shape, real_data.describe())</a:t>
            </a:r>
            <a:endParaRPr lang="en-US" sz="850" dirty="0"/>
          </a:p>
        </p:txBody>
      </p:sp>
      <p:sp>
        <p:nvSpPr>
          <p:cNvPr id="20" name="Shape 18"/>
          <p:cNvSpPr/>
          <p:nvPr/>
        </p:nvSpPr>
        <p:spPr>
          <a:xfrm>
            <a:off x="256032" y="3255264"/>
            <a:ext cx="4187952" cy="1700784"/>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21" name="Shape 19"/>
          <p:cNvSpPr/>
          <p:nvPr/>
        </p:nvSpPr>
        <p:spPr>
          <a:xfrm>
            <a:off x="347472" y="3346704"/>
            <a:ext cx="438912" cy="438912"/>
          </a:xfrm>
          <a:prstGeom prst="ellipse">
            <a:avLst/>
          </a:prstGeom>
          <a:solidFill>
            <a:srgbClr val="00E5A0"/>
          </a:solidFill>
          <a:ln w="12700">
            <a:solidFill>
              <a:srgbClr val="00E5A0"/>
            </a:solidFill>
            <a:prstDash val="solid"/>
          </a:ln>
        </p:spPr>
        <p:txBody>
          <a:bodyPr/>
          <a:lstStyle/>
          <a:p>
            <a:endParaRPr lang="en-IN"/>
          </a:p>
        </p:txBody>
      </p:sp>
      <p:sp>
        <p:nvSpPr>
          <p:cNvPr id="22" name="Text 20"/>
          <p:cNvSpPr/>
          <p:nvPr/>
        </p:nvSpPr>
        <p:spPr>
          <a:xfrm>
            <a:off x="347472" y="3346704"/>
            <a:ext cx="438912" cy="438912"/>
          </a:xfrm>
          <a:prstGeom prst="rect">
            <a:avLst/>
          </a:prstGeom>
          <a:noFill/>
          <a:ln/>
        </p:spPr>
        <p:txBody>
          <a:bodyPr wrap="square" rtlCol="0" anchor="ctr"/>
          <a:lstStyle/>
          <a:p>
            <a:pPr marL="0" indent="0" algn="ctr">
              <a:buNone/>
            </a:pPr>
            <a:r>
              <a:rPr lang="en-US" sz="1200" b="1" dirty="0">
                <a:solidFill>
                  <a:srgbClr val="0A1628"/>
                </a:solidFill>
              </a:rPr>
              <a:t>03</a:t>
            </a:r>
            <a:endParaRPr lang="en-US" sz="1200" dirty="0"/>
          </a:p>
        </p:txBody>
      </p:sp>
      <p:sp>
        <p:nvSpPr>
          <p:cNvPr id="23" name="Text 21"/>
          <p:cNvSpPr/>
          <p:nvPr/>
        </p:nvSpPr>
        <p:spPr>
          <a:xfrm>
            <a:off x="877824" y="3364992"/>
            <a:ext cx="3456432" cy="347472"/>
          </a:xfrm>
          <a:prstGeom prst="rect">
            <a:avLst/>
          </a:prstGeom>
          <a:noFill/>
          <a:ln/>
        </p:spPr>
        <p:txBody>
          <a:bodyPr wrap="square" rtlCol="0" anchor="ctr"/>
          <a:lstStyle/>
          <a:p>
            <a:pPr marL="0" indent="0">
              <a:buNone/>
            </a:pPr>
            <a:r>
              <a:rPr lang="en-US" sz="1200" b="1" dirty="0">
                <a:solidFill>
                  <a:srgbClr val="00E5A0"/>
                </a:solidFill>
              </a:rPr>
              <a:t>Fit CTGAN + Generate</a:t>
            </a:r>
            <a:endParaRPr lang="en-US" sz="1200" dirty="0"/>
          </a:p>
        </p:txBody>
      </p:sp>
      <p:sp>
        <p:nvSpPr>
          <p:cNvPr id="24" name="Shape 22"/>
          <p:cNvSpPr/>
          <p:nvPr/>
        </p:nvSpPr>
        <p:spPr>
          <a:xfrm>
            <a:off x="347472" y="3822192"/>
            <a:ext cx="3950208" cy="1042416"/>
          </a:xfrm>
          <a:prstGeom prst="rect">
            <a:avLst/>
          </a:prstGeom>
          <a:solidFill>
            <a:srgbClr val="0A1628"/>
          </a:solidFill>
          <a:ln w="12700">
            <a:solidFill>
              <a:srgbClr val="00E5A0"/>
            </a:solidFill>
            <a:prstDash val="solid"/>
          </a:ln>
        </p:spPr>
        <p:txBody>
          <a:bodyPr/>
          <a:lstStyle/>
          <a:p>
            <a:endParaRPr lang="en-IN"/>
          </a:p>
        </p:txBody>
      </p:sp>
      <p:sp>
        <p:nvSpPr>
          <p:cNvPr id="25" name="Text 23"/>
          <p:cNvSpPr/>
          <p:nvPr/>
        </p:nvSpPr>
        <p:spPr>
          <a:xfrm>
            <a:off x="420624" y="3858768"/>
            <a:ext cx="3785616" cy="969264"/>
          </a:xfrm>
          <a:prstGeom prst="rect">
            <a:avLst/>
          </a:prstGeom>
          <a:noFill/>
          <a:ln/>
        </p:spPr>
        <p:txBody>
          <a:bodyPr wrap="square" rtlCol="0" anchor="ctr"/>
          <a:lstStyle/>
          <a:p>
            <a:pPr marL="0" indent="0">
              <a:buNone/>
            </a:pPr>
            <a:r>
              <a:rPr lang="en-US" sz="850" dirty="0">
                <a:solidFill>
                  <a:srgbClr val="00C8FF"/>
                </a:solidFill>
                <a:latin typeface="Consolas" pitchFamily="34" charset="0"/>
                <a:ea typeface="Consolas" pitchFamily="34" charset="-122"/>
                <a:cs typeface="Consolas" pitchFamily="34" charset="-120"/>
              </a:rPr>
              <a:t>from ctgan import CTGAN</a:t>
            </a:r>
            <a:endParaRPr lang="en-US" sz="850" dirty="0"/>
          </a:p>
          <a:p>
            <a:pPr marL="0" indent="0">
              <a:buNone/>
            </a:pPr>
            <a:r>
              <a:rPr lang="en-US" sz="850" dirty="0">
                <a:solidFill>
                  <a:srgbClr val="00C8FF"/>
                </a:solidFill>
                <a:latin typeface="Consolas" pitchFamily="34" charset="0"/>
                <a:ea typeface="Consolas" pitchFamily="34" charset="-122"/>
                <a:cs typeface="Consolas" pitchFamily="34" charset="-120"/>
              </a:rPr>
              <a:t>model = CTGAN(epochs=10, verbose=True)</a:t>
            </a:r>
            <a:endParaRPr lang="en-US" sz="850" dirty="0"/>
          </a:p>
          <a:p>
            <a:pPr marL="0" indent="0">
              <a:buNone/>
            </a:pPr>
            <a:r>
              <a:rPr lang="en-US" sz="850" dirty="0">
                <a:solidFill>
                  <a:srgbClr val="00C8FF"/>
                </a:solidFill>
                <a:latin typeface="Consolas" pitchFamily="34" charset="0"/>
                <a:ea typeface="Consolas" pitchFamily="34" charset="-122"/>
                <a:cs typeface="Consolas" pitchFamily="34" charset="-120"/>
              </a:rPr>
              <a:t>model.fit(real_data, [])</a:t>
            </a:r>
            <a:endParaRPr lang="en-US" sz="850" dirty="0"/>
          </a:p>
          <a:p>
            <a:pPr marL="0" indent="0">
              <a:buNone/>
            </a:pPr>
            <a:r>
              <a:rPr lang="en-US" sz="850" dirty="0">
                <a:solidFill>
                  <a:srgbClr val="00C8FF"/>
                </a:solidFill>
                <a:latin typeface="Consolas" pitchFamily="34" charset="0"/>
                <a:ea typeface="Consolas" pitchFamily="34" charset="-122"/>
                <a:cs typeface="Consolas" pitchFamily="34" charset="-120"/>
              </a:rPr>
              <a:t>synthetic_data = model.sample(500)</a:t>
            </a:r>
            <a:endParaRPr lang="en-US" sz="850" dirty="0"/>
          </a:p>
          <a:p>
            <a:pPr marL="0" indent="0">
              <a:buNone/>
            </a:pPr>
            <a:r>
              <a:rPr lang="en-US" sz="850" dirty="0">
                <a:solidFill>
                  <a:srgbClr val="00C8FF"/>
                </a:solidFill>
                <a:latin typeface="Consolas" pitchFamily="34" charset="0"/>
                <a:ea typeface="Consolas" pitchFamily="34" charset="-122"/>
                <a:cs typeface="Consolas" pitchFamily="34" charset="-120"/>
              </a:rPr>
              <a:t>print(synthetic_data.describe())</a:t>
            </a:r>
            <a:endParaRPr lang="en-US" sz="850" dirty="0"/>
          </a:p>
        </p:txBody>
      </p:sp>
      <p:sp>
        <p:nvSpPr>
          <p:cNvPr id="26" name="Shape 24"/>
          <p:cNvSpPr/>
          <p:nvPr/>
        </p:nvSpPr>
        <p:spPr>
          <a:xfrm>
            <a:off x="4626864" y="3255264"/>
            <a:ext cx="4187952" cy="1700784"/>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27" name="Shape 25"/>
          <p:cNvSpPr/>
          <p:nvPr/>
        </p:nvSpPr>
        <p:spPr>
          <a:xfrm>
            <a:off x="4718304" y="3346704"/>
            <a:ext cx="438912" cy="438912"/>
          </a:xfrm>
          <a:prstGeom prst="ellipse">
            <a:avLst/>
          </a:prstGeom>
          <a:solidFill>
            <a:srgbClr val="FFD166"/>
          </a:solidFill>
          <a:ln w="12700">
            <a:solidFill>
              <a:srgbClr val="FFD166"/>
            </a:solidFill>
            <a:prstDash val="solid"/>
          </a:ln>
        </p:spPr>
        <p:txBody>
          <a:bodyPr/>
          <a:lstStyle/>
          <a:p>
            <a:endParaRPr lang="en-IN"/>
          </a:p>
        </p:txBody>
      </p:sp>
      <p:sp>
        <p:nvSpPr>
          <p:cNvPr id="28" name="Text 26"/>
          <p:cNvSpPr/>
          <p:nvPr/>
        </p:nvSpPr>
        <p:spPr>
          <a:xfrm>
            <a:off x="4718304" y="3346704"/>
            <a:ext cx="438912" cy="438912"/>
          </a:xfrm>
          <a:prstGeom prst="rect">
            <a:avLst/>
          </a:prstGeom>
          <a:noFill/>
          <a:ln/>
        </p:spPr>
        <p:txBody>
          <a:bodyPr wrap="square" rtlCol="0" anchor="ctr"/>
          <a:lstStyle/>
          <a:p>
            <a:pPr marL="0" indent="0" algn="ctr">
              <a:buNone/>
            </a:pPr>
            <a:r>
              <a:rPr lang="en-US" sz="1200" b="1" dirty="0">
                <a:solidFill>
                  <a:srgbClr val="0A1628"/>
                </a:solidFill>
              </a:rPr>
              <a:t>04</a:t>
            </a:r>
            <a:endParaRPr lang="en-US" sz="1200" dirty="0"/>
          </a:p>
        </p:txBody>
      </p:sp>
      <p:sp>
        <p:nvSpPr>
          <p:cNvPr id="29" name="Text 27"/>
          <p:cNvSpPr/>
          <p:nvPr/>
        </p:nvSpPr>
        <p:spPr>
          <a:xfrm>
            <a:off x="5248656" y="3364992"/>
            <a:ext cx="3456432" cy="347472"/>
          </a:xfrm>
          <a:prstGeom prst="rect">
            <a:avLst/>
          </a:prstGeom>
          <a:noFill/>
          <a:ln/>
        </p:spPr>
        <p:txBody>
          <a:bodyPr wrap="square" rtlCol="0" anchor="ctr"/>
          <a:lstStyle/>
          <a:p>
            <a:pPr marL="0" indent="0">
              <a:buNone/>
            </a:pPr>
            <a:r>
              <a:rPr lang="en-US" sz="1200" b="1" dirty="0">
                <a:solidFill>
                  <a:srgbClr val="FFD166"/>
                </a:solidFill>
              </a:rPr>
              <a:t>Evaluate Quality</a:t>
            </a:r>
            <a:endParaRPr lang="en-US" sz="1200" dirty="0"/>
          </a:p>
        </p:txBody>
      </p:sp>
      <p:sp>
        <p:nvSpPr>
          <p:cNvPr id="30" name="Shape 28"/>
          <p:cNvSpPr/>
          <p:nvPr/>
        </p:nvSpPr>
        <p:spPr>
          <a:xfrm>
            <a:off x="4718304" y="3822192"/>
            <a:ext cx="3950208" cy="1042416"/>
          </a:xfrm>
          <a:prstGeom prst="rect">
            <a:avLst/>
          </a:prstGeom>
          <a:solidFill>
            <a:srgbClr val="0A1628"/>
          </a:solidFill>
          <a:ln w="12700">
            <a:solidFill>
              <a:srgbClr val="FFD166"/>
            </a:solidFill>
            <a:prstDash val="solid"/>
          </a:ln>
        </p:spPr>
        <p:txBody>
          <a:bodyPr/>
          <a:lstStyle/>
          <a:p>
            <a:endParaRPr lang="en-IN"/>
          </a:p>
        </p:txBody>
      </p:sp>
      <p:sp>
        <p:nvSpPr>
          <p:cNvPr id="31" name="Text 29"/>
          <p:cNvSpPr/>
          <p:nvPr/>
        </p:nvSpPr>
        <p:spPr>
          <a:xfrm>
            <a:off x="4791456" y="3858768"/>
            <a:ext cx="3785616" cy="969264"/>
          </a:xfrm>
          <a:prstGeom prst="rect">
            <a:avLst/>
          </a:prstGeom>
          <a:noFill/>
          <a:ln/>
        </p:spPr>
        <p:txBody>
          <a:bodyPr wrap="square" rtlCol="0" anchor="ctr"/>
          <a:lstStyle/>
          <a:p>
            <a:pPr marL="0" indent="0">
              <a:buNone/>
            </a:pPr>
            <a:r>
              <a:rPr lang="en-US" sz="850" dirty="0">
                <a:solidFill>
                  <a:srgbClr val="00C8FF"/>
                </a:solidFill>
                <a:latin typeface="Consolas" pitchFamily="34" charset="0"/>
                <a:ea typeface="Consolas" pitchFamily="34" charset="-122"/>
                <a:cs typeface="Consolas" pitchFamily="34" charset="-120"/>
              </a:rPr>
              <a:t>from table_evaluator import TableEvaluator</a:t>
            </a:r>
            <a:endParaRPr lang="en-US" sz="850" dirty="0"/>
          </a:p>
          <a:p>
            <a:pPr marL="0" indent="0">
              <a:buNone/>
            </a:pPr>
            <a:r>
              <a:rPr lang="en-US" sz="850" dirty="0">
                <a:solidFill>
                  <a:srgbClr val="00C8FF"/>
                </a:solidFill>
                <a:latin typeface="Consolas" pitchFamily="34" charset="0"/>
                <a:ea typeface="Consolas" pitchFamily="34" charset="-122"/>
                <a:cs typeface="Consolas" pitchFamily="34" charset="-120"/>
              </a:rPr>
              <a:t>evaluator = TableEvaluator(real_data.sample(500), synthetic_data)</a:t>
            </a:r>
            <a:endParaRPr lang="en-US" sz="850" dirty="0"/>
          </a:p>
          <a:p>
            <a:pPr marL="0" indent="0">
              <a:buNone/>
            </a:pPr>
            <a:r>
              <a:rPr lang="en-US" sz="850" dirty="0">
                <a:solidFill>
                  <a:srgbClr val="00C8FF"/>
                </a:solidFill>
                <a:latin typeface="Consolas" pitchFamily="34" charset="0"/>
                <a:ea typeface="Consolas" pitchFamily="34" charset="-122"/>
                <a:cs typeface="Consolas" pitchFamily="34" charset="-120"/>
              </a:rPr>
              <a:t>evaluator.visual_evaluation()</a:t>
            </a:r>
            <a:endParaRPr lang="en-US" sz="850" dirty="0"/>
          </a:p>
          <a:p>
            <a:pPr marL="0" indent="0">
              <a:buNone/>
            </a:pPr>
            <a:r>
              <a:rPr lang="en-US" sz="850" dirty="0">
                <a:solidFill>
                  <a:srgbClr val="00C8FF"/>
                </a:solidFill>
                <a:latin typeface="Consolas" pitchFamily="34" charset="0"/>
                <a:ea typeface="Consolas" pitchFamily="34" charset="-122"/>
                <a:cs typeface="Consolas" pitchFamily="34" charset="-120"/>
              </a:rPr>
              <a:t>evaluator.evaluate(target_col='MedHouseVal')</a:t>
            </a:r>
            <a:endParaRPr lang="en-US" sz="850" dirty="0"/>
          </a:p>
          <a:p>
            <a:pPr marL="0" indent="0">
              <a:buNone/>
            </a:pPr>
            <a:r>
              <a:rPr lang="en-US" sz="850" dirty="0">
                <a:solidFill>
                  <a:srgbClr val="00C8FF"/>
                </a:solidFill>
                <a:latin typeface="Consolas" pitchFamily="34" charset="0"/>
                <a:ea typeface="Consolas" pitchFamily="34" charset="-122"/>
                <a:cs typeface="Consolas" pitchFamily="34" charset="-120"/>
              </a:rPr>
              <a:t># Score 0.7–0.9 = good · 0.95+ with 300 epochs</a:t>
            </a:r>
            <a:endParaRPr lang="en-US" sz="850" dirty="0"/>
          </a:p>
        </p:txBody>
      </p:sp>
      <p:sp>
        <p:nvSpPr>
          <p:cNvPr id="32" name="Shape 30"/>
          <p:cNvSpPr/>
          <p:nvPr/>
        </p:nvSpPr>
        <p:spPr>
          <a:xfrm>
            <a:off x="274320" y="5047488"/>
            <a:ext cx="8595360" cy="274320"/>
          </a:xfrm>
          <a:prstGeom prst="rect">
            <a:avLst/>
          </a:prstGeom>
          <a:solidFill>
            <a:srgbClr val="0F2041"/>
          </a:solidFill>
          <a:ln w="12700">
            <a:solidFill>
              <a:srgbClr val="FFD166"/>
            </a:solidFill>
            <a:prstDash val="solid"/>
          </a:ln>
        </p:spPr>
        <p:txBody>
          <a:bodyPr/>
          <a:lstStyle/>
          <a:p>
            <a:endParaRPr lang="en-IN"/>
          </a:p>
        </p:txBody>
      </p:sp>
      <p:sp>
        <p:nvSpPr>
          <p:cNvPr id="33" name="Text 31"/>
          <p:cNvSpPr/>
          <p:nvPr/>
        </p:nvSpPr>
        <p:spPr>
          <a:xfrm>
            <a:off x="274320" y="5047488"/>
            <a:ext cx="8595360" cy="274320"/>
          </a:xfrm>
          <a:prstGeom prst="rect">
            <a:avLst/>
          </a:prstGeom>
          <a:noFill/>
          <a:ln/>
        </p:spPr>
        <p:txBody>
          <a:bodyPr wrap="square" rtlCol="0" anchor="ctr"/>
          <a:lstStyle/>
          <a:p>
            <a:pPr marL="0" indent="0" algn="ctr">
              <a:buNone/>
            </a:pPr>
            <a:r>
              <a:rPr lang="en-US" sz="1000" dirty="0">
                <a:solidFill>
                  <a:srgbClr val="FFD166"/>
                </a:solidFill>
              </a:rPr>
              <a:t>Expected: Score 0.7–0.9 after 10 epochs · Visual distributions closely match real data · Privacy preserved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743200" cy="274320"/>
          </a:xfrm>
          <a:prstGeom prst="rect">
            <a:avLst/>
          </a:prstGeom>
          <a:solidFill>
            <a:srgbClr val="FFD166"/>
          </a:solidFill>
          <a:ln w="12700">
            <a:solidFill>
              <a:srgbClr val="FFD166"/>
            </a:solidFill>
            <a:prstDash val="solid"/>
          </a:ln>
        </p:spPr>
        <p:txBody>
          <a:bodyPr/>
          <a:lstStyle/>
          <a:p>
            <a:endParaRPr lang="en-IN"/>
          </a:p>
        </p:txBody>
      </p:sp>
      <p:sp>
        <p:nvSpPr>
          <p:cNvPr id="4" name="Text 2"/>
          <p:cNvSpPr/>
          <p:nvPr/>
        </p:nvSpPr>
        <p:spPr>
          <a:xfrm>
            <a:off x="365760" y="128016"/>
            <a:ext cx="2743200" cy="274320"/>
          </a:xfrm>
          <a:prstGeom prst="rect">
            <a:avLst/>
          </a:prstGeom>
          <a:noFill/>
          <a:ln/>
        </p:spPr>
        <p:txBody>
          <a:bodyPr wrap="square" rtlCol="0" anchor="ctr"/>
          <a:lstStyle/>
          <a:p>
            <a:pPr marL="0" indent="0" algn="ctr">
              <a:buNone/>
            </a:pPr>
            <a:r>
              <a:rPr lang="en-US" sz="900" b="1" dirty="0">
                <a:solidFill>
                  <a:srgbClr val="FFFFFF"/>
                </a:solidFill>
              </a:rPr>
              <a:t>DAY 9 · SUMMARY + NEXT</a:t>
            </a:r>
            <a:endParaRPr lang="en-US" sz="900" dirty="0"/>
          </a:p>
        </p:txBody>
      </p:sp>
      <p:sp>
        <p:nvSpPr>
          <p:cNvPr id="5" name="Text 3"/>
          <p:cNvSpPr/>
          <p:nvPr/>
        </p:nvSpPr>
        <p:spPr>
          <a:xfrm>
            <a:off x="365760" y="475488"/>
            <a:ext cx="7772400" cy="438912"/>
          </a:xfrm>
          <a:prstGeom prst="rect">
            <a:avLst/>
          </a:prstGeom>
          <a:noFill/>
          <a:ln/>
        </p:spPr>
        <p:txBody>
          <a:bodyPr wrap="square" rtlCol="0" anchor="ctr"/>
          <a:lstStyle/>
          <a:p>
            <a:pPr marL="0" indent="0">
              <a:buNone/>
            </a:pPr>
            <a:r>
              <a:rPr lang="en-US" sz="2200" b="1" dirty="0">
                <a:solidFill>
                  <a:srgbClr val="FFFFFF"/>
                </a:solidFill>
              </a:rPr>
              <a:t>Day 9 Summary &amp; Key Takeaways</a:t>
            </a:r>
            <a:endParaRPr lang="en-US" sz="2200" dirty="0"/>
          </a:p>
        </p:txBody>
      </p:sp>
      <p:pic>
        <p:nvPicPr>
          <p:cNvPr id="6" name="Image 0" descr="preencoded.png"/>
          <p:cNvPicPr>
            <a:picLocks noChangeAspect="1"/>
          </p:cNvPicPr>
          <p:nvPr/>
        </p:nvPicPr>
        <p:blipFill>
          <a:blip r:embed="rId3"/>
          <a:stretch>
            <a:fillRect/>
          </a:stretch>
        </p:blipFill>
        <p:spPr>
          <a:xfrm>
            <a:off x="8092440" y="512064"/>
            <a:ext cx="594360" cy="594360"/>
          </a:xfrm>
          <a:prstGeom prst="rect">
            <a:avLst/>
          </a:prstGeom>
        </p:spPr>
      </p:pic>
      <p:sp>
        <p:nvSpPr>
          <p:cNvPr id="7" name="Shape 4"/>
          <p:cNvSpPr/>
          <p:nvPr/>
        </p:nvSpPr>
        <p:spPr>
          <a:xfrm>
            <a:off x="274320" y="987552"/>
            <a:ext cx="4160520" cy="3337560"/>
          </a:xfrm>
          <a:prstGeom prst="rect">
            <a:avLst/>
          </a:prstGeom>
          <a:solidFill>
            <a:srgbClr val="112244"/>
          </a:solidFill>
          <a:ln w="2540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8" name="Shape 5"/>
          <p:cNvSpPr/>
          <p:nvPr/>
        </p:nvSpPr>
        <p:spPr>
          <a:xfrm>
            <a:off x="274320" y="987552"/>
            <a:ext cx="4160520" cy="347472"/>
          </a:xfrm>
          <a:prstGeom prst="rect">
            <a:avLst/>
          </a:prstGeom>
          <a:solidFill>
            <a:srgbClr val="00C8FF"/>
          </a:solidFill>
          <a:ln w="12700">
            <a:solidFill>
              <a:srgbClr val="00C8FF"/>
            </a:solidFill>
            <a:prstDash val="solid"/>
          </a:ln>
        </p:spPr>
        <p:txBody>
          <a:bodyPr/>
          <a:lstStyle/>
          <a:p>
            <a:endParaRPr lang="en-IN"/>
          </a:p>
        </p:txBody>
      </p:sp>
      <p:sp>
        <p:nvSpPr>
          <p:cNvPr id="9" name="Text 6"/>
          <p:cNvSpPr/>
          <p:nvPr/>
        </p:nvSpPr>
        <p:spPr>
          <a:xfrm>
            <a:off x="320040" y="987552"/>
            <a:ext cx="4069080" cy="347472"/>
          </a:xfrm>
          <a:prstGeom prst="rect">
            <a:avLst/>
          </a:prstGeom>
          <a:noFill/>
          <a:ln/>
        </p:spPr>
        <p:txBody>
          <a:bodyPr wrap="square" rtlCol="0" anchor="ctr"/>
          <a:lstStyle/>
          <a:p>
            <a:pPr marL="0" indent="0">
              <a:buNone/>
            </a:pPr>
            <a:r>
              <a:rPr lang="en-US" sz="1200" b="1" dirty="0">
                <a:solidFill>
                  <a:srgbClr val="0A1628"/>
                </a:solidFill>
              </a:rPr>
              <a:t>Key Takeaways</a:t>
            </a:r>
            <a:endParaRPr lang="en-US" sz="1200" dirty="0"/>
          </a:p>
        </p:txBody>
      </p:sp>
      <p:sp>
        <p:nvSpPr>
          <p:cNvPr id="10" name="Text 7"/>
          <p:cNvSpPr/>
          <p:nvPr/>
        </p:nvSpPr>
        <p:spPr>
          <a:xfrm>
            <a:off x="411480" y="1389888"/>
            <a:ext cx="3886200" cy="2852928"/>
          </a:xfrm>
          <a:prstGeom prst="rect">
            <a:avLst/>
          </a:prstGeom>
          <a:noFill/>
          <a:ln/>
        </p:spPr>
        <p:txBody>
          <a:bodyPr wrap="square" rtlCol="0" anchor="ctr"/>
          <a:lstStyle/>
          <a:p>
            <a:pPr marL="342900" indent="-342900">
              <a:buSzPct val="100000"/>
              <a:buChar char="•"/>
            </a:pPr>
            <a:r>
              <a:rPr lang="en-US" sz="1000" dirty="0">
                <a:solidFill>
                  <a:srgbClr val="E8F4FD"/>
                </a:solidFill>
              </a:rPr>
              <a:t>Gen AI catalyses every stage of the analytics lifecycle</a:t>
            </a:r>
            <a:endParaRPr lang="en-US" sz="1000" dirty="0"/>
          </a:p>
          <a:p>
            <a:pPr marL="342900" indent="-342900">
              <a:buSzPct val="100000"/>
              <a:buChar char="•"/>
            </a:pPr>
            <a:r>
              <a:rPr lang="en-US" sz="1000" dirty="0">
                <a:solidFill>
                  <a:srgbClr val="E8F4FD"/>
                </a:solidFill>
              </a:rPr>
              <a:t>Data prep = 60–80% of analyst time — biggest Gen AI impact</a:t>
            </a:r>
            <a:endParaRPr lang="en-US" sz="1000" dirty="0"/>
          </a:p>
          <a:p>
            <a:pPr marL="342900" indent="-342900">
              <a:buSzPct val="100000"/>
              <a:buChar char="•"/>
            </a:pPr>
            <a:r>
              <a:rPr lang="en-US" sz="1000" dirty="0">
                <a:solidFill>
                  <a:srgbClr val="E8F4FD"/>
                </a:solidFill>
              </a:rPr>
              <a:t>CTGAN generates synthetic tabular data preserving statistics</a:t>
            </a:r>
            <a:endParaRPr lang="en-US" sz="1000" dirty="0"/>
          </a:p>
          <a:p>
            <a:pPr marL="342900" indent="-342900">
              <a:buSzPct val="100000"/>
              <a:buChar char="•"/>
            </a:pPr>
            <a:r>
              <a:rPr lang="en-US" sz="1000" dirty="0">
                <a:solidFill>
                  <a:srgbClr val="E8F4FD"/>
                </a:solidFill>
              </a:rPr>
              <a:t>NL-to-SQL removes the technical barrier to data querying</a:t>
            </a:r>
            <a:endParaRPr lang="en-US" sz="1000" dirty="0"/>
          </a:p>
          <a:p>
            <a:pPr marL="342900" indent="-342900">
              <a:buSzPct val="100000"/>
              <a:buChar char="•"/>
            </a:pPr>
            <a:r>
              <a:rPr lang="en-US" sz="1000" dirty="0">
                <a:solidFill>
                  <a:srgbClr val="E8F4FD"/>
                </a:solidFill>
              </a:rPr>
              <a:t>NatWest Marge: NPS +20%, call duration -10%</a:t>
            </a:r>
            <a:endParaRPr lang="en-US" sz="1000" dirty="0"/>
          </a:p>
          <a:p>
            <a:pPr marL="342900" indent="-342900">
              <a:buSzPct val="100000"/>
              <a:buChar char="•"/>
            </a:pPr>
            <a:r>
              <a:rPr lang="en-US" sz="1000" dirty="0">
                <a:solidFill>
                  <a:srgbClr val="E8F4FD"/>
                </a:solidFill>
              </a:rPr>
              <a:t>Always consider privacy, fairness, and transparency</a:t>
            </a:r>
            <a:endParaRPr lang="en-US" sz="1000" dirty="0"/>
          </a:p>
        </p:txBody>
      </p:sp>
      <p:sp>
        <p:nvSpPr>
          <p:cNvPr id="11" name="Shape 8"/>
          <p:cNvSpPr/>
          <p:nvPr/>
        </p:nvSpPr>
        <p:spPr>
          <a:xfrm>
            <a:off x="4663440" y="987552"/>
            <a:ext cx="4206240" cy="3337560"/>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12" name="Shape 9"/>
          <p:cNvSpPr/>
          <p:nvPr/>
        </p:nvSpPr>
        <p:spPr>
          <a:xfrm>
            <a:off x="4663440" y="987552"/>
            <a:ext cx="4206240" cy="347472"/>
          </a:xfrm>
          <a:prstGeom prst="rect">
            <a:avLst/>
          </a:prstGeom>
          <a:solidFill>
            <a:srgbClr val="FFD166"/>
          </a:solidFill>
          <a:ln w="12700">
            <a:solidFill>
              <a:srgbClr val="FFD166"/>
            </a:solidFill>
            <a:prstDash val="solid"/>
          </a:ln>
        </p:spPr>
        <p:txBody>
          <a:bodyPr/>
          <a:lstStyle/>
          <a:p>
            <a:endParaRPr lang="en-IN"/>
          </a:p>
        </p:txBody>
      </p:sp>
      <p:sp>
        <p:nvSpPr>
          <p:cNvPr id="13" name="Text 10"/>
          <p:cNvSpPr/>
          <p:nvPr/>
        </p:nvSpPr>
        <p:spPr>
          <a:xfrm>
            <a:off x="4709160" y="987552"/>
            <a:ext cx="4114800" cy="347472"/>
          </a:xfrm>
          <a:prstGeom prst="rect">
            <a:avLst/>
          </a:prstGeom>
          <a:noFill/>
          <a:ln/>
        </p:spPr>
        <p:txBody>
          <a:bodyPr wrap="square" rtlCol="0" anchor="ctr"/>
          <a:lstStyle/>
          <a:p>
            <a:pPr marL="0" indent="0">
              <a:buNone/>
            </a:pPr>
            <a:r>
              <a:rPr lang="en-US" sz="1200" b="1" dirty="0">
                <a:solidFill>
                  <a:srgbClr val="0A1628"/>
                </a:solidFill>
              </a:rPr>
              <a:t>Assessment Questions</a:t>
            </a:r>
            <a:endParaRPr lang="en-US" sz="1200" dirty="0"/>
          </a:p>
        </p:txBody>
      </p:sp>
      <p:sp>
        <p:nvSpPr>
          <p:cNvPr id="14" name="Text 11"/>
          <p:cNvSpPr/>
          <p:nvPr/>
        </p:nvSpPr>
        <p:spPr>
          <a:xfrm>
            <a:off x="4754880" y="1389888"/>
            <a:ext cx="3977640" cy="2852928"/>
          </a:xfrm>
          <a:prstGeom prst="rect">
            <a:avLst/>
          </a:prstGeom>
          <a:noFill/>
          <a:ln/>
        </p:spPr>
        <p:txBody>
          <a:bodyPr wrap="square" rtlCol="0" anchor="ctr"/>
          <a:lstStyle/>
          <a:p>
            <a:pPr marL="342900" indent="-342900">
              <a:buSzPct val="100000"/>
              <a:buFont typeface="+mj-lt"/>
              <a:buAutoNum type="arabicPeriod"/>
            </a:pPr>
            <a:r>
              <a:rPr lang="en-US" sz="950" dirty="0">
                <a:solidFill>
                  <a:srgbClr val="E8F4FD"/>
                </a:solidFill>
              </a:rPr>
              <a:t>What is synthetic data and what 3 problems does it solve?</a:t>
            </a:r>
            <a:endParaRPr lang="en-US" sz="950" dirty="0"/>
          </a:p>
          <a:p>
            <a:pPr marL="342900" indent="-342900">
              <a:buSzPct val="100000"/>
              <a:buFont typeface="+mj-lt"/>
              <a:buAutoNum type="arabicPeriod"/>
            </a:pPr>
            <a:r>
              <a:rPr lang="en-US" sz="950" dirty="0">
                <a:solidFill>
                  <a:srgbClr val="E8F4FD"/>
                </a:solidFill>
              </a:rPr>
              <a:t>Name 3 Gen AI BI tools and what each offers analysts.</a:t>
            </a:r>
            <a:endParaRPr lang="en-US" sz="950" dirty="0"/>
          </a:p>
          <a:p>
            <a:pPr marL="342900" indent="-342900">
              <a:buSzPct val="100000"/>
              <a:buFont typeface="+mj-lt"/>
              <a:buAutoNum type="arabicPeriod"/>
            </a:pPr>
            <a:r>
              <a:rPr lang="en-US" sz="950" dirty="0">
                <a:solidFill>
                  <a:srgbClr val="E8F4FD"/>
                </a:solidFill>
              </a:rPr>
              <a:t>Describe the CTGAN 4-step process in Colab.</a:t>
            </a:r>
            <a:endParaRPr lang="en-US" sz="950" dirty="0"/>
          </a:p>
          <a:p>
            <a:pPr marL="342900" indent="-342900">
              <a:buSzPct val="100000"/>
              <a:buFont typeface="+mj-lt"/>
              <a:buAutoNum type="arabicPeriod"/>
            </a:pPr>
            <a:r>
              <a:rPr lang="en-US" sz="950" dirty="0">
                <a:solidFill>
                  <a:srgbClr val="E8F4FD"/>
                </a:solidFill>
              </a:rPr>
              <a:t>List 6 analytics stages where Gen AI helps.</a:t>
            </a:r>
            <a:endParaRPr lang="en-US" sz="950" dirty="0"/>
          </a:p>
          <a:p>
            <a:pPr marL="342900" indent="-342900">
              <a:buSzPct val="100000"/>
              <a:buFont typeface="+mj-lt"/>
              <a:buAutoNum type="arabicPeriod"/>
            </a:pPr>
            <a:r>
              <a:rPr lang="en-US" sz="950" dirty="0">
                <a:solidFill>
                  <a:srgbClr val="E8F4FD"/>
                </a:solidFill>
              </a:rPr>
              <a:t>Explain the NatWest case — problem, solution, results.</a:t>
            </a:r>
            <a:endParaRPr lang="en-US" sz="950" dirty="0"/>
          </a:p>
          <a:p>
            <a:pPr marL="342900" indent="-342900">
              <a:buSzPct val="100000"/>
              <a:buFont typeface="+mj-lt"/>
              <a:buAutoNum type="arabicPeriod"/>
            </a:pPr>
            <a:r>
              <a:rPr lang="en-US" sz="950" dirty="0">
                <a:solidFill>
                  <a:srgbClr val="E8F4FD"/>
                </a:solidFill>
              </a:rPr>
              <a:t>Difference between data augmentation and imputation?</a:t>
            </a:r>
            <a:endParaRPr lang="en-US" sz="950" dirty="0"/>
          </a:p>
        </p:txBody>
      </p:sp>
      <p:sp>
        <p:nvSpPr>
          <p:cNvPr id="15" name="Shape 12"/>
          <p:cNvSpPr/>
          <p:nvPr/>
        </p:nvSpPr>
        <p:spPr>
          <a:xfrm>
            <a:off x="274320" y="4434840"/>
            <a:ext cx="8595360" cy="621792"/>
          </a:xfrm>
          <a:prstGeom prst="rect">
            <a:avLst/>
          </a:prstGeom>
          <a:solidFill>
            <a:srgbClr val="0F2041"/>
          </a:solidFill>
          <a:ln w="19050">
            <a:solidFill>
              <a:srgbClr val="7B5EA7"/>
            </a:solidFill>
            <a:prstDash val="solid"/>
          </a:ln>
        </p:spPr>
        <p:txBody>
          <a:bodyPr/>
          <a:lstStyle/>
          <a:p>
            <a:endParaRPr lang="en-IN"/>
          </a:p>
        </p:txBody>
      </p:sp>
      <p:sp>
        <p:nvSpPr>
          <p:cNvPr id="16" name="Text 13"/>
          <p:cNvSpPr/>
          <p:nvPr/>
        </p:nvSpPr>
        <p:spPr>
          <a:xfrm>
            <a:off x="411480" y="4498848"/>
            <a:ext cx="8229600" cy="256032"/>
          </a:xfrm>
          <a:prstGeom prst="rect">
            <a:avLst/>
          </a:prstGeom>
          <a:noFill/>
          <a:ln/>
        </p:spPr>
        <p:txBody>
          <a:bodyPr wrap="square" rtlCol="0" anchor="ctr"/>
          <a:lstStyle/>
          <a:p>
            <a:pPr marL="0" indent="0">
              <a:buNone/>
            </a:pPr>
            <a:r>
              <a:rPr lang="en-US" sz="1100" b="1" dirty="0">
                <a:solidFill>
                  <a:srgbClr val="7B5EA7"/>
                </a:solidFill>
              </a:rPr>
              <a:t>Coming Up — Unit 3 continues:</a:t>
            </a:r>
            <a:endParaRPr lang="en-US" sz="1100" dirty="0"/>
          </a:p>
        </p:txBody>
      </p:sp>
      <p:sp>
        <p:nvSpPr>
          <p:cNvPr id="17" name="Text 14"/>
          <p:cNvSpPr/>
          <p:nvPr/>
        </p:nvSpPr>
        <p:spPr>
          <a:xfrm>
            <a:off x="411480" y="4754880"/>
            <a:ext cx="8229600" cy="237744"/>
          </a:xfrm>
          <a:prstGeom prst="rect">
            <a:avLst/>
          </a:prstGeom>
          <a:noFill/>
          <a:ln/>
        </p:spPr>
        <p:txBody>
          <a:bodyPr wrap="square" rtlCol="0" anchor="ctr"/>
          <a:lstStyle/>
          <a:p>
            <a:pPr marL="0" indent="0">
              <a:buNone/>
            </a:pPr>
            <a:r>
              <a:rPr lang="en-US" sz="1000" dirty="0">
                <a:solidFill>
                  <a:srgbClr val="E8F4FD"/>
                </a:solidFill>
              </a:rPr>
              <a:t>Gen AI for Data Engineers · ETL Automation · Data Scientists · AutoML · Microsoft Copilot for Data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3B031A-BADC-3750-7CF1-F946E32FB40F}"/>
              </a:ext>
            </a:extLst>
          </p:cNvPr>
          <p:cNvSpPr txBox="1"/>
          <p:nvPr/>
        </p:nvSpPr>
        <p:spPr>
          <a:xfrm>
            <a:off x="2500785" y="1346790"/>
            <a:ext cx="7368649"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a:ea typeface="Calibri"/>
                <a:cs typeface="Calibri"/>
              </a:rPr>
              <a:t>DAY 10</a:t>
            </a:r>
          </a:p>
          <a:p>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1076328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7B5EA7"/>
          </a:solidFill>
          <a:ln w="12700">
            <a:solidFill>
              <a:srgbClr val="7B5EA7"/>
            </a:solidFill>
            <a:prstDash val="solid"/>
          </a:ln>
        </p:spPr>
        <p:txBody>
          <a:bodyPr/>
          <a:lstStyle/>
          <a:p>
            <a:endParaRPr lang="en-IN"/>
          </a:p>
        </p:txBody>
      </p:sp>
      <p:sp>
        <p:nvSpPr>
          <p:cNvPr id="4" name="Shape 2"/>
          <p:cNvSpPr/>
          <p:nvPr/>
        </p:nvSpPr>
        <p:spPr>
          <a:xfrm>
            <a:off x="6949440" y="640080"/>
            <a:ext cx="1828800" cy="1828800"/>
          </a:xfrm>
          <a:prstGeom prst="ellipse">
            <a:avLst/>
          </a:prstGeom>
          <a:solidFill>
            <a:srgbClr val="7B5EA7">
              <a:alpha val="30000"/>
            </a:srgbClr>
          </a:solidFill>
          <a:ln w="12700">
            <a:solidFill>
              <a:srgbClr val="7B5EA7"/>
            </a:solidFill>
            <a:prstDash val="solid"/>
          </a:ln>
        </p:spPr>
        <p:txBody>
          <a:bodyPr/>
          <a:lstStyle/>
          <a:p>
            <a:endParaRPr lang="en-IN"/>
          </a:p>
        </p:txBody>
      </p:sp>
      <p:sp>
        <p:nvSpPr>
          <p:cNvPr id="5" name="Shape 3"/>
          <p:cNvSpPr/>
          <p:nvPr/>
        </p:nvSpPr>
        <p:spPr>
          <a:xfrm>
            <a:off x="7498080" y="1371600"/>
            <a:ext cx="1188720" cy="1188720"/>
          </a:xfrm>
          <a:prstGeom prst="ellipse">
            <a:avLst/>
          </a:prstGeom>
          <a:solidFill>
            <a:srgbClr val="00C8FF">
              <a:alpha val="25000"/>
            </a:srgbClr>
          </a:solidFill>
          <a:ln w="12700">
            <a:solidFill>
              <a:srgbClr val="00C8FF"/>
            </a:solidFill>
            <a:prstDash val="solid"/>
          </a:ln>
        </p:spPr>
        <p:txBody>
          <a:bodyPr/>
          <a:lstStyle/>
          <a:p>
            <a:endParaRPr lang="en-IN"/>
          </a:p>
        </p:txBody>
      </p:sp>
      <p:sp>
        <p:nvSpPr>
          <p:cNvPr id="6" name="Shape 4"/>
          <p:cNvSpPr/>
          <p:nvPr/>
        </p:nvSpPr>
        <p:spPr>
          <a:xfrm>
            <a:off x="6858000" y="1737360"/>
            <a:ext cx="822960" cy="822960"/>
          </a:xfrm>
          <a:prstGeom prst="ellipse">
            <a:avLst/>
          </a:prstGeom>
          <a:solidFill>
            <a:srgbClr val="00E5A0">
              <a:alpha val="28000"/>
            </a:srgbClr>
          </a:solidFill>
          <a:ln w="12700">
            <a:solidFill>
              <a:srgbClr val="00E5A0"/>
            </a:solidFill>
            <a:prstDash val="solid"/>
          </a:ln>
        </p:spPr>
        <p:txBody>
          <a:bodyPr/>
          <a:lstStyle/>
          <a:p>
            <a:endParaRPr lang="en-IN"/>
          </a:p>
        </p:txBody>
      </p:sp>
      <p:sp>
        <p:nvSpPr>
          <p:cNvPr id="7" name="Text 5"/>
          <p:cNvSpPr/>
          <p:nvPr/>
        </p:nvSpPr>
        <p:spPr>
          <a:xfrm>
            <a:off x="457200" y="914400"/>
            <a:ext cx="6400800" cy="411480"/>
          </a:xfrm>
          <a:prstGeom prst="rect">
            <a:avLst/>
          </a:prstGeom>
          <a:noFill/>
          <a:ln/>
        </p:spPr>
        <p:txBody>
          <a:bodyPr wrap="square" rtlCol="0" anchor="ctr"/>
          <a:lstStyle/>
          <a:p>
            <a:pPr marL="0" indent="0">
              <a:buNone/>
            </a:pPr>
            <a:r>
              <a:rPr lang="en-US" sz="1200" b="1" kern="0" spc="600" dirty="0">
                <a:solidFill>
                  <a:srgbClr val="00C8FF"/>
                </a:solidFill>
              </a:rPr>
              <a:t>MODULE 5  ·  CHAPTER 1</a:t>
            </a:r>
            <a:endParaRPr lang="en-US" sz="1200" dirty="0"/>
          </a:p>
        </p:txBody>
      </p:sp>
      <p:sp>
        <p:nvSpPr>
          <p:cNvPr id="8" name="Text 6"/>
          <p:cNvSpPr/>
          <p:nvPr/>
        </p:nvSpPr>
        <p:spPr>
          <a:xfrm>
            <a:off x="457200" y="1353312"/>
            <a:ext cx="7315200" cy="1417320"/>
          </a:xfrm>
          <a:prstGeom prst="rect">
            <a:avLst/>
          </a:prstGeom>
          <a:noFill/>
          <a:ln/>
        </p:spPr>
        <p:txBody>
          <a:bodyPr wrap="square" rtlCol="0" anchor="ctr"/>
          <a:lstStyle/>
          <a:p>
            <a:pPr marL="0" indent="0">
              <a:lnSpc>
                <a:spcPct val="110000"/>
              </a:lnSpc>
              <a:buNone/>
            </a:pPr>
            <a:r>
              <a:rPr lang="en-US" sz="5800" b="1" dirty="0">
                <a:solidFill>
                  <a:srgbClr val="FFFFFF"/>
                </a:solidFill>
                <a:latin typeface="Calibri" pitchFamily="34" charset="0"/>
                <a:ea typeface="Calibri" pitchFamily="34" charset="-122"/>
                <a:cs typeface="Calibri" pitchFamily="34" charset="-120"/>
              </a:rPr>
              <a:t>Gen AI for</a:t>
            </a:r>
            <a:endParaRPr lang="en-US" sz="5800" dirty="0"/>
          </a:p>
          <a:p>
            <a:pPr marL="0" indent="0">
              <a:lnSpc>
                <a:spcPct val="110000"/>
              </a:lnSpc>
              <a:buNone/>
            </a:pPr>
            <a:r>
              <a:rPr lang="en-US" sz="5800" b="1" dirty="0">
                <a:solidFill>
                  <a:srgbClr val="FFFFFF"/>
                </a:solidFill>
                <a:latin typeface="Calibri" pitchFamily="34" charset="0"/>
                <a:ea typeface="Calibri" pitchFamily="34" charset="-122"/>
                <a:cs typeface="Calibri" pitchFamily="34" charset="-120"/>
              </a:rPr>
              <a:t>Data Analytics</a:t>
            </a:r>
            <a:endParaRPr lang="en-US" sz="5800" dirty="0"/>
          </a:p>
        </p:txBody>
      </p:sp>
      <p:sp>
        <p:nvSpPr>
          <p:cNvPr id="9" name="Shape 7"/>
          <p:cNvSpPr/>
          <p:nvPr/>
        </p:nvSpPr>
        <p:spPr>
          <a:xfrm>
            <a:off x="457200" y="2852928"/>
            <a:ext cx="1097280" cy="54864"/>
          </a:xfrm>
          <a:prstGeom prst="rect">
            <a:avLst/>
          </a:prstGeom>
          <a:solidFill>
            <a:srgbClr val="FFD166"/>
          </a:solidFill>
          <a:ln w="12700">
            <a:solidFill>
              <a:srgbClr val="FFD166"/>
            </a:solidFill>
            <a:prstDash val="solid"/>
          </a:ln>
        </p:spPr>
        <p:txBody>
          <a:bodyPr/>
          <a:lstStyle/>
          <a:p>
            <a:endParaRPr lang="en-IN"/>
          </a:p>
        </p:txBody>
      </p:sp>
      <p:sp>
        <p:nvSpPr>
          <p:cNvPr id="10" name="Text 8"/>
          <p:cNvSpPr/>
          <p:nvPr/>
        </p:nvSpPr>
        <p:spPr>
          <a:xfrm>
            <a:off x="457200" y="2962656"/>
            <a:ext cx="8229600" cy="292608"/>
          </a:xfrm>
          <a:prstGeom prst="rect">
            <a:avLst/>
          </a:prstGeom>
          <a:noFill/>
          <a:ln/>
        </p:spPr>
        <p:txBody>
          <a:bodyPr wrap="square" rtlCol="0" anchor="ctr"/>
          <a:lstStyle/>
          <a:p>
            <a:pPr marL="0" indent="0">
              <a:buNone/>
            </a:pPr>
            <a:r>
              <a:rPr lang="en-US" sz="1200" dirty="0">
                <a:solidFill>
                  <a:srgbClr val="A0B4C8"/>
                </a:solidFill>
              </a:rPr>
              <a:t>Lessons 1–4  ·  VIT College  ·  Corporate Training</a:t>
            </a:r>
            <a:endParaRPr lang="en-US" sz="1200" dirty="0"/>
          </a:p>
        </p:txBody>
      </p:sp>
      <p:sp>
        <p:nvSpPr>
          <p:cNvPr id="11" name="Text 9"/>
          <p:cNvSpPr/>
          <p:nvPr/>
        </p:nvSpPr>
        <p:spPr>
          <a:xfrm>
            <a:off x="457200" y="3337560"/>
            <a:ext cx="8229600" cy="329184"/>
          </a:xfrm>
          <a:prstGeom prst="rect">
            <a:avLst/>
          </a:prstGeom>
          <a:noFill/>
          <a:ln/>
        </p:spPr>
        <p:txBody>
          <a:bodyPr wrap="square" rtlCol="0" anchor="ctr"/>
          <a:lstStyle/>
          <a:p>
            <a:pPr marL="0" indent="0">
              <a:buNone/>
            </a:pPr>
            <a:r>
              <a:rPr lang="en-US" sz="1100" i="1" dirty="0">
                <a:solidFill>
                  <a:srgbClr val="00E5A0"/>
                </a:solidFill>
              </a:rPr>
              <a:t>NL-to-SQL · Q&amp;A Frameworks · Data Preparation · Microsoft 365 Copilot</a:t>
            </a:r>
            <a:endParaRPr lang="en-US" sz="1100" dirty="0"/>
          </a:p>
        </p:txBody>
      </p:sp>
      <p:sp>
        <p:nvSpPr>
          <p:cNvPr id="12" name="Text 10"/>
          <p:cNvSpPr/>
          <p:nvPr/>
        </p:nvSpPr>
        <p:spPr>
          <a:xfrm>
            <a:off x="457200" y="4434840"/>
            <a:ext cx="8229600" cy="256032"/>
          </a:xfrm>
          <a:prstGeom prst="rect">
            <a:avLst/>
          </a:prstGeom>
          <a:noFill/>
          <a:ln/>
        </p:spPr>
        <p:txBody>
          <a:bodyPr wrap="square" rtlCol="0" anchor="ctr"/>
          <a:lstStyle/>
          <a:p>
            <a:pPr marL="0" indent="0">
              <a:buNone/>
            </a:pPr>
            <a:r>
              <a:rPr lang="en-US" sz="1000" dirty="0">
                <a:solidFill>
                  <a:srgbClr val="A0B4C8"/>
                </a:solidFill>
              </a:rPr>
              <a:t>IBM Career Education</a:t>
            </a:r>
            <a:endParaRPr lang="en-US" sz="1000" dirty="0"/>
          </a:p>
        </p:txBody>
      </p:sp>
    </p:spTree>
    <p:extLst>
      <p:ext uri="{BB962C8B-B14F-4D97-AF65-F5344CB8AC3E}">
        <p14:creationId xmlns:p14="http://schemas.microsoft.com/office/powerpoint/2010/main" val="3805948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00E5A0"/>
          </a:solidFill>
          <a:ln w="12700">
            <a:solidFill>
              <a:srgbClr val="00E5A0"/>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3 · DATA PREPARATION</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Gen AI for Data Preparation</a:t>
            </a:r>
            <a:endParaRPr lang="en-US" sz="2200" dirty="0"/>
          </a:p>
        </p:txBody>
      </p:sp>
      <p:pic>
        <p:nvPicPr>
          <p:cNvPr id="6" name="Image 0" descr="preencoded.png"/>
          <p:cNvPicPr>
            <a:picLocks noChangeAspect="1"/>
          </p:cNvPicPr>
          <p:nvPr/>
        </p:nvPicPr>
        <p:blipFill>
          <a:blip r:embed="rId3"/>
          <a:stretch>
            <a:fillRect/>
          </a:stretch>
        </p:blipFill>
        <p:spPr>
          <a:xfrm>
            <a:off x="8138160" y="512064"/>
            <a:ext cx="566928" cy="566928"/>
          </a:xfrm>
          <a:prstGeom prst="rect">
            <a:avLst/>
          </a:prstGeom>
        </p:spPr>
      </p:pic>
      <p:sp>
        <p:nvSpPr>
          <p:cNvPr id="7" name="Shape 4"/>
          <p:cNvSpPr/>
          <p:nvPr/>
        </p:nvSpPr>
        <p:spPr>
          <a:xfrm>
            <a:off x="274320" y="841248"/>
            <a:ext cx="8595360" cy="658368"/>
          </a:xfrm>
          <a:prstGeom prst="rect">
            <a:avLst/>
          </a:prstGeom>
          <a:solidFill>
            <a:srgbClr val="0F2041"/>
          </a:solidFill>
          <a:ln w="19050">
            <a:solidFill>
              <a:srgbClr val="00E5A0"/>
            </a:solidFill>
            <a:prstDash val="solid"/>
          </a:ln>
        </p:spPr>
        <p:txBody>
          <a:bodyPr/>
          <a:lstStyle/>
          <a:p>
            <a:endParaRPr lang="en-IN"/>
          </a:p>
        </p:txBody>
      </p:sp>
      <p:sp>
        <p:nvSpPr>
          <p:cNvPr id="8" name="Text 5"/>
          <p:cNvSpPr/>
          <p:nvPr/>
        </p:nvSpPr>
        <p:spPr>
          <a:xfrm>
            <a:off x="457200" y="859536"/>
            <a:ext cx="8229600" cy="603504"/>
          </a:xfrm>
          <a:prstGeom prst="rect">
            <a:avLst/>
          </a:prstGeom>
          <a:noFill/>
          <a:ln/>
        </p:spPr>
        <p:txBody>
          <a:bodyPr wrap="square" rtlCol="0" anchor="ctr"/>
          <a:lstStyle/>
          <a:p>
            <a:pPr marL="0" indent="0">
              <a:buNone/>
            </a:pPr>
            <a:r>
              <a:rPr lang="en-US" sz="1100" b="1" dirty="0">
                <a:solidFill>
                  <a:srgbClr val="00E5A0"/>
                </a:solidFill>
              </a:rPr>
              <a:t>Key Insight:</a:t>
            </a:r>
            <a:r>
              <a:rPr lang="en-US" sz="1100" dirty="0">
                <a:solidFill>
                  <a:srgbClr val="E8F4FD"/>
                </a:solidFill>
              </a:rPr>
              <a:t> Data preparation = 60–80% of a data analyst's time. Gen AI attacks this bottleneck directly — automating cleaning, augmentation, and transformation at every stage.</a:t>
            </a:r>
            <a:endParaRPr lang="en-US" sz="1100" dirty="0"/>
          </a:p>
        </p:txBody>
      </p:sp>
      <p:sp>
        <p:nvSpPr>
          <p:cNvPr id="9" name="Shape 6"/>
          <p:cNvSpPr/>
          <p:nvPr/>
        </p:nvSpPr>
        <p:spPr>
          <a:xfrm>
            <a:off x="274320" y="1664208"/>
            <a:ext cx="1371600" cy="530352"/>
          </a:xfrm>
          <a:prstGeom prst="rect">
            <a:avLst/>
          </a:prstGeom>
          <a:solidFill>
            <a:srgbClr val="00C8FF">
              <a:alpha val="85000"/>
            </a:srgbClr>
          </a:solidFill>
          <a:ln w="12700">
            <a:solidFill>
              <a:srgbClr val="00C8FF"/>
            </a:solidFill>
            <a:prstDash val="solid"/>
          </a:ln>
        </p:spPr>
        <p:txBody>
          <a:bodyPr/>
          <a:lstStyle/>
          <a:p>
            <a:endParaRPr lang="en-IN"/>
          </a:p>
        </p:txBody>
      </p:sp>
      <p:sp>
        <p:nvSpPr>
          <p:cNvPr id="10" name="Text 7"/>
          <p:cNvSpPr/>
          <p:nvPr/>
        </p:nvSpPr>
        <p:spPr>
          <a:xfrm>
            <a:off x="274320" y="1664208"/>
            <a:ext cx="1371600" cy="530352"/>
          </a:xfrm>
          <a:prstGeom prst="rect">
            <a:avLst/>
          </a:prstGeom>
          <a:noFill/>
          <a:ln/>
        </p:spPr>
        <p:txBody>
          <a:bodyPr wrap="square" rtlCol="0" anchor="ctr"/>
          <a:lstStyle/>
          <a:p>
            <a:pPr marL="0" indent="0" algn="ctr">
              <a:buNone/>
            </a:pPr>
            <a:r>
              <a:rPr lang="en-US" sz="950" b="1" dirty="0">
                <a:solidFill>
                  <a:srgbClr val="0A1628"/>
                </a:solidFill>
              </a:rPr>
              <a:t>Missing Data</a:t>
            </a:r>
            <a:endParaRPr lang="en-US" sz="950" dirty="0"/>
          </a:p>
        </p:txBody>
      </p:sp>
      <p:sp>
        <p:nvSpPr>
          <p:cNvPr id="11" name="Shape 8"/>
          <p:cNvSpPr/>
          <p:nvPr/>
        </p:nvSpPr>
        <p:spPr>
          <a:xfrm>
            <a:off x="1700784" y="1664208"/>
            <a:ext cx="3108960" cy="530352"/>
          </a:xfrm>
          <a:prstGeom prst="rect">
            <a:avLst/>
          </a:prstGeom>
          <a:solidFill>
            <a:srgbClr val="0F2041"/>
          </a:solidFill>
          <a:ln w="12700">
            <a:solidFill>
              <a:srgbClr val="A0B4C8"/>
            </a:solidFill>
            <a:prstDash val="solid"/>
          </a:ln>
        </p:spPr>
        <p:txBody>
          <a:bodyPr/>
          <a:lstStyle/>
          <a:p>
            <a:endParaRPr lang="en-IN"/>
          </a:p>
        </p:txBody>
      </p:sp>
      <p:sp>
        <p:nvSpPr>
          <p:cNvPr id="12" name="Text 9"/>
          <p:cNvSpPr/>
          <p:nvPr/>
        </p:nvSpPr>
        <p:spPr>
          <a:xfrm>
            <a:off x="1792224" y="1664208"/>
            <a:ext cx="2926080" cy="530352"/>
          </a:xfrm>
          <a:prstGeom prst="rect">
            <a:avLst/>
          </a:prstGeom>
          <a:noFill/>
          <a:ln/>
        </p:spPr>
        <p:txBody>
          <a:bodyPr wrap="square" rtlCol="0" anchor="ctr"/>
          <a:lstStyle/>
          <a:p>
            <a:pPr marL="0" indent="0">
              <a:buNone/>
            </a:pPr>
            <a:r>
              <a:rPr lang="en-US" sz="1000" dirty="0">
                <a:solidFill>
                  <a:srgbClr val="A0B4C8"/>
                </a:solidFill>
              </a:rPr>
              <a:t>Manual imputation</a:t>
            </a:r>
            <a:endParaRPr lang="en-US" sz="1000" dirty="0"/>
          </a:p>
        </p:txBody>
      </p:sp>
      <p:sp>
        <p:nvSpPr>
          <p:cNvPr id="13" name="Shape 10"/>
          <p:cNvSpPr/>
          <p:nvPr/>
        </p:nvSpPr>
        <p:spPr>
          <a:xfrm>
            <a:off x="4864608" y="1664208"/>
            <a:ext cx="3986784" cy="530352"/>
          </a:xfrm>
          <a:prstGeom prst="rect">
            <a:avLst/>
          </a:prstGeom>
          <a:solidFill>
            <a:srgbClr val="112244"/>
          </a:solidFill>
          <a:ln w="12700">
            <a:solidFill>
              <a:srgbClr val="00C8FF"/>
            </a:solidFill>
            <a:prstDash val="solid"/>
          </a:ln>
        </p:spPr>
        <p:txBody>
          <a:bodyPr/>
          <a:lstStyle/>
          <a:p>
            <a:endParaRPr lang="en-IN"/>
          </a:p>
        </p:txBody>
      </p:sp>
      <p:sp>
        <p:nvSpPr>
          <p:cNvPr id="14" name="Text 11"/>
          <p:cNvSpPr/>
          <p:nvPr/>
        </p:nvSpPr>
        <p:spPr>
          <a:xfrm>
            <a:off x="4956048" y="1664208"/>
            <a:ext cx="3803904" cy="530352"/>
          </a:xfrm>
          <a:prstGeom prst="rect">
            <a:avLst/>
          </a:prstGeom>
          <a:noFill/>
          <a:ln/>
        </p:spPr>
        <p:txBody>
          <a:bodyPr wrap="square" rtlCol="0" anchor="ctr"/>
          <a:lstStyle/>
          <a:p>
            <a:pPr marL="0" indent="0">
              <a:buNone/>
            </a:pPr>
            <a:r>
              <a:rPr lang="en-US" sz="1000" dirty="0">
                <a:solidFill>
                  <a:srgbClr val="E8F4FD"/>
                </a:solidFill>
              </a:rPr>
              <a:t>CTGAN/SDV generate statistically consistent synthetic values</a:t>
            </a:r>
            <a:endParaRPr lang="en-US" sz="1000" dirty="0"/>
          </a:p>
        </p:txBody>
      </p:sp>
      <p:sp>
        <p:nvSpPr>
          <p:cNvPr id="15" name="Shape 12"/>
          <p:cNvSpPr/>
          <p:nvPr/>
        </p:nvSpPr>
        <p:spPr>
          <a:xfrm>
            <a:off x="274320" y="2286000"/>
            <a:ext cx="1371600" cy="530352"/>
          </a:xfrm>
          <a:prstGeom prst="rect">
            <a:avLst/>
          </a:prstGeom>
          <a:solidFill>
            <a:srgbClr val="7B5EA7">
              <a:alpha val="85000"/>
            </a:srgbClr>
          </a:solidFill>
          <a:ln w="12700">
            <a:solidFill>
              <a:srgbClr val="7B5EA7"/>
            </a:solidFill>
            <a:prstDash val="solid"/>
          </a:ln>
        </p:spPr>
        <p:txBody>
          <a:bodyPr/>
          <a:lstStyle/>
          <a:p>
            <a:endParaRPr lang="en-IN"/>
          </a:p>
        </p:txBody>
      </p:sp>
      <p:sp>
        <p:nvSpPr>
          <p:cNvPr id="16" name="Text 13"/>
          <p:cNvSpPr/>
          <p:nvPr/>
        </p:nvSpPr>
        <p:spPr>
          <a:xfrm>
            <a:off x="274320" y="2286000"/>
            <a:ext cx="1371600" cy="530352"/>
          </a:xfrm>
          <a:prstGeom prst="rect">
            <a:avLst/>
          </a:prstGeom>
          <a:noFill/>
          <a:ln/>
        </p:spPr>
        <p:txBody>
          <a:bodyPr wrap="square" rtlCol="0" anchor="ctr"/>
          <a:lstStyle/>
          <a:p>
            <a:pPr marL="0" indent="0" algn="ctr">
              <a:buNone/>
            </a:pPr>
            <a:r>
              <a:rPr lang="en-US" sz="950" b="1" dirty="0">
                <a:solidFill>
                  <a:srgbClr val="0A1628"/>
                </a:solidFill>
              </a:rPr>
              <a:t>Feature Engineering</a:t>
            </a:r>
            <a:endParaRPr lang="en-US" sz="950" dirty="0"/>
          </a:p>
        </p:txBody>
      </p:sp>
      <p:sp>
        <p:nvSpPr>
          <p:cNvPr id="17" name="Shape 14"/>
          <p:cNvSpPr/>
          <p:nvPr/>
        </p:nvSpPr>
        <p:spPr>
          <a:xfrm>
            <a:off x="1700784" y="2286000"/>
            <a:ext cx="3108960" cy="530352"/>
          </a:xfrm>
          <a:prstGeom prst="rect">
            <a:avLst/>
          </a:prstGeom>
          <a:solidFill>
            <a:srgbClr val="0F2041"/>
          </a:solidFill>
          <a:ln w="12700">
            <a:solidFill>
              <a:srgbClr val="A0B4C8"/>
            </a:solidFill>
            <a:prstDash val="solid"/>
          </a:ln>
        </p:spPr>
        <p:txBody>
          <a:bodyPr/>
          <a:lstStyle/>
          <a:p>
            <a:endParaRPr lang="en-IN"/>
          </a:p>
        </p:txBody>
      </p:sp>
      <p:sp>
        <p:nvSpPr>
          <p:cNvPr id="18" name="Text 15"/>
          <p:cNvSpPr/>
          <p:nvPr/>
        </p:nvSpPr>
        <p:spPr>
          <a:xfrm>
            <a:off x="1792224" y="2286000"/>
            <a:ext cx="2926080" cy="530352"/>
          </a:xfrm>
          <a:prstGeom prst="rect">
            <a:avLst/>
          </a:prstGeom>
          <a:noFill/>
          <a:ln/>
        </p:spPr>
        <p:txBody>
          <a:bodyPr wrap="square" rtlCol="0" anchor="ctr"/>
          <a:lstStyle/>
          <a:p>
            <a:pPr marL="0" indent="0">
              <a:buNone/>
            </a:pPr>
            <a:r>
              <a:rPr lang="en-US" sz="1000" dirty="0">
                <a:solidFill>
                  <a:srgbClr val="A0B4C8"/>
                </a:solidFill>
              </a:rPr>
              <a:t>Data scientists write code</a:t>
            </a:r>
            <a:endParaRPr lang="en-US" sz="1000" dirty="0"/>
          </a:p>
        </p:txBody>
      </p:sp>
      <p:sp>
        <p:nvSpPr>
          <p:cNvPr id="19" name="Shape 16"/>
          <p:cNvSpPr/>
          <p:nvPr/>
        </p:nvSpPr>
        <p:spPr>
          <a:xfrm>
            <a:off x="4864608" y="2286000"/>
            <a:ext cx="3986784" cy="530352"/>
          </a:xfrm>
          <a:prstGeom prst="rect">
            <a:avLst/>
          </a:prstGeom>
          <a:solidFill>
            <a:srgbClr val="112244"/>
          </a:solidFill>
          <a:ln w="12700">
            <a:solidFill>
              <a:srgbClr val="7B5EA7"/>
            </a:solidFill>
            <a:prstDash val="solid"/>
          </a:ln>
        </p:spPr>
        <p:txBody>
          <a:bodyPr/>
          <a:lstStyle/>
          <a:p>
            <a:endParaRPr lang="en-IN"/>
          </a:p>
        </p:txBody>
      </p:sp>
      <p:sp>
        <p:nvSpPr>
          <p:cNvPr id="20" name="Text 17"/>
          <p:cNvSpPr/>
          <p:nvPr/>
        </p:nvSpPr>
        <p:spPr>
          <a:xfrm>
            <a:off x="4956048" y="2286000"/>
            <a:ext cx="3803904" cy="530352"/>
          </a:xfrm>
          <a:prstGeom prst="rect">
            <a:avLst/>
          </a:prstGeom>
          <a:noFill/>
          <a:ln/>
        </p:spPr>
        <p:txBody>
          <a:bodyPr wrap="square" rtlCol="0" anchor="ctr"/>
          <a:lstStyle/>
          <a:p>
            <a:pPr marL="0" indent="0">
              <a:buNone/>
            </a:pPr>
            <a:r>
              <a:rPr lang="en-US" sz="1000" dirty="0">
                <a:solidFill>
                  <a:srgbClr val="E8F4FD"/>
                </a:solidFill>
              </a:rPr>
              <a:t>Featuretools + Gen AI auto-generates candidate features</a:t>
            </a:r>
            <a:endParaRPr lang="en-US" sz="1000" dirty="0"/>
          </a:p>
        </p:txBody>
      </p:sp>
      <p:sp>
        <p:nvSpPr>
          <p:cNvPr id="21" name="Shape 18"/>
          <p:cNvSpPr/>
          <p:nvPr/>
        </p:nvSpPr>
        <p:spPr>
          <a:xfrm>
            <a:off x="274320" y="2907792"/>
            <a:ext cx="1371600" cy="530352"/>
          </a:xfrm>
          <a:prstGeom prst="rect">
            <a:avLst/>
          </a:prstGeom>
          <a:solidFill>
            <a:srgbClr val="00E5A0">
              <a:alpha val="85000"/>
            </a:srgbClr>
          </a:solidFill>
          <a:ln w="12700">
            <a:solidFill>
              <a:srgbClr val="00E5A0"/>
            </a:solidFill>
            <a:prstDash val="solid"/>
          </a:ln>
        </p:spPr>
        <p:txBody>
          <a:bodyPr/>
          <a:lstStyle/>
          <a:p>
            <a:endParaRPr lang="en-IN"/>
          </a:p>
        </p:txBody>
      </p:sp>
      <p:sp>
        <p:nvSpPr>
          <p:cNvPr id="22" name="Text 19"/>
          <p:cNvSpPr/>
          <p:nvPr/>
        </p:nvSpPr>
        <p:spPr>
          <a:xfrm>
            <a:off x="274320" y="2907792"/>
            <a:ext cx="1371600" cy="530352"/>
          </a:xfrm>
          <a:prstGeom prst="rect">
            <a:avLst/>
          </a:prstGeom>
          <a:noFill/>
          <a:ln/>
        </p:spPr>
        <p:txBody>
          <a:bodyPr wrap="square" rtlCol="0" anchor="ctr"/>
          <a:lstStyle/>
          <a:p>
            <a:pPr marL="0" indent="0" algn="ctr">
              <a:buNone/>
            </a:pPr>
            <a:r>
              <a:rPr lang="en-US" sz="950" b="1" dirty="0">
                <a:solidFill>
                  <a:srgbClr val="0A1628"/>
                </a:solidFill>
              </a:rPr>
              <a:t>Data Cleaning</a:t>
            </a:r>
            <a:endParaRPr lang="en-US" sz="950" dirty="0"/>
          </a:p>
        </p:txBody>
      </p:sp>
      <p:sp>
        <p:nvSpPr>
          <p:cNvPr id="23" name="Shape 20"/>
          <p:cNvSpPr/>
          <p:nvPr/>
        </p:nvSpPr>
        <p:spPr>
          <a:xfrm>
            <a:off x="1700784" y="2907792"/>
            <a:ext cx="3108960" cy="530352"/>
          </a:xfrm>
          <a:prstGeom prst="rect">
            <a:avLst/>
          </a:prstGeom>
          <a:solidFill>
            <a:srgbClr val="0F2041"/>
          </a:solidFill>
          <a:ln w="12700">
            <a:solidFill>
              <a:srgbClr val="A0B4C8"/>
            </a:solidFill>
            <a:prstDash val="solid"/>
          </a:ln>
        </p:spPr>
        <p:txBody>
          <a:bodyPr/>
          <a:lstStyle/>
          <a:p>
            <a:endParaRPr lang="en-IN"/>
          </a:p>
        </p:txBody>
      </p:sp>
      <p:sp>
        <p:nvSpPr>
          <p:cNvPr id="24" name="Text 21"/>
          <p:cNvSpPr/>
          <p:nvPr/>
        </p:nvSpPr>
        <p:spPr>
          <a:xfrm>
            <a:off x="1792224" y="2907792"/>
            <a:ext cx="2926080" cy="530352"/>
          </a:xfrm>
          <a:prstGeom prst="rect">
            <a:avLst/>
          </a:prstGeom>
          <a:noFill/>
          <a:ln/>
        </p:spPr>
        <p:txBody>
          <a:bodyPr wrap="square" rtlCol="0" anchor="ctr"/>
          <a:lstStyle/>
          <a:p>
            <a:pPr marL="0" indent="0">
              <a:buNone/>
            </a:pPr>
            <a:r>
              <a:rPr lang="en-US" sz="1000" dirty="0">
                <a:solidFill>
                  <a:srgbClr val="A0B4C8"/>
                </a:solidFill>
              </a:rPr>
              <a:t>Manual regex + Python scripts</a:t>
            </a:r>
            <a:endParaRPr lang="en-US" sz="1000" dirty="0"/>
          </a:p>
        </p:txBody>
      </p:sp>
      <p:sp>
        <p:nvSpPr>
          <p:cNvPr id="25" name="Shape 22"/>
          <p:cNvSpPr/>
          <p:nvPr/>
        </p:nvSpPr>
        <p:spPr>
          <a:xfrm>
            <a:off x="4864608" y="2907792"/>
            <a:ext cx="3986784" cy="530352"/>
          </a:xfrm>
          <a:prstGeom prst="rect">
            <a:avLst/>
          </a:prstGeom>
          <a:solidFill>
            <a:srgbClr val="112244"/>
          </a:solidFill>
          <a:ln w="12700">
            <a:solidFill>
              <a:srgbClr val="00E5A0"/>
            </a:solidFill>
            <a:prstDash val="solid"/>
          </a:ln>
        </p:spPr>
        <p:txBody>
          <a:bodyPr/>
          <a:lstStyle/>
          <a:p>
            <a:endParaRPr lang="en-IN"/>
          </a:p>
        </p:txBody>
      </p:sp>
      <p:sp>
        <p:nvSpPr>
          <p:cNvPr id="26" name="Text 23"/>
          <p:cNvSpPr/>
          <p:nvPr/>
        </p:nvSpPr>
        <p:spPr>
          <a:xfrm>
            <a:off x="4956048" y="2907792"/>
            <a:ext cx="3803904" cy="530352"/>
          </a:xfrm>
          <a:prstGeom prst="rect">
            <a:avLst/>
          </a:prstGeom>
          <a:noFill/>
          <a:ln/>
        </p:spPr>
        <p:txBody>
          <a:bodyPr wrap="square" rtlCol="0" anchor="ctr"/>
          <a:lstStyle/>
          <a:p>
            <a:pPr marL="0" indent="0">
              <a:buNone/>
            </a:pPr>
            <a:r>
              <a:rPr lang="en-US" sz="1000" dirty="0">
                <a:solidFill>
                  <a:srgbClr val="E8F4FD"/>
                </a:solidFill>
              </a:rPr>
              <a:t>DataWrangler uses NLP to describe and apply cleaning operations</a:t>
            </a:r>
            <a:endParaRPr lang="en-US" sz="1000" dirty="0"/>
          </a:p>
        </p:txBody>
      </p:sp>
      <p:sp>
        <p:nvSpPr>
          <p:cNvPr id="27" name="Shape 24"/>
          <p:cNvSpPr/>
          <p:nvPr/>
        </p:nvSpPr>
        <p:spPr>
          <a:xfrm>
            <a:off x="274320" y="3529584"/>
            <a:ext cx="1371600" cy="530352"/>
          </a:xfrm>
          <a:prstGeom prst="rect">
            <a:avLst/>
          </a:prstGeom>
          <a:solidFill>
            <a:srgbClr val="FFD166">
              <a:alpha val="85000"/>
            </a:srgbClr>
          </a:solidFill>
          <a:ln w="12700">
            <a:solidFill>
              <a:srgbClr val="FFD166"/>
            </a:solidFill>
            <a:prstDash val="solid"/>
          </a:ln>
        </p:spPr>
        <p:txBody>
          <a:bodyPr/>
          <a:lstStyle/>
          <a:p>
            <a:endParaRPr lang="en-IN"/>
          </a:p>
        </p:txBody>
      </p:sp>
      <p:sp>
        <p:nvSpPr>
          <p:cNvPr id="28" name="Text 25"/>
          <p:cNvSpPr/>
          <p:nvPr/>
        </p:nvSpPr>
        <p:spPr>
          <a:xfrm>
            <a:off x="274320" y="3529584"/>
            <a:ext cx="1371600" cy="530352"/>
          </a:xfrm>
          <a:prstGeom prst="rect">
            <a:avLst/>
          </a:prstGeom>
          <a:noFill/>
          <a:ln/>
        </p:spPr>
        <p:txBody>
          <a:bodyPr wrap="square" rtlCol="0" anchor="ctr"/>
          <a:lstStyle/>
          <a:p>
            <a:pPr marL="0" indent="0" algn="ctr">
              <a:buNone/>
            </a:pPr>
            <a:r>
              <a:rPr lang="en-US" sz="950" b="1" dirty="0">
                <a:solidFill>
                  <a:srgbClr val="0A1628"/>
                </a:solidFill>
              </a:rPr>
              <a:t>Data Augmentation</a:t>
            </a:r>
            <a:endParaRPr lang="en-US" sz="950" dirty="0"/>
          </a:p>
        </p:txBody>
      </p:sp>
      <p:sp>
        <p:nvSpPr>
          <p:cNvPr id="29" name="Shape 26"/>
          <p:cNvSpPr/>
          <p:nvPr/>
        </p:nvSpPr>
        <p:spPr>
          <a:xfrm>
            <a:off x="1700784" y="3529584"/>
            <a:ext cx="3108960" cy="530352"/>
          </a:xfrm>
          <a:prstGeom prst="rect">
            <a:avLst/>
          </a:prstGeom>
          <a:solidFill>
            <a:srgbClr val="0F2041"/>
          </a:solidFill>
          <a:ln w="12700">
            <a:solidFill>
              <a:srgbClr val="A0B4C8"/>
            </a:solidFill>
            <a:prstDash val="solid"/>
          </a:ln>
        </p:spPr>
        <p:txBody>
          <a:bodyPr/>
          <a:lstStyle/>
          <a:p>
            <a:endParaRPr lang="en-IN"/>
          </a:p>
        </p:txBody>
      </p:sp>
      <p:sp>
        <p:nvSpPr>
          <p:cNvPr id="30" name="Text 27"/>
          <p:cNvSpPr/>
          <p:nvPr/>
        </p:nvSpPr>
        <p:spPr>
          <a:xfrm>
            <a:off x="1792224" y="3529584"/>
            <a:ext cx="2926080" cy="530352"/>
          </a:xfrm>
          <a:prstGeom prst="rect">
            <a:avLst/>
          </a:prstGeom>
          <a:noFill/>
          <a:ln/>
        </p:spPr>
        <p:txBody>
          <a:bodyPr wrap="square" rtlCol="0" anchor="ctr"/>
          <a:lstStyle/>
          <a:p>
            <a:pPr marL="0" indent="0">
              <a:buNone/>
            </a:pPr>
            <a:r>
              <a:rPr lang="en-US" sz="1000" dirty="0">
                <a:solidFill>
                  <a:srgbClr val="A0B4C8"/>
                </a:solidFill>
              </a:rPr>
              <a:t>Collect more real data</a:t>
            </a:r>
            <a:endParaRPr lang="en-US" sz="1000" dirty="0"/>
          </a:p>
        </p:txBody>
      </p:sp>
      <p:sp>
        <p:nvSpPr>
          <p:cNvPr id="31" name="Shape 28"/>
          <p:cNvSpPr/>
          <p:nvPr/>
        </p:nvSpPr>
        <p:spPr>
          <a:xfrm>
            <a:off x="4864608" y="3529584"/>
            <a:ext cx="3986784" cy="530352"/>
          </a:xfrm>
          <a:prstGeom prst="rect">
            <a:avLst/>
          </a:prstGeom>
          <a:solidFill>
            <a:srgbClr val="112244"/>
          </a:solidFill>
          <a:ln w="12700">
            <a:solidFill>
              <a:srgbClr val="FFD166"/>
            </a:solidFill>
            <a:prstDash val="solid"/>
          </a:ln>
        </p:spPr>
        <p:txBody>
          <a:bodyPr/>
          <a:lstStyle/>
          <a:p>
            <a:endParaRPr lang="en-IN"/>
          </a:p>
        </p:txBody>
      </p:sp>
      <p:sp>
        <p:nvSpPr>
          <p:cNvPr id="32" name="Text 29"/>
          <p:cNvSpPr/>
          <p:nvPr/>
        </p:nvSpPr>
        <p:spPr>
          <a:xfrm>
            <a:off x="4956048" y="3529584"/>
            <a:ext cx="3803904" cy="530352"/>
          </a:xfrm>
          <a:prstGeom prst="rect">
            <a:avLst/>
          </a:prstGeom>
          <a:noFill/>
          <a:ln/>
        </p:spPr>
        <p:txBody>
          <a:bodyPr wrap="square" rtlCol="0" anchor="ctr"/>
          <a:lstStyle/>
          <a:p>
            <a:pPr marL="0" indent="0">
              <a:buNone/>
            </a:pPr>
            <a:r>
              <a:rPr lang="en-US" sz="1000" dirty="0">
                <a:solidFill>
                  <a:srgbClr val="E8F4FD"/>
                </a:solidFill>
              </a:rPr>
              <a:t>Generate synthetic data preserving statistical properties</a:t>
            </a:r>
            <a:endParaRPr lang="en-US" sz="1000" dirty="0"/>
          </a:p>
        </p:txBody>
      </p:sp>
      <p:sp>
        <p:nvSpPr>
          <p:cNvPr id="33" name="Shape 30"/>
          <p:cNvSpPr/>
          <p:nvPr/>
        </p:nvSpPr>
        <p:spPr>
          <a:xfrm>
            <a:off x="274320" y="4151376"/>
            <a:ext cx="1371600" cy="530352"/>
          </a:xfrm>
          <a:prstGeom prst="rect">
            <a:avLst/>
          </a:prstGeom>
          <a:solidFill>
            <a:srgbClr val="FF6B6B">
              <a:alpha val="85000"/>
            </a:srgbClr>
          </a:solidFill>
          <a:ln w="12700">
            <a:solidFill>
              <a:srgbClr val="FF6B6B"/>
            </a:solidFill>
            <a:prstDash val="solid"/>
          </a:ln>
        </p:spPr>
        <p:txBody>
          <a:bodyPr/>
          <a:lstStyle/>
          <a:p>
            <a:endParaRPr lang="en-IN"/>
          </a:p>
        </p:txBody>
      </p:sp>
      <p:sp>
        <p:nvSpPr>
          <p:cNvPr id="34" name="Text 31"/>
          <p:cNvSpPr/>
          <p:nvPr/>
        </p:nvSpPr>
        <p:spPr>
          <a:xfrm>
            <a:off x="274320" y="4151376"/>
            <a:ext cx="1371600" cy="530352"/>
          </a:xfrm>
          <a:prstGeom prst="rect">
            <a:avLst/>
          </a:prstGeom>
          <a:noFill/>
          <a:ln/>
        </p:spPr>
        <p:txBody>
          <a:bodyPr wrap="square" rtlCol="0" anchor="ctr"/>
          <a:lstStyle/>
          <a:p>
            <a:pPr marL="0" indent="0" algn="ctr">
              <a:buNone/>
            </a:pPr>
            <a:r>
              <a:rPr lang="en-US" sz="950" b="1" dirty="0">
                <a:solidFill>
                  <a:srgbClr val="0A1628"/>
                </a:solidFill>
              </a:rPr>
              <a:t>Format Standardisation</a:t>
            </a:r>
            <a:endParaRPr lang="en-US" sz="950" dirty="0"/>
          </a:p>
        </p:txBody>
      </p:sp>
      <p:sp>
        <p:nvSpPr>
          <p:cNvPr id="35" name="Shape 32"/>
          <p:cNvSpPr/>
          <p:nvPr/>
        </p:nvSpPr>
        <p:spPr>
          <a:xfrm>
            <a:off x="1700784" y="4151376"/>
            <a:ext cx="3108960" cy="530352"/>
          </a:xfrm>
          <a:prstGeom prst="rect">
            <a:avLst/>
          </a:prstGeom>
          <a:solidFill>
            <a:srgbClr val="0F2041"/>
          </a:solidFill>
          <a:ln w="12700">
            <a:solidFill>
              <a:srgbClr val="A0B4C8"/>
            </a:solidFill>
            <a:prstDash val="solid"/>
          </a:ln>
        </p:spPr>
        <p:txBody>
          <a:bodyPr/>
          <a:lstStyle/>
          <a:p>
            <a:endParaRPr lang="en-IN"/>
          </a:p>
        </p:txBody>
      </p:sp>
      <p:sp>
        <p:nvSpPr>
          <p:cNvPr id="36" name="Text 33"/>
          <p:cNvSpPr/>
          <p:nvPr/>
        </p:nvSpPr>
        <p:spPr>
          <a:xfrm>
            <a:off x="1792224" y="4151376"/>
            <a:ext cx="2926080" cy="530352"/>
          </a:xfrm>
          <a:prstGeom prst="rect">
            <a:avLst/>
          </a:prstGeom>
          <a:noFill/>
          <a:ln/>
        </p:spPr>
        <p:txBody>
          <a:bodyPr wrap="square" rtlCol="0" anchor="ctr"/>
          <a:lstStyle/>
          <a:p>
            <a:pPr marL="0" indent="0">
              <a:buNone/>
            </a:pPr>
            <a:r>
              <a:rPr lang="en-US" sz="1000" dirty="0">
                <a:solidFill>
                  <a:srgbClr val="A0B4C8"/>
                </a:solidFill>
              </a:rPr>
              <a:t>Manual transformation code</a:t>
            </a:r>
            <a:endParaRPr lang="en-US" sz="1000" dirty="0"/>
          </a:p>
        </p:txBody>
      </p:sp>
      <p:sp>
        <p:nvSpPr>
          <p:cNvPr id="37" name="Shape 34"/>
          <p:cNvSpPr/>
          <p:nvPr/>
        </p:nvSpPr>
        <p:spPr>
          <a:xfrm>
            <a:off x="4864608" y="4151376"/>
            <a:ext cx="3986784" cy="530352"/>
          </a:xfrm>
          <a:prstGeom prst="rect">
            <a:avLst/>
          </a:prstGeom>
          <a:solidFill>
            <a:srgbClr val="112244"/>
          </a:solidFill>
          <a:ln w="12700">
            <a:solidFill>
              <a:srgbClr val="FF6B6B"/>
            </a:solidFill>
            <a:prstDash val="solid"/>
          </a:ln>
        </p:spPr>
        <p:txBody>
          <a:bodyPr/>
          <a:lstStyle/>
          <a:p>
            <a:endParaRPr lang="en-IN"/>
          </a:p>
        </p:txBody>
      </p:sp>
      <p:sp>
        <p:nvSpPr>
          <p:cNvPr id="38" name="Text 35"/>
          <p:cNvSpPr/>
          <p:nvPr/>
        </p:nvSpPr>
        <p:spPr>
          <a:xfrm>
            <a:off x="4956048" y="4151376"/>
            <a:ext cx="3803904" cy="530352"/>
          </a:xfrm>
          <a:prstGeom prst="rect">
            <a:avLst/>
          </a:prstGeom>
          <a:noFill/>
          <a:ln/>
        </p:spPr>
        <p:txBody>
          <a:bodyPr wrap="square" rtlCol="0" anchor="ctr"/>
          <a:lstStyle/>
          <a:p>
            <a:pPr marL="0" indent="0">
              <a:buNone/>
            </a:pPr>
            <a:r>
              <a:rPr lang="en-US" sz="1000" dirty="0">
                <a:solidFill>
                  <a:srgbClr val="E8F4FD"/>
                </a:solidFill>
              </a:rPr>
              <a:t>LLMs convert inconsistent formats using NL instructions</a:t>
            </a:r>
            <a:endParaRPr lang="en-US" sz="1000" dirty="0"/>
          </a:p>
        </p:txBody>
      </p:sp>
      <p:sp>
        <p:nvSpPr>
          <p:cNvPr id="39" name="Text 36"/>
          <p:cNvSpPr/>
          <p:nvPr/>
        </p:nvSpPr>
        <p:spPr>
          <a:xfrm>
            <a:off x="274320" y="1517904"/>
            <a:ext cx="1371600" cy="182880"/>
          </a:xfrm>
          <a:prstGeom prst="rect">
            <a:avLst/>
          </a:prstGeom>
          <a:noFill/>
          <a:ln/>
        </p:spPr>
        <p:txBody>
          <a:bodyPr wrap="square" rtlCol="0" anchor="ctr"/>
          <a:lstStyle/>
          <a:p>
            <a:pPr marL="0" indent="0" algn="ctr">
              <a:buNone/>
            </a:pPr>
            <a:r>
              <a:rPr lang="en-US" sz="900" b="1" dirty="0">
                <a:solidFill>
                  <a:srgbClr val="A0B4C8"/>
                </a:solidFill>
              </a:rPr>
              <a:t>Stage</a:t>
            </a:r>
            <a:endParaRPr lang="en-US" sz="900" dirty="0"/>
          </a:p>
        </p:txBody>
      </p:sp>
      <p:sp>
        <p:nvSpPr>
          <p:cNvPr id="40" name="Text 37"/>
          <p:cNvSpPr/>
          <p:nvPr/>
        </p:nvSpPr>
        <p:spPr>
          <a:xfrm>
            <a:off x="1700784" y="1517904"/>
            <a:ext cx="3108960" cy="182880"/>
          </a:xfrm>
          <a:prstGeom prst="rect">
            <a:avLst/>
          </a:prstGeom>
          <a:noFill/>
          <a:ln/>
        </p:spPr>
        <p:txBody>
          <a:bodyPr wrap="square" rtlCol="0" anchor="ctr"/>
          <a:lstStyle/>
          <a:p>
            <a:pPr marL="0" indent="0">
              <a:buNone/>
            </a:pPr>
            <a:r>
              <a:rPr lang="en-US" sz="900" b="1" dirty="0">
                <a:solidFill>
                  <a:srgbClr val="A0B4C8"/>
                </a:solidFill>
              </a:rPr>
              <a:t>Without Gen AI</a:t>
            </a:r>
            <a:endParaRPr lang="en-US" sz="900" dirty="0"/>
          </a:p>
        </p:txBody>
      </p:sp>
      <p:sp>
        <p:nvSpPr>
          <p:cNvPr id="41" name="Text 38"/>
          <p:cNvSpPr/>
          <p:nvPr/>
        </p:nvSpPr>
        <p:spPr>
          <a:xfrm>
            <a:off x="4864608" y="1517904"/>
            <a:ext cx="3986784" cy="182880"/>
          </a:xfrm>
          <a:prstGeom prst="rect">
            <a:avLst/>
          </a:prstGeom>
          <a:noFill/>
          <a:ln/>
        </p:spPr>
        <p:txBody>
          <a:bodyPr wrap="square" rtlCol="0" anchor="ctr"/>
          <a:lstStyle/>
          <a:p>
            <a:pPr marL="0" indent="0">
              <a:buNone/>
            </a:pPr>
            <a:r>
              <a:rPr lang="en-US" sz="900" b="1" dirty="0">
                <a:solidFill>
                  <a:srgbClr val="00E5A0"/>
                </a:solidFill>
              </a:rPr>
              <a:t>With Gen AI</a:t>
            </a:r>
            <a:endParaRPr lang="en-US" sz="900" dirty="0"/>
          </a:p>
        </p:txBody>
      </p:sp>
    </p:spTree>
    <p:extLst>
      <p:ext uri="{BB962C8B-B14F-4D97-AF65-F5344CB8AC3E}">
        <p14:creationId xmlns:p14="http://schemas.microsoft.com/office/powerpoint/2010/main" val="842558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FFD166"/>
          </a:solidFill>
          <a:ln w="12700">
            <a:solidFill>
              <a:srgbClr val="FFD166"/>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3 · CASE STUDIES</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Real-World Enterprise Deployments</a:t>
            </a:r>
            <a:endParaRPr lang="en-US" sz="2200" dirty="0"/>
          </a:p>
        </p:txBody>
      </p:sp>
      <p:sp>
        <p:nvSpPr>
          <p:cNvPr id="6" name="Shape 4"/>
          <p:cNvSpPr/>
          <p:nvPr/>
        </p:nvSpPr>
        <p:spPr>
          <a:xfrm>
            <a:off x="274320" y="1024128"/>
            <a:ext cx="2761488" cy="1828800"/>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7" name="Shape 5"/>
          <p:cNvSpPr/>
          <p:nvPr/>
        </p:nvSpPr>
        <p:spPr>
          <a:xfrm>
            <a:off x="274320" y="1024128"/>
            <a:ext cx="2761488" cy="36576"/>
          </a:xfrm>
          <a:prstGeom prst="rect">
            <a:avLst/>
          </a:prstGeom>
          <a:solidFill>
            <a:srgbClr val="00C8FF"/>
          </a:solidFill>
          <a:ln w="12700">
            <a:solidFill>
              <a:srgbClr val="00C8FF"/>
            </a:solidFill>
            <a:prstDash val="solid"/>
          </a:ln>
        </p:spPr>
        <p:txBody>
          <a:bodyPr/>
          <a:lstStyle/>
          <a:p>
            <a:endParaRPr lang="en-IN"/>
          </a:p>
        </p:txBody>
      </p:sp>
      <p:sp>
        <p:nvSpPr>
          <p:cNvPr id="8" name="Text 6"/>
          <p:cNvSpPr/>
          <p:nvPr/>
        </p:nvSpPr>
        <p:spPr>
          <a:xfrm>
            <a:off x="365760" y="1097280"/>
            <a:ext cx="2578608" cy="402336"/>
          </a:xfrm>
          <a:prstGeom prst="rect">
            <a:avLst/>
          </a:prstGeom>
          <a:noFill/>
          <a:ln/>
        </p:spPr>
        <p:txBody>
          <a:bodyPr wrap="square" rtlCol="0" anchor="ctr"/>
          <a:lstStyle/>
          <a:p>
            <a:pPr marL="0" indent="0">
              <a:buNone/>
            </a:pPr>
            <a:r>
              <a:rPr lang="en-US" sz="1100" b="1" dirty="0">
                <a:solidFill>
                  <a:srgbClr val="00C8FF"/>
                </a:solidFill>
              </a:rPr>
              <a:t>🏪  Walmart</a:t>
            </a:r>
            <a:endParaRPr lang="en-US" sz="1100" dirty="0"/>
          </a:p>
        </p:txBody>
      </p:sp>
      <p:sp>
        <p:nvSpPr>
          <p:cNvPr id="9" name="Text 7"/>
          <p:cNvSpPr/>
          <p:nvPr/>
        </p:nvSpPr>
        <p:spPr>
          <a:xfrm>
            <a:off x="365760" y="1517904"/>
            <a:ext cx="2578608" cy="256032"/>
          </a:xfrm>
          <a:prstGeom prst="rect">
            <a:avLst/>
          </a:prstGeom>
          <a:noFill/>
          <a:ln/>
        </p:spPr>
        <p:txBody>
          <a:bodyPr wrap="square" rtlCol="0" anchor="ctr"/>
          <a:lstStyle/>
          <a:p>
            <a:pPr marL="0" indent="0">
              <a:buNone/>
            </a:pPr>
            <a:r>
              <a:rPr lang="en-US" sz="1000" i="1" dirty="0">
                <a:solidFill>
                  <a:srgbClr val="A0B4C8"/>
                </a:solidFill>
              </a:rPr>
              <a:t>My Assistant (2023)</a:t>
            </a:r>
            <a:endParaRPr lang="en-US" sz="1000" dirty="0"/>
          </a:p>
        </p:txBody>
      </p:sp>
      <p:sp>
        <p:nvSpPr>
          <p:cNvPr id="10" name="Text 8"/>
          <p:cNvSpPr/>
          <p:nvPr/>
        </p:nvSpPr>
        <p:spPr>
          <a:xfrm>
            <a:off x="365760" y="1810512"/>
            <a:ext cx="2578608" cy="969264"/>
          </a:xfrm>
          <a:prstGeom prst="rect">
            <a:avLst/>
          </a:prstGeom>
          <a:noFill/>
          <a:ln/>
        </p:spPr>
        <p:txBody>
          <a:bodyPr wrap="square" rtlCol="0" anchor="ctr"/>
          <a:lstStyle/>
          <a:p>
            <a:pPr marL="0" indent="0">
              <a:buNone/>
            </a:pPr>
            <a:r>
              <a:rPr lang="en-US" sz="1000" dirty="0">
                <a:solidFill>
                  <a:srgbClr val="E8F4FD"/>
                </a:solidFill>
              </a:rPr>
              <a:t>50,000 employees · Secure internal data queries · On-premises privacy</a:t>
            </a:r>
            <a:endParaRPr lang="en-US" sz="1000" dirty="0"/>
          </a:p>
        </p:txBody>
      </p:sp>
      <p:sp>
        <p:nvSpPr>
          <p:cNvPr id="11" name="Shape 9"/>
          <p:cNvSpPr/>
          <p:nvPr/>
        </p:nvSpPr>
        <p:spPr>
          <a:xfrm>
            <a:off x="3182112" y="1024128"/>
            <a:ext cx="2761488" cy="1828800"/>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12" name="Shape 10"/>
          <p:cNvSpPr/>
          <p:nvPr/>
        </p:nvSpPr>
        <p:spPr>
          <a:xfrm>
            <a:off x="3182112" y="1024128"/>
            <a:ext cx="2761488" cy="36576"/>
          </a:xfrm>
          <a:prstGeom prst="rect">
            <a:avLst/>
          </a:prstGeom>
          <a:solidFill>
            <a:srgbClr val="00E5A0"/>
          </a:solidFill>
          <a:ln w="12700">
            <a:solidFill>
              <a:srgbClr val="00E5A0"/>
            </a:solidFill>
            <a:prstDash val="solid"/>
          </a:ln>
        </p:spPr>
        <p:txBody>
          <a:bodyPr/>
          <a:lstStyle/>
          <a:p>
            <a:endParaRPr lang="en-IN"/>
          </a:p>
        </p:txBody>
      </p:sp>
      <p:sp>
        <p:nvSpPr>
          <p:cNvPr id="13" name="Text 11"/>
          <p:cNvSpPr/>
          <p:nvPr/>
        </p:nvSpPr>
        <p:spPr>
          <a:xfrm>
            <a:off x="3273552" y="1097280"/>
            <a:ext cx="2578608" cy="402336"/>
          </a:xfrm>
          <a:prstGeom prst="rect">
            <a:avLst/>
          </a:prstGeom>
          <a:noFill/>
          <a:ln/>
        </p:spPr>
        <p:txBody>
          <a:bodyPr wrap="square" rtlCol="0" anchor="ctr"/>
          <a:lstStyle/>
          <a:p>
            <a:pPr marL="0" indent="0">
              <a:buNone/>
            </a:pPr>
            <a:r>
              <a:rPr lang="en-US" sz="1100" b="1" dirty="0">
                <a:solidFill>
                  <a:srgbClr val="00E5A0"/>
                </a:solidFill>
              </a:rPr>
              <a:t>🏥  Stanford University</a:t>
            </a:r>
            <a:endParaRPr lang="en-US" sz="1100" dirty="0"/>
          </a:p>
        </p:txBody>
      </p:sp>
      <p:sp>
        <p:nvSpPr>
          <p:cNvPr id="14" name="Text 12"/>
          <p:cNvSpPr/>
          <p:nvPr/>
        </p:nvSpPr>
        <p:spPr>
          <a:xfrm>
            <a:off x="3273552" y="1517904"/>
            <a:ext cx="2578608" cy="256032"/>
          </a:xfrm>
          <a:prstGeom prst="rect">
            <a:avLst/>
          </a:prstGeom>
          <a:noFill/>
          <a:ln/>
        </p:spPr>
        <p:txBody>
          <a:bodyPr wrap="square" rtlCol="0" anchor="ctr"/>
          <a:lstStyle/>
          <a:p>
            <a:pPr marL="0" indent="0">
              <a:buNone/>
            </a:pPr>
            <a:r>
              <a:rPr lang="en-US" sz="1000" i="1" dirty="0">
                <a:solidFill>
                  <a:srgbClr val="A0B4C8"/>
                </a:solidFill>
              </a:rPr>
              <a:t>Healthcare AI</a:t>
            </a:r>
            <a:endParaRPr lang="en-US" sz="1000" dirty="0"/>
          </a:p>
        </p:txBody>
      </p:sp>
      <p:sp>
        <p:nvSpPr>
          <p:cNvPr id="15" name="Text 13"/>
          <p:cNvSpPr/>
          <p:nvPr/>
        </p:nvSpPr>
        <p:spPr>
          <a:xfrm>
            <a:off x="3273552" y="1810512"/>
            <a:ext cx="2578608" cy="969264"/>
          </a:xfrm>
          <a:prstGeom prst="rect">
            <a:avLst/>
          </a:prstGeom>
          <a:noFill/>
          <a:ln/>
        </p:spPr>
        <p:txBody>
          <a:bodyPr wrap="square" rtlCol="0" anchor="ctr"/>
          <a:lstStyle/>
          <a:p>
            <a:pPr marL="0" indent="0">
              <a:buNone/>
            </a:pPr>
            <a:r>
              <a:rPr lang="en-US" sz="1000" dirty="0">
                <a:solidFill>
                  <a:srgbClr val="E8F4FD"/>
                </a:solidFill>
              </a:rPr>
              <a:t>Synthetic clinical images for rare disease diagnosis · No patient data exposed</a:t>
            </a:r>
            <a:endParaRPr lang="en-US" sz="1000" dirty="0"/>
          </a:p>
        </p:txBody>
      </p:sp>
      <p:sp>
        <p:nvSpPr>
          <p:cNvPr id="16" name="Shape 14"/>
          <p:cNvSpPr/>
          <p:nvPr/>
        </p:nvSpPr>
        <p:spPr>
          <a:xfrm>
            <a:off x="6089904" y="1024128"/>
            <a:ext cx="2761488" cy="1828800"/>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17" name="Shape 15"/>
          <p:cNvSpPr/>
          <p:nvPr/>
        </p:nvSpPr>
        <p:spPr>
          <a:xfrm>
            <a:off x="6089904" y="1024128"/>
            <a:ext cx="2761488" cy="36576"/>
          </a:xfrm>
          <a:prstGeom prst="rect">
            <a:avLst/>
          </a:prstGeom>
          <a:solidFill>
            <a:srgbClr val="7B5EA7"/>
          </a:solidFill>
          <a:ln w="12700">
            <a:solidFill>
              <a:srgbClr val="7B5EA7"/>
            </a:solidFill>
            <a:prstDash val="solid"/>
          </a:ln>
        </p:spPr>
        <p:txBody>
          <a:bodyPr/>
          <a:lstStyle/>
          <a:p>
            <a:endParaRPr lang="en-IN"/>
          </a:p>
        </p:txBody>
      </p:sp>
      <p:sp>
        <p:nvSpPr>
          <p:cNvPr id="18" name="Text 16"/>
          <p:cNvSpPr/>
          <p:nvPr/>
        </p:nvSpPr>
        <p:spPr>
          <a:xfrm>
            <a:off x="6181344" y="1097280"/>
            <a:ext cx="2578608" cy="402336"/>
          </a:xfrm>
          <a:prstGeom prst="rect">
            <a:avLst/>
          </a:prstGeom>
          <a:noFill/>
          <a:ln/>
        </p:spPr>
        <p:txBody>
          <a:bodyPr wrap="square" rtlCol="0" anchor="ctr"/>
          <a:lstStyle/>
          <a:p>
            <a:pPr marL="0" indent="0">
              <a:buNone/>
            </a:pPr>
            <a:r>
              <a:rPr lang="en-US" sz="1100" b="1" dirty="0">
                <a:solidFill>
                  <a:srgbClr val="7B5EA7"/>
                </a:solidFill>
              </a:rPr>
              <a:t>📝  Typeform Formless</a:t>
            </a:r>
            <a:endParaRPr lang="en-US" sz="1100" dirty="0"/>
          </a:p>
        </p:txBody>
      </p:sp>
      <p:sp>
        <p:nvSpPr>
          <p:cNvPr id="19" name="Text 17"/>
          <p:cNvSpPr/>
          <p:nvPr/>
        </p:nvSpPr>
        <p:spPr>
          <a:xfrm>
            <a:off x="6181344" y="1517904"/>
            <a:ext cx="2578608" cy="256032"/>
          </a:xfrm>
          <a:prstGeom prst="rect">
            <a:avLst/>
          </a:prstGeom>
          <a:noFill/>
          <a:ln/>
        </p:spPr>
        <p:txBody>
          <a:bodyPr wrap="square" rtlCol="0" anchor="ctr"/>
          <a:lstStyle/>
          <a:p>
            <a:pPr marL="0" indent="0">
              <a:buNone/>
            </a:pPr>
            <a:r>
              <a:rPr lang="en-US" sz="1000" i="1" dirty="0">
                <a:solidFill>
                  <a:srgbClr val="A0B4C8"/>
                </a:solidFill>
              </a:rPr>
              <a:t>Conversational Data</a:t>
            </a:r>
            <a:endParaRPr lang="en-US" sz="1000" dirty="0"/>
          </a:p>
        </p:txBody>
      </p:sp>
      <p:sp>
        <p:nvSpPr>
          <p:cNvPr id="20" name="Text 18"/>
          <p:cNvSpPr/>
          <p:nvPr/>
        </p:nvSpPr>
        <p:spPr>
          <a:xfrm>
            <a:off x="6181344" y="1810512"/>
            <a:ext cx="2578608" cy="969264"/>
          </a:xfrm>
          <a:prstGeom prst="rect">
            <a:avLst/>
          </a:prstGeom>
          <a:noFill/>
          <a:ln/>
        </p:spPr>
        <p:txBody>
          <a:bodyPr wrap="square" rtlCol="0" anchor="ctr"/>
          <a:lstStyle/>
          <a:p>
            <a:pPr marL="0" indent="0">
              <a:buNone/>
            </a:pPr>
            <a:r>
              <a:rPr lang="en-US" sz="1000" dirty="0">
                <a:solidFill>
                  <a:srgbClr val="E8F4FD"/>
                </a:solidFill>
              </a:rPr>
              <a:t>Dynamic surveys adapt per user · Real-time translation across 30+ languages</a:t>
            </a:r>
            <a:endParaRPr lang="en-US" sz="1000" dirty="0"/>
          </a:p>
        </p:txBody>
      </p:sp>
      <p:sp>
        <p:nvSpPr>
          <p:cNvPr id="21" name="Shape 19"/>
          <p:cNvSpPr/>
          <p:nvPr/>
        </p:nvSpPr>
        <p:spPr>
          <a:xfrm>
            <a:off x="274320" y="2990088"/>
            <a:ext cx="2761488" cy="1828800"/>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22" name="Shape 20"/>
          <p:cNvSpPr/>
          <p:nvPr/>
        </p:nvSpPr>
        <p:spPr>
          <a:xfrm>
            <a:off x="274320" y="2990088"/>
            <a:ext cx="2761488" cy="36576"/>
          </a:xfrm>
          <a:prstGeom prst="rect">
            <a:avLst/>
          </a:prstGeom>
          <a:solidFill>
            <a:srgbClr val="FFD166"/>
          </a:solidFill>
          <a:ln w="12700">
            <a:solidFill>
              <a:srgbClr val="FFD166"/>
            </a:solidFill>
            <a:prstDash val="solid"/>
          </a:ln>
        </p:spPr>
        <p:txBody>
          <a:bodyPr/>
          <a:lstStyle/>
          <a:p>
            <a:endParaRPr lang="en-IN"/>
          </a:p>
        </p:txBody>
      </p:sp>
      <p:sp>
        <p:nvSpPr>
          <p:cNvPr id="23" name="Text 21"/>
          <p:cNvSpPr/>
          <p:nvPr/>
        </p:nvSpPr>
        <p:spPr>
          <a:xfrm>
            <a:off x="365760" y="3063240"/>
            <a:ext cx="2578608" cy="402336"/>
          </a:xfrm>
          <a:prstGeom prst="rect">
            <a:avLst/>
          </a:prstGeom>
          <a:noFill/>
          <a:ln/>
        </p:spPr>
        <p:txBody>
          <a:bodyPr wrap="square" rtlCol="0" anchor="ctr"/>
          <a:lstStyle/>
          <a:p>
            <a:pPr marL="0" indent="0">
              <a:buNone/>
            </a:pPr>
            <a:r>
              <a:rPr lang="en-US" sz="1100" b="1" dirty="0">
                <a:solidFill>
                  <a:srgbClr val="FFD166"/>
                </a:solidFill>
              </a:rPr>
              <a:t>🤖  DataRobot / H2O.ai</a:t>
            </a:r>
            <a:endParaRPr lang="en-US" sz="1100" dirty="0"/>
          </a:p>
        </p:txBody>
      </p:sp>
      <p:sp>
        <p:nvSpPr>
          <p:cNvPr id="24" name="Text 22"/>
          <p:cNvSpPr/>
          <p:nvPr/>
        </p:nvSpPr>
        <p:spPr>
          <a:xfrm>
            <a:off x="365760" y="3483864"/>
            <a:ext cx="2578608" cy="256032"/>
          </a:xfrm>
          <a:prstGeom prst="rect">
            <a:avLst/>
          </a:prstGeom>
          <a:noFill/>
          <a:ln/>
        </p:spPr>
        <p:txBody>
          <a:bodyPr wrap="square" rtlCol="0" anchor="ctr"/>
          <a:lstStyle/>
          <a:p>
            <a:pPr marL="0" indent="0">
              <a:buNone/>
            </a:pPr>
            <a:r>
              <a:rPr lang="en-US" sz="1000" i="1" dirty="0">
                <a:solidFill>
                  <a:srgbClr val="A0B4C8"/>
                </a:solidFill>
              </a:rPr>
              <a:t>AutoML + Gen AI</a:t>
            </a:r>
            <a:endParaRPr lang="en-US" sz="1000" dirty="0"/>
          </a:p>
        </p:txBody>
      </p:sp>
      <p:sp>
        <p:nvSpPr>
          <p:cNvPr id="25" name="Text 23"/>
          <p:cNvSpPr/>
          <p:nvPr/>
        </p:nvSpPr>
        <p:spPr>
          <a:xfrm>
            <a:off x="365760" y="3776472"/>
            <a:ext cx="2578608" cy="969264"/>
          </a:xfrm>
          <a:prstGeom prst="rect">
            <a:avLst/>
          </a:prstGeom>
          <a:noFill/>
          <a:ln/>
        </p:spPr>
        <p:txBody>
          <a:bodyPr wrap="square" rtlCol="0" anchor="ctr"/>
          <a:lstStyle/>
          <a:p>
            <a:pPr marL="0" indent="0">
              <a:buNone/>
            </a:pPr>
            <a:r>
              <a:rPr lang="en-US" sz="1000" dirty="0">
                <a:solidFill>
                  <a:srgbClr val="E8F4FD"/>
                </a:solidFill>
              </a:rPr>
              <a:t>Automated feature engineering · Synthetic data for imbalanced datasets</a:t>
            </a:r>
            <a:endParaRPr lang="en-US" sz="1000" dirty="0"/>
          </a:p>
        </p:txBody>
      </p:sp>
      <p:sp>
        <p:nvSpPr>
          <p:cNvPr id="26" name="Shape 24"/>
          <p:cNvSpPr/>
          <p:nvPr/>
        </p:nvSpPr>
        <p:spPr>
          <a:xfrm>
            <a:off x="3182112" y="2990088"/>
            <a:ext cx="2761488" cy="1828800"/>
          </a:xfrm>
          <a:prstGeom prst="rect">
            <a:avLst/>
          </a:prstGeom>
          <a:solidFill>
            <a:srgbClr val="1122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IN"/>
          </a:p>
        </p:txBody>
      </p:sp>
      <p:sp>
        <p:nvSpPr>
          <p:cNvPr id="27" name="Shape 25"/>
          <p:cNvSpPr/>
          <p:nvPr/>
        </p:nvSpPr>
        <p:spPr>
          <a:xfrm>
            <a:off x="3182112" y="2990088"/>
            <a:ext cx="2761488" cy="36576"/>
          </a:xfrm>
          <a:prstGeom prst="rect">
            <a:avLst/>
          </a:prstGeom>
          <a:solidFill>
            <a:srgbClr val="FF6B6B"/>
          </a:solidFill>
          <a:ln w="12700">
            <a:solidFill>
              <a:srgbClr val="FF6B6B"/>
            </a:solidFill>
            <a:prstDash val="solid"/>
          </a:ln>
        </p:spPr>
        <p:txBody>
          <a:bodyPr/>
          <a:lstStyle/>
          <a:p>
            <a:endParaRPr lang="en-IN"/>
          </a:p>
        </p:txBody>
      </p:sp>
      <p:sp>
        <p:nvSpPr>
          <p:cNvPr id="28" name="Text 26"/>
          <p:cNvSpPr/>
          <p:nvPr/>
        </p:nvSpPr>
        <p:spPr>
          <a:xfrm>
            <a:off x="3273552" y="3063240"/>
            <a:ext cx="2578608" cy="402336"/>
          </a:xfrm>
          <a:prstGeom prst="rect">
            <a:avLst/>
          </a:prstGeom>
          <a:noFill/>
          <a:ln/>
        </p:spPr>
        <p:txBody>
          <a:bodyPr wrap="square" rtlCol="0" anchor="ctr"/>
          <a:lstStyle/>
          <a:p>
            <a:pPr marL="0" indent="0">
              <a:buNone/>
            </a:pPr>
            <a:r>
              <a:rPr lang="en-US" sz="1100" b="1" dirty="0">
                <a:solidFill>
                  <a:srgbClr val="FF6B6B"/>
                </a:solidFill>
              </a:rPr>
              <a:t>⚡  OpenAI GPT-4</a:t>
            </a:r>
            <a:endParaRPr lang="en-US" sz="1100" dirty="0"/>
          </a:p>
        </p:txBody>
      </p:sp>
      <p:sp>
        <p:nvSpPr>
          <p:cNvPr id="29" name="Text 27"/>
          <p:cNvSpPr/>
          <p:nvPr/>
        </p:nvSpPr>
        <p:spPr>
          <a:xfrm>
            <a:off x="3273552" y="3483864"/>
            <a:ext cx="2578608" cy="256032"/>
          </a:xfrm>
          <a:prstGeom prst="rect">
            <a:avLst/>
          </a:prstGeom>
          <a:noFill/>
          <a:ln/>
        </p:spPr>
        <p:txBody>
          <a:bodyPr wrap="square" rtlCol="0" anchor="ctr"/>
          <a:lstStyle/>
          <a:p>
            <a:pPr marL="0" indent="0">
              <a:buNone/>
            </a:pPr>
            <a:r>
              <a:rPr lang="en-US" sz="1000" i="1" dirty="0">
                <a:solidFill>
                  <a:srgbClr val="A0B4C8"/>
                </a:solidFill>
              </a:rPr>
              <a:t>Data Augmentation</a:t>
            </a:r>
            <a:endParaRPr lang="en-US" sz="1000" dirty="0"/>
          </a:p>
        </p:txBody>
      </p:sp>
      <p:sp>
        <p:nvSpPr>
          <p:cNvPr id="30" name="Text 28"/>
          <p:cNvSpPr/>
          <p:nvPr/>
        </p:nvSpPr>
        <p:spPr>
          <a:xfrm>
            <a:off x="3273552" y="3776472"/>
            <a:ext cx="2578608" cy="969264"/>
          </a:xfrm>
          <a:prstGeom prst="rect">
            <a:avLst/>
          </a:prstGeom>
          <a:noFill/>
          <a:ln/>
        </p:spPr>
        <p:txBody>
          <a:bodyPr wrap="square" rtlCol="0" anchor="ctr"/>
          <a:lstStyle/>
          <a:p>
            <a:pPr marL="0" indent="0">
              <a:buNone/>
            </a:pPr>
            <a:r>
              <a:rPr lang="en-US" sz="1000" dirty="0">
                <a:solidFill>
                  <a:srgbClr val="E8F4FD"/>
                </a:solidFill>
              </a:rPr>
              <a:t>Text augmentation for NLP models · Synthetic Q&amp;A pairs for training</a:t>
            </a:r>
            <a:endParaRPr lang="en-US" sz="1000" dirty="0"/>
          </a:p>
        </p:txBody>
      </p:sp>
      <p:sp>
        <p:nvSpPr>
          <p:cNvPr id="31" name="Shape 29"/>
          <p:cNvSpPr/>
          <p:nvPr/>
        </p:nvSpPr>
        <p:spPr>
          <a:xfrm>
            <a:off x="6089904" y="2990088"/>
            <a:ext cx="2761488" cy="1828800"/>
          </a:xfrm>
          <a:prstGeom prst="rect">
            <a:avLst/>
          </a:prstGeom>
          <a:solidFill>
            <a:srgbClr val="112244"/>
          </a:solidFill>
          <a:ln w="19050">
            <a:solidFill>
              <a:srgbClr val="00D4AA"/>
            </a:solidFill>
            <a:prstDash val="solid"/>
          </a:ln>
          <a:effectLst>
            <a:outerShdw blurRad="101600" dist="38100" dir="8100000" algn="bl" rotWithShape="0">
              <a:srgbClr val="000000">
                <a:alpha val="25000"/>
              </a:srgbClr>
            </a:outerShdw>
          </a:effectLst>
        </p:spPr>
        <p:txBody>
          <a:bodyPr/>
          <a:lstStyle/>
          <a:p>
            <a:endParaRPr lang="en-IN"/>
          </a:p>
        </p:txBody>
      </p:sp>
      <p:sp>
        <p:nvSpPr>
          <p:cNvPr id="32" name="Shape 30"/>
          <p:cNvSpPr/>
          <p:nvPr/>
        </p:nvSpPr>
        <p:spPr>
          <a:xfrm>
            <a:off x="6089904" y="2990088"/>
            <a:ext cx="2761488" cy="36576"/>
          </a:xfrm>
          <a:prstGeom prst="rect">
            <a:avLst/>
          </a:prstGeom>
          <a:solidFill>
            <a:srgbClr val="00D4AA"/>
          </a:solidFill>
          <a:ln w="12700">
            <a:solidFill>
              <a:srgbClr val="00D4AA"/>
            </a:solidFill>
            <a:prstDash val="solid"/>
          </a:ln>
        </p:spPr>
        <p:txBody>
          <a:bodyPr/>
          <a:lstStyle/>
          <a:p>
            <a:endParaRPr lang="en-IN"/>
          </a:p>
        </p:txBody>
      </p:sp>
      <p:sp>
        <p:nvSpPr>
          <p:cNvPr id="33" name="Text 31"/>
          <p:cNvSpPr/>
          <p:nvPr/>
        </p:nvSpPr>
        <p:spPr>
          <a:xfrm>
            <a:off x="6181344" y="3063240"/>
            <a:ext cx="2578608" cy="402336"/>
          </a:xfrm>
          <a:prstGeom prst="rect">
            <a:avLst/>
          </a:prstGeom>
          <a:noFill/>
          <a:ln/>
        </p:spPr>
        <p:txBody>
          <a:bodyPr wrap="square" rtlCol="0" anchor="ctr"/>
          <a:lstStyle/>
          <a:p>
            <a:pPr marL="0" indent="0">
              <a:buNone/>
            </a:pPr>
            <a:r>
              <a:rPr lang="en-US" sz="1100" b="1" dirty="0">
                <a:solidFill>
                  <a:srgbClr val="00D4AA"/>
                </a:solidFill>
              </a:rPr>
              <a:t>🇮🇳  Netmeds + Haptik</a:t>
            </a:r>
            <a:endParaRPr lang="en-US" sz="1100" dirty="0"/>
          </a:p>
          <a:p>
            <a:pPr marL="0" indent="0">
              <a:buNone/>
            </a:pPr>
            <a:r>
              <a:rPr lang="en-US" sz="1100" b="1" dirty="0">
                <a:solidFill>
                  <a:srgbClr val="00D4AA"/>
                </a:solidFill>
              </a:rPr>
              <a:t>(India)</a:t>
            </a:r>
            <a:endParaRPr lang="en-US" sz="1100" dirty="0"/>
          </a:p>
        </p:txBody>
      </p:sp>
      <p:sp>
        <p:nvSpPr>
          <p:cNvPr id="34" name="Text 32"/>
          <p:cNvSpPr/>
          <p:nvPr/>
        </p:nvSpPr>
        <p:spPr>
          <a:xfrm>
            <a:off x="6181344" y="3483864"/>
            <a:ext cx="2578608" cy="256032"/>
          </a:xfrm>
          <a:prstGeom prst="rect">
            <a:avLst/>
          </a:prstGeom>
          <a:noFill/>
          <a:ln/>
        </p:spPr>
        <p:txBody>
          <a:bodyPr wrap="square" rtlCol="0" anchor="ctr"/>
          <a:lstStyle/>
          <a:p>
            <a:pPr marL="0" indent="0">
              <a:buNone/>
            </a:pPr>
            <a:r>
              <a:rPr lang="en-US" sz="1000" i="1" dirty="0">
                <a:solidFill>
                  <a:srgbClr val="A0B4C8"/>
                </a:solidFill>
              </a:rPr>
              <a:t>AI Chatbot</a:t>
            </a:r>
            <a:endParaRPr lang="en-US" sz="1000" dirty="0"/>
          </a:p>
        </p:txBody>
      </p:sp>
      <p:sp>
        <p:nvSpPr>
          <p:cNvPr id="35" name="Text 33"/>
          <p:cNvSpPr/>
          <p:nvPr/>
        </p:nvSpPr>
        <p:spPr>
          <a:xfrm>
            <a:off x="6181344" y="3776472"/>
            <a:ext cx="2578608" cy="969264"/>
          </a:xfrm>
          <a:prstGeom prst="rect">
            <a:avLst/>
          </a:prstGeom>
          <a:noFill/>
          <a:ln/>
        </p:spPr>
        <p:txBody>
          <a:bodyPr wrap="square" rtlCol="0" anchor="ctr"/>
          <a:lstStyle/>
          <a:p>
            <a:pPr marL="0" indent="0">
              <a:buNone/>
            </a:pPr>
            <a:r>
              <a:rPr lang="en-US" sz="1000" dirty="0">
                <a:solidFill>
                  <a:srgbClr val="E8F4FD"/>
                </a:solidFill>
              </a:rPr>
              <a:t>Handled pandemic surge · Saved thousands of agent hours</a:t>
            </a:r>
            <a:endParaRPr lang="en-US" sz="1000" dirty="0"/>
          </a:p>
        </p:txBody>
      </p:sp>
      <p:sp>
        <p:nvSpPr>
          <p:cNvPr id="36" name="Shape 34"/>
          <p:cNvSpPr/>
          <p:nvPr/>
        </p:nvSpPr>
        <p:spPr>
          <a:xfrm>
            <a:off x="274320" y="4919472"/>
            <a:ext cx="8595360" cy="274320"/>
          </a:xfrm>
          <a:prstGeom prst="rect">
            <a:avLst/>
          </a:prstGeom>
          <a:solidFill>
            <a:srgbClr val="0F2041"/>
          </a:solidFill>
          <a:ln w="12700">
            <a:solidFill>
              <a:srgbClr val="FFD166"/>
            </a:solidFill>
            <a:prstDash val="solid"/>
          </a:ln>
        </p:spPr>
        <p:txBody>
          <a:bodyPr/>
          <a:lstStyle/>
          <a:p>
            <a:endParaRPr lang="en-IN"/>
          </a:p>
        </p:txBody>
      </p:sp>
      <p:sp>
        <p:nvSpPr>
          <p:cNvPr id="37" name="Text 35"/>
          <p:cNvSpPr/>
          <p:nvPr/>
        </p:nvSpPr>
        <p:spPr>
          <a:xfrm>
            <a:off x="274320" y="4919472"/>
            <a:ext cx="8595360" cy="274320"/>
          </a:xfrm>
          <a:prstGeom prst="rect">
            <a:avLst/>
          </a:prstGeom>
          <a:noFill/>
          <a:ln/>
        </p:spPr>
        <p:txBody>
          <a:bodyPr wrap="square" rtlCol="0" anchor="ctr"/>
          <a:lstStyle/>
          <a:p>
            <a:pPr marL="0" indent="0" algn="ctr">
              <a:buNone/>
            </a:pPr>
            <a:r>
              <a:rPr lang="en-US" sz="950" dirty="0">
                <a:solidFill>
                  <a:srgbClr val="FFD166"/>
                </a:solidFill>
              </a:rPr>
              <a:t>📍 Indian context: Zomato could use CTGAN to synthesise delivery patterns for new cities · HDFC for synthetic fraud training data</a:t>
            </a:r>
            <a:endParaRPr lang="en-US" sz="950" dirty="0"/>
          </a:p>
        </p:txBody>
      </p:sp>
    </p:spTree>
    <p:extLst>
      <p:ext uri="{BB962C8B-B14F-4D97-AF65-F5344CB8AC3E}">
        <p14:creationId xmlns:p14="http://schemas.microsoft.com/office/powerpoint/2010/main" val="3361366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1 · NL-TO-SQL</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What Is Natural Language to SQL?</a:t>
            </a:r>
            <a:endParaRPr lang="en-US" sz="2200" dirty="0"/>
          </a:p>
        </p:txBody>
      </p:sp>
      <p:pic>
        <p:nvPicPr>
          <p:cNvPr id="6" name="Image 0" descr="preencoded.png"/>
          <p:cNvPicPr>
            <a:picLocks noChangeAspect="1"/>
          </p:cNvPicPr>
          <p:nvPr/>
        </p:nvPicPr>
        <p:blipFill>
          <a:blip r:embed="rId3"/>
          <a:stretch>
            <a:fillRect/>
          </a:stretch>
        </p:blipFill>
        <p:spPr>
          <a:xfrm>
            <a:off x="8138160" y="512064"/>
            <a:ext cx="566928" cy="566928"/>
          </a:xfrm>
          <a:prstGeom prst="rect">
            <a:avLst/>
          </a:prstGeom>
        </p:spPr>
      </p:pic>
      <p:sp>
        <p:nvSpPr>
          <p:cNvPr id="7" name="Shape 4"/>
          <p:cNvSpPr/>
          <p:nvPr/>
        </p:nvSpPr>
        <p:spPr>
          <a:xfrm>
            <a:off x="274320" y="841248"/>
            <a:ext cx="8595360" cy="658368"/>
          </a:xfrm>
          <a:prstGeom prst="rect">
            <a:avLst/>
          </a:prstGeom>
          <a:solidFill>
            <a:srgbClr val="0F2041"/>
          </a:solidFill>
          <a:ln w="19050">
            <a:solidFill>
              <a:srgbClr val="00C8FF"/>
            </a:solidFill>
            <a:prstDash val="solid"/>
          </a:ln>
        </p:spPr>
        <p:txBody>
          <a:bodyPr/>
          <a:lstStyle/>
          <a:p>
            <a:endParaRPr lang="en-IN"/>
          </a:p>
        </p:txBody>
      </p:sp>
      <p:sp>
        <p:nvSpPr>
          <p:cNvPr id="8" name="Text 5"/>
          <p:cNvSpPr/>
          <p:nvPr/>
        </p:nvSpPr>
        <p:spPr>
          <a:xfrm>
            <a:off x="457200" y="859536"/>
            <a:ext cx="8229600" cy="603504"/>
          </a:xfrm>
          <a:prstGeom prst="rect">
            <a:avLst/>
          </a:prstGeom>
          <a:noFill/>
          <a:ln/>
        </p:spPr>
        <p:txBody>
          <a:bodyPr wrap="square" rtlCol="0" anchor="ctr"/>
          <a:lstStyle/>
          <a:p>
            <a:pPr marL="0" indent="0">
              <a:buNone/>
            </a:pPr>
            <a:r>
              <a:rPr lang="en-US" sz="1100" b="1" dirty="0">
                <a:solidFill>
                  <a:srgbClr val="00C8FF"/>
                </a:solidFill>
              </a:rPr>
              <a:t>Core Concept:</a:t>
            </a:r>
            <a:r>
              <a:rPr lang="en-US" sz="1100" dirty="0">
                <a:solidFill>
                  <a:srgbClr val="E8F4FD"/>
                </a:solidFill>
              </a:rPr>
              <a:t> Generative AI translates your plain English question into a valid SQL query automatically — removing the technical barrier between business questions and database answers. No SQL knowledge required.</a:t>
            </a:r>
            <a:endParaRPr lang="en-US" sz="1100" dirty="0"/>
          </a:p>
        </p:txBody>
      </p:sp>
      <p:sp>
        <p:nvSpPr>
          <p:cNvPr id="9" name="Shape 6"/>
          <p:cNvSpPr/>
          <p:nvPr/>
        </p:nvSpPr>
        <p:spPr>
          <a:xfrm>
            <a:off x="274320" y="1627632"/>
            <a:ext cx="4160520" cy="3127248"/>
          </a:xfrm>
          <a:prstGeom prst="rect">
            <a:avLst/>
          </a:prstGeom>
          <a:solidFill>
            <a:srgbClr val="112244"/>
          </a:solidFill>
          <a:ln w="25400">
            <a:solidFill>
              <a:srgbClr val="FF6B6B"/>
            </a:solidFill>
            <a:prstDash val="solid"/>
          </a:ln>
          <a:effectLst>
            <a:outerShdw blurRad="101600" dist="38100" dir="8100000" algn="bl" rotWithShape="0">
              <a:srgbClr val="000000">
                <a:alpha val="25000"/>
              </a:srgbClr>
            </a:outerShdw>
          </a:effectLst>
        </p:spPr>
        <p:txBody>
          <a:bodyPr/>
          <a:lstStyle/>
          <a:p>
            <a:endParaRPr lang="en-IN"/>
          </a:p>
        </p:txBody>
      </p:sp>
      <p:sp>
        <p:nvSpPr>
          <p:cNvPr id="10" name="Shape 7"/>
          <p:cNvSpPr/>
          <p:nvPr/>
        </p:nvSpPr>
        <p:spPr>
          <a:xfrm>
            <a:off x="274320" y="1627632"/>
            <a:ext cx="4160520" cy="347472"/>
          </a:xfrm>
          <a:prstGeom prst="rect">
            <a:avLst/>
          </a:prstGeom>
          <a:solidFill>
            <a:srgbClr val="FF6B6B"/>
          </a:solidFill>
          <a:ln w="12700">
            <a:solidFill>
              <a:srgbClr val="FF6B6B"/>
            </a:solidFill>
            <a:prstDash val="solid"/>
          </a:ln>
        </p:spPr>
        <p:txBody>
          <a:bodyPr/>
          <a:lstStyle/>
          <a:p>
            <a:endParaRPr lang="en-IN"/>
          </a:p>
        </p:txBody>
      </p:sp>
      <p:sp>
        <p:nvSpPr>
          <p:cNvPr id="11" name="Text 8"/>
          <p:cNvSpPr/>
          <p:nvPr/>
        </p:nvSpPr>
        <p:spPr>
          <a:xfrm>
            <a:off x="320040" y="1627632"/>
            <a:ext cx="4069080" cy="347472"/>
          </a:xfrm>
          <a:prstGeom prst="rect">
            <a:avLst/>
          </a:prstGeom>
          <a:noFill/>
          <a:ln/>
        </p:spPr>
        <p:txBody>
          <a:bodyPr wrap="square" rtlCol="0" anchor="ctr"/>
          <a:lstStyle/>
          <a:p>
            <a:pPr marL="0" indent="0">
              <a:buNone/>
            </a:pPr>
            <a:r>
              <a:rPr lang="en-US" sz="1100" b="1" dirty="0">
                <a:solidFill>
                  <a:srgbClr val="FFFFFF"/>
                </a:solidFill>
              </a:rPr>
              <a:t>❌  Traditional SQL Workflow</a:t>
            </a:r>
            <a:endParaRPr lang="en-US" sz="1100" dirty="0"/>
          </a:p>
        </p:txBody>
      </p:sp>
      <p:sp>
        <p:nvSpPr>
          <p:cNvPr id="12" name="Text 9"/>
          <p:cNvSpPr/>
          <p:nvPr/>
        </p:nvSpPr>
        <p:spPr>
          <a:xfrm>
            <a:off x="411480" y="2029968"/>
            <a:ext cx="3886200" cy="2606040"/>
          </a:xfrm>
          <a:prstGeom prst="rect">
            <a:avLst/>
          </a:prstGeom>
          <a:noFill/>
          <a:ln/>
        </p:spPr>
        <p:txBody>
          <a:bodyPr wrap="square" rtlCol="0" anchor="ctr"/>
          <a:lstStyle/>
          <a:p>
            <a:pPr marL="342900" indent="-342900">
              <a:buSzPct val="100000"/>
              <a:buChar char="•"/>
            </a:pPr>
            <a:r>
              <a:rPr lang="en-US" sz="1050" dirty="0">
                <a:solidFill>
                  <a:srgbClr val="E8F4FD"/>
                </a:solidFill>
              </a:rPr>
              <a:t>Understand schema manually — read docs</a:t>
            </a:r>
            <a:endParaRPr lang="en-US" sz="1050" dirty="0"/>
          </a:p>
          <a:p>
            <a:pPr marL="342900" indent="-342900">
              <a:buSzPct val="100000"/>
              <a:buChar char="•"/>
            </a:pPr>
            <a:r>
              <a:rPr lang="en-US" sz="1050" dirty="0">
                <a:solidFill>
                  <a:srgbClr val="E8F4FD"/>
                </a:solidFill>
              </a:rPr>
              <a:t>Write SQL from scratch — syntax errors common</a:t>
            </a:r>
            <a:endParaRPr lang="en-US" sz="1050" dirty="0"/>
          </a:p>
          <a:p>
            <a:pPr marL="342900" indent="-342900">
              <a:buSzPct val="100000"/>
              <a:buChar char="•"/>
            </a:pPr>
            <a:r>
              <a:rPr lang="en-US" sz="1050" dirty="0">
                <a:solidFill>
                  <a:srgbClr val="E8F4FD"/>
                </a:solidFill>
              </a:rPr>
              <a:t>Debug and iterate — time-consuming</a:t>
            </a:r>
            <a:endParaRPr lang="en-US" sz="1050" dirty="0"/>
          </a:p>
          <a:p>
            <a:pPr marL="342900" indent="-342900">
              <a:buSzPct val="100000"/>
              <a:buChar char="•"/>
            </a:pPr>
            <a:r>
              <a:rPr lang="en-US" sz="1050" dirty="0">
                <a:solidFill>
                  <a:srgbClr val="E8F4FD"/>
                </a:solidFill>
              </a:rPr>
              <a:t>Requires SQL training to work independently</a:t>
            </a:r>
            <a:endParaRPr lang="en-US" sz="1050" dirty="0"/>
          </a:p>
        </p:txBody>
      </p:sp>
      <p:sp>
        <p:nvSpPr>
          <p:cNvPr id="13" name="Shape 10"/>
          <p:cNvSpPr/>
          <p:nvPr/>
        </p:nvSpPr>
        <p:spPr>
          <a:xfrm>
            <a:off x="4663440" y="1627632"/>
            <a:ext cx="4206240" cy="3127248"/>
          </a:xfrm>
          <a:prstGeom prst="rect">
            <a:avLst/>
          </a:prstGeom>
          <a:solidFill>
            <a:srgbClr val="112244"/>
          </a:solidFill>
          <a:ln w="2540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14" name="Shape 11"/>
          <p:cNvSpPr/>
          <p:nvPr/>
        </p:nvSpPr>
        <p:spPr>
          <a:xfrm>
            <a:off x="4663440" y="1627632"/>
            <a:ext cx="4206240" cy="347472"/>
          </a:xfrm>
          <a:prstGeom prst="rect">
            <a:avLst/>
          </a:prstGeom>
          <a:solidFill>
            <a:srgbClr val="00E5A0"/>
          </a:solidFill>
          <a:ln w="12700">
            <a:solidFill>
              <a:srgbClr val="00E5A0"/>
            </a:solidFill>
            <a:prstDash val="solid"/>
          </a:ln>
        </p:spPr>
        <p:txBody>
          <a:bodyPr/>
          <a:lstStyle/>
          <a:p>
            <a:endParaRPr lang="en-IN"/>
          </a:p>
        </p:txBody>
      </p:sp>
      <p:sp>
        <p:nvSpPr>
          <p:cNvPr id="15" name="Text 12"/>
          <p:cNvSpPr/>
          <p:nvPr/>
        </p:nvSpPr>
        <p:spPr>
          <a:xfrm>
            <a:off x="4709160" y="1627632"/>
            <a:ext cx="4114800" cy="347472"/>
          </a:xfrm>
          <a:prstGeom prst="rect">
            <a:avLst/>
          </a:prstGeom>
          <a:noFill/>
          <a:ln/>
        </p:spPr>
        <p:txBody>
          <a:bodyPr wrap="square" rtlCol="0" anchor="ctr"/>
          <a:lstStyle/>
          <a:p>
            <a:pPr marL="0" indent="0">
              <a:buNone/>
            </a:pPr>
            <a:r>
              <a:rPr lang="en-US" sz="1100" b="1" dirty="0">
                <a:solidFill>
                  <a:srgbClr val="0A1628"/>
                </a:solidFill>
              </a:rPr>
              <a:t>✅  Gen AI-Assisted SQL Workflow</a:t>
            </a:r>
            <a:endParaRPr lang="en-US" sz="1100" dirty="0"/>
          </a:p>
        </p:txBody>
      </p:sp>
      <p:sp>
        <p:nvSpPr>
          <p:cNvPr id="16" name="Text 13"/>
          <p:cNvSpPr/>
          <p:nvPr/>
        </p:nvSpPr>
        <p:spPr>
          <a:xfrm>
            <a:off x="4754880" y="2029968"/>
            <a:ext cx="3977640" cy="2606040"/>
          </a:xfrm>
          <a:prstGeom prst="rect">
            <a:avLst/>
          </a:prstGeom>
          <a:noFill/>
          <a:ln/>
        </p:spPr>
        <p:txBody>
          <a:bodyPr wrap="square" rtlCol="0" anchor="ctr"/>
          <a:lstStyle/>
          <a:p>
            <a:pPr marL="342900" indent="-342900">
              <a:buSzPct val="100000"/>
              <a:buChar char="•"/>
            </a:pPr>
            <a:r>
              <a:rPr lang="en-US" sz="1050" dirty="0">
                <a:solidFill>
                  <a:srgbClr val="E8F4FD"/>
                </a:solidFill>
              </a:rPr>
              <a:t>Ask in plain English: 'What columns exist?'</a:t>
            </a:r>
            <a:endParaRPr lang="en-US" sz="1050" dirty="0"/>
          </a:p>
          <a:p>
            <a:pPr marL="342900" indent="-342900">
              <a:buSzPct val="100000"/>
              <a:buChar char="•"/>
            </a:pPr>
            <a:r>
              <a:rPr lang="en-US" sz="1050" dirty="0">
                <a:solidFill>
                  <a:srgbClr val="E8F4FD"/>
                </a:solidFill>
              </a:rPr>
              <a:t>AI generates syntactically correct SQL instantly</a:t>
            </a:r>
            <a:endParaRPr lang="en-US" sz="1050" dirty="0"/>
          </a:p>
          <a:p>
            <a:pPr marL="342900" indent="-342900">
              <a:buSzPct val="100000"/>
              <a:buChar char="•"/>
            </a:pPr>
            <a:r>
              <a:rPr lang="en-US" sz="1050" dirty="0">
                <a:solidFill>
                  <a:srgbClr val="E8F4FD"/>
                </a:solidFill>
              </a:rPr>
              <a:t>Refine with follow-up prompts — seconds, not minutes</a:t>
            </a:r>
            <a:endParaRPr lang="en-US" sz="1050" dirty="0"/>
          </a:p>
          <a:p>
            <a:pPr marL="342900" indent="-342900">
              <a:buSzPct val="100000"/>
              <a:buChar char="•"/>
            </a:pPr>
            <a:r>
              <a:rPr lang="en-US" sz="1050" dirty="0">
                <a:solidFill>
                  <a:srgbClr val="E8F4FD"/>
                </a:solidFill>
              </a:rPr>
              <a:t>Any business user can self-serve on data</a:t>
            </a:r>
            <a:endParaRPr lang="en-US" sz="1050" dirty="0"/>
          </a:p>
        </p:txBody>
      </p:sp>
      <p:sp>
        <p:nvSpPr>
          <p:cNvPr id="17" name="Shape 14"/>
          <p:cNvSpPr/>
          <p:nvPr/>
        </p:nvSpPr>
        <p:spPr>
          <a:xfrm>
            <a:off x="274320" y="4809744"/>
            <a:ext cx="8595360" cy="274320"/>
          </a:xfrm>
          <a:prstGeom prst="rect">
            <a:avLst/>
          </a:prstGeom>
          <a:solidFill>
            <a:srgbClr val="0F2041"/>
          </a:solidFill>
          <a:ln w="12700">
            <a:solidFill>
              <a:srgbClr val="00C8FF"/>
            </a:solidFill>
            <a:prstDash val="solid"/>
          </a:ln>
        </p:spPr>
        <p:txBody>
          <a:bodyPr/>
          <a:lstStyle/>
          <a:p>
            <a:endParaRPr lang="en-IN"/>
          </a:p>
        </p:txBody>
      </p:sp>
      <p:sp>
        <p:nvSpPr>
          <p:cNvPr id="18" name="Text 15"/>
          <p:cNvSpPr/>
          <p:nvPr/>
        </p:nvSpPr>
        <p:spPr>
          <a:xfrm>
            <a:off x="274320" y="4809744"/>
            <a:ext cx="8595360" cy="274320"/>
          </a:xfrm>
          <a:prstGeom prst="rect">
            <a:avLst/>
          </a:prstGeom>
          <a:noFill/>
          <a:ln/>
        </p:spPr>
        <p:txBody>
          <a:bodyPr wrap="square" rtlCol="0" anchor="ctr"/>
          <a:lstStyle/>
          <a:p>
            <a:pPr marL="0" indent="0" algn="ctr">
              <a:buNone/>
            </a:pPr>
            <a:r>
              <a:rPr lang="en-US" sz="1000" dirty="0">
                <a:solidFill>
                  <a:srgbClr val="A0B4C8"/>
                </a:solidFill>
              </a:rPr>
              <a:t>Impact: Finance · Healthcare · Retail · Education — any domain that runs on data</a:t>
            </a:r>
            <a:endParaRPr lang="en-US" sz="1000" dirty="0"/>
          </a:p>
        </p:txBody>
      </p:sp>
    </p:spTree>
    <p:extLst>
      <p:ext uri="{BB962C8B-B14F-4D97-AF65-F5344CB8AC3E}">
        <p14:creationId xmlns:p14="http://schemas.microsoft.com/office/powerpoint/2010/main" val="91588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1 · DATASET</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Boston Housing Dataset — Schema</a:t>
            </a:r>
            <a:endParaRPr lang="en-US" sz="2200" dirty="0"/>
          </a:p>
        </p:txBody>
      </p:sp>
      <p:sp>
        <p:nvSpPr>
          <p:cNvPr id="6" name="Shape 4"/>
          <p:cNvSpPr/>
          <p:nvPr/>
        </p:nvSpPr>
        <p:spPr>
          <a:xfrm>
            <a:off x="274320" y="841248"/>
            <a:ext cx="8595360" cy="658368"/>
          </a:xfrm>
          <a:prstGeom prst="rect">
            <a:avLst/>
          </a:prstGeom>
          <a:solidFill>
            <a:srgbClr val="0F2041"/>
          </a:solidFill>
          <a:ln w="19050">
            <a:solidFill>
              <a:srgbClr val="FFD166"/>
            </a:solidFill>
            <a:prstDash val="solid"/>
          </a:ln>
        </p:spPr>
        <p:txBody>
          <a:bodyPr/>
          <a:lstStyle/>
          <a:p>
            <a:endParaRPr lang="en-IN"/>
          </a:p>
        </p:txBody>
      </p:sp>
      <p:sp>
        <p:nvSpPr>
          <p:cNvPr id="7" name="Text 5"/>
          <p:cNvSpPr/>
          <p:nvPr/>
        </p:nvSpPr>
        <p:spPr>
          <a:xfrm>
            <a:off x="457200" y="859536"/>
            <a:ext cx="8229600" cy="603504"/>
          </a:xfrm>
          <a:prstGeom prst="rect">
            <a:avLst/>
          </a:prstGeom>
          <a:noFill/>
          <a:ln/>
        </p:spPr>
        <p:txBody>
          <a:bodyPr wrap="square" rtlCol="0" anchor="ctr"/>
          <a:lstStyle/>
          <a:p>
            <a:pPr marL="0" indent="0">
              <a:buNone/>
            </a:pPr>
            <a:r>
              <a:rPr lang="en-US" sz="1100" b="1" dirty="0">
                <a:solidFill>
                  <a:srgbClr val="FFD166"/>
                </a:solidFill>
              </a:rPr>
              <a:t>Dataset:</a:t>
            </a:r>
            <a:r>
              <a:rPr lang="en-US" sz="1100" dirty="0">
                <a:solidFill>
                  <a:srgbClr val="E8F4FD"/>
                </a:solidFill>
              </a:rPr>
              <a:t> 14 columns describing Boston-area housing characteristics. This is your SQL lab dataset — know every column before writing queries.</a:t>
            </a:r>
            <a:endParaRPr lang="en-US" sz="1100" dirty="0"/>
          </a:p>
        </p:txBody>
      </p:sp>
      <p:sp>
        <p:nvSpPr>
          <p:cNvPr id="8" name="Shape 6"/>
          <p:cNvSpPr/>
          <p:nvPr/>
        </p:nvSpPr>
        <p:spPr>
          <a:xfrm>
            <a:off x="274320" y="1627632"/>
            <a:ext cx="4206240" cy="402336"/>
          </a:xfrm>
          <a:prstGeom prst="rect">
            <a:avLst/>
          </a:prstGeom>
          <a:solidFill>
            <a:srgbClr val="112244"/>
          </a:solidFill>
          <a:ln w="12700">
            <a:solidFill>
              <a:srgbClr val="0F2041"/>
            </a:solidFill>
            <a:prstDash val="solid"/>
          </a:ln>
        </p:spPr>
        <p:txBody>
          <a:bodyPr/>
          <a:lstStyle/>
          <a:p>
            <a:endParaRPr lang="en-IN"/>
          </a:p>
        </p:txBody>
      </p:sp>
      <p:sp>
        <p:nvSpPr>
          <p:cNvPr id="9" name="Text 7"/>
          <p:cNvSpPr/>
          <p:nvPr/>
        </p:nvSpPr>
        <p:spPr>
          <a:xfrm>
            <a:off x="365760" y="1627632"/>
            <a:ext cx="1097280" cy="402336"/>
          </a:xfrm>
          <a:prstGeom prst="rect">
            <a:avLst/>
          </a:prstGeom>
          <a:noFill/>
          <a:ln/>
        </p:spPr>
        <p:txBody>
          <a:bodyPr wrap="square" rtlCol="0" anchor="ctr"/>
          <a:lstStyle/>
          <a:p>
            <a:pPr marL="0" indent="0">
              <a:buNone/>
            </a:pPr>
            <a:r>
              <a:rPr lang="en-US" sz="1050" b="1" dirty="0">
                <a:solidFill>
                  <a:srgbClr val="00C8FF"/>
                </a:solidFill>
              </a:rPr>
              <a:t>CRIM</a:t>
            </a:r>
            <a:endParaRPr lang="en-US" sz="1050" dirty="0"/>
          </a:p>
        </p:txBody>
      </p:sp>
      <p:sp>
        <p:nvSpPr>
          <p:cNvPr id="10" name="Text 8"/>
          <p:cNvSpPr/>
          <p:nvPr/>
        </p:nvSpPr>
        <p:spPr>
          <a:xfrm>
            <a:off x="1508760" y="1627632"/>
            <a:ext cx="2286000" cy="402336"/>
          </a:xfrm>
          <a:prstGeom prst="rect">
            <a:avLst/>
          </a:prstGeom>
          <a:noFill/>
          <a:ln/>
        </p:spPr>
        <p:txBody>
          <a:bodyPr wrap="square" rtlCol="0" anchor="ctr"/>
          <a:lstStyle/>
          <a:p>
            <a:pPr marL="0" indent="0">
              <a:buNone/>
            </a:pPr>
            <a:r>
              <a:rPr lang="en-US" sz="1000" dirty="0">
                <a:solidFill>
                  <a:srgbClr val="E8F4FD"/>
                </a:solidFill>
              </a:rPr>
              <a:t>Crime rate</a:t>
            </a:r>
            <a:endParaRPr lang="en-US" sz="1000" dirty="0"/>
          </a:p>
        </p:txBody>
      </p:sp>
      <p:sp>
        <p:nvSpPr>
          <p:cNvPr id="11" name="Text 9"/>
          <p:cNvSpPr/>
          <p:nvPr/>
        </p:nvSpPr>
        <p:spPr>
          <a:xfrm>
            <a:off x="3822192" y="1627632"/>
            <a:ext cx="621792" cy="402336"/>
          </a:xfrm>
          <a:prstGeom prst="rect">
            <a:avLst/>
          </a:prstGeom>
          <a:noFill/>
          <a:ln/>
        </p:spPr>
        <p:txBody>
          <a:bodyPr wrap="square" rtlCol="0" anchor="ctr"/>
          <a:lstStyle/>
          <a:p>
            <a:pPr marL="0" indent="0" algn="r">
              <a:buNone/>
            </a:pPr>
            <a:r>
              <a:rPr lang="en-US" sz="950" dirty="0">
                <a:solidFill>
                  <a:srgbClr val="A0B4C8"/>
                </a:solidFill>
              </a:rPr>
              <a:t>FLOAT</a:t>
            </a:r>
            <a:endParaRPr lang="en-US" sz="950" dirty="0"/>
          </a:p>
        </p:txBody>
      </p:sp>
      <p:sp>
        <p:nvSpPr>
          <p:cNvPr id="12" name="Shape 10"/>
          <p:cNvSpPr/>
          <p:nvPr/>
        </p:nvSpPr>
        <p:spPr>
          <a:xfrm>
            <a:off x="274320" y="2075688"/>
            <a:ext cx="4206240" cy="402336"/>
          </a:xfrm>
          <a:prstGeom prst="rect">
            <a:avLst/>
          </a:prstGeom>
          <a:solidFill>
            <a:srgbClr val="0F2041"/>
          </a:solidFill>
          <a:ln w="12700">
            <a:solidFill>
              <a:srgbClr val="0F2041"/>
            </a:solidFill>
            <a:prstDash val="solid"/>
          </a:ln>
        </p:spPr>
        <p:txBody>
          <a:bodyPr/>
          <a:lstStyle/>
          <a:p>
            <a:endParaRPr lang="en-IN"/>
          </a:p>
        </p:txBody>
      </p:sp>
      <p:sp>
        <p:nvSpPr>
          <p:cNvPr id="13" name="Text 11"/>
          <p:cNvSpPr/>
          <p:nvPr/>
        </p:nvSpPr>
        <p:spPr>
          <a:xfrm>
            <a:off x="365760" y="2075688"/>
            <a:ext cx="1097280" cy="402336"/>
          </a:xfrm>
          <a:prstGeom prst="rect">
            <a:avLst/>
          </a:prstGeom>
          <a:noFill/>
          <a:ln/>
        </p:spPr>
        <p:txBody>
          <a:bodyPr wrap="square" rtlCol="0" anchor="ctr"/>
          <a:lstStyle/>
          <a:p>
            <a:pPr marL="0" indent="0">
              <a:buNone/>
            </a:pPr>
            <a:r>
              <a:rPr lang="en-US" sz="1050" b="1" dirty="0">
                <a:solidFill>
                  <a:srgbClr val="00C8FF"/>
                </a:solidFill>
              </a:rPr>
              <a:t>ZN</a:t>
            </a:r>
            <a:endParaRPr lang="en-US" sz="1050" dirty="0"/>
          </a:p>
        </p:txBody>
      </p:sp>
      <p:sp>
        <p:nvSpPr>
          <p:cNvPr id="14" name="Text 12"/>
          <p:cNvSpPr/>
          <p:nvPr/>
        </p:nvSpPr>
        <p:spPr>
          <a:xfrm>
            <a:off x="1508760" y="2075688"/>
            <a:ext cx="2286000" cy="402336"/>
          </a:xfrm>
          <a:prstGeom prst="rect">
            <a:avLst/>
          </a:prstGeom>
          <a:noFill/>
          <a:ln/>
        </p:spPr>
        <p:txBody>
          <a:bodyPr wrap="square" rtlCol="0" anchor="ctr"/>
          <a:lstStyle/>
          <a:p>
            <a:pPr marL="0" indent="0">
              <a:buNone/>
            </a:pPr>
            <a:r>
              <a:rPr lang="en-US" sz="1000" dirty="0">
                <a:solidFill>
                  <a:srgbClr val="E8F4FD"/>
                </a:solidFill>
              </a:rPr>
              <a:t>Large lot zoning %</a:t>
            </a:r>
            <a:endParaRPr lang="en-US" sz="1000" dirty="0"/>
          </a:p>
        </p:txBody>
      </p:sp>
      <p:sp>
        <p:nvSpPr>
          <p:cNvPr id="15" name="Text 13"/>
          <p:cNvSpPr/>
          <p:nvPr/>
        </p:nvSpPr>
        <p:spPr>
          <a:xfrm>
            <a:off x="3822192" y="2075688"/>
            <a:ext cx="621792" cy="402336"/>
          </a:xfrm>
          <a:prstGeom prst="rect">
            <a:avLst/>
          </a:prstGeom>
          <a:noFill/>
          <a:ln/>
        </p:spPr>
        <p:txBody>
          <a:bodyPr wrap="square" rtlCol="0" anchor="ctr"/>
          <a:lstStyle/>
          <a:p>
            <a:pPr marL="0" indent="0" algn="r">
              <a:buNone/>
            </a:pPr>
            <a:r>
              <a:rPr lang="en-US" sz="950" dirty="0">
                <a:solidFill>
                  <a:srgbClr val="A0B4C8"/>
                </a:solidFill>
              </a:rPr>
              <a:t>FLOAT</a:t>
            </a:r>
            <a:endParaRPr lang="en-US" sz="950" dirty="0"/>
          </a:p>
        </p:txBody>
      </p:sp>
      <p:sp>
        <p:nvSpPr>
          <p:cNvPr id="16" name="Shape 14"/>
          <p:cNvSpPr/>
          <p:nvPr/>
        </p:nvSpPr>
        <p:spPr>
          <a:xfrm>
            <a:off x="274320" y="2523744"/>
            <a:ext cx="4206240" cy="402336"/>
          </a:xfrm>
          <a:prstGeom prst="rect">
            <a:avLst/>
          </a:prstGeom>
          <a:solidFill>
            <a:srgbClr val="112244"/>
          </a:solidFill>
          <a:ln w="12700">
            <a:solidFill>
              <a:srgbClr val="0F2041"/>
            </a:solidFill>
            <a:prstDash val="solid"/>
          </a:ln>
        </p:spPr>
        <p:txBody>
          <a:bodyPr/>
          <a:lstStyle/>
          <a:p>
            <a:endParaRPr lang="en-IN"/>
          </a:p>
        </p:txBody>
      </p:sp>
      <p:sp>
        <p:nvSpPr>
          <p:cNvPr id="17" name="Text 15"/>
          <p:cNvSpPr/>
          <p:nvPr/>
        </p:nvSpPr>
        <p:spPr>
          <a:xfrm>
            <a:off x="365760" y="2523744"/>
            <a:ext cx="1097280" cy="402336"/>
          </a:xfrm>
          <a:prstGeom prst="rect">
            <a:avLst/>
          </a:prstGeom>
          <a:noFill/>
          <a:ln/>
        </p:spPr>
        <p:txBody>
          <a:bodyPr wrap="square" rtlCol="0" anchor="ctr"/>
          <a:lstStyle/>
          <a:p>
            <a:pPr marL="0" indent="0">
              <a:buNone/>
            </a:pPr>
            <a:r>
              <a:rPr lang="en-US" sz="1050" b="1" dirty="0">
                <a:solidFill>
                  <a:srgbClr val="00C8FF"/>
                </a:solidFill>
              </a:rPr>
              <a:t>INDUS</a:t>
            </a:r>
            <a:endParaRPr lang="en-US" sz="1050" dirty="0"/>
          </a:p>
        </p:txBody>
      </p:sp>
      <p:sp>
        <p:nvSpPr>
          <p:cNvPr id="18" name="Text 16"/>
          <p:cNvSpPr/>
          <p:nvPr/>
        </p:nvSpPr>
        <p:spPr>
          <a:xfrm>
            <a:off x="1508760" y="2523744"/>
            <a:ext cx="2286000" cy="402336"/>
          </a:xfrm>
          <a:prstGeom prst="rect">
            <a:avLst/>
          </a:prstGeom>
          <a:noFill/>
          <a:ln/>
        </p:spPr>
        <p:txBody>
          <a:bodyPr wrap="square" rtlCol="0" anchor="ctr"/>
          <a:lstStyle/>
          <a:p>
            <a:pPr marL="0" indent="0">
              <a:buNone/>
            </a:pPr>
            <a:r>
              <a:rPr lang="en-US" sz="1000" dirty="0">
                <a:solidFill>
                  <a:srgbClr val="E8F4FD"/>
                </a:solidFill>
              </a:rPr>
              <a:t>Non-retail acres %</a:t>
            </a:r>
            <a:endParaRPr lang="en-US" sz="1000" dirty="0"/>
          </a:p>
        </p:txBody>
      </p:sp>
      <p:sp>
        <p:nvSpPr>
          <p:cNvPr id="19" name="Text 17"/>
          <p:cNvSpPr/>
          <p:nvPr/>
        </p:nvSpPr>
        <p:spPr>
          <a:xfrm>
            <a:off x="3822192" y="2523744"/>
            <a:ext cx="621792" cy="402336"/>
          </a:xfrm>
          <a:prstGeom prst="rect">
            <a:avLst/>
          </a:prstGeom>
          <a:noFill/>
          <a:ln/>
        </p:spPr>
        <p:txBody>
          <a:bodyPr wrap="square" rtlCol="0" anchor="ctr"/>
          <a:lstStyle/>
          <a:p>
            <a:pPr marL="0" indent="0" algn="r">
              <a:buNone/>
            </a:pPr>
            <a:r>
              <a:rPr lang="en-US" sz="950" dirty="0">
                <a:solidFill>
                  <a:srgbClr val="A0B4C8"/>
                </a:solidFill>
              </a:rPr>
              <a:t>FLOAT</a:t>
            </a:r>
            <a:endParaRPr lang="en-US" sz="950" dirty="0"/>
          </a:p>
        </p:txBody>
      </p:sp>
      <p:sp>
        <p:nvSpPr>
          <p:cNvPr id="20" name="Shape 18"/>
          <p:cNvSpPr/>
          <p:nvPr/>
        </p:nvSpPr>
        <p:spPr>
          <a:xfrm>
            <a:off x="274320" y="2971800"/>
            <a:ext cx="4206240" cy="402336"/>
          </a:xfrm>
          <a:prstGeom prst="rect">
            <a:avLst/>
          </a:prstGeom>
          <a:solidFill>
            <a:srgbClr val="0F2041"/>
          </a:solidFill>
          <a:ln w="12700">
            <a:solidFill>
              <a:srgbClr val="0F2041"/>
            </a:solidFill>
            <a:prstDash val="solid"/>
          </a:ln>
        </p:spPr>
        <p:txBody>
          <a:bodyPr/>
          <a:lstStyle/>
          <a:p>
            <a:endParaRPr lang="en-IN"/>
          </a:p>
        </p:txBody>
      </p:sp>
      <p:sp>
        <p:nvSpPr>
          <p:cNvPr id="21" name="Text 19"/>
          <p:cNvSpPr/>
          <p:nvPr/>
        </p:nvSpPr>
        <p:spPr>
          <a:xfrm>
            <a:off x="365760" y="2971800"/>
            <a:ext cx="1097280" cy="402336"/>
          </a:xfrm>
          <a:prstGeom prst="rect">
            <a:avLst/>
          </a:prstGeom>
          <a:noFill/>
          <a:ln/>
        </p:spPr>
        <p:txBody>
          <a:bodyPr wrap="square" rtlCol="0" anchor="ctr"/>
          <a:lstStyle/>
          <a:p>
            <a:pPr marL="0" indent="0">
              <a:buNone/>
            </a:pPr>
            <a:r>
              <a:rPr lang="en-US" sz="1050" b="1" dirty="0">
                <a:solidFill>
                  <a:srgbClr val="00C8FF"/>
                </a:solidFill>
              </a:rPr>
              <a:t>CHAS</a:t>
            </a:r>
            <a:endParaRPr lang="en-US" sz="1050" dirty="0"/>
          </a:p>
        </p:txBody>
      </p:sp>
      <p:sp>
        <p:nvSpPr>
          <p:cNvPr id="22" name="Text 20"/>
          <p:cNvSpPr/>
          <p:nvPr/>
        </p:nvSpPr>
        <p:spPr>
          <a:xfrm>
            <a:off x="1508760" y="2971800"/>
            <a:ext cx="2286000" cy="402336"/>
          </a:xfrm>
          <a:prstGeom prst="rect">
            <a:avLst/>
          </a:prstGeom>
          <a:noFill/>
          <a:ln/>
        </p:spPr>
        <p:txBody>
          <a:bodyPr wrap="square" rtlCol="0" anchor="ctr"/>
          <a:lstStyle/>
          <a:p>
            <a:pPr marL="0" indent="0">
              <a:buNone/>
            </a:pPr>
            <a:r>
              <a:rPr lang="en-US" sz="1000" dirty="0">
                <a:solidFill>
                  <a:srgbClr val="E8F4FD"/>
                </a:solidFill>
              </a:rPr>
              <a:t>Charles River (1/0)</a:t>
            </a:r>
            <a:endParaRPr lang="en-US" sz="1000" dirty="0"/>
          </a:p>
        </p:txBody>
      </p:sp>
      <p:sp>
        <p:nvSpPr>
          <p:cNvPr id="23" name="Text 21"/>
          <p:cNvSpPr/>
          <p:nvPr/>
        </p:nvSpPr>
        <p:spPr>
          <a:xfrm>
            <a:off x="3822192" y="2971800"/>
            <a:ext cx="621792" cy="402336"/>
          </a:xfrm>
          <a:prstGeom prst="rect">
            <a:avLst/>
          </a:prstGeom>
          <a:noFill/>
          <a:ln/>
        </p:spPr>
        <p:txBody>
          <a:bodyPr wrap="square" rtlCol="0" anchor="ctr"/>
          <a:lstStyle/>
          <a:p>
            <a:pPr marL="0" indent="0" algn="r">
              <a:buNone/>
            </a:pPr>
            <a:r>
              <a:rPr lang="en-US" sz="950" dirty="0">
                <a:solidFill>
                  <a:srgbClr val="A0B4C8"/>
                </a:solidFill>
              </a:rPr>
              <a:t>INT</a:t>
            </a:r>
            <a:endParaRPr lang="en-US" sz="950" dirty="0"/>
          </a:p>
        </p:txBody>
      </p:sp>
      <p:sp>
        <p:nvSpPr>
          <p:cNvPr id="24" name="Shape 22"/>
          <p:cNvSpPr/>
          <p:nvPr/>
        </p:nvSpPr>
        <p:spPr>
          <a:xfrm>
            <a:off x="274320" y="3419856"/>
            <a:ext cx="4206240" cy="402336"/>
          </a:xfrm>
          <a:prstGeom prst="rect">
            <a:avLst/>
          </a:prstGeom>
          <a:solidFill>
            <a:srgbClr val="112244"/>
          </a:solidFill>
          <a:ln w="12700">
            <a:solidFill>
              <a:srgbClr val="0F2041"/>
            </a:solidFill>
            <a:prstDash val="solid"/>
          </a:ln>
        </p:spPr>
        <p:txBody>
          <a:bodyPr/>
          <a:lstStyle/>
          <a:p>
            <a:endParaRPr lang="en-IN"/>
          </a:p>
        </p:txBody>
      </p:sp>
      <p:sp>
        <p:nvSpPr>
          <p:cNvPr id="25" name="Text 23"/>
          <p:cNvSpPr/>
          <p:nvPr/>
        </p:nvSpPr>
        <p:spPr>
          <a:xfrm>
            <a:off x="365760" y="3419856"/>
            <a:ext cx="1097280" cy="402336"/>
          </a:xfrm>
          <a:prstGeom prst="rect">
            <a:avLst/>
          </a:prstGeom>
          <a:noFill/>
          <a:ln/>
        </p:spPr>
        <p:txBody>
          <a:bodyPr wrap="square" rtlCol="0" anchor="ctr"/>
          <a:lstStyle/>
          <a:p>
            <a:pPr marL="0" indent="0">
              <a:buNone/>
            </a:pPr>
            <a:r>
              <a:rPr lang="en-US" sz="1050" b="1" dirty="0">
                <a:solidFill>
                  <a:srgbClr val="00C8FF"/>
                </a:solidFill>
              </a:rPr>
              <a:t>NOX</a:t>
            </a:r>
            <a:endParaRPr lang="en-US" sz="1050" dirty="0"/>
          </a:p>
        </p:txBody>
      </p:sp>
      <p:sp>
        <p:nvSpPr>
          <p:cNvPr id="26" name="Text 24"/>
          <p:cNvSpPr/>
          <p:nvPr/>
        </p:nvSpPr>
        <p:spPr>
          <a:xfrm>
            <a:off x="1508760" y="3419856"/>
            <a:ext cx="2286000" cy="402336"/>
          </a:xfrm>
          <a:prstGeom prst="rect">
            <a:avLst/>
          </a:prstGeom>
          <a:noFill/>
          <a:ln/>
        </p:spPr>
        <p:txBody>
          <a:bodyPr wrap="square" rtlCol="0" anchor="ctr"/>
          <a:lstStyle/>
          <a:p>
            <a:pPr marL="0" indent="0">
              <a:buNone/>
            </a:pPr>
            <a:r>
              <a:rPr lang="en-US" sz="1000" dirty="0">
                <a:solidFill>
                  <a:srgbClr val="E8F4FD"/>
                </a:solidFill>
              </a:rPr>
              <a:t>Nitric oxide conc.</a:t>
            </a:r>
            <a:endParaRPr lang="en-US" sz="1000" dirty="0"/>
          </a:p>
        </p:txBody>
      </p:sp>
      <p:sp>
        <p:nvSpPr>
          <p:cNvPr id="27" name="Text 25"/>
          <p:cNvSpPr/>
          <p:nvPr/>
        </p:nvSpPr>
        <p:spPr>
          <a:xfrm>
            <a:off x="3822192" y="3419856"/>
            <a:ext cx="621792" cy="402336"/>
          </a:xfrm>
          <a:prstGeom prst="rect">
            <a:avLst/>
          </a:prstGeom>
          <a:noFill/>
          <a:ln/>
        </p:spPr>
        <p:txBody>
          <a:bodyPr wrap="square" rtlCol="0" anchor="ctr"/>
          <a:lstStyle/>
          <a:p>
            <a:pPr marL="0" indent="0" algn="r">
              <a:buNone/>
            </a:pPr>
            <a:r>
              <a:rPr lang="en-US" sz="950" dirty="0">
                <a:solidFill>
                  <a:srgbClr val="A0B4C8"/>
                </a:solidFill>
              </a:rPr>
              <a:t>FLOAT</a:t>
            </a:r>
            <a:endParaRPr lang="en-US" sz="950" dirty="0"/>
          </a:p>
        </p:txBody>
      </p:sp>
      <p:sp>
        <p:nvSpPr>
          <p:cNvPr id="28" name="Shape 26"/>
          <p:cNvSpPr/>
          <p:nvPr/>
        </p:nvSpPr>
        <p:spPr>
          <a:xfrm>
            <a:off x="274320" y="3867912"/>
            <a:ext cx="4206240" cy="402336"/>
          </a:xfrm>
          <a:prstGeom prst="rect">
            <a:avLst/>
          </a:prstGeom>
          <a:solidFill>
            <a:srgbClr val="0F2041"/>
          </a:solidFill>
          <a:ln w="12700">
            <a:solidFill>
              <a:srgbClr val="0F2041"/>
            </a:solidFill>
            <a:prstDash val="solid"/>
          </a:ln>
        </p:spPr>
        <p:txBody>
          <a:bodyPr/>
          <a:lstStyle/>
          <a:p>
            <a:endParaRPr lang="en-IN"/>
          </a:p>
        </p:txBody>
      </p:sp>
      <p:sp>
        <p:nvSpPr>
          <p:cNvPr id="29" name="Text 27"/>
          <p:cNvSpPr/>
          <p:nvPr/>
        </p:nvSpPr>
        <p:spPr>
          <a:xfrm>
            <a:off x="365760" y="3867912"/>
            <a:ext cx="1097280" cy="402336"/>
          </a:xfrm>
          <a:prstGeom prst="rect">
            <a:avLst/>
          </a:prstGeom>
          <a:noFill/>
          <a:ln/>
        </p:spPr>
        <p:txBody>
          <a:bodyPr wrap="square" rtlCol="0" anchor="ctr"/>
          <a:lstStyle/>
          <a:p>
            <a:pPr marL="0" indent="0">
              <a:buNone/>
            </a:pPr>
            <a:r>
              <a:rPr lang="en-US" sz="1050" b="1" dirty="0">
                <a:solidFill>
                  <a:srgbClr val="00C8FF"/>
                </a:solidFill>
              </a:rPr>
              <a:t>RM</a:t>
            </a:r>
            <a:endParaRPr lang="en-US" sz="1050" dirty="0"/>
          </a:p>
        </p:txBody>
      </p:sp>
      <p:sp>
        <p:nvSpPr>
          <p:cNvPr id="30" name="Text 28"/>
          <p:cNvSpPr/>
          <p:nvPr/>
        </p:nvSpPr>
        <p:spPr>
          <a:xfrm>
            <a:off x="1508760" y="3867912"/>
            <a:ext cx="2286000" cy="402336"/>
          </a:xfrm>
          <a:prstGeom prst="rect">
            <a:avLst/>
          </a:prstGeom>
          <a:noFill/>
          <a:ln/>
        </p:spPr>
        <p:txBody>
          <a:bodyPr wrap="square" rtlCol="0" anchor="ctr"/>
          <a:lstStyle/>
          <a:p>
            <a:pPr marL="0" indent="0">
              <a:buNone/>
            </a:pPr>
            <a:r>
              <a:rPr lang="en-US" sz="1000" dirty="0">
                <a:solidFill>
                  <a:srgbClr val="E8F4FD"/>
                </a:solidFill>
              </a:rPr>
              <a:t>Avg rooms/dwelling</a:t>
            </a:r>
            <a:endParaRPr lang="en-US" sz="1000" dirty="0"/>
          </a:p>
        </p:txBody>
      </p:sp>
      <p:sp>
        <p:nvSpPr>
          <p:cNvPr id="31" name="Text 29"/>
          <p:cNvSpPr/>
          <p:nvPr/>
        </p:nvSpPr>
        <p:spPr>
          <a:xfrm>
            <a:off x="3822192" y="3867912"/>
            <a:ext cx="621792" cy="402336"/>
          </a:xfrm>
          <a:prstGeom prst="rect">
            <a:avLst/>
          </a:prstGeom>
          <a:noFill/>
          <a:ln/>
        </p:spPr>
        <p:txBody>
          <a:bodyPr wrap="square" rtlCol="0" anchor="ctr"/>
          <a:lstStyle/>
          <a:p>
            <a:pPr marL="0" indent="0" algn="r">
              <a:buNone/>
            </a:pPr>
            <a:r>
              <a:rPr lang="en-US" sz="950" dirty="0">
                <a:solidFill>
                  <a:srgbClr val="A0B4C8"/>
                </a:solidFill>
              </a:rPr>
              <a:t>FLOAT</a:t>
            </a:r>
            <a:endParaRPr lang="en-US" sz="950" dirty="0"/>
          </a:p>
        </p:txBody>
      </p:sp>
      <p:sp>
        <p:nvSpPr>
          <p:cNvPr id="32" name="Shape 30"/>
          <p:cNvSpPr/>
          <p:nvPr/>
        </p:nvSpPr>
        <p:spPr>
          <a:xfrm>
            <a:off x="274320" y="4315968"/>
            <a:ext cx="4206240" cy="402336"/>
          </a:xfrm>
          <a:prstGeom prst="rect">
            <a:avLst/>
          </a:prstGeom>
          <a:solidFill>
            <a:srgbClr val="112244"/>
          </a:solidFill>
          <a:ln w="12700">
            <a:solidFill>
              <a:srgbClr val="0F2041"/>
            </a:solidFill>
            <a:prstDash val="solid"/>
          </a:ln>
        </p:spPr>
        <p:txBody>
          <a:bodyPr/>
          <a:lstStyle/>
          <a:p>
            <a:endParaRPr lang="en-IN"/>
          </a:p>
        </p:txBody>
      </p:sp>
      <p:sp>
        <p:nvSpPr>
          <p:cNvPr id="33" name="Text 31"/>
          <p:cNvSpPr/>
          <p:nvPr/>
        </p:nvSpPr>
        <p:spPr>
          <a:xfrm>
            <a:off x="365760" y="4315968"/>
            <a:ext cx="1097280" cy="402336"/>
          </a:xfrm>
          <a:prstGeom prst="rect">
            <a:avLst/>
          </a:prstGeom>
          <a:noFill/>
          <a:ln/>
        </p:spPr>
        <p:txBody>
          <a:bodyPr wrap="square" rtlCol="0" anchor="ctr"/>
          <a:lstStyle/>
          <a:p>
            <a:pPr marL="0" indent="0">
              <a:buNone/>
            </a:pPr>
            <a:r>
              <a:rPr lang="en-US" sz="1050" b="1" dirty="0">
                <a:solidFill>
                  <a:srgbClr val="00C8FF"/>
                </a:solidFill>
              </a:rPr>
              <a:t>AGE</a:t>
            </a:r>
            <a:endParaRPr lang="en-US" sz="1050" dirty="0"/>
          </a:p>
        </p:txBody>
      </p:sp>
      <p:sp>
        <p:nvSpPr>
          <p:cNvPr id="34" name="Text 32"/>
          <p:cNvSpPr/>
          <p:nvPr/>
        </p:nvSpPr>
        <p:spPr>
          <a:xfrm>
            <a:off x="1508760" y="4315968"/>
            <a:ext cx="2286000" cy="402336"/>
          </a:xfrm>
          <a:prstGeom prst="rect">
            <a:avLst/>
          </a:prstGeom>
          <a:noFill/>
          <a:ln/>
        </p:spPr>
        <p:txBody>
          <a:bodyPr wrap="square" rtlCol="0" anchor="ctr"/>
          <a:lstStyle/>
          <a:p>
            <a:pPr marL="0" indent="0">
              <a:buNone/>
            </a:pPr>
            <a:r>
              <a:rPr lang="en-US" sz="1000" dirty="0">
                <a:solidFill>
                  <a:srgbClr val="E8F4FD"/>
                </a:solidFill>
              </a:rPr>
              <a:t>Pre-1940 homes %</a:t>
            </a:r>
            <a:endParaRPr lang="en-US" sz="1000" dirty="0"/>
          </a:p>
        </p:txBody>
      </p:sp>
      <p:sp>
        <p:nvSpPr>
          <p:cNvPr id="35" name="Text 33"/>
          <p:cNvSpPr/>
          <p:nvPr/>
        </p:nvSpPr>
        <p:spPr>
          <a:xfrm>
            <a:off x="3822192" y="4315968"/>
            <a:ext cx="621792" cy="402336"/>
          </a:xfrm>
          <a:prstGeom prst="rect">
            <a:avLst/>
          </a:prstGeom>
          <a:noFill/>
          <a:ln/>
        </p:spPr>
        <p:txBody>
          <a:bodyPr wrap="square" rtlCol="0" anchor="ctr"/>
          <a:lstStyle/>
          <a:p>
            <a:pPr marL="0" indent="0" algn="r">
              <a:buNone/>
            </a:pPr>
            <a:r>
              <a:rPr lang="en-US" sz="950" dirty="0">
                <a:solidFill>
                  <a:srgbClr val="A0B4C8"/>
                </a:solidFill>
              </a:rPr>
              <a:t>FLOAT</a:t>
            </a:r>
            <a:endParaRPr lang="en-US" sz="950" dirty="0"/>
          </a:p>
        </p:txBody>
      </p:sp>
      <p:sp>
        <p:nvSpPr>
          <p:cNvPr id="36" name="Shape 34"/>
          <p:cNvSpPr/>
          <p:nvPr/>
        </p:nvSpPr>
        <p:spPr>
          <a:xfrm>
            <a:off x="4663440" y="1627632"/>
            <a:ext cx="4206240" cy="402336"/>
          </a:xfrm>
          <a:prstGeom prst="rect">
            <a:avLst/>
          </a:prstGeom>
          <a:solidFill>
            <a:srgbClr val="112244"/>
          </a:solidFill>
          <a:ln w="12700">
            <a:solidFill>
              <a:srgbClr val="0F2041"/>
            </a:solidFill>
            <a:prstDash val="solid"/>
          </a:ln>
        </p:spPr>
        <p:txBody>
          <a:bodyPr/>
          <a:lstStyle/>
          <a:p>
            <a:endParaRPr lang="en-IN"/>
          </a:p>
        </p:txBody>
      </p:sp>
      <p:sp>
        <p:nvSpPr>
          <p:cNvPr id="37" name="Text 35"/>
          <p:cNvSpPr/>
          <p:nvPr/>
        </p:nvSpPr>
        <p:spPr>
          <a:xfrm>
            <a:off x="4754880" y="1627632"/>
            <a:ext cx="1097280" cy="402336"/>
          </a:xfrm>
          <a:prstGeom prst="rect">
            <a:avLst/>
          </a:prstGeom>
          <a:noFill/>
          <a:ln/>
        </p:spPr>
        <p:txBody>
          <a:bodyPr wrap="square" rtlCol="0" anchor="ctr"/>
          <a:lstStyle/>
          <a:p>
            <a:pPr marL="0" indent="0">
              <a:buNone/>
            </a:pPr>
            <a:r>
              <a:rPr lang="en-US" sz="1050" b="1" dirty="0">
                <a:solidFill>
                  <a:srgbClr val="00C8FF"/>
                </a:solidFill>
              </a:rPr>
              <a:t>DIS</a:t>
            </a:r>
            <a:endParaRPr lang="en-US" sz="1050" dirty="0"/>
          </a:p>
        </p:txBody>
      </p:sp>
      <p:sp>
        <p:nvSpPr>
          <p:cNvPr id="38" name="Text 36"/>
          <p:cNvSpPr/>
          <p:nvPr/>
        </p:nvSpPr>
        <p:spPr>
          <a:xfrm>
            <a:off x="5897880" y="1627632"/>
            <a:ext cx="2286000" cy="402336"/>
          </a:xfrm>
          <a:prstGeom prst="rect">
            <a:avLst/>
          </a:prstGeom>
          <a:noFill/>
          <a:ln/>
        </p:spPr>
        <p:txBody>
          <a:bodyPr wrap="square" rtlCol="0" anchor="ctr"/>
          <a:lstStyle/>
          <a:p>
            <a:pPr marL="0" indent="0">
              <a:buNone/>
            </a:pPr>
            <a:r>
              <a:rPr lang="en-US" sz="1000" dirty="0">
                <a:solidFill>
                  <a:srgbClr val="E8F4FD"/>
                </a:solidFill>
              </a:rPr>
              <a:t>Dist. to employment</a:t>
            </a:r>
            <a:endParaRPr lang="en-US" sz="1000" dirty="0"/>
          </a:p>
        </p:txBody>
      </p:sp>
      <p:sp>
        <p:nvSpPr>
          <p:cNvPr id="39" name="Text 37"/>
          <p:cNvSpPr/>
          <p:nvPr/>
        </p:nvSpPr>
        <p:spPr>
          <a:xfrm>
            <a:off x="8211312" y="1627632"/>
            <a:ext cx="621792" cy="402336"/>
          </a:xfrm>
          <a:prstGeom prst="rect">
            <a:avLst/>
          </a:prstGeom>
          <a:noFill/>
          <a:ln/>
        </p:spPr>
        <p:txBody>
          <a:bodyPr wrap="square" rtlCol="0" anchor="ctr"/>
          <a:lstStyle/>
          <a:p>
            <a:pPr marL="0" indent="0" algn="r">
              <a:buNone/>
            </a:pPr>
            <a:r>
              <a:rPr lang="en-US" sz="950" dirty="0">
                <a:solidFill>
                  <a:srgbClr val="A0B4C8"/>
                </a:solidFill>
              </a:rPr>
              <a:t>FLOAT</a:t>
            </a:r>
            <a:endParaRPr lang="en-US" sz="950" dirty="0"/>
          </a:p>
        </p:txBody>
      </p:sp>
      <p:sp>
        <p:nvSpPr>
          <p:cNvPr id="40" name="Shape 38"/>
          <p:cNvSpPr/>
          <p:nvPr/>
        </p:nvSpPr>
        <p:spPr>
          <a:xfrm>
            <a:off x="4663440" y="2075688"/>
            <a:ext cx="4206240" cy="402336"/>
          </a:xfrm>
          <a:prstGeom prst="rect">
            <a:avLst/>
          </a:prstGeom>
          <a:solidFill>
            <a:srgbClr val="0F2041"/>
          </a:solidFill>
          <a:ln w="12700">
            <a:solidFill>
              <a:srgbClr val="0F2041"/>
            </a:solidFill>
            <a:prstDash val="solid"/>
          </a:ln>
        </p:spPr>
        <p:txBody>
          <a:bodyPr/>
          <a:lstStyle/>
          <a:p>
            <a:endParaRPr lang="en-IN"/>
          </a:p>
        </p:txBody>
      </p:sp>
      <p:sp>
        <p:nvSpPr>
          <p:cNvPr id="41" name="Text 39"/>
          <p:cNvSpPr/>
          <p:nvPr/>
        </p:nvSpPr>
        <p:spPr>
          <a:xfrm>
            <a:off x="4754880" y="2075688"/>
            <a:ext cx="1097280" cy="402336"/>
          </a:xfrm>
          <a:prstGeom prst="rect">
            <a:avLst/>
          </a:prstGeom>
          <a:noFill/>
          <a:ln/>
        </p:spPr>
        <p:txBody>
          <a:bodyPr wrap="square" rtlCol="0" anchor="ctr"/>
          <a:lstStyle/>
          <a:p>
            <a:pPr marL="0" indent="0">
              <a:buNone/>
            </a:pPr>
            <a:r>
              <a:rPr lang="en-US" sz="1050" b="1" dirty="0">
                <a:solidFill>
                  <a:srgbClr val="00C8FF"/>
                </a:solidFill>
              </a:rPr>
              <a:t>RAD</a:t>
            </a:r>
            <a:endParaRPr lang="en-US" sz="1050" dirty="0"/>
          </a:p>
        </p:txBody>
      </p:sp>
      <p:sp>
        <p:nvSpPr>
          <p:cNvPr id="42" name="Text 40"/>
          <p:cNvSpPr/>
          <p:nvPr/>
        </p:nvSpPr>
        <p:spPr>
          <a:xfrm>
            <a:off x="5897880" y="2075688"/>
            <a:ext cx="2286000" cy="402336"/>
          </a:xfrm>
          <a:prstGeom prst="rect">
            <a:avLst/>
          </a:prstGeom>
          <a:noFill/>
          <a:ln/>
        </p:spPr>
        <p:txBody>
          <a:bodyPr wrap="square" rtlCol="0" anchor="ctr"/>
          <a:lstStyle/>
          <a:p>
            <a:pPr marL="0" indent="0">
              <a:buNone/>
            </a:pPr>
            <a:r>
              <a:rPr lang="en-US" sz="1000" dirty="0">
                <a:solidFill>
                  <a:srgbClr val="E8F4FD"/>
                </a:solidFill>
              </a:rPr>
              <a:t>Highway access index</a:t>
            </a:r>
            <a:endParaRPr lang="en-US" sz="1000" dirty="0"/>
          </a:p>
        </p:txBody>
      </p:sp>
      <p:sp>
        <p:nvSpPr>
          <p:cNvPr id="43" name="Text 41"/>
          <p:cNvSpPr/>
          <p:nvPr/>
        </p:nvSpPr>
        <p:spPr>
          <a:xfrm>
            <a:off x="8211312" y="2075688"/>
            <a:ext cx="621792" cy="402336"/>
          </a:xfrm>
          <a:prstGeom prst="rect">
            <a:avLst/>
          </a:prstGeom>
          <a:noFill/>
          <a:ln/>
        </p:spPr>
        <p:txBody>
          <a:bodyPr wrap="square" rtlCol="0" anchor="ctr"/>
          <a:lstStyle/>
          <a:p>
            <a:pPr marL="0" indent="0" algn="r">
              <a:buNone/>
            </a:pPr>
            <a:r>
              <a:rPr lang="en-US" sz="950" dirty="0">
                <a:solidFill>
                  <a:srgbClr val="A0B4C8"/>
                </a:solidFill>
              </a:rPr>
              <a:t>INT</a:t>
            </a:r>
            <a:endParaRPr lang="en-US" sz="950" dirty="0"/>
          </a:p>
        </p:txBody>
      </p:sp>
      <p:sp>
        <p:nvSpPr>
          <p:cNvPr id="44" name="Shape 42"/>
          <p:cNvSpPr/>
          <p:nvPr/>
        </p:nvSpPr>
        <p:spPr>
          <a:xfrm>
            <a:off x="4663440" y="2523744"/>
            <a:ext cx="4206240" cy="402336"/>
          </a:xfrm>
          <a:prstGeom prst="rect">
            <a:avLst/>
          </a:prstGeom>
          <a:solidFill>
            <a:srgbClr val="112244"/>
          </a:solidFill>
          <a:ln w="12700">
            <a:solidFill>
              <a:srgbClr val="0F2041"/>
            </a:solidFill>
            <a:prstDash val="solid"/>
          </a:ln>
        </p:spPr>
        <p:txBody>
          <a:bodyPr/>
          <a:lstStyle/>
          <a:p>
            <a:endParaRPr lang="en-IN"/>
          </a:p>
        </p:txBody>
      </p:sp>
      <p:sp>
        <p:nvSpPr>
          <p:cNvPr id="45" name="Text 43"/>
          <p:cNvSpPr/>
          <p:nvPr/>
        </p:nvSpPr>
        <p:spPr>
          <a:xfrm>
            <a:off x="4754880" y="2523744"/>
            <a:ext cx="1097280" cy="402336"/>
          </a:xfrm>
          <a:prstGeom prst="rect">
            <a:avLst/>
          </a:prstGeom>
          <a:noFill/>
          <a:ln/>
        </p:spPr>
        <p:txBody>
          <a:bodyPr wrap="square" rtlCol="0" anchor="ctr"/>
          <a:lstStyle/>
          <a:p>
            <a:pPr marL="0" indent="0">
              <a:buNone/>
            </a:pPr>
            <a:r>
              <a:rPr lang="en-US" sz="1050" b="1" dirty="0">
                <a:solidFill>
                  <a:srgbClr val="00C8FF"/>
                </a:solidFill>
              </a:rPr>
              <a:t>TAX</a:t>
            </a:r>
            <a:endParaRPr lang="en-US" sz="1050" dirty="0"/>
          </a:p>
        </p:txBody>
      </p:sp>
      <p:sp>
        <p:nvSpPr>
          <p:cNvPr id="46" name="Text 44"/>
          <p:cNvSpPr/>
          <p:nvPr/>
        </p:nvSpPr>
        <p:spPr>
          <a:xfrm>
            <a:off x="5897880" y="2523744"/>
            <a:ext cx="2286000" cy="402336"/>
          </a:xfrm>
          <a:prstGeom prst="rect">
            <a:avLst/>
          </a:prstGeom>
          <a:noFill/>
          <a:ln/>
        </p:spPr>
        <p:txBody>
          <a:bodyPr wrap="square" rtlCol="0" anchor="ctr"/>
          <a:lstStyle/>
          <a:p>
            <a:pPr marL="0" indent="0">
              <a:buNone/>
            </a:pPr>
            <a:r>
              <a:rPr lang="en-US" sz="1000" dirty="0">
                <a:solidFill>
                  <a:srgbClr val="E8F4FD"/>
                </a:solidFill>
              </a:rPr>
              <a:t>Property tax rate</a:t>
            </a:r>
            <a:endParaRPr lang="en-US" sz="1000" dirty="0"/>
          </a:p>
        </p:txBody>
      </p:sp>
      <p:sp>
        <p:nvSpPr>
          <p:cNvPr id="47" name="Text 45"/>
          <p:cNvSpPr/>
          <p:nvPr/>
        </p:nvSpPr>
        <p:spPr>
          <a:xfrm>
            <a:off x="8211312" y="2523744"/>
            <a:ext cx="621792" cy="402336"/>
          </a:xfrm>
          <a:prstGeom prst="rect">
            <a:avLst/>
          </a:prstGeom>
          <a:noFill/>
          <a:ln/>
        </p:spPr>
        <p:txBody>
          <a:bodyPr wrap="square" rtlCol="0" anchor="ctr"/>
          <a:lstStyle/>
          <a:p>
            <a:pPr marL="0" indent="0" algn="r">
              <a:buNone/>
            </a:pPr>
            <a:r>
              <a:rPr lang="en-US" sz="950" dirty="0">
                <a:solidFill>
                  <a:srgbClr val="A0B4C8"/>
                </a:solidFill>
              </a:rPr>
              <a:t>FLOAT</a:t>
            </a:r>
            <a:endParaRPr lang="en-US" sz="950" dirty="0"/>
          </a:p>
        </p:txBody>
      </p:sp>
      <p:sp>
        <p:nvSpPr>
          <p:cNvPr id="48" name="Shape 46"/>
          <p:cNvSpPr/>
          <p:nvPr/>
        </p:nvSpPr>
        <p:spPr>
          <a:xfrm>
            <a:off x="4663440" y="2971800"/>
            <a:ext cx="4206240" cy="402336"/>
          </a:xfrm>
          <a:prstGeom prst="rect">
            <a:avLst/>
          </a:prstGeom>
          <a:solidFill>
            <a:srgbClr val="0F2041"/>
          </a:solidFill>
          <a:ln w="12700">
            <a:solidFill>
              <a:srgbClr val="0F2041"/>
            </a:solidFill>
            <a:prstDash val="solid"/>
          </a:ln>
        </p:spPr>
        <p:txBody>
          <a:bodyPr/>
          <a:lstStyle/>
          <a:p>
            <a:endParaRPr lang="en-IN"/>
          </a:p>
        </p:txBody>
      </p:sp>
      <p:sp>
        <p:nvSpPr>
          <p:cNvPr id="49" name="Text 47"/>
          <p:cNvSpPr/>
          <p:nvPr/>
        </p:nvSpPr>
        <p:spPr>
          <a:xfrm>
            <a:off x="4754880" y="2971800"/>
            <a:ext cx="1097280" cy="402336"/>
          </a:xfrm>
          <a:prstGeom prst="rect">
            <a:avLst/>
          </a:prstGeom>
          <a:noFill/>
          <a:ln/>
        </p:spPr>
        <p:txBody>
          <a:bodyPr wrap="square" rtlCol="0" anchor="ctr"/>
          <a:lstStyle/>
          <a:p>
            <a:pPr marL="0" indent="0">
              <a:buNone/>
            </a:pPr>
            <a:r>
              <a:rPr lang="en-US" sz="1050" b="1" dirty="0">
                <a:solidFill>
                  <a:srgbClr val="00C8FF"/>
                </a:solidFill>
              </a:rPr>
              <a:t>PTRATIO</a:t>
            </a:r>
            <a:endParaRPr lang="en-US" sz="1050" dirty="0"/>
          </a:p>
        </p:txBody>
      </p:sp>
      <p:sp>
        <p:nvSpPr>
          <p:cNvPr id="50" name="Text 48"/>
          <p:cNvSpPr/>
          <p:nvPr/>
        </p:nvSpPr>
        <p:spPr>
          <a:xfrm>
            <a:off x="5897880" y="2971800"/>
            <a:ext cx="2286000" cy="402336"/>
          </a:xfrm>
          <a:prstGeom prst="rect">
            <a:avLst/>
          </a:prstGeom>
          <a:noFill/>
          <a:ln/>
        </p:spPr>
        <p:txBody>
          <a:bodyPr wrap="square" rtlCol="0" anchor="ctr"/>
          <a:lstStyle/>
          <a:p>
            <a:pPr marL="0" indent="0">
              <a:buNone/>
            </a:pPr>
            <a:r>
              <a:rPr lang="en-US" sz="1000" dirty="0">
                <a:solidFill>
                  <a:srgbClr val="E8F4FD"/>
                </a:solidFill>
              </a:rPr>
              <a:t>Pupil–teacher ratio</a:t>
            </a:r>
            <a:endParaRPr lang="en-US" sz="1000" dirty="0"/>
          </a:p>
        </p:txBody>
      </p:sp>
      <p:sp>
        <p:nvSpPr>
          <p:cNvPr id="51" name="Text 49"/>
          <p:cNvSpPr/>
          <p:nvPr/>
        </p:nvSpPr>
        <p:spPr>
          <a:xfrm>
            <a:off x="8211312" y="2971800"/>
            <a:ext cx="621792" cy="402336"/>
          </a:xfrm>
          <a:prstGeom prst="rect">
            <a:avLst/>
          </a:prstGeom>
          <a:noFill/>
          <a:ln/>
        </p:spPr>
        <p:txBody>
          <a:bodyPr wrap="square" rtlCol="0" anchor="ctr"/>
          <a:lstStyle/>
          <a:p>
            <a:pPr marL="0" indent="0" algn="r">
              <a:buNone/>
            </a:pPr>
            <a:r>
              <a:rPr lang="en-US" sz="950" dirty="0">
                <a:solidFill>
                  <a:srgbClr val="A0B4C8"/>
                </a:solidFill>
              </a:rPr>
              <a:t>FLOAT</a:t>
            </a:r>
            <a:endParaRPr lang="en-US" sz="950" dirty="0"/>
          </a:p>
        </p:txBody>
      </p:sp>
      <p:sp>
        <p:nvSpPr>
          <p:cNvPr id="52" name="Shape 50"/>
          <p:cNvSpPr/>
          <p:nvPr/>
        </p:nvSpPr>
        <p:spPr>
          <a:xfrm>
            <a:off x="4663440" y="3419856"/>
            <a:ext cx="4206240" cy="402336"/>
          </a:xfrm>
          <a:prstGeom prst="rect">
            <a:avLst/>
          </a:prstGeom>
          <a:solidFill>
            <a:srgbClr val="112244"/>
          </a:solidFill>
          <a:ln w="12700">
            <a:solidFill>
              <a:srgbClr val="0F2041"/>
            </a:solidFill>
            <a:prstDash val="solid"/>
          </a:ln>
        </p:spPr>
        <p:txBody>
          <a:bodyPr/>
          <a:lstStyle/>
          <a:p>
            <a:endParaRPr lang="en-IN"/>
          </a:p>
        </p:txBody>
      </p:sp>
      <p:sp>
        <p:nvSpPr>
          <p:cNvPr id="53" name="Text 51"/>
          <p:cNvSpPr/>
          <p:nvPr/>
        </p:nvSpPr>
        <p:spPr>
          <a:xfrm>
            <a:off x="4754880" y="3419856"/>
            <a:ext cx="1097280" cy="402336"/>
          </a:xfrm>
          <a:prstGeom prst="rect">
            <a:avLst/>
          </a:prstGeom>
          <a:noFill/>
          <a:ln/>
        </p:spPr>
        <p:txBody>
          <a:bodyPr wrap="square" rtlCol="0" anchor="ctr"/>
          <a:lstStyle/>
          <a:p>
            <a:pPr marL="0" indent="0">
              <a:buNone/>
            </a:pPr>
            <a:r>
              <a:rPr lang="en-US" sz="1050" b="1" dirty="0">
                <a:solidFill>
                  <a:srgbClr val="00C8FF"/>
                </a:solidFill>
              </a:rPr>
              <a:t>LSTAT</a:t>
            </a:r>
            <a:endParaRPr lang="en-US" sz="1050" dirty="0"/>
          </a:p>
        </p:txBody>
      </p:sp>
      <p:sp>
        <p:nvSpPr>
          <p:cNvPr id="54" name="Text 52"/>
          <p:cNvSpPr/>
          <p:nvPr/>
        </p:nvSpPr>
        <p:spPr>
          <a:xfrm>
            <a:off x="5897880" y="3419856"/>
            <a:ext cx="2286000" cy="402336"/>
          </a:xfrm>
          <a:prstGeom prst="rect">
            <a:avLst/>
          </a:prstGeom>
          <a:noFill/>
          <a:ln/>
        </p:spPr>
        <p:txBody>
          <a:bodyPr wrap="square" rtlCol="0" anchor="ctr"/>
          <a:lstStyle/>
          <a:p>
            <a:pPr marL="0" indent="0">
              <a:buNone/>
            </a:pPr>
            <a:r>
              <a:rPr lang="en-US" sz="1000" dirty="0">
                <a:solidFill>
                  <a:srgbClr val="E8F4FD"/>
                </a:solidFill>
              </a:rPr>
              <a:t>% lower status pop.</a:t>
            </a:r>
            <a:endParaRPr lang="en-US" sz="1000" dirty="0"/>
          </a:p>
        </p:txBody>
      </p:sp>
      <p:sp>
        <p:nvSpPr>
          <p:cNvPr id="55" name="Text 53"/>
          <p:cNvSpPr/>
          <p:nvPr/>
        </p:nvSpPr>
        <p:spPr>
          <a:xfrm>
            <a:off x="8211312" y="3419856"/>
            <a:ext cx="621792" cy="402336"/>
          </a:xfrm>
          <a:prstGeom prst="rect">
            <a:avLst/>
          </a:prstGeom>
          <a:noFill/>
          <a:ln/>
        </p:spPr>
        <p:txBody>
          <a:bodyPr wrap="square" rtlCol="0" anchor="ctr"/>
          <a:lstStyle/>
          <a:p>
            <a:pPr marL="0" indent="0" algn="r">
              <a:buNone/>
            </a:pPr>
            <a:r>
              <a:rPr lang="en-US" sz="950" dirty="0">
                <a:solidFill>
                  <a:srgbClr val="A0B4C8"/>
                </a:solidFill>
              </a:rPr>
              <a:t>FLOAT</a:t>
            </a:r>
            <a:endParaRPr lang="en-US" sz="950" dirty="0"/>
          </a:p>
        </p:txBody>
      </p:sp>
      <p:sp>
        <p:nvSpPr>
          <p:cNvPr id="56" name="Shape 54"/>
          <p:cNvSpPr/>
          <p:nvPr/>
        </p:nvSpPr>
        <p:spPr>
          <a:xfrm>
            <a:off x="4663440" y="3867912"/>
            <a:ext cx="4206240" cy="402336"/>
          </a:xfrm>
          <a:prstGeom prst="rect">
            <a:avLst/>
          </a:prstGeom>
          <a:solidFill>
            <a:srgbClr val="0F2041"/>
          </a:solidFill>
          <a:ln w="12700">
            <a:solidFill>
              <a:srgbClr val="0F2041"/>
            </a:solidFill>
            <a:prstDash val="solid"/>
          </a:ln>
        </p:spPr>
        <p:txBody>
          <a:bodyPr/>
          <a:lstStyle/>
          <a:p>
            <a:endParaRPr lang="en-IN"/>
          </a:p>
        </p:txBody>
      </p:sp>
      <p:sp>
        <p:nvSpPr>
          <p:cNvPr id="57" name="Text 55"/>
          <p:cNvSpPr/>
          <p:nvPr/>
        </p:nvSpPr>
        <p:spPr>
          <a:xfrm>
            <a:off x="4754880" y="3867912"/>
            <a:ext cx="1097280" cy="402336"/>
          </a:xfrm>
          <a:prstGeom prst="rect">
            <a:avLst/>
          </a:prstGeom>
          <a:noFill/>
          <a:ln/>
        </p:spPr>
        <p:txBody>
          <a:bodyPr wrap="square" rtlCol="0" anchor="ctr"/>
          <a:lstStyle/>
          <a:p>
            <a:pPr marL="0" indent="0">
              <a:buNone/>
            </a:pPr>
            <a:r>
              <a:rPr lang="en-US" sz="1050" b="1" dirty="0">
                <a:solidFill>
                  <a:srgbClr val="00C8FF"/>
                </a:solidFill>
              </a:rPr>
              <a:t>MEDV</a:t>
            </a:r>
            <a:endParaRPr lang="en-US" sz="1050" dirty="0"/>
          </a:p>
        </p:txBody>
      </p:sp>
      <p:sp>
        <p:nvSpPr>
          <p:cNvPr id="58" name="Text 56"/>
          <p:cNvSpPr/>
          <p:nvPr/>
        </p:nvSpPr>
        <p:spPr>
          <a:xfrm>
            <a:off x="5897880" y="3867912"/>
            <a:ext cx="2286000" cy="402336"/>
          </a:xfrm>
          <a:prstGeom prst="rect">
            <a:avLst/>
          </a:prstGeom>
          <a:noFill/>
          <a:ln/>
        </p:spPr>
        <p:txBody>
          <a:bodyPr wrap="square" rtlCol="0" anchor="ctr"/>
          <a:lstStyle/>
          <a:p>
            <a:pPr marL="0" indent="0">
              <a:buNone/>
            </a:pPr>
            <a:r>
              <a:rPr lang="en-US" sz="1000" dirty="0">
                <a:solidFill>
                  <a:srgbClr val="E8F4FD"/>
                </a:solidFill>
              </a:rPr>
              <a:t>Median home value $K  ⭐ TARGET</a:t>
            </a:r>
            <a:endParaRPr lang="en-US" sz="1000" dirty="0"/>
          </a:p>
        </p:txBody>
      </p:sp>
      <p:sp>
        <p:nvSpPr>
          <p:cNvPr id="59" name="Text 57"/>
          <p:cNvSpPr/>
          <p:nvPr/>
        </p:nvSpPr>
        <p:spPr>
          <a:xfrm>
            <a:off x="8211312" y="3867912"/>
            <a:ext cx="621792" cy="402336"/>
          </a:xfrm>
          <a:prstGeom prst="rect">
            <a:avLst/>
          </a:prstGeom>
          <a:noFill/>
          <a:ln/>
        </p:spPr>
        <p:txBody>
          <a:bodyPr wrap="square" rtlCol="0" anchor="ctr"/>
          <a:lstStyle/>
          <a:p>
            <a:pPr marL="0" indent="0" algn="r">
              <a:buNone/>
            </a:pPr>
            <a:r>
              <a:rPr lang="en-US" sz="950" dirty="0">
                <a:solidFill>
                  <a:srgbClr val="A0B4C8"/>
                </a:solidFill>
              </a:rPr>
              <a:t>FLOAT</a:t>
            </a:r>
            <a:endParaRPr lang="en-US" sz="950" dirty="0"/>
          </a:p>
        </p:txBody>
      </p:sp>
    </p:spTree>
    <p:extLst>
      <p:ext uri="{BB962C8B-B14F-4D97-AF65-F5344CB8AC3E}">
        <p14:creationId xmlns:p14="http://schemas.microsoft.com/office/powerpoint/2010/main" val="3861518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1 · NL-TO-SQL DEMO</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NL-to-SQL — Queries 1 to 5</a:t>
            </a:r>
            <a:endParaRPr lang="en-US" sz="2200" dirty="0"/>
          </a:p>
        </p:txBody>
      </p:sp>
      <p:sp>
        <p:nvSpPr>
          <p:cNvPr id="6" name="Shape 4"/>
          <p:cNvSpPr/>
          <p:nvPr/>
        </p:nvSpPr>
        <p:spPr>
          <a:xfrm>
            <a:off x="274320" y="1005840"/>
            <a:ext cx="2761488" cy="2029968"/>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7" name="Shape 5"/>
          <p:cNvSpPr/>
          <p:nvPr/>
        </p:nvSpPr>
        <p:spPr>
          <a:xfrm>
            <a:off x="365760" y="1097280"/>
            <a:ext cx="420624" cy="420624"/>
          </a:xfrm>
          <a:prstGeom prst="ellipse">
            <a:avLst/>
          </a:prstGeom>
          <a:solidFill>
            <a:srgbClr val="00C8FF"/>
          </a:solidFill>
          <a:ln w="12700">
            <a:solidFill>
              <a:srgbClr val="00C8FF"/>
            </a:solidFill>
            <a:prstDash val="solid"/>
          </a:ln>
        </p:spPr>
        <p:txBody>
          <a:bodyPr/>
          <a:lstStyle/>
          <a:p>
            <a:endParaRPr lang="en-IN"/>
          </a:p>
        </p:txBody>
      </p:sp>
      <p:sp>
        <p:nvSpPr>
          <p:cNvPr id="8" name="Text 6"/>
          <p:cNvSpPr/>
          <p:nvPr/>
        </p:nvSpPr>
        <p:spPr>
          <a:xfrm>
            <a:off x="365760" y="1097280"/>
            <a:ext cx="420624" cy="420624"/>
          </a:xfrm>
          <a:prstGeom prst="rect">
            <a:avLst/>
          </a:prstGeom>
          <a:noFill/>
          <a:ln/>
        </p:spPr>
        <p:txBody>
          <a:bodyPr wrap="square" rtlCol="0" anchor="ctr"/>
          <a:lstStyle/>
          <a:p>
            <a:pPr marL="0" indent="0" algn="ctr">
              <a:buNone/>
            </a:pPr>
            <a:r>
              <a:rPr lang="en-US" sz="1100" b="1" dirty="0">
                <a:solidFill>
                  <a:srgbClr val="0A1628"/>
                </a:solidFill>
              </a:rPr>
              <a:t>1</a:t>
            </a:r>
            <a:endParaRPr lang="en-US" sz="1100" dirty="0"/>
          </a:p>
        </p:txBody>
      </p:sp>
      <p:sp>
        <p:nvSpPr>
          <p:cNvPr id="9" name="Text 7"/>
          <p:cNvSpPr/>
          <p:nvPr/>
        </p:nvSpPr>
        <p:spPr>
          <a:xfrm>
            <a:off x="877824" y="1115568"/>
            <a:ext cx="2066544" cy="384048"/>
          </a:xfrm>
          <a:prstGeom prst="rect">
            <a:avLst/>
          </a:prstGeom>
          <a:noFill/>
          <a:ln/>
        </p:spPr>
        <p:txBody>
          <a:bodyPr wrap="square" rtlCol="0" anchor="ctr"/>
          <a:lstStyle/>
          <a:p>
            <a:pPr marL="0" indent="0">
              <a:buNone/>
            </a:pPr>
            <a:r>
              <a:rPr lang="en-US" sz="1050" b="1" dirty="0">
                <a:solidFill>
                  <a:srgbClr val="00C8FF"/>
                </a:solidFill>
              </a:rPr>
              <a:t>What are the column names?</a:t>
            </a:r>
            <a:endParaRPr lang="en-US" sz="1050" dirty="0"/>
          </a:p>
        </p:txBody>
      </p:sp>
      <p:sp>
        <p:nvSpPr>
          <p:cNvPr id="10" name="Shape 8"/>
          <p:cNvSpPr/>
          <p:nvPr/>
        </p:nvSpPr>
        <p:spPr>
          <a:xfrm>
            <a:off x="365760" y="1554480"/>
            <a:ext cx="2578608" cy="1389888"/>
          </a:xfrm>
          <a:prstGeom prst="rect">
            <a:avLst/>
          </a:prstGeom>
          <a:solidFill>
            <a:srgbClr val="0A1628"/>
          </a:solidFill>
          <a:ln w="12700">
            <a:solidFill>
              <a:srgbClr val="00C8FF"/>
            </a:solidFill>
            <a:prstDash val="solid"/>
          </a:ln>
        </p:spPr>
        <p:txBody>
          <a:bodyPr/>
          <a:lstStyle/>
          <a:p>
            <a:endParaRPr lang="en-IN"/>
          </a:p>
        </p:txBody>
      </p:sp>
      <p:sp>
        <p:nvSpPr>
          <p:cNvPr id="11" name="Text 9"/>
          <p:cNvSpPr/>
          <p:nvPr/>
        </p:nvSpPr>
        <p:spPr>
          <a:xfrm>
            <a:off x="438912" y="1591056"/>
            <a:ext cx="2432304" cy="1316736"/>
          </a:xfrm>
          <a:prstGeom prst="rect">
            <a:avLst/>
          </a:prstGeom>
          <a:noFill/>
          <a:ln/>
        </p:spPr>
        <p:txBody>
          <a:bodyPr wrap="square" rtlCol="0" anchor="ctr"/>
          <a:lstStyle/>
          <a:p>
            <a:pPr marL="0" indent="0">
              <a:buNone/>
            </a:pPr>
            <a:r>
              <a:rPr lang="en-US" sz="900" dirty="0">
                <a:solidFill>
                  <a:srgbClr val="00C8FF"/>
                </a:solidFill>
                <a:latin typeface="Consolas" pitchFamily="34" charset="0"/>
                <a:ea typeface="Consolas" pitchFamily="34" charset="-122"/>
                <a:cs typeface="Consolas" pitchFamily="34" charset="-120"/>
              </a:rPr>
              <a:t>SELECT column_name</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FROM information_schema.columns</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WHERE table_name = 'Boston_house_prices';</a:t>
            </a:r>
            <a:endParaRPr lang="en-US" sz="900" dirty="0"/>
          </a:p>
        </p:txBody>
      </p:sp>
      <p:sp>
        <p:nvSpPr>
          <p:cNvPr id="12" name="Shape 10"/>
          <p:cNvSpPr/>
          <p:nvPr/>
        </p:nvSpPr>
        <p:spPr>
          <a:xfrm>
            <a:off x="3182112" y="1005840"/>
            <a:ext cx="2761488" cy="2029968"/>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13" name="Shape 11"/>
          <p:cNvSpPr/>
          <p:nvPr/>
        </p:nvSpPr>
        <p:spPr>
          <a:xfrm>
            <a:off x="3273552" y="1097280"/>
            <a:ext cx="420624" cy="420624"/>
          </a:xfrm>
          <a:prstGeom prst="ellipse">
            <a:avLst/>
          </a:prstGeom>
          <a:solidFill>
            <a:srgbClr val="7B5EA7"/>
          </a:solidFill>
          <a:ln w="12700">
            <a:solidFill>
              <a:srgbClr val="7B5EA7"/>
            </a:solidFill>
            <a:prstDash val="solid"/>
          </a:ln>
        </p:spPr>
        <p:txBody>
          <a:bodyPr/>
          <a:lstStyle/>
          <a:p>
            <a:endParaRPr lang="en-IN"/>
          </a:p>
        </p:txBody>
      </p:sp>
      <p:sp>
        <p:nvSpPr>
          <p:cNvPr id="14" name="Text 12"/>
          <p:cNvSpPr/>
          <p:nvPr/>
        </p:nvSpPr>
        <p:spPr>
          <a:xfrm>
            <a:off x="3273552" y="1097280"/>
            <a:ext cx="420624" cy="420624"/>
          </a:xfrm>
          <a:prstGeom prst="rect">
            <a:avLst/>
          </a:prstGeom>
          <a:noFill/>
          <a:ln/>
        </p:spPr>
        <p:txBody>
          <a:bodyPr wrap="square" rtlCol="0" anchor="ctr"/>
          <a:lstStyle/>
          <a:p>
            <a:pPr marL="0" indent="0" algn="ctr">
              <a:buNone/>
            </a:pPr>
            <a:r>
              <a:rPr lang="en-US" sz="1100" b="1" dirty="0">
                <a:solidFill>
                  <a:srgbClr val="0A1628"/>
                </a:solidFill>
              </a:rPr>
              <a:t>2</a:t>
            </a:r>
            <a:endParaRPr lang="en-US" sz="1100" dirty="0"/>
          </a:p>
        </p:txBody>
      </p:sp>
      <p:sp>
        <p:nvSpPr>
          <p:cNvPr id="15" name="Text 13"/>
          <p:cNvSpPr/>
          <p:nvPr/>
        </p:nvSpPr>
        <p:spPr>
          <a:xfrm>
            <a:off x="3785616" y="1115568"/>
            <a:ext cx="2066544" cy="384048"/>
          </a:xfrm>
          <a:prstGeom prst="rect">
            <a:avLst/>
          </a:prstGeom>
          <a:noFill/>
          <a:ln/>
        </p:spPr>
        <p:txBody>
          <a:bodyPr wrap="square" rtlCol="0" anchor="ctr"/>
          <a:lstStyle/>
          <a:p>
            <a:pPr marL="0" indent="0">
              <a:buNone/>
            </a:pPr>
            <a:r>
              <a:rPr lang="en-US" sz="1050" b="1" dirty="0">
                <a:solidFill>
                  <a:srgbClr val="7B5EA7"/>
                </a:solidFill>
              </a:rPr>
              <a:t>How many rows are in the dataset?</a:t>
            </a:r>
            <a:endParaRPr lang="en-US" sz="1050" dirty="0"/>
          </a:p>
        </p:txBody>
      </p:sp>
      <p:sp>
        <p:nvSpPr>
          <p:cNvPr id="16" name="Shape 14"/>
          <p:cNvSpPr/>
          <p:nvPr/>
        </p:nvSpPr>
        <p:spPr>
          <a:xfrm>
            <a:off x="3273552" y="1554480"/>
            <a:ext cx="2578608" cy="1389888"/>
          </a:xfrm>
          <a:prstGeom prst="rect">
            <a:avLst/>
          </a:prstGeom>
          <a:solidFill>
            <a:srgbClr val="0A1628"/>
          </a:solidFill>
          <a:ln w="12700">
            <a:solidFill>
              <a:srgbClr val="7B5EA7"/>
            </a:solidFill>
            <a:prstDash val="solid"/>
          </a:ln>
        </p:spPr>
        <p:txBody>
          <a:bodyPr/>
          <a:lstStyle/>
          <a:p>
            <a:endParaRPr lang="en-IN"/>
          </a:p>
        </p:txBody>
      </p:sp>
      <p:sp>
        <p:nvSpPr>
          <p:cNvPr id="17" name="Text 15"/>
          <p:cNvSpPr/>
          <p:nvPr/>
        </p:nvSpPr>
        <p:spPr>
          <a:xfrm>
            <a:off x="3346704" y="1591056"/>
            <a:ext cx="2432304" cy="1316736"/>
          </a:xfrm>
          <a:prstGeom prst="rect">
            <a:avLst/>
          </a:prstGeom>
          <a:noFill/>
          <a:ln/>
        </p:spPr>
        <p:txBody>
          <a:bodyPr wrap="square" rtlCol="0" anchor="ctr"/>
          <a:lstStyle/>
          <a:p>
            <a:pPr marL="0" indent="0">
              <a:buNone/>
            </a:pPr>
            <a:r>
              <a:rPr lang="en-US" sz="900" dirty="0">
                <a:solidFill>
                  <a:srgbClr val="00C8FF"/>
                </a:solidFill>
                <a:latin typeface="Consolas" pitchFamily="34" charset="0"/>
                <a:ea typeface="Consolas" pitchFamily="34" charset="-122"/>
                <a:cs typeface="Consolas" pitchFamily="34" charset="-120"/>
              </a:rPr>
              <a:t>SELECT COUNT(*)</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FROM Boston_house_prices;</a:t>
            </a:r>
            <a:endParaRPr lang="en-US" sz="900" dirty="0"/>
          </a:p>
        </p:txBody>
      </p:sp>
      <p:sp>
        <p:nvSpPr>
          <p:cNvPr id="18" name="Shape 16"/>
          <p:cNvSpPr/>
          <p:nvPr/>
        </p:nvSpPr>
        <p:spPr>
          <a:xfrm>
            <a:off x="6089904" y="1005840"/>
            <a:ext cx="2761488" cy="2029968"/>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19" name="Shape 17"/>
          <p:cNvSpPr/>
          <p:nvPr/>
        </p:nvSpPr>
        <p:spPr>
          <a:xfrm>
            <a:off x="6181344" y="1097280"/>
            <a:ext cx="420624" cy="420624"/>
          </a:xfrm>
          <a:prstGeom prst="ellipse">
            <a:avLst/>
          </a:prstGeom>
          <a:solidFill>
            <a:srgbClr val="00E5A0"/>
          </a:solidFill>
          <a:ln w="12700">
            <a:solidFill>
              <a:srgbClr val="00E5A0"/>
            </a:solidFill>
            <a:prstDash val="solid"/>
          </a:ln>
        </p:spPr>
        <p:txBody>
          <a:bodyPr/>
          <a:lstStyle/>
          <a:p>
            <a:endParaRPr lang="en-IN"/>
          </a:p>
        </p:txBody>
      </p:sp>
      <p:sp>
        <p:nvSpPr>
          <p:cNvPr id="20" name="Text 18"/>
          <p:cNvSpPr/>
          <p:nvPr/>
        </p:nvSpPr>
        <p:spPr>
          <a:xfrm>
            <a:off x="6181344" y="1097280"/>
            <a:ext cx="420624" cy="420624"/>
          </a:xfrm>
          <a:prstGeom prst="rect">
            <a:avLst/>
          </a:prstGeom>
          <a:noFill/>
          <a:ln/>
        </p:spPr>
        <p:txBody>
          <a:bodyPr wrap="square" rtlCol="0" anchor="ctr"/>
          <a:lstStyle/>
          <a:p>
            <a:pPr marL="0" indent="0" algn="ctr">
              <a:buNone/>
            </a:pPr>
            <a:r>
              <a:rPr lang="en-US" sz="1100" b="1" dirty="0">
                <a:solidFill>
                  <a:srgbClr val="0A1628"/>
                </a:solidFill>
              </a:rPr>
              <a:t>3</a:t>
            </a:r>
            <a:endParaRPr lang="en-US" sz="1100" dirty="0"/>
          </a:p>
        </p:txBody>
      </p:sp>
      <p:sp>
        <p:nvSpPr>
          <p:cNvPr id="21" name="Text 19"/>
          <p:cNvSpPr/>
          <p:nvPr/>
        </p:nvSpPr>
        <p:spPr>
          <a:xfrm>
            <a:off x="6693408" y="1115568"/>
            <a:ext cx="2066544" cy="384048"/>
          </a:xfrm>
          <a:prstGeom prst="rect">
            <a:avLst/>
          </a:prstGeom>
          <a:noFill/>
          <a:ln/>
        </p:spPr>
        <p:txBody>
          <a:bodyPr wrap="square" rtlCol="0" anchor="ctr"/>
          <a:lstStyle/>
          <a:p>
            <a:pPr marL="0" indent="0">
              <a:buNone/>
            </a:pPr>
            <a:r>
              <a:rPr lang="en-US" sz="1050" b="1" dirty="0">
                <a:solidFill>
                  <a:srgbClr val="00E5A0"/>
                </a:solidFill>
              </a:rPr>
              <a:t>What is the average age?</a:t>
            </a:r>
            <a:endParaRPr lang="en-US" sz="1050" dirty="0"/>
          </a:p>
        </p:txBody>
      </p:sp>
      <p:sp>
        <p:nvSpPr>
          <p:cNvPr id="22" name="Shape 20"/>
          <p:cNvSpPr/>
          <p:nvPr/>
        </p:nvSpPr>
        <p:spPr>
          <a:xfrm>
            <a:off x="6181344" y="1554480"/>
            <a:ext cx="2578608" cy="1389888"/>
          </a:xfrm>
          <a:prstGeom prst="rect">
            <a:avLst/>
          </a:prstGeom>
          <a:solidFill>
            <a:srgbClr val="0A1628"/>
          </a:solidFill>
          <a:ln w="12700">
            <a:solidFill>
              <a:srgbClr val="00E5A0"/>
            </a:solidFill>
            <a:prstDash val="solid"/>
          </a:ln>
        </p:spPr>
        <p:txBody>
          <a:bodyPr/>
          <a:lstStyle/>
          <a:p>
            <a:endParaRPr lang="en-IN"/>
          </a:p>
        </p:txBody>
      </p:sp>
      <p:sp>
        <p:nvSpPr>
          <p:cNvPr id="23" name="Text 21"/>
          <p:cNvSpPr/>
          <p:nvPr/>
        </p:nvSpPr>
        <p:spPr>
          <a:xfrm>
            <a:off x="6254496" y="1591056"/>
            <a:ext cx="2432304" cy="1316736"/>
          </a:xfrm>
          <a:prstGeom prst="rect">
            <a:avLst/>
          </a:prstGeom>
          <a:noFill/>
          <a:ln/>
        </p:spPr>
        <p:txBody>
          <a:bodyPr wrap="square" rtlCol="0" anchor="ctr"/>
          <a:lstStyle/>
          <a:p>
            <a:pPr marL="0" indent="0">
              <a:buNone/>
            </a:pPr>
            <a:r>
              <a:rPr lang="en-US" sz="900" dirty="0">
                <a:solidFill>
                  <a:srgbClr val="00C8FF"/>
                </a:solidFill>
                <a:latin typeface="Consolas" pitchFamily="34" charset="0"/>
                <a:ea typeface="Consolas" pitchFamily="34" charset="-122"/>
                <a:cs typeface="Consolas" pitchFamily="34" charset="-120"/>
              </a:rPr>
              <a:t>SELECT AVG(age)</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FROM Boston_house_prices;</a:t>
            </a:r>
            <a:endParaRPr lang="en-US" sz="900" dirty="0"/>
          </a:p>
        </p:txBody>
      </p:sp>
      <p:sp>
        <p:nvSpPr>
          <p:cNvPr id="24" name="Shape 22"/>
          <p:cNvSpPr/>
          <p:nvPr/>
        </p:nvSpPr>
        <p:spPr>
          <a:xfrm>
            <a:off x="274320" y="3182112"/>
            <a:ext cx="4187952" cy="2029968"/>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25" name="Shape 23"/>
          <p:cNvSpPr/>
          <p:nvPr/>
        </p:nvSpPr>
        <p:spPr>
          <a:xfrm>
            <a:off x="365760" y="3273552"/>
            <a:ext cx="420624" cy="420624"/>
          </a:xfrm>
          <a:prstGeom prst="ellipse">
            <a:avLst/>
          </a:prstGeom>
          <a:solidFill>
            <a:srgbClr val="FFD166"/>
          </a:solidFill>
          <a:ln w="12700">
            <a:solidFill>
              <a:srgbClr val="FFD166"/>
            </a:solidFill>
            <a:prstDash val="solid"/>
          </a:ln>
        </p:spPr>
        <p:txBody>
          <a:bodyPr/>
          <a:lstStyle/>
          <a:p>
            <a:endParaRPr lang="en-IN"/>
          </a:p>
        </p:txBody>
      </p:sp>
      <p:sp>
        <p:nvSpPr>
          <p:cNvPr id="26" name="Text 24"/>
          <p:cNvSpPr/>
          <p:nvPr/>
        </p:nvSpPr>
        <p:spPr>
          <a:xfrm>
            <a:off x="365760" y="3273552"/>
            <a:ext cx="420624" cy="420624"/>
          </a:xfrm>
          <a:prstGeom prst="rect">
            <a:avLst/>
          </a:prstGeom>
          <a:noFill/>
          <a:ln/>
        </p:spPr>
        <p:txBody>
          <a:bodyPr wrap="square" rtlCol="0" anchor="ctr"/>
          <a:lstStyle/>
          <a:p>
            <a:pPr marL="0" indent="0" algn="ctr">
              <a:buNone/>
            </a:pPr>
            <a:r>
              <a:rPr lang="en-US" sz="1100" b="1" dirty="0">
                <a:solidFill>
                  <a:srgbClr val="0A1628"/>
                </a:solidFill>
              </a:rPr>
              <a:t>4</a:t>
            </a:r>
            <a:endParaRPr lang="en-US" sz="1100" dirty="0"/>
          </a:p>
        </p:txBody>
      </p:sp>
      <p:sp>
        <p:nvSpPr>
          <p:cNvPr id="27" name="Text 25"/>
          <p:cNvSpPr/>
          <p:nvPr/>
        </p:nvSpPr>
        <p:spPr>
          <a:xfrm>
            <a:off x="877824" y="3291840"/>
            <a:ext cx="3493008" cy="384048"/>
          </a:xfrm>
          <a:prstGeom prst="rect">
            <a:avLst/>
          </a:prstGeom>
          <a:noFill/>
          <a:ln/>
        </p:spPr>
        <p:txBody>
          <a:bodyPr wrap="square" rtlCol="0" anchor="ctr"/>
          <a:lstStyle/>
          <a:p>
            <a:pPr marL="0" indent="0">
              <a:buNone/>
            </a:pPr>
            <a:r>
              <a:rPr lang="en-US" sz="1050" b="1" dirty="0">
                <a:solidFill>
                  <a:srgbClr val="FFD166"/>
                </a:solidFill>
              </a:rPr>
              <a:t>Find rows where tax is between 210 and 250.</a:t>
            </a:r>
            <a:endParaRPr lang="en-US" sz="1050" dirty="0"/>
          </a:p>
        </p:txBody>
      </p:sp>
      <p:sp>
        <p:nvSpPr>
          <p:cNvPr id="28" name="Shape 26"/>
          <p:cNvSpPr/>
          <p:nvPr/>
        </p:nvSpPr>
        <p:spPr>
          <a:xfrm>
            <a:off x="365760" y="3730752"/>
            <a:ext cx="4005072" cy="1389888"/>
          </a:xfrm>
          <a:prstGeom prst="rect">
            <a:avLst/>
          </a:prstGeom>
          <a:solidFill>
            <a:srgbClr val="0A1628"/>
          </a:solidFill>
          <a:ln w="12700">
            <a:solidFill>
              <a:srgbClr val="FFD166"/>
            </a:solidFill>
            <a:prstDash val="solid"/>
          </a:ln>
        </p:spPr>
        <p:txBody>
          <a:bodyPr/>
          <a:lstStyle/>
          <a:p>
            <a:endParaRPr lang="en-IN"/>
          </a:p>
        </p:txBody>
      </p:sp>
      <p:sp>
        <p:nvSpPr>
          <p:cNvPr id="29" name="Text 27"/>
          <p:cNvSpPr/>
          <p:nvPr/>
        </p:nvSpPr>
        <p:spPr>
          <a:xfrm>
            <a:off x="438912" y="3767328"/>
            <a:ext cx="3858768" cy="1316736"/>
          </a:xfrm>
          <a:prstGeom prst="rect">
            <a:avLst/>
          </a:prstGeom>
          <a:noFill/>
          <a:ln/>
        </p:spPr>
        <p:txBody>
          <a:bodyPr wrap="square" rtlCol="0" anchor="ctr"/>
          <a:lstStyle/>
          <a:p>
            <a:pPr marL="0" indent="0">
              <a:buNone/>
            </a:pPr>
            <a:r>
              <a:rPr lang="en-US" sz="900" dirty="0">
                <a:solidFill>
                  <a:srgbClr val="00C8FF"/>
                </a:solidFill>
                <a:latin typeface="Consolas" pitchFamily="34" charset="0"/>
                <a:ea typeface="Consolas" pitchFamily="34" charset="-122"/>
                <a:cs typeface="Consolas" pitchFamily="34" charset="-120"/>
              </a:rPr>
              <a:t>SELECT * FROM Boston_house_prices</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WHERE tax &gt;= 210 AND tax &lt;= 250;</a:t>
            </a:r>
            <a:endParaRPr lang="en-US" sz="900" dirty="0"/>
          </a:p>
        </p:txBody>
      </p:sp>
      <p:sp>
        <p:nvSpPr>
          <p:cNvPr id="30" name="Shape 28"/>
          <p:cNvSpPr/>
          <p:nvPr/>
        </p:nvSpPr>
        <p:spPr>
          <a:xfrm>
            <a:off x="4645152" y="3182112"/>
            <a:ext cx="4187952" cy="2029968"/>
          </a:xfrm>
          <a:prstGeom prst="rect">
            <a:avLst/>
          </a:prstGeom>
          <a:solidFill>
            <a:srgbClr val="1122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IN"/>
          </a:p>
        </p:txBody>
      </p:sp>
      <p:sp>
        <p:nvSpPr>
          <p:cNvPr id="31" name="Shape 29"/>
          <p:cNvSpPr/>
          <p:nvPr/>
        </p:nvSpPr>
        <p:spPr>
          <a:xfrm>
            <a:off x="4736592" y="3273552"/>
            <a:ext cx="420624" cy="420624"/>
          </a:xfrm>
          <a:prstGeom prst="ellipse">
            <a:avLst/>
          </a:prstGeom>
          <a:solidFill>
            <a:srgbClr val="FF6B6B"/>
          </a:solidFill>
          <a:ln w="12700">
            <a:solidFill>
              <a:srgbClr val="FF6B6B"/>
            </a:solidFill>
            <a:prstDash val="solid"/>
          </a:ln>
        </p:spPr>
        <p:txBody>
          <a:bodyPr/>
          <a:lstStyle/>
          <a:p>
            <a:endParaRPr lang="en-IN"/>
          </a:p>
        </p:txBody>
      </p:sp>
      <p:sp>
        <p:nvSpPr>
          <p:cNvPr id="32" name="Text 30"/>
          <p:cNvSpPr/>
          <p:nvPr/>
        </p:nvSpPr>
        <p:spPr>
          <a:xfrm>
            <a:off x="4736592" y="3273552"/>
            <a:ext cx="420624" cy="420624"/>
          </a:xfrm>
          <a:prstGeom prst="rect">
            <a:avLst/>
          </a:prstGeom>
          <a:noFill/>
          <a:ln/>
        </p:spPr>
        <p:txBody>
          <a:bodyPr wrap="square" rtlCol="0" anchor="ctr"/>
          <a:lstStyle/>
          <a:p>
            <a:pPr marL="0" indent="0" algn="ctr">
              <a:buNone/>
            </a:pPr>
            <a:r>
              <a:rPr lang="en-US" sz="1100" b="1" dirty="0">
                <a:solidFill>
                  <a:srgbClr val="0A1628"/>
                </a:solidFill>
              </a:rPr>
              <a:t>5</a:t>
            </a:r>
            <a:endParaRPr lang="en-US" sz="1100" dirty="0"/>
          </a:p>
        </p:txBody>
      </p:sp>
      <p:sp>
        <p:nvSpPr>
          <p:cNvPr id="33" name="Text 31"/>
          <p:cNvSpPr/>
          <p:nvPr/>
        </p:nvSpPr>
        <p:spPr>
          <a:xfrm>
            <a:off x="5248656" y="3291840"/>
            <a:ext cx="3493008" cy="384048"/>
          </a:xfrm>
          <a:prstGeom prst="rect">
            <a:avLst/>
          </a:prstGeom>
          <a:noFill/>
          <a:ln/>
        </p:spPr>
        <p:txBody>
          <a:bodyPr wrap="square" rtlCol="0" anchor="ctr"/>
          <a:lstStyle/>
          <a:p>
            <a:pPr marL="0" indent="0">
              <a:buNone/>
            </a:pPr>
            <a:r>
              <a:rPr lang="en-US" sz="1050" b="1" dirty="0">
                <a:solidFill>
                  <a:srgbClr val="FF6B6B"/>
                </a:solidFill>
              </a:rPr>
              <a:t>Replace 0 values in ZN column with 5.</a:t>
            </a:r>
            <a:endParaRPr lang="en-US" sz="1050" dirty="0"/>
          </a:p>
        </p:txBody>
      </p:sp>
      <p:sp>
        <p:nvSpPr>
          <p:cNvPr id="34" name="Shape 32"/>
          <p:cNvSpPr/>
          <p:nvPr/>
        </p:nvSpPr>
        <p:spPr>
          <a:xfrm>
            <a:off x="4736592" y="3730752"/>
            <a:ext cx="4005072" cy="1389888"/>
          </a:xfrm>
          <a:prstGeom prst="rect">
            <a:avLst/>
          </a:prstGeom>
          <a:solidFill>
            <a:srgbClr val="0A1628"/>
          </a:solidFill>
          <a:ln w="12700">
            <a:solidFill>
              <a:srgbClr val="FF6B6B"/>
            </a:solidFill>
            <a:prstDash val="solid"/>
          </a:ln>
        </p:spPr>
        <p:txBody>
          <a:bodyPr/>
          <a:lstStyle/>
          <a:p>
            <a:endParaRPr lang="en-IN"/>
          </a:p>
        </p:txBody>
      </p:sp>
      <p:sp>
        <p:nvSpPr>
          <p:cNvPr id="35" name="Text 33"/>
          <p:cNvSpPr/>
          <p:nvPr/>
        </p:nvSpPr>
        <p:spPr>
          <a:xfrm>
            <a:off x="4809744" y="3767328"/>
            <a:ext cx="3858768" cy="1316736"/>
          </a:xfrm>
          <a:prstGeom prst="rect">
            <a:avLst/>
          </a:prstGeom>
          <a:noFill/>
          <a:ln/>
        </p:spPr>
        <p:txBody>
          <a:bodyPr wrap="square" rtlCol="0" anchor="ctr"/>
          <a:lstStyle/>
          <a:p>
            <a:pPr marL="0" indent="0">
              <a:buNone/>
            </a:pPr>
            <a:r>
              <a:rPr lang="en-US" sz="900" dirty="0">
                <a:solidFill>
                  <a:srgbClr val="00C8FF"/>
                </a:solidFill>
                <a:latin typeface="Consolas" pitchFamily="34" charset="0"/>
                <a:ea typeface="Consolas" pitchFamily="34" charset="-122"/>
                <a:cs typeface="Consolas" pitchFamily="34" charset="-120"/>
              </a:rPr>
              <a:t>UPDATE Boston_house_prices</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SET ZN = 5</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WHERE ZN = 0;</a:t>
            </a:r>
            <a:endParaRPr lang="en-US" sz="900" dirty="0"/>
          </a:p>
        </p:txBody>
      </p:sp>
      <p:sp>
        <p:nvSpPr>
          <p:cNvPr id="36" name="Shape 34"/>
          <p:cNvSpPr/>
          <p:nvPr/>
        </p:nvSpPr>
        <p:spPr>
          <a:xfrm>
            <a:off x="274320" y="5010912"/>
            <a:ext cx="8595360" cy="274320"/>
          </a:xfrm>
          <a:prstGeom prst="rect">
            <a:avLst/>
          </a:prstGeom>
          <a:solidFill>
            <a:srgbClr val="0F2041"/>
          </a:solidFill>
          <a:ln w="12700">
            <a:solidFill>
              <a:srgbClr val="FF6B6B"/>
            </a:solidFill>
            <a:prstDash val="solid"/>
          </a:ln>
        </p:spPr>
        <p:txBody>
          <a:bodyPr/>
          <a:lstStyle/>
          <a:p>
            <a:endParaRPr lang="en-IN"/>
          </a:p>
        </p:txBody>
      </p:sp>
      <p:sp>
        <p:nvSpPr>
          <p:cNvPr id="37" name="Text 35"/>
          <p:cNvSpPr/>
          <p:nvPr/>
        </p:nvSpPr>
        <p:spPr>
          <a:xfrm>
            <a:off x="274320" y="5010912"/>
            <a:ext cx="8595360" cy="274320"/>
          </a:xfrm>
          <a:prstGeom prst="rect">
            <a:avLst/>
          </a:prstGeom>
          <a:noFill/>
          <a:ln/>
        </p:spPr>
        <p:txBody>
          <a:bodyPr wrap="square" rtlCol="0" anchor="ctr"/>
          <a:lstStyle/>
          <a:p>
            <a:pPr marL="0" indent="0" algn="ctr">
              <a:buNone/>
            </a:pPr>
            <a:r>
              <a:rPr lang="en-US" sz="950" dirty="0">
                <a:solidFill>
                  <a:srgbClr val="FF6B6B"/>
                </a:solidFill>
              </a:rPr>
              <a:t>⚠️  Query 5 (UPDATE) is a data mutation — always run a SELECT first to preview what will change before executing UPDATE</a:t>
            </a:r>
            <a:endParaRPr lang="en-US" sz="950" dirty="0"/>
          </a:p>
        </p:txBody>
      </p:sp>
    </p:spTree>
    <p:extLst>
      <p:ext uri="{BB962C8B-B14F-4D97-AF65-F5344CB8AC3E}">
        <p14:creationId xmlns:p14="http://schemas.microsoft.com/office/powerpoint/2010/main" val="3373287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1 · NL-TO-SQL DEMO</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NL-to-SQL — Queries 6 to 9</a:t>
            </a:r>
            <a:endParaRPr lang="en-US" sz="2200" dirty="0"/>
          </a:p>
        </p:txBody>
      </p:sp>
      <p:sp>
        <p:nvSpPr>
          <p:cNvPr id="6" name="Shape 4"/>
          <p:cNvSpPr/>
          <p:nvPr/>
        </p:nvSpPr>
        <p:spPr>
          <a:xfrm>
            <a:off x="274320" y="987552"/>
            <a:ext cx="4187952" cy="1965960"/>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7" name="Shape 5"/>
          <p:cNvSpPr/>
          <p:nvPr/>
        </p:nvSpPr>
        <p:spPr>
          <a:xfrm>
            <a:off x="365760" y="1078992"/>
            <a:ext cx="420624" cy="420624"/>
          </a:xfrm>
          <a:prstGeom prst="ellipse">
            <a:avLst/>
          </a:prstGeom>
          <a:solidFill>
            <a:srgbClr val="00C8FF"/>
          </a:solidFill>
          <a:ln w="12700">
            <a:solidFill>
              <a:srgbClr val="00C8FF"/>
            </a:solidFill>
            <a:prstDash val="solid"/>
          </a:ln>
        </p:spPr>
        <p:txBody>
          <a:bodyPr/>
          <a:lstStyle/>
          <a:p>
            <a:endParaRPr lang="en-IN"/>
          </a:p>
        </p:txBody>
      </p:sp>
      <p:sp>
        <p:nvSpPr>
          <p:cNvPr id="8" name="Text 6"/>
          <p:cNvSpPr/>
          <p:nvPr/>
        </p:nvSpPr>
        <p:spPr>
          <a:xfrm>
            <a:off x="365760" y="1078992"/>
            <a:ext cx="420624" cy="420624"/>
          </a:xfrm>
          <a:prstGeom prst="rect">
            <a:avLst/>
          </a:prstGeom>
          <a:noFill/>
          <a:ln/>
        </p:spPr>
        <p:txBody>
          <a:bodyPr wrap="square" rtlCol="0" anchor="ctr"/>
          <a:lstStyle/>
          <a:p>
            <a:pPr marL="0" indent="0" algn="ctr">
              <a:buNone/>
            </a:pPr>
            <a:r>
              <a:rPr lang="en-US" sz="1100" b="1" dirty="0">
                <a:solidFill>
                  <a:srgbClr val="0A1628"/>
                </a:solidFill>
              </a:rPr>
              <a:t>6</a:t>
            </a:r>
            <a:endParaRPr lang="en-US" sz="1100" dirty="0"/>
          </a:p>
        </p:txBody>
      </p:sp>
      <p:sp>
        <p:nvSpPr>
          <p:cNvPr id="9" name="Text 7"/>
          <p:cNvSpPr/>
          <p:nvPr/>
        </p:nvSpPr>
        <p:spPr>
          <a:xfrm>
            <a:off x="877824" y="1097280"/>
            <a:ext cx="3493008" cy="384048"/>
          </a:xfrm>
          <a:prstGeom prst="rect">
            <a:avLst/>
          </a:prstGeom>
          <a:noFill/>
          <a:ln/>
        </p:spPr>
        <p:txBody>
          <a:bodyPr wrap="square" rtlCol="0" anchor="ctr"/>
          <a:lstStyle/>
          <a:p>
            <a:pPr marL="0" indent="0">
              <a:buNone/>
            </a:pPr>
            <a:r>
              <a:rPr lang="en-US" sz="1050" b="1" dirty="0">
                <a:solidFill>
                  <a:srgbClr val="00C8FF"/>
                </a:solidFill>
              </a:rPr>
              <a:t>Sort table by MEDV ascending.</a:t>
            </a:r>
            <a:endParaRPr lang="en-US" sz="1050" dirty="0"/>
          </a:p>
        </p:txBody>
      </p:sp>
      <p:sp>
        <p:nvSpPr>
          <p:cNvPr id="10" name="Shape 8"/>
          <p:cNvSpPr/>
          <p:nvPr/>
        </p:nvSpPr>
        <p:spPr>
          <a:xfrm>
            <a:off x="365760" y="1536192"/>
            <a:ext cx="4005072" cy="1335024"/>
          </a:xfrm>
          <a:prstGeom prst="rect">
            <a:avLst/>
          </a:prstGeom>
          <a:solidFill>
            <a:srgbClr val="0A1628"/>
          </a:solidFill>
          <a:ln w="12700">
            <a:solidFill>
              <a:srgbClr val="00C8FF"/>
            </a:solidFill>
            <a:prstDash val="solid"/>
          </a:ln>
        </p:spPr>
        <p:txBody>
          <a:bodyPr/>
          <a:lstStyle/>
          <a:p>
            <a:endParaRPr lang="en-IN"/>
          </a:p>
        </p:txBody>
      </p:sp>
      <p:sp>
        <p:nvSpPr>
          <p:cNvPr id="11" name="Text 9"/>
          <p:cNvSpPr/>
          <p:nvPr/>
        </p:nvSpPr>
        <p:spPr>
          <a:xfrm>
            <a:off x="438912" y="1572768"/>
            <a:ext cx="3858768" cy="1261872"/>
          </a:xfrm>
          <a:prstGeom prst="rect">
            <a:avLst/>
          </a:prstGeom>
          <a:noFill/>
          <a:ln/>
        </p:spPr>
        <p:txBody>
          <a:bodyPr wrap="square" rtlCol="0" anchor="ctr"/>
          <a:lstStyle/>
          <a:p>
            <a:pPr marL="0" indent="0">
              <a:buNone/>
            </a:pPr>
            <a:r>
              <a:rPr lang="en-US" sz="900" dirty="0">
                <a:solidFill>
                  <a:srgbClr val="00C8FF"/>
                </a:solidFill>
                <a:latin typeface="Consolas" pitchFamily="34" charset="0"/>
                <a:ea typeface="Consolas" pitchFamily="34" charset="-122"/>
                <a:cs typeface="Consolas" pitchFamily="34" charset="-120"/>
              </a:rPr>
              <a:t>SELECT * FROM Boston_house_prices</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ORDER BY MEDV ASC;</a:t>
            </a:r>
            <a:endParaRPr lang="en-US" sz="900" dirty="0"/>
          </a:p>
        </p:txBody>
      </p:sp>
      <p:sp>
        <p:nvSpPr>
          <p:cNvPr id="12" name="Shape 10"/>
          <p:cNvSpPr/>
          <p:nvPr/>
        </p:nvSpPr>
        <p:spPr>
          <a:xfrm>
            <a:off x="4645152" y="987552"/>
            <a:ext cx="4187952" cy="1965960"/>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13" name="Shape 11"/>
          <p:cNvSpPr/>
          <p:nvPr/>
        </p:nvSpPr>
        <p:spPr>
          <a:xfrm>
            <a:off x="4736592" y="1078992"/>
            <a:ext cx="420624" cy="420624"/>
          </a:xfrm>
          <a:prstGeom prst="ellipse">
            <a:avLst/>
          </a:prstGeom>
          <a:solidFill>
            <a:srgbClr val="FFD166"/>
          </a:solidFill>
          <a:ln w="12700">
            <a:solidFill>
              <a:srgbClr val="FFD166"/>
            </a:solidFill>
            <a:prstDash val="solid"/>
          </a:ln>
        </p:spPr>
        <p:txBody>
          <a:bodyPr/>
          <a:lstStyle/>
          <a:p>
            <a:endParaRPr lang="en-IN"/>
          </a:p>
        </p:txBody>
      </p:sp>
      <p:sp>
        <p:nvSpPr>
          <p:cNvPr id="14" name="Text 12"/>
          <p:cNvSpPr/>
          <p:nvPr/>
        </p:nvSpPr>
        <p:spPr>
          <a:xfrm>
            <a:off x="4736592" y="1078992"/>
            <a:ext cx="420624" cy="420624"/>
          </a:xfrm>
          <a:prstGeom prst="rect">
            <a:avLst/>
          </a:prstGeom>
          <a:noFill/>
          <a:ln/>
        </p:spPr>
        <p:txBody>
          <a:bodyPr wrap="square" rtlCol="0" anchor="ctr"/>
          <a:lstStyle/>
          <a:p>
            <a:pPr marL="0" indent="0" algn="ctr">
              <a:buNone/>
            </a:pPr>
            <a:r>
              <a:rPr lang="en-US" sz="1100" b="1" dirty="0">
                <a:solidFill>
                  <a:srgbClr val="0A1628"/>
                </a:solidFill>
              </a:rPr>
              <a:t>7</a:t>
            </a:r>
            <a:endParaRPr lang="en-US" sz="1100" dirty="0"/>
          </a:p>
        </p:txBody>
      </p:sp>
      <p:sp>
        <p:nvSpPr>
          <p:cNvPr id="15" name="Text 13"/>
          <p:cNvSpPr/>
          <p:nvPr/>
        </p:nvSpPr>
        <p:spPr>
          <a:xfrm>
            <a:off x="5248656" y="1097280"/>
            <a:ext cx="3493008" cy="384048"/>
          </a:xfrm>
          <a:prstGeom prst="rect">
            <a:avLst/>
          </a:prstGeom>
          <a:noFill/>
          <a:ln/>
        </p:spPr>
        <p:txBody>
          <a:bodyPr wrap="square" rtlCol="0" anchor="ctr"/>
          <a:lstStyle/>
          <a:p>
            <a:pPr marL="0" indent="0">
              <a:buNone/>
            </a:pPr>
            <a:r>
              <a:rPr lang="en-US" sz="1050" b="1" dirty="0">
                <a:solidFill>
                  <a:srgbClr val="FFD166"/>
                </a:solidFill>
              </a:rPr>
              <a:t>Insert a new row.</a:t>
            </a:r>
            <a:endParaRPr lang="en-US" sz="1050" dirty="0"/>
          </a:p>
        </p:txBody>
      </p:sp>
      <p:sp>
        <p:nvSpPr>
          <p:cNvPr id="16" name="Shape 14"/>
          <p:cNvSpPr/>
          <p:nvPr/>
        </p:nvSpPr>
        <p:spPr>
          <a:xfrm>
            <a:off x="4736592" y="1536192"/>
            <a:ext cx="4005072" cy="1335024"/>
          </a:xfrm>
          <a:prstGeom prst="rect">
            <a:avLst/>
          </a:prstGeom>
          <a:solidFill>
            <a:srgbClr val="0A1628"/>
          </a:solidFill>
          <a:ln w="12700">
            <a:solidFill>
              <a:srgbClr val="FFD166"/>
            </a:solidFill>
            <a:prstDash val="solid"/>
          </a:ln>
        </p:spPr>
        <p:txBody>
          <a:bodyPr/>
          <a:lstStyle/>
          <a:p>
            <a:endParaRPr lang="en-IN"/>
          </a:p>
        </p:txBody>
      </p:sp>
      <p:sp>
        <p:nvSpPr>
          <p:cNvPr id="17" name="Text 15"/>
          <p:cNvSpPr/>
          <p:nvPr/>
        </p:nvSpPr>
        <p:spPr>
          <a:xfrm>
            <a:off x="4809744" y="1572768"/>
            <a:ext cx="3858768" cy="1261872"/>
          </a:xfrm>
          <a:prstGeom prst="rect">
            <a:avLst/>
          </a:prstGeom>
          <a:noFill/>
          <a:ln/>
        </p:spPr>
        <p:txBody>
          <a:bodyPr wrap="square" rtlCol="0" anchor="ctr"/>
          <a:lstStyle/>
          <a:p>
            <a:pPr marL="0" indent="0">
              <a:buNone/>
            </a:pPr>
            <a:r>
              <a:rPr lang="en-US" sz="900" dirty="0">
                <a:solidFill>
                  <a:srgbClr val="00C8FF"/>
                </a:solidFill>
                <a:latin typeface="Consolas" pitchFamily="34" charset="0"/>
                <a:ea typeface="Consolas" pitchFamily="34" charset="-122"/>
                <a:cs typeface="Consolas" pitchFamily="34" charset="-120"/>
              </a:rPr>
              <a:t>INSERT INTO Boston_house_prices</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(column1, column2, ...)</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VALUES (value1, value2, ...);</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 Replace placeholders with real values</a:t>
            </a:r>
            <a:endParaRPr lang="en-US" sz="900" dirty="0"/>
          </a:p>
        </p:txBody>
      </p:sp>
      <p:sp>
        <p:nvSpPr>
          <p:cNvPr id="18" name="Shape 16"/>
          <p:cNvSpPr/>
          <p:nvPr/>
        </p:nvSpPr>
        <p:spPr>
          <a:xfrm>
            <a:off x="274320" y="3090672"/>
            <a:ext cx="4187952" cy="1965960"/>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19" name="Shape 17"/>
          <p:cNvSpPr/>
          <p:nvPr/>
        </p:nvSpPr>
        <p:spPr>
          <a:xfrm>
            <a:off x="365760" y="3182112"/>
            <a:ext cx="420624" cy="420624"/>
          </a:xfrm>
          <a:prstGeom prst="ellipse">
            <a:avLst/>
          </a:prstGeom>
          <a:solidFill>
            <a:srgbClr val="00E5A0"/>
          </a:solidFill>
          <a:ln w="12700">
            <a:solidFill>
              <a:srgbClr val="00E5A0"/>
            </a:solidFill>
            <a:prstDash val="solid"/>
          </a:ln>
        </p:spPr>
        <p:txBody>
          <a:bodyPr/>
          <a:lstStyle/>
          <a:p>
            <a:endParaRPr lang="en-IN"/>
          </a:p>
        </p:txBody>
      </p:sp>
      <p:sp>
        <p:nvSpPr>
          <p:cNvPr id="20" name="Text 18"/>
          <p:cNvSpPr/>
          <p:nvPr/>
        </p:nvSpPr>
        <p:spPr>
          <a:xfrm>
            <a:off x="365760" y="3182112"/>
            <a:ext cx="420624" cy="420624"/>
          </a:xfrm>
          <a:prstGeom prst="rect">
            <a:avLst/>
          </a:prstGeom>
          <a:noFill/>
          <a:ln/>
        </p:spPr>
        <p:txBody>
          <a:bodyPr wrap="square" rtlCol="0" anchor="ctr"/>
          <a:lstStyle/>
          <a:p>
            <a:pPr marL="0" indent="0" algn="ctr">
              <a:buNone/>
            </a:pPr>
            <a:r>
              <a:rPr lang="en-US" sz="1100" b="1" dirty="0">
                <a:solidFill>
                  <a:srgbClr val="0A1628"/>
                </a:solidFill>
              </a:rPr>
              <a:t>8</a:t>
            </a:r>
            <a:endParaRPr lang="en-US" sz="1100" dirty="0"/>
          </a:p>
        </p:txBody>
      </p:sp>
      <p:sp>
        <p:nvSpPr>
          <p:cNvPr id="21" name="Text 19"/>
          <p:cNvSpPr/>
          <p:nvPr/>
        </p:nvSpPr>
        <p:spPr>
          <a:xfrm>
            <a:off x="877824" y="3200400"/>
            <a:ext cx="3493008" cy="384048"/>
          </a:xfrm>
          <a:prstGeom prst="rect">
            <a:avLst/>
          </a:prstGeom>
          <a:noFill/>
          <a:ln/>
        </p:spPr>
        <p:txBody>
          <a:bodyPr wrap="square" rtlCol="0" anchor="ctr"/>
          <a:lstStyle/>
          <a:p>
            <a:pPr marL="0" indent="0">
              <a:buNone/>
            </a:pPr>
            <a:r>
              <a:rPr lang="en-US" sz="1050" b="1" dirty="0">
                <a:solidFill>
                  <a:srgbClr val="00E5A0"/>
                </a:solidFill>
              </a:rPr>
              <a:t>Find rows where RAD=5 and age between 50–55.</a:t>
            </a:r>
            <a:endParaRPr lang="en-US" sz="1050" dirty="0"/>
          </a:p>
        </p:txBody>
      </p:sp>
      <p:sp>
        <p:nvSpPr>
          <p:cNvPr id="22" name="Shape 20"/>
          <p:cNvSpPr/>
          <p:nvPr/>
        </p:nvSpPr>
        <p:spPr>
          <a:xfrm>
            <a:off x="365760" y="3639312"/>
            <a:ext cx="4005072" cy="1335024"/>
          </a:xfrm>
          <a:prstGeom prst="rect">
            <a:avLst/>
          </a:prstGeom>
          <a:solidFill>
            <a:srgbClr val="0A1628"/>
          </a:solidFill>
          <a:ln w="12700">
            <a:solidFill>
              <a:srgbClr val="00E5A0"/>
            </a:solidFill>
            <a:prstDash val="solid"/>
          </a:ln>
        </p:spPr>
        <p:txBody>
          <a:bodyPr/>
          <a:lstStyle/>
          <a:p>
            <a:endParaRPr lang="en-IN"/>
          </a:p>
        </p:txBody>
      </p:sp>
      <p:sp>
        <p:nvSpPr>
          <p:cNvPr id="23" name="Text 21"/>
          <p:cNvSpPr/>
          <p:nvPr/>
        </p:nvSpPr>
        <p:spPr>
          <a:xfrm>
            <a:off x="438912" y="3675888"/>
            <a:ext cx="3858768" cy="1261872"/>
          </a:xfrm>
          <a:prstGeom prst="rect">
            <a:avLst/>
          </a:prstGeom>
          <a:noFill/>
          <a:ln/>
        </p:spPr>
        <p:txBody>
          <a:bodyPr wrap="square" rtlCol="0" anchor="ctr"/>
          <a:lstStyle/>
          <a:p>
            <a:pPr marL="0" indent="0">
              <a:buNone/>
            </a:pPr>
            <a:r>
              <a:rPr lang="en-US" sz="900" dirty="0">
                <a:solidFill>
                  <a:srgbClr val="00C8FF"/>
                </a:solidFill>
                <a:latin typeface="Consolas" pitchFamily="34" charset="0"/>
                <a:ea typeface="Consolas" pitchFamily="34" charset="-122"/>
                <a:cs typeface="Consolas" pitchFamily="34" charset="-120"/>
              </a:rPr>
              <a:t>SELECT * FROM Boston_house_prices</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WHERE RAD = 5</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AND age BETWEEN 50 AND 55;</a:t>
            </a:r>
            <a:endParaRPr lang="en-US" sz="900" dirty="0"/>
          </a:p>
        </p:txBody>
      </p:sp>
      <p:sp>
        <p:nvSpPr>
          <p:cNvPr id="24" name="Shape 22"/>
          <p:cNvSpPr/>
          <p:nvPr/>
        </p:nvSpPr>
        <p:spPr>
          <a:xfrm>
            <a:off x="4645152" y="3090672"/>
            <a:ext cx="4187952" cy="1965960"/>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25" name="Shape 23"/>
          <p:cNvSpPr/>
          <p:nvPr/>
        </p:nvSpPr>
        <p:spPr>
          <a:xfrm>
            <a:off x="4736592" y="3182112"/>
            <a:ext cx="420624" cy="420624"/>
          </a:xfrm>
          <a:prstGeom prst="ellipse">
            <a:avLst/>
          </a:prstGeom>
          <a:solidFill>
            <a:srgbClr val="7B5EA7"/>
          </a:solidFill>
          <a:ln w="12700">
            <a:solidFill>
              <a:srgbClr val="7B5EA7"/>
            </a:solidFill>
            <a:prstDash val="solid"/>
          </a:ln>
        </p:spPr>
        <p:txBody>
          <a:bodyPr/>
          <a:lstStyle/>
          <a:p>
            <a:endParaRPr lang="en-IN"/>
          </a:p>
        </p:txBody>
      </p:sp>
      <p:sp>
        <p:nvSpPr>
          <p:cNvPr id="26" name="Text 24"/>
          <p:cNvSpPr/>
          <p:nvPr/>
        </p:nvSpPr>
        <p:spPr>
          <a:xfrm>
            <a:off x="4736592" y="3182112"/>
            <a:ext cx="420624" cy="420624"/>
          </a:xfrm>
          <a:prstGeom prst="rect">
            <a:avLst/>
          </a:prstGeom>
          <a:noFill/>
          <a:ln/>
        </p:spPr>
        <p:txBody>
          <a:bodyPr wrap="square" rtlCol="0" anchor="ctr"/>
          <a:lstStyle/>
          <a:p>
            <a:pPr marL="0" indent="0" algn="ctr">
              <a:buNone/>
            </a:pPr>
            <a:r>
              <a:rPr lang="en-US" sz="1100" b="1" dirty="0">
                <a:solidFill>
                  <a:srgbClr val="0A1628"/>
                </a:solidFill>
              </a:rPr>
              <a:t>9</a:t>
            </a:r>
            <a:endParaRPr lang="en-US" sz="1100" dirty="0"/>
          </a:p>
        </p:txBody>
      </p:sp>
      <p:sp>
        <p:nvSpPr>
          <p:cNvPr id="27" name="Text 25"/>
          <p:cNvSpPr/>
          <p:nvPr/>
        </p:nvSpPr>
        <p:spPr>
          <a:xfrm>
            <a:off x="5248656" y="3200400"/>
            <a:ext cx="3493008" cy="384048"/>
          </a:xfrm>
          <a:prstGeom prst="rect">
            <a:avLst/>
          </a:prstGeom>
          <a:noFill/>
          <a:ln/>
        </p:spPr>
        <p:txBody>
          <a:bodyPr wrap="square" rtlCol="0" anchor="ctr"/>
          <a:lstStyle/>
          <a:p>
            <a:pPr marL="0" indent="0">
              <a:buNone/>
            </a:pPr>
            <a:r>
              <a:rPr lang="en-US" sz="1050" b="1" dirty="0">
                <a:solidFill>
                  <a:srgbClr val="7B5EA7"/>
                </a:solidFill>
              </a:rPr>
              <a:t>Create a sub-table where CHAS=1 and RAD=4.</a:t>
            </a:r>
            <a:endParaRPr lang="en-US" sz="1050" dirty="0"/>
          </a:p>
        </p:txBody>
      </p:sp>
      <p:sp>
        <p:nvSpPr>
          <p:cNvPr id="28" name="Shape 26"/>
          <p:cNvSpPr/>
          <p:nvPr/>
        </p:nvSpPr>
        <p:spPr>
          <a:xfrm>
            <a:off x="4736592" y="3639312"/>
            <a:ext cx="4005072" cy="1335024"/>
          </a:xfrm>
          <a:prstGeom prst="rect">
            <a:avLst/>
          </a:prstGeom>
          <a:solidFill>
            <a:srgbClr val="0A1628"/>
          </a:solidFill>
          <a:ln w="12700">
            <a:solidFill>
              <a:srgbClr val="7B5EA7"/>
            </a:solidFill>
            <a:prstDash val="solid"/>
          </a:ln>
        </p:spPr>
        <p:txBody>
          <a:bodyPr/>
          <a:lstStyle/>
          <a:p>
            <a:endParaRPr lang="en-IN"/>
          </a:p>
        </p:txBody>
      </p:sp>
      <p:sp>
        <p:nvSpPr>
          <p:cNvPr id="29" name="Text 27"/>
          <p:cNvSpPr/>
          <p:nvPr/>
        </p:nvSpPr>
        <p:spPr>
          <a:xfrm>
            <a:off x="4809744" y="3675888"/>
            <a:ext cx="3858768" cy="1261872"/>
          </a:xfrm>
          <a:prstGeom prst="rect">
            <a:avLst/>
          </a:prstGeom>
          <a:noFill/>
          <a:ln/>
        </p:spPr>
        <p:txBody>
          <a:bodyPr wrap="square" rtlCol="0" anchor="ctr"/>
          <a:lstStyle/>
          <a:p>
            <a:pPr marL="0" indent="0">
              <a:buNone/>
            </a:pPr>
            <a:r>
              <a:rPr lang="en-US" sz="900" dirty="0">
                <a:solidFill>
                  <a:srgbClr val="00C8FF"/>
                </a:solidFill>
                <a:latin typeface="Consolas" pitchFamily="34" charset="0"/>
                <a:ea typeface="Consolas" pitchFamily="34" charset="-122"/>
                <a:cs typeface="Consolas" pitchFamily="34" charset="-120"/>
              </a:rPr>
              <a:t>SELECT * FROM Boston_house_prices</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WHERE CHAS = 1 AND RAD = 4;</a:t>
            </a:r>
            <a:endParaRPr lang="en-US" sz="900" dirty="0"/>
          </a:p>
          <a:p>
            <a:pPr marL="0" indent="0">
              <a:buNone/>
            </a:pP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 Save as a VIEW:</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CREATE VIEW river_access AS</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SELECT * FROM Boston_house_prices</a:t>
            </a:r>
            <a:endParaRPr lang="en-US" sz="900" dirty="0"/>
          </a:p>
          <a:p>
            <a:pPr marL="0" indent="0">
              <a:buNone/>
            </a:pPr>
            <a:r>
              <a:rPr lang="en-US" sz="900" dirty="0">
                <a:solidFill>
                  <a:srgbClr val="00C8FF"/>
                </a:solidFill>
                <a:latin typeface="Consolas" pitchFamily="34" charset="0"/>
                <a:ea typeface="Consolas" pitchFamily="34" charset="-122"/>
                <a:cs typeface="Consolas" pitchFamily="34" charset="-120"/>
              </a:rPr>
              <a:t>WHERE CHAS=1 AND RAD=4;</a:t>
            </a:r>
            <a:endParaRPr lang="en-US" sz="900" dirty="0"/>
          </a:p>
        </p:txBody>
      </p:sp>
      <p:sp>
        <p:nvSpPr>
          <p:cNvPr id="30" name="Shape 28"/>
          <p:cNvSpPr/>
          <p:nvPr/>
        </p:nvSpPr>
        <p:spPr>
          <a:xfrm>
            <a:off x="274320" y="4983480"/>
            <a:ext cx="8595360" cy="292608"/>
          </a:xfrm>
          <a:prstGeom prst="rect">
            <a:avLst/>
          </a:prstGeom>
          <a:solidFill>
            <a:srgbClr val="0F2041"/>
          </a:solidFill>
          <a:ln w="12700">
            <a:solidFill>
              <a:srgbClr val="00E5A0"/>
            </a:solidFill>
            <a:prstDash val="solid"/>
          </a:ln>
        </p:spPr>
        <p:txBody>
          <a:bodyPr/>
          <a:lstStyle/>
          <a:p>
            <a:endParaRPr lang="en-IN"/>
          </a:p>
        </p:txBody>
      </p:sp>
      <p:sp>
        <p:nvSpPr>
          <p:cNvPr id="31" name="Text 29"/>
          <p:cNvSpPr/>
          <p:nvPr/>
        </p:nvSpPr>
        <p:spPr>
          <a:xfrm>
            <a:off x="274320" y="4983480"/>
            <a:ext cx="8595360" cy="292608"/>
          </a:xfrm>
          <a:prstGeom prst="rect">
            <a:avLst/>
          </a:prstGeom>
          <a:noFill/>
          <a:ln/>
        </p:spPr>
        <p:txBody>
          <a:bodyPr wrap="square" rtlCol="0" anchor="ctr"/>
          <a:lstStyle/>
          <a:p>
            <a:pPr marL="0" indent="0" algn="ctr">
              <a:buNone/>
            </a:pPr>
            <a:r>
              <a:rPr lang="en-US" sz="1000" dirty="0">
                <a:solidFill>
                  <a:srgbClr val="00E5A0"/>
                </a:solidFill>
              </a:rPr>
              <a:t>💡  Try it: Write your own NL prompt → see what SQL the AI generates → verify the result is correct</a:t>
            </a:r>
            <a:endParaRPr lang="en-US" sz="1000" dirty="0"/>
          </a:p>
        </p:txBody>
      </p:sp>
    </p:spTree>
    <p:extLst>
      <p:ext uri="{BB962C8B-B14F-4D97-AF65-F5344CB8AC3E}">
        <p14:creationId xmlns:p14="http://schemas.microsoft.com/office/powerpoint/2010/main" val="2401290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00E5A0"/>
          </a:solidFill>
          <a:ln w="12700">
            <a:solidFill>
              <a:srgbClr val="00E5A0"/>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1 · LAB CHALLENGE</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Student Challenge — 10 Minutes</a:t>
            </a:r>
            <a:endParaRPr lang="en-US" sz="2200" dirty="0"/>
          </a:p>
        </p:txBody>
      </p:sp>
      <p:sp>
        <p:nvSpPr>
          <p:cNvPr id="6" name="Shape 4"/>
          <p:cNvSpPr/>
          <p:nvPr/>
        </p:nvSpPr>
        <p:spPr>
          <a:xfrm>
            <a:off x="274320" y="987552"/>
            <a:ext cx="8595360" cy="365760"/>
          </a:xfrm>
          <a:prstGeom prst="rect">
            <a:avLst/>
          </a:prstGeom>
          <a:solidFill>
            <a:srgbClr val="00E5A0">
              <a:alpha val="22000"/>
            </a:srgbClr>
          </a:solidFill>
          <a:ln w="12700">
            <a:solidFill>
              <a:srgbClr val="00E5A0"/>
            </a:solidFill>
            <a:prstDash val="solid"/>
          </a:ln>
        </p:spPr>
        <p:txBody>
          <a:bodyPr/>
          <a:lstStyle/>
          <a:p>
            <a:endParaRPr lang="en-IN"/>
          </a:p>
        </p:txBody>
      </p:sp>
      <p:sp>
        <p:nvSpPr>
          <p:cNvPr id="7" name="Text 5"/>
          <p:cNvSpPr/>
          <p:nvPr/>
        </p:nvSpPr>
        <p:spPr>
          <a:xfrm>
            <a:off x="274320" y="987552"/>
            <a:ext cx="8595360" cy="365760"/>
          </a:xfrm>
          <a:prstGeom prst="rect">
            <a:avLst/>
          </a:prstGeom>
          <a:noFill/>
          <a:ln/>
        </p:spPr>
        <p:txBody>
          <a:bodyPr wrap="square" rtlCol="0" anchor="ctr"/>
          <a:lstStyle/>
          <a:p>
            <a:pPr marL="0" indent="0" algn="ctr">
              <a:buNone/>
            </a:pPr>
            <a:r>
              <a:rPr lang="en-US" sz="1100" b="1" dirty="0">
                <a:solidFill>
                  <a:srgbClr val="00E5A0"/>
                </a:solidFill>
              </a:rPr>
              <a:t>Write natural language prompts for each question. Run in the AI tool. Verify the SQL output is correct.</a:t>
            </a:r>
            <a:endParaRPr lang="en-US" sz="1100" dirty="0"/>
          </a:p>
        </p:txBody>
      </p:sp>
      <p:sp>
        <p:nvSpPr>
          <p:cNvPr id="8" name="Shape 6"/>
          <p:cNvSpPr/>
          <p:nvPr/>
        </p:nvSpPr>
        <p:spPr>
          <a:xfrm>
            <a:off x="274320" y="1463040"/>
            <a:ext cx="2761488" cy="1664208"/>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9" name="Shape 7"/>
          <p:cNvSpPr/>
          <p:nvPr/>
        </p:nvSpPr>
        <p:spPr>
          <a:xfrm>
            <a:off x="365760" y="1572768"/>
            <a:ext cx="402336" cy="402336"/>
          </a:xfrm>
          <a:prstGeom prst="ellipse">
            <a:avLst/>
          </a:prstGeom>
          <a:solidFill>
            <a:srgbClr val="00C8FF"/>
          </a:solidFill>
          <a:ln w="12700">
            <a:solidFill>
              <a:srgbClr val="00C8FF"/>
            </a:solidFill>
            <a:prstDash val="solid"/>
          </a:ln>
        </p:spPr>
        <p:txBody>
          <a:bodyPr/>
          <a:lstStyle/>
          <a:p>
            <a:endParaRPr lang="en-IN"/>
          </a:p>
        </p:txBody>
      </p:sp>
      <p:sp>
        <p:nvSpPr>
          <p:cNvPr id="10" name="Text 8"/>
          <p:cNvSpPr/>
          <p:nvPr/>
        </p:nvSpPr>
        <p:spPr>
          <a:xfrm>
            <a:off x="365760" y="1572768"/>
            <a:ext cx="402336" cy="402336"/>
          </a:xfrm>
          <a:prstGeom prst="rect">
            <a:avLst/>
          </a:prstGeom>
          <a:noFill/>
          <a:ln/>
        </p:spPr>
        <p:txBody>
          <a:bodyPr wrap="square" rtlCol="0" anchor="ctr"/>
          <a:lstStyle/>
          <a:p>
            <a:pPr marL="0" indent="0" algn="ctr">
              <a:buNone/>
            </a:pPr>
            <a:r>
              <a:rPr lang="en-US" sz="1200" b="1" dirty="0">
                <a:solidFill>
                  <a:srgbClr val="0A1628"/>
                </a:solidFill>
              </a:rPr>
              <a:t>1</a:t>
            </a:r>
            <a:endParaRPr lang="en-US" sz="1200" dirty="0"/>
          </a:p>
        </p:txBody>
      </p:sp>
      <p:sp>
        <p:nvSpPr>
          <p:cNvPr id="11" name="Text 9"/>
          <p:cNvSpPr/>
          <p:nvPr/>
        </p:nvSpPr>
        <p:spPr>
          <a:xfrm>
            <a:off x="859536" y="1572768"/>
            <a:ext cx="2084832" cy="1481328"/>
          </a:xfrm>
          <a:prstGeom prst="rect">
            <a:avLst/>
          </a:prstGeom>
          <a:noFill/>
          <a:ln/>
        </p:spPr>
        <p:txBody>
          <a:bodyPr wrap="square" rtlCol="0" anchor="ctr"/>
          <a:lstStyle/>
          <a:p>
            <a:pPr marL="0" indent="0">
              <a:buNone/>
            </a:pPr>
            <a:r>
              <a:rPr lang="en-US" sz="1000" dirty="0">
                <a:solidFill>
                  <a:srgbClr val="E8F4FD"/>
                </a:solidFill>
              </a:rPr>
              <a:t>Find all properties with more than 7 rooms (RM &gt; 7).</a:t>
            </a:r>
            <a:endParaRPr lang="en-US" sz="1000" dirty="0"/>
          </a:p>
          <a:p>
            <a:pPr marL="0" indent="0">
              <a:buNone/>
            </a:pPr>
            <a:r>
              <a:rPr lang="en-US" sz="1000" dirty="0">
                <a:solidFill>
                  <a:srgbClr val="E8F4FD"/>
                </a:solidFill>
              </a:rPr>
              <a:t>What is the median MEDV for this group?</a:t>
            </a:r>
            <a:endParaRPr lang="en-US" sz="1000" dirty="0"/>
          </a:p>
        </p:txBody>
      </p:sp>
      <p:sp>
        <p:nvSpPr>
          <p:cNvPr id="12" name="Shape 10"/>
          <p:cNvSpPr/>
          <p:nvPr/>
        </p:nvSpPr>
        <p:spPr>
          <a:xfrm>
            <a:off x="3182112" y="1463040"/>
            <a:ext cx="2761488" cy="1664208"/>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13" name="Shape 11"/>
          <p:cNvSpPr/>
          <p:nvPr/>
        </p:nvSpPr>
        <p:spPr>
          <a:xfrm>
            <a:off x="3273552" y="1572768"/>
            <a:ext cx="402336" cy="402336"/>
          </a:xfrm>
          <a:prstGeom prst="ellipse">
            <a:avLst/>
          </a:prstGeom>
          <a:solidFill>
            <a:srgbClr val="7B5EA7"/>
          </a:solidFill>
          <a:ln w="12700">
            <a:solidFill>
              <a:srgbClr val="7B5EA7"/>
            </a:solidFill>
            <a:prstDash val="solid"/>
          </a:ln>
        </p:spPr>
        <p:txBody>
          <a:bodyPr/>
          <a:lstStyle/>
          <a:p>
            <a:endParaRPr lang="en-IN"/>
          </a:p>
        </p:txBody>
      </p:sp>
      <p:sp>
        <p:nvSpPr>
          <p:cNvPr id="14" name="Text 12"/>
          <p:cNvSpPr/>
          <p:nvPr/>
        </p:nvSpPr>
        <p:spPr>
          <a:xfrm>
            <a:off x="3273552" y="1572768"/>
            <a:ext cx="402336" cy="402336"/>
          </a:xfrm>
          <a:prstGeom prst="rect">
            <a:avLst/>
          </a:prstGeom>
          <a:noFill/>
          <a:ln/>
        </p:spPr>
        <p:txBody>
          <a:bodyPr wrap="square" rtlCol="0" anchor="ctr"/>
          <a:lstStyle/>
          <a:p>
            <a:pPr marL="0" indent="0" algn="ctr">
              <a:buNone/>
            </a:pPr>
            <a:r>
              <a:rPr lang="en-US" sz="1200" b="1" dirty="0">
                <a:solidFill>
                  <a:srgbClr val="0A1628"/>
                </a:solidFill>
              </a:rPr>
              <a:t>2</a:t>
            </a:r>
            <a:endParaRPr lang="en-US" sz="1200" dirty="0"/>
          </a:p>
        </p:txBody>
      </p:sp>
      <p:sp>
        <p:nvSpPr>
          <p:cNvPr id="15" name="Text 13"/>
          <p:cNvSpPr/>
          <p:nvPr/>
        </p:nvSpPr>
        <p:spPr>
          <a:xfrm>
            <a:off x="3767328" y="1572768"/>
            <a:ext cx="2084832" cy="1481328"/>
          </a:xfrm>
          <a:prstGeom prst="rect">
            <a:avLst/>
          </a:prstGeom>
          <a:noFill/>
          <a:ln/>
        </p:spPr>
        <p:txBody>
          <a:bodyPr wrap="square" rtlCol="0" anchor="ctr"/>
          <a:lstStyle/>
          <a:p>
            <a:pPr marL="0" indent="0">
              <a:buNone/>
            </a:pPr>
            <a:r>
              <a:rPr lang="en-US" sz="1000" dirty="0">
                <a:solidFill>
                  <a:srgbClr val="E8F4FD"/>
                </a:solidFill>
              </a:rPr>
              <a:t>Which 5 towns have the HIGHEST property tax?</a:t>
            </a:r>
            <a:endParaRPr lang="en-US" sz="1000" dirty="0"/>
          </a:p>
          <a:p>
            <a:pPr marL="0" indent="0">
              <a:buNone/>
            </a:pPr>
            <a:r>
              <a:rPr lang="en-US" sz="1000" dirty="0">
                <a:solidFill>
                  <a:srgbClr val="E8F4FD"/>
                </a:solidFill>
              </a:rPr>
              <a:t>Sort by TAX descending, limit to 5 rows.</a:t>
            </a:r>
            <a:endParaRPr lang="en-US" sz="1000" dirty="0"/>
          </a:p>
        </p:txBody>
      </p:sp>
      <p:sp>
        <p:nvSpPr>
          <p:cNvPr id="16" name="Shape 14"/>
          <p:cNvSpPr/>
          <p:nvPr/>
        </p:nvSpPr>
        <p:spPr>
          <a:xfrm>
            <a:off x="6089904" y="1463040"/>
            <a:ext cx="2761488" cy="1664208"/>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17" name="Shape 15"/>
          <p:cNvSpPr/>
          <p:nvPr/>
        </p:nvSpPr>
        <p:spPr>
          <a:xfrm>
            <a:off x="6181344" y="1572768"/>
            <a:ext cx="402336" cy="402336"/>
          </a:xfrm>
          <a:prstGeom prst="ellipse">
            <a:avLst/>
          </a:prstGeom>
          <a:solidFill>
            <a:srgbClr val="00E5A0"/>
          </a:solidFill>
          <a:ln w="12700">
            <a:solidFill>
              <a:srgbClr val="00E5A0"/>
            </a:solidFill>
            <a:prstDash val="solid"/>
          </a:ln>
        </p:spPr>
        <p:txBody>
          <a:bodyPr/>
          <a:lstStyle/>
          <a:p>
            <a:endParaRPr lang="en-IN"/>
          </a:p>
        </p:txBody>
      </p:sp>
      <p:sp>
        <p:nvSpPr>
          <p:cNvPr id="18" name="Text 16"/>
          <p:cNvSpPr/>
          <p:nvPr/>
        </p:nvSpPr>
        <p:spPr>
          <a:xfrm>
            <a:off x="6181344" y="1572768"/>
            <a:ext cx="402336" cy="402336"/>
          </a:xfrm>
          <a:prstGeom prst="rect">
            <a:avLst/>
          </a:prstGeom>
          <a:noFill/>
          <a:ln/>
        </p:spPr>
        <p:txBody>
          <a:bodyPr wrap="square" rtlCol="0" anchor="ctr"/>
          <a:lstStyle/>
          <a:p>
            <a:pPr marL="0" indent="0" algn="ctr">
              <a:buNone/>
            </a:pPr>
            <a:r>
              <a:rPr lang="en-US" sz="1200" b="1" dirty="0">
                <a:solidFill>
                  <a:srgbClr val="0A1628"/>
                </a:solidFill>
              </a:rPr>
              <a:t>3</a:t>
            </a:r>
            <a:endParaRPr lang="en-US" sz="1200" dirty="0"/>
          </a:p>
        </p:txBody>
      </p:sp>
      <p:sp>
        <p:nvSpPr>
          <p:cNvPr id="19" name="Text 17"/>
          <p:cNvSpPr/>
          <p:nvPr/>
        </p:nvSpPr>
        <p:spPr>
          <a:xfrm>
            <a:off x="6675120" y="1572768"/>
            <a:ext cx="2084832" cy="1481328"/>
          </a:xfrm>
          <a:prstGeom prst="rect">
            <a:avLst/>
          </a:prstGeom>
          <a:noFill/>
          <a:ln/>
        </p:spPr>
        <p:txBody>
          <a:bodyPr wrap="square" rtlCol="0" anchor="ctr"/>
          <a:lstStyle/>
          <a:p>
            <a:pPr marL="0" indent="0">
              <a:buNone/>
            </a:pPr>
            <a:r>
              <a:rPr lang="en-US" sz="1000" dirty="0">
                <a:solidFill>
                  <a:srgbClr val="E8F4FD"/>
                </a:solidFill>
              </a:rPr>
              <a:t>How many properties border the Charles River?</a:t>
            </a:r>
            <a:endParaRPr lang="en-US" sz="1000" dirty="0"/>
          </a:p>
          <a:p>
            <a:pPr marL="0" indent="0">
              <a:buNone/>
            </a:pPr>
            <a:r>
              <a:rPr lang="en-US" sz="1000" dirty="0">
                <a:solidFill>
                  <a:srgbClr val="E8F4FD"/>
                </a:solidFill>
              </a:rPr>
              <a:t>Hint: CHAS = 1</a:t>
            </a:r>
            <a:endParaRPr lang="en-US" sz="1000" dirty="0"/>
          </a:p>
        </p:txBody>
      </p:sp>
      <p:sp>
        <p:nvSpPr>
          <p:cNvPr id="20" name="Shape 18"/>
          <p:cNvSpPr/>
          <p:nvPr/>
        </p:nvSpPr>
        <p:spPr>
          <a:xfrm>
            <a:off x="274320" y="3273552"/>
            <a:ext cx="4187952" cy="1664208"/>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21" name="Shape 19"/>
          <p:cNvSpPr/>
          <p:nvPr/>
        </p:nvSpPr>
        <p:spPr>
          <a:xfrm>
            <a:off x="365760" y="3383280"/>
            <a:ext cx="402336" cy="402336"/>
          </a:xfrm>
          <a:prstGeom prst="ellipse">
            <a:avLst/>
          </a:prstGeom>
          <a:solidFill>
            <a:srgbClr val="FFD166"/>
          </a:solidFill>
          <a:ln w="12700">
            <a:solidFill>
              <a:srgbClr val="FFD166"/>
            </a:solidFill>
            <a:prstDash val="solid"/>
          </a:ln>
        </p:spPr>
        <p:txBody>
          <a:bodyPr/>
          <a:lstStyle/>
          <a:p>
            <a:endParaRPr lang="en-IN"/>
          </a:p>
        </p:txBody>
      </p:sp>
      <p:sp>
        <p:nvSpPr>
          <p:cNvPr id="22" name="Text 20"/>
          <p:cNvSpPr/>
          <p:nvPr/>
        </p:nvSpPr>
        <p:spPr>
          <a:xfrm>
            <a:off x="365760" y="3383280"/>
            <a:ext cx="402336" cy="402336"/>
          </a:xfrm>
          <a:prstGeom prst="rect">
            <a:avLst/>
          </a:prstGeom>
          <a:noFill/>
          <a:ln/>
        </p:spPr>
        <p:txBody>
          <a:bodyPr wrap="square" rtlCol="0" anchor="ctr"/>
          <a:lstStyle/>
          <a:p>
            <a:pPr marL="0" indent="0" algn="ctr">
              <a:buNone/>
            </a:pPr>
            <a:r>
              <a:rPr lang="en-US" sz="1200" b="1" dirty="0">
                <a:solidFill>
                  <a:srgbClr val="0A1628"/>
                </a:solidFill>
              </a:rPr>
              <a:t>4</a:t>
            </a:r>
            <a:endParaRPr lang="en-US" sz="1200" dirty="0"/>
          </a:p>
        </p:txBody>
      </p:sp>
      <p:sp>
        <p:nvSpPr>
          <p:cNvPr id="23" name="Text 21"/>
          <p:cNvSpPr/>
          <p:nvPr/>
        </p:nvSpPr>
        <p:spPr>
          <a:xfrm>
            <a:off x="859536" y="3383280"/>
            <a:ext cx="3511296" cy="1481328"/>
          </a:xfrm>
          <a:prstGeom prst="rect">
            <a:avLst/>
          </a:prstGeom>
          <a:noFill/>
          <a:ln/>
        </p:spPr>
        <p:txBody>
          <a:bodyPr wrap="square" rtlCol="0" anchor="ctr"/>
          <a:lstStyle/>
          <a:p>
            <a:pPr marL="0" indent="0">
              <a:buNone/>
            </a:pPr>
            <a:r>
              <a:rPr lang="en-US" sz="1000" dirty="0">
                <a:solidFill>
                  <a:srgbClr val="E8F4FD"/>
                </a:solidFill>
              </a:rPr>
              <a:t>What is the AVERAGE crime rate (CRIM)</a:t>
            </a:r>
            <a:endParaRPr lang="en-US" sz="1000" dirty="0"/>
          </a:p>
          <a:p>
            <a:pPr marL="0" indent="0">
              <a:buNone/>
            </a:pPr>
            <a:r>
              <a:rPr lang="en-US" sz="1000" dirty="0">
                <a:solidFill>
                  <a:srgbClr val="E8F4FD"/>
                </a:solidFill>
              </a:rPr>
              <a:t>for properties with MEDV above 30?</a:t>
            </a:r>
            <a:endParaRPr lang="en-US" sz="1000" dirty="0"/>
          </a:p>
        </p:txBody>
      </p:sp>
      <p:sp>
        <p:nvSpPr>
          <p:cNvPr id="24" name="Shape 22"/>
          <p:cNvSpPr/>
          <p:nvPr/>
        </p:nvSpPr>
        <p:spPr>
          <a:xfrm>
            <a:off x="4645152" y="3273552"/>
            <a:ext cx="4187952" cy="1664208"/>
          </a:xfrm>
          <a:prstGeom prst="rect">
            <a:avLst/>
          </a:prstGeom>
          <a:solidFill>
            <a:srgbClr val="1122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IN"/>
          </a:p>
        </p:txBody>
      </p:sp>
      <p:sp>
        <p:nvSpPr>
          <p:cNvPr id="25" name="Shape 23"/>
          <p:cNvSpPr/>
          <p:nvPr/>
        </p:nvSpPr>
        <p:spPr>
          <a:xfrm>
            <a:off x="4736592" y="3383280"/>
            <a:ext cx="402336" cy="402336"/>
          </a:xfrm>
          <a:prstGeom prst="ellipse">
            <a:avLst/>
          </a:prstGeom>
          <a:solidFill>
            <a:srgbClr val="FF6B6B"/>
          </a:solidFill>
          <a:ln w="12700">
            <a:solidFill>
              <a:srgbClr val="FF6B6B"/>
            </a:solidFill>
            <a:prstDash val="solid"/>
          </a:ln>
        </p:spPr>
        <p:txBody>
          <a:bodyPr/>
          <a:lstStyle/>
          <a:p>
            <a:endParaRPr lang="en-IN"/>
          </a:p>
        </p:txBody>
      </p:sp>
      <p:sp>
        <p:nvSpPr>
          <p:cNvPr id="26" name="Text 24"/>
          <p:cNvSpPr/>
          <p:nvPr/>
        </p:nvSpPr>
        <p:spPr>
          <a:xfrm>
            <a:off x="4736592" y="3383280"/>
            <a:ext cx="402336" cy="402336"/>
          </a:xfrm>
          <a:prstGeom prst="rect">
            <a:avLst/>
          </a:prstGeom>
          <a:noFill/>
          <a:ln/>
        </p:spPr>
        <p:txBody>
          <a:bodyPr wrap="square" rtlCol="0" anchor="ctr"/>
          <a:lstStyle/>
          <a:p>
            <a:pPr marL="0" indent="0" algn="ctr">
              <a:buNone/>
            </a:pPr>
            <a:r>
              <a:rPr lang="en-US" sz="1200" b="1" dirty="0">
                <a:solidFill>
                  <a:srgbClr val="0A1628"/>
                </a:solidFill>
              </a:rPr>
              <a:t>5</a:t>
            </a:r>
            <a:endParaRPr lang="en-US" sz="1200" dirty="0"/>
          </a:p>
        </p:txBody>
      </p:sp>
      <p:sp>
        <p:nvSpPr>
          <p:cNvPr id="27" name="Text 25"/>
          <p:cNvSpPr/>
          <p:nvPr/>
        </p:nvSpPr>
        <p:spPr>
          <a:xfrm>
            <a:off x="5230368" y="3383280"/>
            <a:ext cx="3511296" cy="1481328"/>
          </a:xfrm>
          <a:prstGeom prst="rect">
            <a:avLst/>
          </a:prstGeom>
          <a:noFill/>
          <a:ln/>
        </p:spPr>
        <p:txBody>
          <a:bodyPr wrap="square" rtlCol="0" anchor="ctr"/>
          <a:lstStyle/>
          <a:p>
            <a:pPr marL="0" indent="0">
              <a:buNone/>
            </a:pPr>
            <a:r>
              <a:rPr lang="en-US" sz="1000" dirty="0">
                <a:solidFill>
                  <a:srgbClr val="E8F4FD"/>
                </a:solidFill>
              </a:rPr>
              <a:t>Find properties with LSTAT &lt; 5 (low poverty)</a:t>
            </a:r>
            <a:endParaRPr lang="en-US" sz="1000" dirty="0"/>
          </a:p>
          <a:p>
            <a:pPr marL="0" indent="0">
              <a:buNone/>
            </a:pPr>
            <a:r>
              <a:rPr lang="en-US" sz="1000" dirty="0">
                <a:solidFill>
                  <a:srgbClr val="E8F4FD"/>
                </a:solidFill>
              </a:rPr>
              <a:t>AND RAD &lt; 5 (low highway access). Count rows.</a:t>
            </a:r>
            <a:endParaRPr lang="en-US" sz="1000" dirty="0"/>
          </a:p>
        </p:txBody>
      </p:sp>
    </p:spTree>
    <p:extLst>
      <p:ext uri="{BB962C8B-B14F-4D97-AF65-F5344CB8AC3E}">
        <p14:creationId xmlns:p14="http://schemas.microsoft.com/office/powerpoint/2010/main" val="2027491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2 · Q&amp;A FRAMEWORKS</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Gen AI Q&amp;A Frameworks for Data</a:t>
            </a:r>
            <a:endParaRPr lang="en-US" sz="2200" dirty="0"/>
          </a:p>
        </p:txBody>
      </p:sp>
      <p:pic>
        <p:nvPicPr>
          <p:cNvPr id="6" name="Image 0" descr="preencoded.png"/>
          <p:cNvPicPr>
            <a:picLocks noChangeAspect="1"/>
          </p:cNvPicPr>
          <p:nvPr/>
        </p:nvPicPr>
        <p:blipFill>
          <a:blip r:embed="rId3"/>
          <a:stretch>
            <a:fillRect/>
          </a:stretch>
        </p:blipFill>
        <p:spPr>
          <a:xfrm>
            <a:off x="8138160" y="512064"/>
            <a:ext cx="566928" cy="566928"/>
          </a:xfrm>
          <a:prstGeom prst="rect">
            <a:avLst/>
          </a:prstGeom>
        </p:spPr>
      </p:pic>
      <p:sp>
        <p:nvSpPr>
          <p:cNvPr id="7" name="Shape 4"/>
          <p:cNvSpPr/>
          <p:nvPr/>
        </p:nvSpPr>
        <p:spPr>
          <a:xfrm>
            <a:off x="274320" y="841248"/>
            <a:ext cx="8595360" cy="658368"/>
          </a:xfrm>
          <a:prstGeom prst="rect">
            <a:avLst/>
          </a:prstGeom>
          <a:solidFill>
            <a:srgbClr val="0F2041"/>
          </a:solidFill>
          <a:ln w="19050">
            <a:solidFill>
              <a:srgbClr val="7B5EA7"/>
            </a:solidFill>
            <a:prstDash val="solid"/>
          </a:ln>
        </p:spPr>
        <p:txBody>
          <a:bodyPr/>
          <a:lstStyle/>
          <a:p>
            <a:endParaRPr lang="en-IN"/>
          </a:p>
        </p:txBody>
      </p:sp>
      <p:sp>
        <p:nvSpPr>
          <p:cNvPr id="8" name="Text 5"/>
          <p:cNvSpPr/>
          <p:nvPr/>
        </p:nvSpPr>
        <p:spPr>
          <a:xfrm>
            <a:off x="457200" y="859536"/>
            <a:ext cx="8229600" cy="603504"/>
          </a:xfrm>
          <a:prstGeom prst="rect">
            <a:avLst/>
          </a:prstGeom>
          <a:noFill/>
          <a:ln/>
        </p:spPr>
        <p:txBody>
          <a:bodyPr wrap="square" rtlCol="0" anchor="ctr"/>
          <a:lstStyle/>
          <a:p>
            <a:pPr marL="0" indent="0">
              <a:buNone/>
            </a:pPr>
            <a:r>
              <a:rPr lang="en-US" sz="1100" b="1" dirty="0">
                <a:solidFill>
                  <a:srgbClr val="7B5EA7"/>
                </a:solidFill>
              </a:rPr>
              <a:t>Core Concept:</a:t>
            </a:r>
            <a:r>
              <a:rPr lang="en-US" sz="1100" dirty="0">
                <a:solidFill>
                  <a:srgbClr val="E8F4FD"/>
                </a:solidFill>
              </a:rPr>
              <a:t> Q&amp;A for data = ask questions in natural language, get accurate data-backed answers — without writing code. These platforms democratise data access for every level of user.</a:t>
            </a:r>
            <a:endParaRPr lang="en-US" sz="1100" dirty="0"/>
          </a:p>
        </p:txBody>
      </p:sp>
      <p:sp>
        <p:nvSpPr>
          <p:cNvPr id="9" name="Shape 6"/>
          <p:cNvSpPr/>
          <p:nvPr/>
        </p:nvSpPr>
        <p:spPr>
          <a:xfrm>
            <a:off x="274320" y="1664208"/>
            <a:ext cx="2029968" cy="1353312"/>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10" name="Shape 7"/>
          <p:cNvSpPr/>
          <p:nvPr/>
        </p:nvSpPr>
        <p:spPr>
          <a:xfrm>
            <a:off x="274320" y="1664208"/>
            <a:ext cx="2029968" cy="36576"/>
          </a:xfrm>
          <a:prstGeom prst="rect">
            <a:avLst/>
          </a:prstGeom>
          <a:solidFill>
            <a:srgbClr val="00C8FF"/>
          </a:solidFill>
          <a:ln w="12700">
            <a:solidFill>
              <a:srgbClr val="00C8FF"/>
            </a:solidFill>
            <a:prstDash val="solid"/>
          </a:ln>
        </p:spPr>
        <p:txBody>
          <a:bodyPr/>
          <a:lstStyle/>
          <a:p>
            <a:endParaRPr lang="en-IN"/>
          </a:p>
        </p:txBody>
      </p:sp>
      <p:sp>
        <p:nvSpPr>
          <p:cNvPr id="11" name="Text 8"/>
          <p:cNvSpPr/>
          <p:nvPr/>
        </p:nvSpPr>
        <p:spPr>
          <a:xfrm>
            <a:off x="365760" y="1755648"/>
            <a:ext cx="1847088" cy="438912"/>
          </a:xfrm>
          <a:prstGeom prst="rect">
            <a:avLst/>
          </a:prstGeom>
          <a:noFill/>
          <a:ln/>
        </p:spPr>
        <p:txBody>
          <a:bodyPr wrap="square" rtlCol="0" anchor="ctr"/>
          <a:lstStyle/>
          <a:p>
            <a:pPr marL="0" indent="0">
              <a:buNone/>
            </a:pPr>
            <a:r>
              <a:rPr lang="en-US" sz="1000" b="1" dirty="0">
                <a:solidFill>
                  <a:srgbClr val="00C8FF"/>
                </a:solidFill>
              </a:rPr>
              <a:t>🏢  IBM Cognos Analytics</a:t>
            </a:r>
            <a:endParaRPr lang="en-US" sz="1000" dirty="0"/>
          </a:p>
        </p:txBody>
      </p:sp>
      <p:sp>
        <p:nvSpPr>
          <p:cNvPr id="12" name="Text 9"/>
          <p:cNvSpPr/>
          <p:nvPr/>
        </p:nvSpPr>
        <p:spPr>
          <a:xfrm>
            <a:off x="365760" y="2231136"/>
            <a:ext cx="1847088" cy="713232"/>
          </a:xfrm>
          <a:prstGeom prst="rect">
            <a:avLst/>
          </a:prstGeom>
          <a:noFill/>
          <a:ln/>
        </p:spPr>
        <p:txBody>
          <a:bodyPr wrap="square" rtlCol="0" anchor="ctr"/>
          <a:lstStyle/>
          <a:p>
            <a:pPr marL="0" indent="0">
              <a:buNone/>
            </a:pPr>
            <a:r>
              <a:rPr lang="en-US" sz="950" i="1" dirty="0">
                <a:solidFill>
                  <a:srgbClr val="A0B4C8"/>
                </a:solidFill>
              </a:rPr>
              <a:t>Enterprise BI</a:t>
            </a:r>
            <a:endParaRPr lang="en-US" sz="950" dirty="0"/>
          </a:p>
        </p:txBody>
      </p:sp>
      <p:sp>
        <p:nvSpPr>
          <p:cNvPr id="13" name="Shape 10"/>
          <p:cNvSpPr/>
          <p:nvPr/>
        </p:nvSpPr>
        <p:spPr>
          <a:xfrm>
            <a:off x="2450592" y="1664208"/>
            <a:ext cx="2029968" cy="1353312"/>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14" name="Shape 11"/>
          <p:cNvSpPr/>
          <p:nvPr/>
        </p:nvSpPr>
        <p:spPr>
          <a:xfrm>
            <a:off x="2450592" y="1664208"/>
            <a:ext cx="2029968" cy="36576"/>
          </a:xfrm>
          <a:prstGeom prst="rect">
            <a:avLst/>
          </a:prstGeom>
          <a:solidFill>
            <a:srgbClr val="7B5EA7"/>
          </a:solidFill>
          <a:ln w="12700">
            <a:solidFill>
              <a:srgbClr val="7B5EA7"/>
            </a:solidFill>
            <a:prstDash val="solid"/>
          </a:ln>
        </p:spPr>
        <p:txBody>
          <a:bodyPr/>
          <a:lstStyle/>
          <a:p>
            <a:endParaRPr lang="en-IN"/>
          </a:p>
        </p:txBody>
      </p:sp>
      <p:sp>
        <p:nvSpPr>
          <p:cNvPr id="15" name="Text 12"/>
          <p:cNvSpPr/>
          <p:nvPr/>
        </p:nvSpPr>
        <p:spPr>
          <a:xfrm>
            <a:off x="2542032" y="1755648"/>
            <a:ext cx="1847088" cy="438912"/>
          </a:xfrm>
          <a:prstGeom prst="rect">
            <a:avLst/>
          </a:prstGeom>
          <a:noFill/>
          <a:ln/>
        </p:spPr>
        <p:txBody>
          <a:bodyPr wrap="square" rtlCol="0" anchor="ctr"/>
          <a:lstStyle/>
          <a:p>
            <a:pPr marL="0" indent="0">
              <a:buNone/>
            </a:pPr>
            <a:r>
              <a:rPr lang="en-US" sz="1000" b="1" dirty="0">
                <a:solidFill>
                  <a:srgbClr val="7B5EA7"/>
                </a:solidFill>
              </a:rPr>
              <a:t>📊  Tableau Pulse</a:t>
            </a:r>
            <a:endParaRPr lang="en-US" sz="1000" dirty="0"/>
          </a:p>
        </p:txBody>
      </p:sp>
      <p:sp>
        <p:nvSpPr>
          <p:cNvPr id="16" name="Text 13"/>
          <p:cNvSpPr/>
          <p:nvPr/>
        </p:nvSpPr>
        <p:spPr>
          <a:xfrm>
            <a:off x="2542032" y="2231136"/>
            <a:ext cx="1847088" cy="713232"/>
          </a:xfrm>
          <a:prstGeom prst="rect">
            <a:avLst/>
          </a:prstGeom>
          <a:noFill/>
          <a:ln/>
        </p:spPr>
        <p:txBody>
          <a:bodyPr wrap="square" rtlCol="0" anchor="ctr"/>
          <a:lstStyle/>
          <a:p>
            <a:pPr marL="0" indent="0">
              <a:buNone/>
            </a:pPr>
            <a:r>
              <a:rPr lang="en-US" sz="950" i="1" dirty="0">
                <a:solidFill>
                  <a:srgbClr val="A0B4C8"/>
                </a:solidFill>
              </a:rPr>
              <a:t>Proactive Insights</a:t>
            </a:r>
            <a:endParaRPr lang="en-US" sz="950" dirty="0"/>
          </a:p>
        </p:txBody>
      </p:sp>
      <p:sp>
        <p:nvSpPr>
          <p:cNvPr id="17" name="Shape 14"/>
          <p:cNvSpPr/>
          <p:nvPr/>
        </p:nvSpPr>
        <p:spPr>
          <a:xfrm>
            <a:off x="4626864" y="1664208"/>
            <a:ext cx="2029968" cy="1353312"/>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18" name="Shape 15"/>
          <p:cNvSpPr/>
          <p:nvPr/>
        </p:nvSpPr>
        <p:spPr>
          <a:xfrm>
            <a:off x="4626864" y="1664208"/>
            <a:ext cx="2029968" cy="36576"/>
          </a:xfrm>
          <a:prstGeom prst="rect">
            <a:avLst/>
          </a:prstGeom>
          <a:solidFill>
            <a:srgbClr val="00E5A0"/>
          </a:solidFill>
          <a:ln w="12700">
            <a:solidFill>
              <a:srgbClr val="00E5A0"/>
            </a:solidFill>
            <a:prstDash val="solid"/>
          </a:ln>
        </p:spPr>
        <p:txBody>
          <a:bodyPr/>
          <a:lstStyle/>
          <a:p>
            <a:endParaRPr lang="en-IN"/>
          </a:p>
        </p:txBody>
      </p:sp>
      <p:sp>
        <p:nvSpPr>
          <p:cNvPr id="19" name="Text 16"/>
          <p:cNvSpPr/>
          <p:nvPr/>
        </p:nvSpPr>
        <p:spPr>
          <a:xfrm>
            <a:off x="4718304" y="1755648"/>
            <a:ext cx="1847088" cy="438912"/>
          </a:xfrm>
          <a:prstGeom prst="rect">
            <a:avLst/>
          </a:prstGeom>
          <a:noFill/>
          <a:ln/>
        </p:spPr>
        <p:txBody>
          <a:bodyPr wrap="square" rtlCol="0" anchor="ctr"/>
          <a:lstStyle/>
          <a:p>
            <a:pPr marL="0" indent="0">
              <a:buNone/>
            </a:pPr>
            <a:r>
              <a:rPr lang="en-US" sz="1000" b="1" dirty="0">
                <a:solidFill>
                  <a:srgbClr val="00E5A0"/>
                </a:solidFill>
              </a:rPr>
              <a:t>💬  Sisense Chatbot</a:t>
            </a:r>
            <a:endParaRPr lang="en-US" sz="1000" dirty="0"/>
          </a:p>
        </p:txBody>
      </p:sp>
      <p:sp>
        <p:nvSpPr>
          <p:cNvPr id="20" name="Text 17"/>
          <p:cNvSpPr/>
          <p:nvPr/>
        </p:nvSpPr>
        <p:spPr>
          <a:xfrm>
            <a:off x="4718304" y="2231136"/>
            <a:ext cx="1847088" cy="713232"/>
          </a:xfrm>
          <a:prstGeom prst="rect">
            <a:avLst/>
          </a:prstGeom>
          <a:noFill/>
          <a:ln/>
        </p:spPr>
        <p:txBody>
          <a:bodyPr wrap="square" rtlCol="0" anchor="ctr"/>
          <a:lstStyle/>
          <a:p>
            <a:pPr marL="0" indent="0">
              <a:buNone/>
            </a:pPr>
            <a:r>
              <a:rPr lang="en-US" sz="950" i="1" dirty="0">
                <a:solidFill>
                  <a:srgbClr val="A0B4C8"/>
                </a:solidFill>
              </a:rPr>
              <a:t>Conversational BI</a:t>
            </a:r>
            <a:endParaRPr lang="en-US" sz="950" dirty="0"/>
          </a:p>
        </p:txBody>
      </p:sp>
      <p:sp>
        <p:nvSpPr>
          <p:cNvPr id="21" name="Shape 18"/>
          <p:cNvSpPr/>
          <p:nvPr/>
        </p:nvSpPr>
        <p:spPr>
          <a:xfrm>
            <a:off x="6803136" y="1664208"/>
            <a:ext cx="2029968" cy="1353312"/>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22" name="Shape 19"/>
          <p:cNvSpPr/>
          <p:nvPr/>
        </p:nvSpPr>
        <p:spPr>
          <a:xfrm>
            <a:off x="6803136" y="1664208"/>
            <a:ext cx="2029968" cy="36576"/>
          </a:xfrm>
          <a:prstGeom prst="rect">
            <a:avLst/>
          </a:prstGeom>
          <a:solidFill>
            <a:srgbClr val="FFD166"/>
          </a:solidFill>
          <a:ln w="12700">
            <a:solidFill>
              <a:srgbClr val="FFD166"/>
            </a:solidFill>
            <a:prstDash val="solid"/>
          </a:ln>
        </p:spPr>
        <p:txBody>
          <a:bodyPr/>
          <a:lstStyle/>
          <a:p>
            <a:endParaRPr lang="en-IN"/>
          </a:p>
        </p:txBody>
      </p:sp>
      <p:sp>
        <p:nvSpPr>
          <p:cNvPr id="23" name="Text 20"/>
          <p:cNvSpPr/>
          <p:nvPr/>
        </p:nvSpPr>
        <p:spPr>
          <a:xfrm>
            <a:off x="6894576" y="1755648"/>
            <a:ext cx="1847088" cy="438912"/>
          </a:xfrm>
          <a:prstGeom prst="rect">
            <a:avLst/>
          </a:prstGeom>
          <a:noFill/>
          <a:ln/>
        </p:spPr>
        <p:txBody>
          <a:bodyPr wrap="square" rtlCol="0" anchor="ctr"/>
          <a:lstStyle/>
          <a:p>
            <a:pPr marL="0" indent="0">
              <a:buNone/>
            </a:pPr>
            <a:r>
              <a:rPr lang="en-US" sz="1000" b="1" dirty="0">
                <a:solidFill>
                  <a:srgbClr val="FFD166"/>
                </a:solidFill>
              </a:rPr>
              <a:t>🔍  ThoughtSpot Sage</a:t>
            </a:r>
            <a:endParaRPr lang="en-US" sz="1000" dirty="0"/>
          </a:p>
        </p:txBody>
      </p:sp>
      <p:sp>
        <p:nvSpPr>
          <p:cNvPr id="24" name="Text 21"/>
          <p:cNvSpPr/>
          <p:nvPr/>
        </p:nvSpPr>
        <p:spPr>
          <a:xfrm>
            <a:off x="6894576" y="2231136"/>
            <a:ext cx="1847088" cy="713232"/>
          </a:xfrm>
          <a:prstGeom prst="rect">
            <a:avLst/>
          </a:prstGeom>
          <a:noFill/>
          <a:ln/>
        </p:spPr>
        <p:txBody>
          <a:bodyPr wrap="square" rtlCol="0" anchor="ctr"/>
          <a:lstStyle/>
          <a:p>
            <a:pPr marL="0" indent="0">
              <a:buNone/>
            </a:pPr>
            <a:r>
              <a:rPr lang="en-US" sz="950" i="1" dirty="0">
                <a:solidFill>
                  <a:srgbClr val="A0B4C8"/>
                </a:solidFill>
              </a:rPr>
              <a:t>Search-Based NL</a:t>
            </a:r>
            <a:endParaRPr lang="en-US" sz="950" dirty="0"/>
          </a:p>
        </p:txBody>
      </p:sp>
      <p:sp>
        <p:nvSpPr>
          <p:cNvPr id="25" name="Shape 22"/>
          <p:cNvSpPr/>
          <p:nvPr/>
        </p:nvSpPr>
        <p:spPr>
          <a:xfrm>
            <a:off x="274320" y="3172968"/>
            <a:ext cx="2029968" cy="1353312"/>
          </a:xfrm>
          <a:prstGeom prst="rect">
            <a:avLst/>
          </a:prstGeom>
          <a:solidFill>
            <a:srgbClr val="112244"/>
          </a:solidFill>
          <a:ln w="19050">
            <a:solidFill>
              <a:srgbClr val="FF6B6B"/>
            </a:solidFill>
            <a:prstDash val="solid"/>
          </a:ln>
          <a:effectLst>
            <a:outerShdw blurRad="101600" dist="38100" dir="8100000" algn="bl" rotWithShape="0">
              <a:srgbClr val="000000">
                <a:alpha val="25000"/>
              </a:srgbClr>
            </a:outerShdw>
          </a:effectLst>
        </p:spPr>
        <p:txBody>
          <a:bodyPr/>
          <a:lstStyle/>
          <a:p>
            <a:endParaRPr lang="en-IN"/>
          </a:p>
        </p:txBody>
      </p:sp>
      <p:sp>
        <p:nvSpPr>
          <p:cNvPr id="26" name="Shape 23"/>
          <p:cNvSpPr/>
          <p:nvPr/>
        </p:nvSpPr>
        <p:spPr>
          <a:xfrm>
            <a:off x="274320" y="3172968"/>
            <a:ext cx="2029968" cy="36576"/>
          </a:xfrm>
          <a:prstGeom prst="rect">
            <a:avLst/>
          </a:prstGeom>
          <a:solidFill>
            <a:srgbClr val="FF6B6B"/>
          </a:solidFill>
          <a:ln w="12700">
            <a:solidFill>
              <a:srgbClr val="FF6B6B"/>
            </a:solidFill>
            <a:prstDash val="solid"/>
          </a:ln>
        </p:spPr>
        <p:txBody>
          <a:bodyPr/>
          <a:lstStyle/>
          <a:p>
            <a:endParaRPr lang="en-IN"/>
          </a:p>
        </p:txBody>
      </p:sp>
      <p:sp>
        <p:nvSpPr>
          <p:cNvPr id="27" name="Text 24"/>
          <p:cNvSpPr/>
          <p:nvPr/>
        </p:nvSpPr>
        <p:spPr>
          <a:xfrm>
            <a:off x="365760" y="3264408"/>
            <a:ext cx="1847088" cy="438912"/>
          </a:xfrm>
          <a:prstGeom prst="rect">
            <a:avLst/>
          </a:prstGeom>
          <a:noFill/>
          <a:ln/>
        </p:spPr>
        <p:txBody>
          <a:bodyPr wrap="square" rtlCol="0" anchor="ctr"/>
          <a:lstStyle/>
          <a:p>
            <a:pPr marL="0" indent="0">
              <a:buNone/>
            </a:pPr>
            <a:r>
              <a:rPr lang="en-US" sz="1000" b="1" dirty="0">
                <a:solidFill>
                  <a:srgbClr val="FF6B6B"/>
                </a:solidFill>
              </a:rPr>
              <a:t>⚡  Microsoft Power BI Q&amp;A</a:t>
            </a:r>
            <a:endParaRPr lang="en-US" sz="1000" dirty="0"/>
          </a:p>
        </p:txBody>
      </p:sp>
      <p:sp>
        <p:nvSpPr>
          <p:cNvPr id="28" name="Text 25"/>
          <p:cNvSpPr/>
          <p:nvPr/>
        </p:nvSpPr>
        <p:spPr>
          <a:xfrm>
            <a:off x="365760" y="3739896"/>
            <a:ext cx="1847088" cy="713232"/>
          </a:xfrm>
          <a:prstGeom prst="rect">
            <a:avLst/>
          </a:prstGeom>
          <a:noFill/>
          <a:ln/>
        </p:spPr>
        <p:txBody>
          <a:bodyPr wrap="square" rtlCol="0" anchor="ctr"/>
          <a:lstStyle/>
          <a:p>
            <a:pPr marL="0" indent="0">
              <a:buNone/>
            </a:pPr>
            <a:r>
              <a:rPr lang="en-US" sz="950" i="1" dirty="0">
                <a:solidFill>
                  <a:srgbClr val="A0B4C8"/>
                </a:solidFill>
              </a:rPr>
              <a:t>Microsoft Ecosystem</a:t>
            </a:r>
            <a:endParaRPr lang="en-US" sz="950" dirty="0"/>
          </a:p>
        </p:txBody>
      </p:sp>
      <p:sp>
        <p:nvSpPr>
          <p:cNvPr id="29" name="Shape 26"/>
          <p:cNvSpPr/>
          <p:nvPr/>
        </p:nvSpPr>
        <p:spPr>
          <a:xfrm>
            <a:off x="2450592" y="3172968"/>
            <a:ext cx="2029968" cy="1353312"/>
          </a:xfrm>
          <a:prstGeom prst="rect">
            <a:avLst/>
          </a:prstGeom>
          <a:solidFill>
            <a:srgbClr val="112244"/>
          </a:solidFill>
          <a:ln w="19050">
            <a:solidFill>
              <a:srgbClr val="00D4AA"/>
            </a:solidFill>
            <a:prstDash val="solid"/>
          </a:ln>
          <a:effectLst>
            <a:outerShdw blurRad="101600" dist="38100" dir="8100000" algn="bl" rotWithShape="0">
              <a:srgbClr val="000000">
                <a:alpha val="25000"/>
              </a:srgbClr>
            </a:outerShdw>
          </a:effectLst>
        </p:spPr>
        <p:txBody>
          <a:bodyPr/>
          <a:lstStyle/>
          <a:p>
            <a:endParaRPr lang="en-IN"/>
          </a:p>
        </p:txBody>
      </p:sp>
      <p:sp>
        <p:nvSpPr>
          <p:cNvPr id="30" name="Shape 27"/>
          <p:cNvSpPr/>
          <p:nvPr/>
        </p:nvSpPr>
        <p:spPr>
          <a:xfrm>
            <a:off x="2450592" y="3172968"/>
            <a:ext cx="2029968" cy="36576"/>
          </a:xfrm>
          <a:prstGeom prst="rect">
            <a:avLst/>
          </a:prstGeom>
          <a:solidFill>
            <a:srgbClr val="00D4AA"/>
          </a:solidFill>
          <a:ln w="12700">
            <a:solidFill>
              <a:srgbClr val="00D4AA"/>
            </a:solidFill>
            <a:prstDash val="solid"/>
          </a:ln>
        </p:spPr>
        <p:txBody>
          <a:bodyPr/>
          <a:lstStyle/>
          <a:p>
            <a:endParaRPr lang="en-IN"/>
          </a:p>
        </p:txBody>
      </p:sp>
      <p:sp>
        <p:nvSpPr>
          <p:cNvPr id="31" name="Text 28"/>
          <p:cNvSpPr/>
          <p:nvPr/>
        </p:nvSpPr>
        <p:spPr>
          <a:xfrm>
            <a:off x="2542032" y="3264408"/>
            <a:ext cx="1847088" cy="438912"/>
          </a:xfrm>
          <a:prstGeom prst="rect">
            <a:avLst/>
          </a:prstGeom>
          <a:noFill/>
          <a:ln/>
        </p:spPr>
        <p:txBody>
          <a:bodyPr wrap="square" rtlCol="0" anchor="ctr"/>
          <a:lstStyle/>
          <a:p>
            <a:pPr marL="0" indent="0">
              <a:buNone/>
            </a:pPr>
            <a:r>
              <a:rPr lang="en-US" sz="1000" b="1" dirty="0">
                <a:solidFill>
                  <a:srgbClr val="00D4AA"/>
                </a:solidFill>
              </a:rPr>
              <a:t>📈  Dash Enterprise</a:t>
            </a:r>
            <a:endParaRPr lang="en-US" sz="1000" dirty="0"/>
          </a:p>
        </p:txBody>
      </p:sp>
      <p:sp>
        <p:nvSpPr>
          <p:cNvPr id="32" name="Text 29"/>
          <p:cNvSpPr/>
          <p:nvPr/>
        </p:nvSpPr>
        <p:spPr>
          <a:xfrm>
            <a:off x="2542032" y="3739896"/>
            <a:ext cx="1847088" cy="713232"/>
          </a:xfrm>
          <a:prstGeom prst="rect">
            <a:avLst/>
          </a:prstGeom>
          <a:noFill/>
          <a:ln/>
        </p:spPr>
        <p:txBody>
          <a:bodyPr wrap="square" rtlCol="0" anchor="ctr"/>
          <a:lstStyle/>
          <a:p>
            <a:pPr marL="0" indent="0">
              <a:buNone/>
            </a:pPr>
            <a:r>
              <a:rPr lang="en-US" sz="950" i="1" dirty="0">
                <a:solidFill>
                  <a:srgbClr val="A0B4C8"/>
                </a:solidFill>
              </a:rPr>
              <a:t>Anomaly Detection</a:t>
            </a:r>
            <a:endParaRPr lang="en-US" sz="950" dirty="0"/>
          </a:p>
        </p:txBody>
      </p:sp>
      <p:sp>
        <p:nvSpPr>
          <p:cNvPr id="33" name="Shape 30"/>
          <p:cNvSpPr/>
          <p:nvPr/>
        </p:nvSpPr>
        <p:spPr>
          <a:xfrm>
            <a:off x="4626864" y="3172968"/>
            <a:ext cx="2029968" cy="1353312"/>
          </a:xfrm>
          <a:prstGeom prst="rect">
            <a:avLst/>
          </a:prstGeom>
          <a:solidFill>
            <a:srgbClr val="112244"/>
          </a:solidFill>
          <a:ln w="19050">
            <a:solidFill>
              <a:srgbClr val="A0B4C8"/>
            </a:solidFill>
            <a:prstDash val="solid"/>
          </a:ln>
          <a:effectLst>
            <a:outerShdw blurRad="101600" dist="38100" dir="8100000" algn="bl" rotWithShape="0">
              <a:srgbClr val="000000">
                <a:alpha val="25000"/>
              </a:srgbClr>
            </a:outerShdw>
          </a:effectLst>
        </p:spPr>
        <p:txBody>
          <a:bodyPr/>
          <a:lstStyle/>
          <a:p>
            <a:endParaRPr lang="en-IN"/>
          </a:p>
        </p:txBody>
      </p:sp>
      <p:sp>
        <p:nvSpPr>
          <p:cNvPr id="34" name="Shape 31"/>
          <p:cNvSpPr/>
          <p:nvPr/>
        </p:nvSpPr>
        <p:spPr>
          <a:xfrm>
            <a:off x="4626864" y="3172968"/>
            <a:ext cx="2029968" cy="36576"/>
          </a:xfrm>
          <a:prstGeom prst="rect">
            <a:avLst/>
          </a:prstGeom>
          <a:solidFill>
            <a:srgbClr val="A0B4C8"/>
          </a:solidFill>
          <a:ln w="12700">
            <a:solidFill>
              <a:srgbClr val="A0B4C8"/>
            </a:solidFill>
            <a:prstDash val="solid"/>
          </a:ln>
        </p:spPr>
        <p:txBody>
          <a:bodyPr/>
          <a:lstStyle/>
          <a:p>
            <a:endParaRPr lang="en-IN"/>
          </a:p>
        </p:txBody>
      </p:sp>
      <p:sp>
        <p:nvSpPr>
          <p:cNvPr id="35" name="Text 32"/>
          <p:cNvSpPr/>
          <p:nvPr/>
        </p:nvSpPr>
        <p:spPr>
          <a:xfrm>
            <a:off x="4718304" y="3264408"/>
            <a:ext cx="1847088" cy="438912"/>
          </a:xfrm>
          <a:prstGeom prst="rect">
            <a:avLst/>
          </a:prstGeom>
          <a:noFill/>
          <a:ln/>
        </p:spPr>
        <p:txBody>
          <a:bodyPr wrap="square" rtlCol="0" anchor="ctr"/>
          <a:lstStyle/>
          <a:p>
            <a:pPr marL="0" indent="0">
              <a:buNone/>
            </a:pPr>
            <a:r>
              <a:rPr lang="en-US" sz="1000" b="1" dirty="0">
                <a:solidFill>
                  <a:srgbClr val="A0B4C8"/>
                </a:solidFill>
              </a:rPr>
              <a:t>🎙️  Crystal by iGenius</a:t>
            </a:r>
            <a:endParaRPr lang="en-US" sz="1000" dirty="0"/>
          </a:p>
        </p:txBody>
      </p:sp>
      <p:sp>
        <p:nvSpPr>
          <p:cNvPr id="36" name="Text 33"/>
          <p:cNvSpPr/>
          <p:nvPr/>
        </p:nvSpPr>
        <p:spPr>
          <a:xfrm>
            <a:off x="4718304" y="3739896"/>
            <a:ext cx="1847088" cy="713232"/>
          </a:xfrm>
          <a:prstGeom prst="rect">
            <a:avLst/>
          </a:prstGeom>
          <a:noFill/>
          <a:ln/>
        </p:spPr>
        <p:txBody>
          <a:bodyPr wrap="square" rtlCol="0" anchor="ctr"/>
          <a:lstStyle/>
          <a:p>
            <a:pPr marL="0" indent="0">
              <a:buNone/>
            </a:pPr>
            <a:r>
              <a:rPr lang="en-US" sz="950" i="1" dirty="0">
                <a:solidFill>
                  <a:srgbClr val="A0B4C8"/>
                </a:solidFill>
              </a:rPr>
              <a:t>Voice + Text BI</a:t>
            </a:r>
            <a:endParaRPr lang="en-US" sz="950" dirty="0"/>
          </a:p>
        </p:txBody>
      </p:sp>
    </p:spTree>
    <p:extLst>
      <p:ext uri="{BB962C8B-B14F-4D97-AF65-F5344CB8AC3E}">
        <p14:creationId xmlns:p14="http://schemas.microsoft.com/office/powerpoint/2010/main" val="3508216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2 · Q&amp;A TOOLS</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100" b="1" dirty="0">
                <a:solidFill>
                  <a:srgbClr val="FFFFFF"/>
                </a:solidFill>
              </a:rPr>
              <a:t>Q&amp;A Tools — IBM Cognos, Tableau, Sisense, ThoughtSpot</a:t>
            </a:r>
            <a:endParaRPr lang="en-US" sz="2100" dirty="0"/>
          </a:p>
        </p:txBody>
      </p:sp>
      <p:sp>
        <p:nvSpPr>
          <p:cNvPr id="6" name="Shape 4"/>
          <p:cNvSpPr/>
          <p:nvPr/>
        </p:nvSpPr>
        <p:spPr>
          <a:xfrm>
            <a:off x="274320" y="1024128"/>
            <a:ext cx="4187952" cy="1938528"/>
          </a:xfrm>
          <a:prstGeom prst="rect">
            <a:avLst/>
          </a:prstGeom>
          <a:solidFill>
            <a:srgbClr val="112244"/>
          </a:solidFill>
          <a:ln w="2540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7" name="Shape 5"/>
          <p:cNvSpPr/>
          <p:nvPr/>
        </p:nvSpPr>
        <p:spPr>
          <a:xfrm>
            <a:off x="274320" y="1024128"/>
            <a:ext cx="4187952" cy="347472"/>
          </a:xfrm>
          <a:prstGeom prst="rect">
            <a:avLst/>
          </a:prstGeom>
          <a:solidFill>
            <a:srgbClr val="00C8FF"/>
          </a:solidFill>
          <a:ln w="12700">
            <a:solidFill>
              <a:srgbClr val="00C8FF"/>
            </a:solidFill>
            <a:prstDash val="solid"/>
          </a:ln>
        </p:spPr>
        <p:txBody>
          <a:bodyPr/>
          <a:lstStyle/>
          <a:p>
            <a:endParaRPr lang="en-IN"/>
          </a:p>
        </p:txBody>
      </p:sp>
      <p:sp>
        <p:nvSpPr>
          <p:cNvPr id="8" name="Text 6"/>
          <p:cNvSpPr/>
          <p:nvPr/>
        </p:nvSpPr>
        <p:spPr>
          <a:xfrm>
            <a:off x="384048" y="1024128"/>
            <a:ext cx="3968496" cy="347472"/>
          </a:xfrm>
          <a:prstGeom prst="rect">
            <a:avLst/>
          </a:prstGeom>
          <a:noFill/>
          <a:ln/>
        </p:spPr>
        <p:txBody>
          <a:bodyPr wrap="square" rtlCol="0" anchor="ctr"/>
          <a:lstStyle/>
          <a:p>
            <a:pPr marL="0" indent="0">
              <a:buNone/>
            </a:pPr>
            <a:r>
              <a:rPr lang="en-US" sz="1150" b="1" dirty="0">
                <a:solidFill>
                  <a:srgbClr val="0A1628"/>
                </a:solidFill>
              </a:rPr>
              <a:t>IBM Cognos Analytics</a:t>
            </a:r>
            <a:endParaRPr lang="en-US" sz="1150" dirty="0"/>
          </a:p>
        </p:txBody>
      </p:sp>
      <p:sp>
        <p:nvSpPr>
          <p:cNvPr id="9" name="Text 7"/>
          <p:cNvSpPr/>
          <p:nvPr/>
        </p:nvSpPr>
        <p:spPr>
          <a:xfrm>
            <a:off x="384048" y="1426464"/>
            <a:ext cx="3968496" cy="1463040"/>
          </a:xfrm>
          <a:prstGeom prst="rect">
            <a:avLst/>
          </a:prstGeom>
          <a:noFill/>
          <a:ln/>
        </p:spPr>
        <p:txBody>
          <a:bodyPr wrap="square" rtlCol="0" anchor="ctr"/>
          <a:lstStyle/>
          <a:p>
            <a:pPr marL="342900" indent="-342900">
              <a:buSzPct val="100000"/>
              <a:buChar char="•"/>
            </a:pPr>
            <a:r>
              <a:rPr lang="en-US" sz="1050" dirty="0">
                <a:solidFill>
                  <a:srgbClr val="E8F4FD"/>
                </a:solidFill>
              </a:rPr>
              <a:t>Enterprise-grade BI with native Gen AI</a:t>
            </a:r>
            <a:endParaRPr lang="en-US" sz="1050" dirty="0"/>
          </a:p>
          <a:p>
            <a:pPr marL="342900" indent="-342900">
              <a:buSzPct val="100000"/>
              <a:buChar char="•"/>
            </a:pPr>
            <a:r>
              <a:rPr lang="en-US" sz="1050" dirty="0">
                <a:solidFill>
                  <a:srgbClr val="E8F4FD"/>
                </a:solidFill>
              </a:rPr>
              <a:t>NL queries → chart + SQL in one step</a:t>
            </a:r>
            <a:endParaRPr lang="en-US" sz="1050" dirty="0"/>
          </a:p>
          <a:p>
            <a:pPr marL="342900" indent="-342900">
              <a:buSzPct val="100000"/>
              <a:buChar char="•"/>
            </a:pPr>
            <a:r>
              <a:rPr lang="en-US" sz="1050" dirty="0">
                <a:solidFill>
                  <a:srgbClr val="E8F4FD"/>
                </a:solidFill>
              </a:rPr>
              <a:t>Auto pattern detection &amp; anomaly alerts</a:t>
            </a:r>
            <a:endParaRPr lang="en-US" sz="1050" dirty="0"/>
          </a:p>
          <a:p>
            <a:pPr marL="342900" indent="-342900">
              <a:buSzPct val="100000"/>
              <a:buChar char="•"/>
            </a:pPr>
            <a:r>
              <a:rPr lang="en-US" sz="1050" dirty="0">
                <a:solidFill>
                  <a:srgbClr val="E8F4FD"/>
                </a:solidFill>
              </a:rPr>
              <a:t>Hypothesis testing against live data</a:t>
            </a:r>
            <a:endParaRPr lang="en-US" sz="1050" dirty="0"/>
          </a:p>
        </p:txBody>
      </p:sp>
      <p:sp>
        <p:nvSpPr>
          <p:cNvPr id="10" name="Shape 8"/>
          <p:cNvSpPr/>
          <p:nvPr/>
        </p:nvSpPr>
        <p:spPr>
          <a:xfrm>
            <a:off x="4645152" y="1024128"/>
            <a:ext cx="4187952" cy="1938528"/>
          </a:xfrm>
          <a:prstGeom prst="rect">
            <a:avLst/>
          </a:prstGeom>
          <a:solidFill>
            <a:srgbClr val="112244"/>
          </a:solidFill>
          <a:ln w="2540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4645152" y="1024128"/>
            <a:ext cx="4187952" cy="347472"/>
          </a:xfrm>
          <a:prstGeom prst="rect">
            <a:avLst/>
          </a:prstGeom>
          <a:solidFill>
            <a:srgbClr val="7B5EA7"/>
          </a:solidFill>
          <a:ln w="12700">
            <a:solidFill>
              <a:srgbClr val="7B5EA7"/>
            </a:solidFill>
            <a:prstDash val="solid"/>
          </a:ln>
        </p:spPr>
        <p:txBody>
          <a:bodyPr/>
          <a:lstStyle/>
          <a:p>
            <a:endParaRPr lang="en-IN"/>
          </a:p>
        </p:txBody>
      </p:sp>
      <p:sp>
        <p:nvSpPr>
          <p:cNvPr id="12" name="Text 10"/>
          <p:cNvSpPr/>
          <p:nvPr/>
        </p:nvSpPr>
        <p:spPr>
          <a:xfrm>
            <a:off x="4754880" y="1024128"/>
            <a:ext cx="3968496" cy="347472"/>
          </a:xfrm>
          <a:prstGeom prst="rect">
            <a:avLst/>
          </a:prstGeom>
          <a:noFill/>
          <a:ln/>
        </p:spPr>
        <p:txBody>
          <a:bodyPr wrap="square" rtlCol="0" anchor="ctr"/>
          <a:lstStyle/>
          <a:p>
            <a:pPr marL="0" indent="0">
              <a:buNone/>
            </a:pPr>
            <a:r>
              <a:rPr lang="en-US" sz="1150" b="1" dirty="0">
                <a:solidFill>
                  <a:srgbClr val="0A1628"/>
                </a:solidFill>
              </a:rPr>
              <a:t>Tableau Pulse (AI)</a:t>
            </a:r>
            <a:endParaRPr lang="en-US" sz="1150" dirty="0"/>
          </a:p>
        </p:txBody>
      </p:sp>
      <p:sp>
        <p:nvSpPr>
          <p:cNvPr id="13" name="Text 11"/>
          <p:cNvSpPr/>
          <p:nvPr/>
        </p:nvSpPr>
        <p:spPr>
          <a:xfrm>
            <a:off x="4754880" y="1426464"/>
            <a:ext cx="3968496" cy="1463040"/>
          </a:xfrm>
          <a:prstGeom prst="rect">
            <a:avLst/>
          </a:prstGeom>
          <a:noFill/>
          <a:ln/>
        </p:spPr>
        <p:txBody>
          <a:bodyPr wrap="square" rtlCol="0" anchor="ctr"/>
          <a:lstStyle/>
          <a:p>
            <a:pPr marL="342900" indent="-342900">
              <a:buSzPct val="100000"/>
              <a:buChar char="•"/>
            </a:pPr>
            <a:r>
              <a:rPr lang="en-US" sz="1050" dirty="0">
                <a:solidFill>
                  <a:srgbClr val="E8F4FD"/>
                </a:solidFill>
              </a:rPr>
              <a:t>Pushes insights to you — proactive, not reactive</a:t>
            </a:r>
            <a:endParaRPr lang="en-US" sz="1050" dirty="0"/>
          </a:p>
          <a:p>
            <a:pPr marL="342900" indent="-342900">
              <a:buSzPct val="100000"/>
              <a:buChar char="•"/>
            </a:pPr>
            <a:r>
              <a:rPr lang="en-US" sz="1050" dirty="0">
                <a:solidFill>
                  <a:srgbClr val="E8F4FD"/>
                </a:solidFill>
              </a:rPr>
              <a:t>Plain language daily metric summaries</a:t>
            </a:r>
            <a:endParaRPr lang="en-US" sz="1050" dirty="0"/>
          </a:p>
          <a:p>
            <a:pPr marL="342900" indent="-342900">
              <a:buSzPct val="100000"/>
              <a:buChar char="•"/>
            </a:pPr>
            <a:r>
              <a:rPr lang="en-US" sz="1050" dirty="0">
                <a:solidFill>
                  <a:srgbClr val="E8F4FD"/>
                </a:solidFill>
              </a:rPr>
              <a:t>Contextual follow-up questions suggested</a:t>
            </a:r>
            <a:endParaRPr lang="en-US" sz="1050" dirty="0"/>
          </a:p>
          <a:p>
            <a:pPr marL="342900" indent="-342900">
              <a:buSzPct val="100000"/>
              <a:buChar char="•"/>
            </a:pPr>
            <a:r>
              <a:rPr lang="en-US" sz="1050" dirty="0">
                <a:solidFill>
                  <a:srgbClr val="E8F4FD"/>
                </a:solidFill>
              </a:rPr>
              <a:t>Personalised to your role and metrics</a:t>
            </a:r>
            <a:endParaRPr lang="en-US" sz="1050" dirty="0"/>
          </a:p>
        </p:txBody>
      </p:sp>
      <p:sp>
        <p:nvSpPr>
          <p:cNvPr id="14" name="Shape 12"/>
          <p:cNvSpPr/>
          <p:nvPr/>
        </p:nvSpPr>
        <p:spPr>
          <a:xfrm>
            <a:off x="274320" y="3108960"/>
            <a:ext cx="4187952" cy="1938528"/>
          </a:xfrm>
          <a:prstGeom prst="rect">
            <a:avLst/>
          </a:prstGeom>
          <a:solidFill>
            <a:srgbClr val="112244"/>
          </a:solidFill>
          <a:ln w="2540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15" name="Shape 13"/>
          <p:cNvSpPr/>
          <p:nvPr/>
        </p:nvSpPr>
        <p:spPr>
          <a:xfrm>
            <a:off x="274320" y="3108960"/>
            <a:ext cx="4187952" cy="347472"/>
          </a:xfrm>
          <a:prstGeom prst="rect">
            <a:avLst/>
          </a:prstGeom>
          <a:solidFill>
            <a:srgbClr val="00E5A0"/>
          </a:solidFill>
          <a:ln w="12700">
            <a:solidFill>
              <a:srgbClr val="00E5A0"/>
            </a:solidFill>
            <a:prstDash val="solid"/>
          </a:ln>
        </p:spPr>
        <p:txBody>
          <a:bodyPr/>
          <a:lstStyle/>
          <a:p>
            <a:endParaRPr lang="en-IN"/>
          </a:p>
        </p:txBody>
      </p:sp>
      <p:sp>
        <p:nvSpPr>
          <p:cNvPr id="16" name="Text 14"/>
          <p:cNvSpPr/>
          <p:nvPr/>
        </p:nvSpPr>
        <p:spPr>
          <a:xfrm>
            <a:off x="384048" y="3108960"/>
            <a:ext cx="3968496" cy="347472"/>
          </a:xfrm>
          <a:prstGeom prst="rect">
            <a:avLst/>
          </a:prstGeom>
          <a:noFill/>
          <a:ln/>
        </p:spPr>
        <p:txBody>
          <a:bodyPr wrap="square" rtlCol="0" anchor="ctr"/>
          <a:lstStyle/>
          <a:p>
            <a:pPr marL="0" indent="0">
              <a:buNone/>
            </a:pPr>
            <a:r>
              <a:rPr lang="en-US" sz="1150" b="1" dirty="0">
                <a:solidFill>
                  <a:srgbClr val="0A1628"/>
                </a:solidFill>
              </a:rPr>
              <a:t>Sisense Analytics Chatbot</a:t>
            </a:r>
            <a:endParaRPr lang="en-US" sz="1150" dirty="0"/>
          </a:p>
        </p:txBody>
      </p:sp>
      <p:sp>
        <p:nvSpPr>
          <p:cNvPr id="17" name="Text 15"/>
          <p:cNvSpPr/>
          <p:nvPr/>
        </p:nvSpPr>
        <p:spPr>
          <a:xfrm>
            <a:off x="384048" y="3511296"/>
            <a:ext cx="3968496" cy="1463040"/>
          </a:xfrm>
          <a:prstGeom prst="rect">
            <a:avLst/>
          </a:prstGeom>
          <a:noFill/>
          <a:ln/>
        </p:spPr>
        <p:txBody>
          <a:bodyPr wrap="square" rtlCol="0" anchor="ctr"/>
          <a:lstStyle/>
          <a:p>
            <a:pPr marL="342900" indent="-342900">
              <a:buSzPct val="100000"/>
              <a:buChar char="•"/>
            </a:pPr>
            <a:r>
              <a:rPr lang="en-US" sz="1050" dirty="0">
                <a:solidFill>
                  <a:srgbClr val="E8F4FD"/>
                </a:solidFill>
              </a:rPr>
              <a:t>Chat interface inside the dashboard</a:t>
            </a:r>
            <a:endParaRPr lang="en-US" sz="1050" dirty="0"/>
          </a:p>
          <a:p>
            <a:pPr marL="342900" indent="-342900">
              <a:buSzPct val="100000"/>
              <a:buChar char="•"/>
            </a:pPr>
            <a:r>
              <a:rPr lang="en-US" sz="1050" dirty="0">
                <a:solidFill>
                  <a:srgbClr val="E8F4FD"/>
                </a:solidFill>
              </a:rPr>
              <a:t>Generates visuals inline in the chat</a:t>
            </a:r>
            <a:endParaRPr lang="en-US" sz="1050" dirty="0"/>
          </a:p>
          <a:p>
            <a:pPr marL="342900" indent="-342900">
              <a:buSzPct val="100000"/>
              <a:buChar char="•"/>
            </a:pPr>
            <a:r>
              <a:rPr lang="en-US" sz="1050" dirty="0">
                <a:solidFill>
                  <a:srgbClr val="E8F4FD"/>
                </a:solidFill>
              </a:rPr>
              <a:t>Contextual memory — follow-ups work</a:t>
            </a:r>
            <a:endParaRPr lang="en-US" sz="1050" dirty="0"/>
          </a:p>
          <a:p>
            <a:pPr marL="342900" indent="-342900">
              <a:buSzPct val="100000"/>
              <a:buChar char="•"/>
            </a:pPr>
            <a:r>
              <a:rPr lang="en-US" sz="1050" dirty="0">
                <a:solidFill>
                  <a:srgbClr val="E8F4FD"/>
                </a:solidFill>
              </a:rPr>
              <a:t>Strong for embedded SaaS analytics</a:t>
            </a:r>
            <a:endParaRPr lang="en-US" sz="1050" dirty="0"/>
          </a:p>
        </p:txBody>
      </p:sp>
      <p:sp>
        <p:nvSpPr>
          <p:cNvPr id="18" name="Shape 16"/>
          <p:cNvSpPr/>
          <p:nvPr/>
        </p:nvSpPr>
        <p:spPr>
          <a:xfrm>
            <a:off x="4645152" y="3108960"/>
            <a:ext cx="4187952" cy="1938528"/>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19" name="Shape 17"/>
          <p:cNvSpPr/>
          <p:nvPr/>
        </p:nvSpPr>
        <p:spPr>
          <a:xfrm>
            <a:off x="4645152" y="3108960"/>
            <a:ext cx="4187952" cy="347472"/>
          </a:xfrm>
          <a:prstGeom prst="rect">
            <a:avLst/>
          </a:prstGeom>
          <a:solidFill>
            <a:srgbClr val="FFD166"/>
          </a:solidFill>
          <a:ln w="12700">
            <a:solidFill>
              <a:srgbClr val="FFD166"/>
            </a:solidFill>
            <a:prstDash val="solid"/>
          </a:ln>
        </p:spPr>
        <p:txBody>
          <a:bodyPr/>
          <a:lstStyle/>
          <a:p>
            <a:endParaRPr lang="en-IN"/>
          </a:p>
        </p:txBody>
      </p:sp>
      <p:sp>
        <p:nvSpPr>
          <p:cNvPr id="20" name="Text 18"/>
          <p:cNvSpPr/>
          <p:nvPr/>
        </p:nvSpPr>
        <p:spPr>
          <a:xfrm>
            <a:off x="4754880" y="3108960"/>
            <a:ext cx="3968496" cy="347472"/>
          </a:xfrm>
          <a:prstGeom prst="rect">
            <a:avLst/>
          </a:prstGeom>
          <a:noFill/>
          <a:ln/>
        </p:spPr>
        <p:txBody>
          <a:bodyPr wrap="square" rtlCol="0" anchor="ctr"/>
          <a:lstStyle/>
          <a:p>
            <a:pPr marL="0" indent="0">
              <a:buNone/>
            </a:pPr>
            <a:r>
              <a:rPr lang="en-US" sz="1150" b="1" dirty="0">
                <a:solidFill>
                  <a:srgbClr val="0A1628"/>
                </a:solidFill>
              </a:rPr>
              <a:t>ThoughtSpot Sage</a:t>
            </a:r>
            <a:endParaRPr lang="en-US" sz="1150" dirty="0"/>
          </a:p>
        </p:txBody>
      </p:sp>
      <p:sp>
        <p:nvSpPr>
          <p:cNvPr id="21" name="Text 19"/>
          <p:cNvSpPr/>
          <p:nvPr/>
        </p:nvSpPr>
        <p:spPr>
          <a:xfrm>
            <a:off x="4754880" y="3511296"/>
            <a:ext cx="3968496" cy="1463040"/>
          </a:xfrm>
          <a:prstGeom prst="rect">
            <a:avLst/>
          </a:prstGeom>
          <a:noFill/>
          <a:ln/>
        </p:spPr>
        <p:txBody>
          <a:bodyPr wrap="square" rtlCol="0" anchor="ctr"/>
          <a:lstStyle/>
          <a:p>
            <a:pPr marL="342900" indent="-342900">
              <a:buSzPct val="100000"/>
              <a:buChar char="•"/>
            </a:pPr>
            <a:r>
              <a:rPr lang="en-US" sz="1050" dirty="0">
                <a:solidFill>
                  <a:srgbClr val="E8F4FD"/>
                </a:solidFill>
              </a:rPr>
              <a:t>Google-like search bar for data</a:t>
            </a:r>
            <a:endParaRPr lang="en-US" sz="1050" dirty="0"/>
          </a:p>
          <a:p>
            <a:pPr marL="342900" indent="-342900">
              <a:buSzPct val="100000"/>
              <a:buChar char="•"/>
            </a:pPr>
            <a:r>
              <a:rPr lang="en-US" sz="1050" dirty="0">
                <a:solidFill>
                  <a:srgbClr val="E8F4FD"/>
                </a:solidFill>
              </a:rPr>
              <a:t>Synonym recognition: revenue = sales = income</a:t>
            </a:r>
            <a:endParaRPr lang="en-US" sz="1050" dirty="0"/>
          </a:p>
          <a:p>
            <a:pPr marL="342900" indent="-342900">
              <a:buSzPct val="100000"/>
              <a:buChar char="•"/>
            </a:pPr>
            <a:r>
              <a:rPr lang="en-US" sz="1050" dirty="0">
                <a:solidFill>
                  <a:srgbClr val="E8F4FD"/>
                </a:solidFill>
              </a:rPr>
              <a:t>Personalised suggestions from query history</a:t>
            </a:r>
            <a:endParaRPr lang="en-US" sz="1050" dirty="0"/>
          </a:p>
          <a:p>
            <a:pPr marL="342900" indent="-342900">
              <a:buSzPct val="100000"/>
              <a:buChar char="•"/>
            </a:pPr>
            <a:r>
              <a:rPr lang="en-US" sz="1050" dirty="0">
                <a:solidFill>
                  <a:srgbClr val="E8F4FD"/>
                </a:solidFill>
              </a:rPr>
              <a:t>Every answer links to source data</a:t>
            </a:r>
            <a:endParaRPr lang="en-US" sz="1050" dirty="0"/>
          </a:p>
        </p:txBody>
      </p:sp>
    </p:spTree>
    <p:extLst>
      <p:ext uri="{BB962C8B-B14F-4D97-AF65-F5344CB8AC3E}">
        <p14:creationId xmlns:p14="http://schemas.microsoft.com/office/powerpoint/2010/main" val="71596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2 · Q&amp;A TOOLS</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100" b="1" dirty="0">
                <a:solidFill>
                  <a:srgbClr val="FFFFFF"/>
                </a:solidFill>
              </a:rPr>
              <a:t>Q&amp;A Tools — Power BI, Dash, Crystal + Comparison</a:t>
            </a:r>
            <a:endParaRPr lang="en-US" sz="2100" dirty="0"/>
          </a:p>
        </p:txBody>
      </p:sp>
      <p:sp>
        <p:nvSpPr>
          <p:cNvPr id="6" name="Shape 4"/>
          <p:cNvSpPr/>
          <p:nvPr/>
        </p:nvSpPr>
        <p:spPr>
          <a:xfrm>
            <a:off x="274320" y="987552"/>
            <a:ext cx="2761488" cy="2148840"/>
          </a:xfrm>
          <a:prstGeom prst="rect">
            <a:avLst/>
          </a:prstGeom>
          <a:solidFill>
            <a:srgbClr val="112244"/>
          </a:solidFill>
          <a:ln w="25400">
            <a:solidFill>
              <a:srgbClr val="FF6B6B"/>
            </a:solidFill>
            <a:prstDash val="solid"/>
          </a:ln>
          <a:effectLst>
            <a:outerShdw blurRad="101600" dist="38100" dir="8100000" algn="bl" rotWithShape="0">
              <a:srgbClr val="000000">
                <a:alpha val="25000"/>
              </a:srgbClr>
            </a:outerShdw>
          </a:effectLst>
        </p:spPr>
        <p:txBody>
          <a:bodyPr/>
          <a:lstStyle/>
          <a:p>
            <a:endParaRPr lang="en-IN"/>
          </a:p>
        </p:txBody>
      </p:sp>
      <p:sp>
        <p:nvSpPr>
          <p:cNvPr id="7" name="Shape 5"/>
          <p:cNvSpPr/>
          <p:nvPr/>
        </p:nvSpPr>
        <p:spPr>
          <a:xfrm>
            <a:off x="274320" y="987552"/>
            <a:ext cx="2761488" cy="347472"/>
          </a:xfrm>
          <a:prstGeom prst="rect">
            <a:avLst/>
          </a:prstGeom>
          <a:solidFill>
            <a:srgbClr val="FF6B6B"/>
          </a:solidFill>
          <a:ln w="12700">
            <a:solidFill>
              <a:srgbClr val="FF6B6B"/>
            </a:solidFill>
            <a:prstDash val="solid"/>
          </a:ln>
        </p:spPr>
        <p:txBody>
          <a:bodyPr/>
          <a:lstStyle/>
          <a:p>
            <a:endParaRPr lang="en-IN"/>
          </a:p>
        </p:txBody>
      </p:sp>
      <p:sp>
        <p:nvSpPr>
          <p:cNvPr id="8" name="Text 6"/>
          <p:cNvSpPr/>
          <p:nvPr/>
        </p:nvSpPr>
        <p:spPr>
          <a:xfrm>
            <a:off x="365760" y="987552"/>
            <a:ext cx="2578608" cy="347472"/>
          </a:xfrm>
          <a:prstGeom prst="rect">
            <a:avLst/>
          </a:prstGeom>
          <a:noFill/>
          <a:ln/>
        </p:spPr>
        <p:txBody>
          <a:bodyPr wrap="square" rtlCol="0" anchor="ctr"/>
          <a:lstStyle/>
          <a:p>
            <a:pPr marL="0" indent="0">
              <a:buNone/>
            </a:pPr>
            <a:r>
              <a:rPr lang="en-US" sz="1100" b="1" dirty="0">
                <a:solidFill>
                  <a:srgbClr val="0A1628"/>
                </a:solidFill>
              </a:rPr>
              <a:t>Microsoft Power BI Q&amp;A</a:t>
            </a:r>
            <a:endParaRPr lang="en-US" sz="1100" dirty="0"/>
          </a:p>
        </p:txBody>
      </p:sp>
      <p:sp>
        <p:nvSpPr>
          <p:cNvPr id="9" name="Text 7"/>
          <p:cNvSpPr/>
          <p:nvPr/>
        </p:nvSpPr>
        <p:spPr>
          <a:xfrm>
            <a:off x="365760" y="1389888"/>
            <a:ext cx="2578608" cy="1664208"/>
          </a:xfrm>
          <a:prstGeom prst="rect">
            <a:avLst/>
          </a:prstGeom>
          <a:noFill/>
          <a:ln/>
        </p:spPr>
        <p:txBody>
          <a:bodyPr wrap="square" rtlCol="0" anchor="ctr"/>
          <a:lstStyle/>
          <a:p>
            <a:pPr marL="342900" indent="-342900">
              <a:buSzPct val="100000"/>
              <a:buChar char="•"/>
            </a:pPr>
            <a:r>
              <a:rPr lang="en-US" sz="1000" dirty="0">
                <a:solidFill>
                  <a:srgbClr val="E8F4FD"/>
                </a:solidFill>
              </a:rPr>
              <a:t>NL queries embedded inside Power BI reports</a:t>
            </a:r>
            <a:endParaRPr lang="en-US" sz="1000" dirty="0"/>
          </a:p>
          <a:p>
            <a:pPr marL="342900" indent="-342900">
              <a:buSzPct val="100000"/>
              <a:buChar char="•"/>
            </a:pPr>
            <a:r>
              <a:rPr lang="en-US" sz="1000" dirty="0">
                <a:solidFill>
                  <a:srgbClr val="E8F4FD"/>
                </a:solidFill>
              </a:rPr>
              <a:t>Add synonyms so 'sales' = 'revenue' = 'income'</a:t>
            </a:r>
            <a:endParaRPr lang="en-US" sz="1000" dirty="0"/>
          </a:p>
          <a:p>
            <a:pPr marL="342900" indent="-342900">
              <a:buSzPct val="100000"/>
              <a:buChar char="•"/>
            </a:pPr>
            <a:r>
              <a:rPr lang="en-US" sz="1000" dirty="0">
                <a:solidFill>
                  <a:srgbClr val="E8F4FD"/>
                </a:solidFill>
              </a:rPr>
              <a:t>Translates NL to DAX (Power BI query language)</a:t>
            </a:r>
            <a:endParaRPr lang="en-US" sz="1000" dirty="0"/>
          </a:p>
          <a:p>
            <a:pPr marL="342900" indent="-342900">
              <a:buSzPct val="100000"/>
              <a:buChar char="•"/>
            </a:pPr>
            <a:r>
              <a:rPr lang="en-US" sz="1000" dirty="0">
                <a:solidFill>
                  <a:srgbClr val="E8F4FD"/>
                </a:solidFill>
              </a:rPr>
              <a:t>Question suggestions as you type</a:t>
            </a:r>
            <a:endParaRPr lang="en-US" sz="1000" dirty="0"/>
          </a:p>
        </p:txBody>
      </p:sp>
      <p:sp>
        <p:nvSpPr>
          <p:cNvPr id="10" name="Shape 8"/>
          <p:cNvSpPr/>
          <p:nvPr/>
        </p:nvSpPr>
        <p:spPr>
          <a:xfrm>
            <a:off x="3182112" y="987552"/>
            <a:ext cx="2761488" cy="2148840"/>
          </a:xfrm>
          <a:prstGeom prst="rect">
            <a:avLst/>
          </a:prstGeom>
          <a:solidFill>
            <a:srgbClr val="112244"/>
          </a:solidFill>
          <a:ln w="25400">
            <a:solidFill>
              <a:srgbClr val="00D4AA"/>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3182112" y="987552"/>
            <a:ext cx="2761488" cy="347472"/>
          </a:xfrm>
          <a:prstGeom prst="rect">
            <a:avLst/>
          </a:prstGeom>
          <a:solidFill>
            <a:srgbClr val="00D4AA"/>
          </a:solidFill>
          <a:ln w="12700">
            <a:solidFill>
              <a:srgbClr val="00D4AA"/>
            </a:solidFill>
            <a:prstDash val="solid"/>
          </a:ln>
        </p:spPr>
        <p:txBody>
          <a:bodyPr/>
          <a:lstStyle/>
          <a:p>
            <a:endParaRPr lang="en-IN"/>
          </a:p>
        </p:txBody>
      </p:sp>
      <p:sp>
        <p:nvSpPr>
          <p:cNvPr id="12" name="Text 10"/>
          <p:cNvSpPr/>
          <p:nvPr/>
        </p:nvSpPr>
        <p:spPr>
          <a:xfrm>
            <a:off x="3273552" y="987552"/>
            <a:ext cx="2578608" cy="347472"/>
          </a:xfrm>
          <a:prstGeom prst="rect">
            <a:avLst/>
          </a:prstGeom>
          <a:noFill/>
          <a:ln/>
        </p:spPr>
        <p:txBody>
          <a:bodyPr wrap="square" rtlCol="0" anchor="ctr"/>
          <a:lstStyle/>
          <a:p>
            <a:pPr marL="0" indent="0">
              <a:buNone/>
            </a:pPr>
            <a:r>
              <a:rPr lang="en-US" sz="1100" b="1" dirty="0">
                <a:solidFill>
                  <a:srgbClr val="0A1628"/>
                </a:solidFill>
              </a:rPr>
              <a:t>Dash Enterprise (Plotly)</a:t>
            </a:r>
            <a:endParaRPr lang="en-US" sz="1100" dirty="0"/>
          </a:p>
        </p:txBody>
      </p:sp>
      <p:sp>
        <p:nvSpPr>
          <p:cNvPr id="13" name="Text 11"/>
          <p:cNvSpPr/>
          <p:nvPr/>
        </p:nvSpPr>
        <p:spPr>
          <a:xfrm>
            <a:off x="3273552" y="1389888"/>
            <a:ext cx="2578608" cy="1664208"/>
          </a:xfrm>
          <a:prstGeom prst="rect">
            <a:avLst/>
          </a:prstGeom>
          <a:noFill/>
          <a:ln/>
        </p:spPr>
        <p:txBody>
          <a:bodyPr wrap="square" rtlCol="0" anchor="ctr"/>
          <a:lstStyle/>
          <a:p>
            <a:pPr marL="342900" indent="-342900">
              <a:buSzPct val="100000"/>
              <a:buChar char="•"/>
            </a:pPr>
            <a:r>
              <a:rPr lang="en-US" sz="1000" dirty="0">
                <a:solidFill>
                  <a:srgbClr val="E8F4FD"/>
                </a:solidFill>
              </a:rPr>
              <a:t>Automatic anomaly and outlier detection</a:t>
            </a:r>
            <a:endParaRPr lang="en-US" sz="1000" dirty="0"/>
          </a:p>
          <a:p>
            <a:pPr marL="342900" indent="-342900">
              <a:buSzPct val="100000"/>
              <a:buChar char="•"/>
            </a:pPr>
            <a:r>
              <a:rPr lang="en-US" sz="1000" dirty="0">
                <a:solidFill>
                  <a:srgbClr val="E8F4FD"/>
                </a:solidFill>
              </a:rPr>
              <a:t>Root cause analysis — WHY did it change?</a:t>
            </a:r>
            <a:endParaRPr lang="en-US" sz="1000" dirty="0"/>
          </a:p>
          <a:p>
            <a:pPr marL="342900" indent="-342900">
              <a:buSzPct val="100000"/>
              <a:buChar char="•"/>
            </a:pPr>
            <a:r>
              <a:rPr lang="en-US" sz="1000" dirty="0">
                <a:solidFill>
                  <a:srgbClr val="E8F4FD"/>
                </a:solidFill>
              </a:rPr>
              <a:t>Built for Python data science teams</a:t>
            </a:r>
            <a:endParaRPr lang="en-US" sz="1000" dirty="0"/>
          </a:p>
          <a:p>
            <a:pPr marL="342900" indent="-342900">
              <a:buSzPct val="100000"/>
              <a:buChar char="•"/>
            </a:pPr>
            <a:r>
              <a:rPr lang="en-US" sz="1000" dirty="0">
                <a:solidFill>
                  <a:srgbClr val="E8F4FD"/>
                </a:solidFill>
              </a:rPr>
              <a:t>Smart insights on top of Plotly apps</a:t>
            </a:r>
            <a:endParaRPr lang="en-US" sz="1000" dirty="0"/>
          </a:p>
        </p:txBody>
      </p:sp>
      <p:sp>
        <p:nvSpPr>
          <p:cNvPr id="14" name="Shape 12"/>
          <p:cNvSpPr/>
          <p:nvPr/>
        </p:nvSpPr>
        <p:spPr>
          <a:xfrm>
            <a:off x="6089904" y="987552"/>
            <a:ext cx="2761488" cy="2148840"/>
          </a:xfrm>
          <a:prstGeom prst="rect">
            <a:avLst/>
          </a:prstGeom>
          <a:solidFill>
            <a:srgbClr val="112244"/>
          </a:solidFill>
          <a:ln w="2540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15" name="Shape 13"/>
          <p:cNvSpPr/>
          <p:nvPr/>
        </p:nvSpPr>
        <p:spPr>
          <a:xfrm>
            <a:off x="6089904" y="987552"/>
            <a:ext cx="2761488" cy="347472"/>
          </a:xfrm>
          <a:prstGeom prst="rect">
            <a:avLst/>
          </a:prstGeom>
          <a:solidFill>
            <a:srgbClr val="7B5EA7"/>
          </a:solidFill>
          <a:ln w="12700">
            <a:solidFill>
              <a:srgbClr val="7B5EA7"/>
            </a:solidFill>
            <a:prstDash val="solid"/>
          </a:ln>
        </p:spPr>
        <p:txBody>
          <a:bodyPr/>
          <a:lstStyle/>
          <a:p>
            <a:endParaRPr lang="en-IN"/>
          </a:p>
        </p:txBody>
      </p:sp>
      <p:sp>
        <p:nvSpPr>
          <p:cNvPr id="16" name="Text 14"/>
          <p:cNvSpPr/>
          <p:nvPr/>
        </p:nvSpPr>
        <p:spPr>
          <a:xfrm>
            <a:off x="6181344" y="987552"/>
            <a:ext cx="2578608" cy="347472"/>
          </a:xfrm>
          <a:prstGeom prst="rect">
            <a:avLst/>
          </a:prstGeom>
          <a:noFill/>
          <a:ln/>
        </p:spPr>
        <p:txBody>
          <a:bodyPr wrap="square" rtlCol="0" anchor="ctr"/>
          <a:lstStyle/>
          <a:p>
            <a:pPr marL="0" indent="0">
              <a:buNone/>
            </a:pPr>
            <a:r>
              <a:rPr lang="en-US" sz="1100" b="1" dirty="0">
                <a:solidFill>
                  <a:srgbClr val="0A1628"/>
                </a:solidFill>
              </a:rPr>
              <a:t>Crystal by iGenius</a:t>
            </a:r>
            <a:endParaRPr lang="en-US" sz="1100" dirty="0"/>
          </a:p>
        </p:txBody>
      </p:sp>
      <p:sp>
        <p:nvSpPr>
          <p:cNvPr id="17" name="Text 15"/>
          <p:cNvSpPr/>
          <p:nvPr/>
        </p:nvSpPr>
        <p:spPr>
          <a:xfrm>
            <a:off x="6181344" y="1389888"/>
            <a:ext cx="2578608" cy="1664208"/>
          </a:xfrm>
          <a:prstGeom prst="rect">
            <a:avLst/>
          </a:prstGeom>
          <a:noFill/>
          <a:ln/>
        </p:spPr>
        <p:txBody>
          <a:bodyPr wrap="square" rtlCol="0" anchor="ctr"/>
          <a:lstStyle/>
          <a:p>
            <a:pPr marL="342900" indent="-342900">
              <a:buSzPct val="100000"/>
              <a:buChar char="•"/>
            </a:pPr>
            <a:r>
              <a:rPr lang="en-US" sz="1000" dirty="0">
                <a:solidFill>
                  <a:srgbClr val="E8F4FD"/>
                </a:solidFill>
              </a:rPr>
              <a:t>Voice + text natural language queries</a:t>
            </a:r>
            <a:endParaRPr lang="en-US" sz="1000" dirty="0"/>
          </a:p>
          <a:p>
            <a:pPr marL="342900" indent="-342900">
              <a:buSzPct val="100000"/>
              <a:buChar char="•"/>
            </a:pPr>
            <a:r>
              <a:rPr lang="en-US" sz="1000" dirty="0">
                <a:solidFill>
                  <a:srgbClr val="E8F4FD"/>
                </a:solidFill>
              </a:rPr>
              <a:t>Personalised KPI alerts sent to you</a:t>
            </a:r>
            <a:endParaRPr lang="en-US" sz="1000" dirty="0"/>
          </a:p>
          <a:p>
            <a:pPr marL="342900" indent="-342900">
              <a:buSzPct val="100000"/>
              <a:buChar char="•"/>
            </a:pPr>
            <a:r>
              <a:rPr lang="en-US" sz="1000" dirty="0">
                <a:solidFill>
                  <a:srgbClr val="E8F4FD"/>
                </a:solidFill>
              </a:rPr>
              <a:t>Collaborative team data storytelling</a:t>
            </a:r>
            <a:endParaRPr lang="en-US" sz="1000" dirty="0"/>
          </a:p>
          <a:p>
            <a:pPr marL="342900" indent="-342900">
              <a:buSzPct val="100000"/>
              <a:buChar char="•"/>
            </a:pPr>
            <a:r>
              <a:rPr lang="en-US" sz="1000" dirty="0">
                <a:solidFill>
                  <a:srgbClr val="E8F4FD"/>
                </a:solidFill>
              </a:rPr>
              <a:t>Most accessible interface for executives</a:t>
            </a:r>
            <a:endParaRPr lang="en-US" sz="1000" dirty="0"/>
          </a:p>
        </p:txBody>
      </p:sp>
      <p:sp>
        <p:nvSpPr>
          <p:cNvPr id="18" name="Text 16"/>
          <p:cNvSpPr/>
          <p:nvPr/>
        </p:nvSpPr>
        <p:spPr>
          <a:xfrm>
            <a:off x="274320" y="3255264"/>
            <a:ext cx="8595360" cy="310896"/>
          </a:xfrm>
          <a:prstGeom prst="rect">
            <a:avLst/>
          </a:prstGeom>
          <a:noFill/>
          <a:ln/>
        </p:spPr>
        <p:txBody>
          <a:bodyPr wrap="square" rtlCol="0" anchor="ctr"/>
          <a:lstStyle/>
          <a:p>
            <a:pPr marL="0" indent="0">
              <a:buNone/>
            </a:pPr>
            <a:r>
              <a:rPr lang="en-US" sz="1300" b="1" dirty="0">
                <a:solidFill>
                  <a:srgbClr val="00C8FF"/>
                </a:solidFill>
              </a:rPr>
              <a:t>When to Use Which Tool</a:t>
            </a:r>
            <a:endParaRPr lang="en-US" sz="1300" dirty="0"/>
          </a:p>
        </p:txBody>
      </p:sp>
      <p:sp>
        <p:nvSpPr>
          <p:cNvPr id="19" name="Text 17"/>
          <p:cNvSpPr/>
          <p:nvPr/>
        </p:nvSpPr>
        <p:spPr>
          <a:xfrm>
            <a:off x="274320" y="3621024"/>
            <a:ext cx="1737360" cy="310896"/>
          </a:xfrm>
          <a:prstGeom prst="rect">
            <a:avLst/>
          </a:prstGeom>
          <a:solidFill>
            <a:srgbClr val="00C8FF"/>
          </a:solidFill>
          <a:ln/>
        </p:spPr>
        <p:txBody>
          <a:bodyPr wrap="square" rtlCol="0" anchor="ctr"/>
          <a:lstStyle/>
          <a:p>
            <a:pPr marL="0" indent="0">
              <a:buNone/>
            </a:pPr>
            <a:r>
              <a:rPr lang="en-US" sz="1000" b="1" dirty="0">
                <a:solidFill>
                  <a:srgbClr val="0A1628"/>
                </a:solidFill>
              </a:rPr>
              <a:t>Tool</a:t>
            </a:r>
            <a:endParaRPr lang="en-US" sz="1000" dirty="0"/>
          </a:p>
        </p:txBody>
      </p:sp>
      <p:sp>
        <p:nvSpPr>
          <p:cNvPr id="20" name="Text 18"/>
          <p:cNvSpPr/>
          <p:nvPr/>
        </p:nvSpPr>
        <p:spPr>
          <a:xfrm>
            <a:off x="2011680" y="3621024"/>
            <a:ext cx="2176272" cy="310896"/>
          </a:xfrm>
          <a:prstGeom prst="rect">
            <a:avLst/>
          </a:prstGeom>
          <a:solidFill>
            <a:srgbClr val="00C8FF"/>
          </a:solidFill>
          <a:ln/>
        </p:spPr>
        <p:txBody>
          <a:bodyPr wrap="square" rtlCol="0" anchor="ctr"/>
          <a:lstStyle/>
          <a:p>
            <a:pPr marL="0" indent="0">
              <a:buNone/>
            </a:pPr>
            <a:r>
              <a:rPr lang="en-US" sz="1000" b="1" dirty="0">
                <a:solidFill>
                  <a:srgbClr val="0A1628"/>
                </a:solidFill>
              </a:rPr>
              <a:t>Target User</a:t>
            </a:r>
            <a:endParaRPr lang="en-US" sz="1000" dirty="0"/>
          </a:p>
        </p:txBody>
      </p:sp>
      <p:sp>
        <p:nvSpPr>
          <p:cNvPr id="21" name="Text 19"/>
          <p:cNvSpPr/>
          <p:nvPr/>
        </p:nvSpPr>
        <p:spPr>
          <a:xfrm>
            <a:off x="4187952" y="3621024"/>
            <a:ext cx="4297680" cy="310896"/>
          </a:xfrm>
          <a:prstGeom prst="rect">
            <a:avLst/>
          </a:prstGeom>
          <a:solidFill>
            <a:srgbClr val="00C8FF"/>
          </a:solidFill>
          <a:ln/>
        </p:spPr>
        <p:txBody>
          <a:bodyPr wrap="square" rtlCol="0" anchor="ctr"/>
          <a:lstStyle/>
          <a:p>
            <a:pPr marL="0" indent="0">
              <a:buNone/>
            </a:pPr>
            <a:r>
              <a:rPr lang="en-US" sz="1000" b="1" dirty="0">
                <a:solidFill>
                  <a:srgbClr val="0A1628"/>
                </a:solidFill>
              </a:rPr>
              <a:t>Best For</a:t>
            </a:r>
            <a:endParaRPr lang="en-US" sz="1000" dirty="0"/>
          </a:p>
        </p:txBody>
      </p:sp>
      <p:sp>
        <p:nvSpPr>
          <p:cNvPr id="22" name="Shape 20"/>
          <p:cNvSpPr/>
          <p:nvPr/>
        </p:nvSpPr>
        <p:spPr>
          <a:xfrm>
            <a:off x="274320" y="3621024"/>
            <a:ext cx="1737360" cy="310896"/>
          </a:xfrm>
          <a:prstGeom prst="rect">
            <a:avLst/>
          </a:prstGeom>
          <a:solidFill>
            <a:srgbClr val="00C8FF"/>
          </a:solidFill>
          <a:ln w="12700">
            <a:solidFill>
              <a:srgbClr val="00C8FF"/>
            </a:solidFill>
            <a:prstDash val="solid"/>
          </a:ln>
        </p:spPr>
        <p:txBody>
          <a:bodyPr/>
          <a:lstStyle/>
          <a:p>
            <a:endParaRPr lang="en-IN"/>
          </a:p>
        </p:txBody>
      </p:sp>
      <p:sp>
        <p:nvSpPr>
          <p:cNvPr id="23" name="Shape 21"/>
          <p:cNvSpPr/>
          <p:nvPr/>
        </p:nvSpPr>
        <p:spPr>
          <a:xfrm>
            <a:off x="2011680" y="3621024"/>
            <a:ext cx="2176272" cy="310896"/>
          </a:xfrm>
          <a:prstGeom prst="rect">
            <a:avLst/>
          </a:prstGeom>
          <a:solidFill>
            <a:srgbClr val="00C8FF"/>
          </a:solidFill>
          <a:ln w="12700">
            <a:solidFill>
              <a:srgbClr val="00C8FF"/>
            </a:solidFill>
            <a:prstDash val="solid"/>
          </a:ln>
        </p:spPr>
        <p:txBody>
          <a:bodyPr/>
          <a:lstStyle/>
          <a:p>
            <a:endParaRPr lang="en-IN"/>
          </a:p>
        </p:txBody>
      </p:sp>
      <p:sp>
        <p:nvSpPr>
          <p:cNvPr id="24" name="Shape 22"/>
          <p:cNvSpPr/>
          <p:nvPr/>
        </p:nvSpPr>
        <p:spPr>
          <a:xfrm>
            <a:off x="4187952" y="3621024"/>
            <a:ext cx="4297680" cy="310896"/>
          </a:xfrm>
          <a:prstGeom prst="rect">
            <a:avLst/>
          </a:prstGeom>
          <a:solidFill>
            <a:srgbClr val="00C8FF"/>
          </a:solidFill>
          <a:ln w="12700">
            <a:solidFill>
              <a:srgbClr val="00C8FF"/>
            </a:solidFill>
            <a:prstDash val="solid"/>
          </a:ln>
        </p:spPr>
        <p:txBody>
          <a:bodyPr/>
          <a:lstStyle/>
          <a:p>
            <a:endParaRPr lang="en-IN"/>
          </a:p>
        </p:txBody>
      </p:sp>
      <p:sp>
        <p:nvSpPr>
          <p:cNvPr id="25" name="Shape 23"/>
          <p:cNvSpPr/>
          <p:nvPr/>
        </p:nvSpPr>
        <p:spPr>
          <a:xfrm>
            <a:off x="274320" y="3968496"/>
            <a:ext cx="8485632" cy="256032"/>
          </a:xfrm>
          <a:prstGeom prst="rect">
            <a:avLst/>
          </a:prstGeom>
          <a:solidFill>
            <a:srgbClr val="112244"/>
          </a:solidFill>
          <a:ln w="12700">
            <a:solidFill>
              <a:srgbClr val="0F2041"/>
            </a:solidFill>
            <a:prstDash val="solid"/>
          </a:ln>
        </p:spPr>
        <p:txBody>
          <a:bodyPr/>
          <a:lstStyle/>
          <a:p>
            <a:endParaRPr lang="en-IN"/>
          </a:p>
        </p:txBody>
      </p:sp>
      <p:sp>
        <p:nvSpPr>
          <p:cNvPr id="26" name="Text 24"/>
          <p:cNvSpPr/>
          <p:nvPr/>
        </p:nvSpPr>
        <p:spPr>
          <a:xfrm>
            <a:off x="365760" y="3968496"/>
            <a:ext cx="1645920" cy="256032"/>
          </a:xfrm>
          <a:prstGeom prst="rect">
            <a:avLst/>
          </a:prstGeom>
          <a:noFill/>
          <a:ln/>
        </p:spPr>
        <p:txBody>
          <a:bodyPr wrap="square" rtlCol="0" anchor="ctr"/>
          <a:lstStyle/>
          <a:p>
            <a:pPr marL="0" indent="0">
              <a:buNone/>
            </a:pPr>
            <a:r>
              <a:rPr lang="en-US" sz="950" b="1" dirty="0">
                <a:solidFill>
                  <a:srgbClr val="00C8FF"/>
                </a:solidFill>
              </a:rPr>
              <a:t>IBM Cognos</a:t>
            </a:r>
            <a:endParaRPr lang="en-US" sz="950" dirty="0"/>
          </a:p>
        </p:txBody>
      </p:sp>
      <p:sp>
        <p:nvSpPr>
          <p:cNvPr id="27" name="Text 25"/>
          <p:cNvSpPr/>
          <p:nvPr/>
        </p:nvSpPr>
        <p:spPr>
          <a:xfrm>
            <a:off x="2103120" y="3968496"/>
            <a:ext cx="2084832" cy="256032"/>
          </a:xfrm>
          <a:prstGeom prst="rect">
            <a:avLst/>
          </a:prstGeom>
          <a:noFill/>
          <a:ln/>
        </p:spPr>
        <p:txBody>
          <a:bodyPr wrap="square" rtlCol="0" anchor="ctr"/>
          <a:lstStyle/>
          <a:p>
            <a:pPr marL="0" indent="0">
              <a:buNone/>
            </a:pPr>
            <a:r>
              <a:rPr lang="en-US" sz="950" dirty="0">
                <a:solidFill>
                  <a:srgbClr val="E8F4FD"/>
                </a:solidFill>
              </a:rPr>
              <a:t>Enterprise data teams</a:t>
            </a:r>
            <a:endParaRPr lang="en-US" sz="950" dirty="0"/>
          </a:p>
        </p:txBody>
      </p:sp>
      <p:sp>
        <p:nvSpPr>
          <p:cNvPr id="28" name="Text 26"/>
          <p:cNvSpPr/>
          <p:nvPr/>
        </p:nvSpPr>
        <p:spPr>
          <a:xfrm>
            <a:off x="4279392" y="3968496"/>
            <a:ext cx="4407408" cy="256032"/>
          </a:xfrm>
          <a:prstGeom prst="rect">
            <a:avLst/>
          </a:prstGeom>
          <a:noFill/>
          <a:ln/>
        </p:spPr>
        <p:txBody>
          <a:bodyPr wrap="square" rtlCol="0" anchor="ctr"/>
          <a:lstStyle/>
          <a:p>
            <a:pPr marL="0" indent="0">
              <a:buNone/>
            </a:pPr>
            <a:r>
              <a:rPr lang="en-US" sz="950" dirty="0">
                <a:solidFill>
                  <a:srgbClr val="E8F4FD"/>
                </a:solidFill>
              </a:rPr>
              <a:t>Full BI + governed analytics</a:t>
            </a:r>
            <a:endParaRPr lang="en-US" sz="950" dirty="0"/>
          </a:p>
        </p:txBody>
      </p:sp>
      <p:sp>
        <p:nvSpPr>
          <p:cNvPr id="29" name="Shape 27"/>
          <p:cNvSpPr/>
          <p:nvPr/>
        </p:nvSpPr>
        <p:spPr>
          <a:xfrm>
            <a:off x="274320" y="4242816"/>
            <a:ext cx="8485632" cy="256032"/>
          </a:xfrm>
          <a:prstGeom prst="rect">
            <a:avLst/>
          </a:prstGeom>
          <a:solidFill>
            <a:srgbClr val="0F2041"/>
          </a:solidFill>
          <a:ln w="12700">
            <a:solidFill>
              <a:srgbClr val="0F2041"/>
            </a:solidFill>
            <a:prstDash val="solid"/>
          </a:ln>
        </p:spPr>
        <p:txBody>
          <a:bodyPr/>
          <a:lstStyle/>
          <a:p>
            <a:endParaRPr lang="en-IN"/>
          </a:p>
        </p:txBody>
      </p:sp>
      <p:sp>
        <p:nvSpPr>
          <p:cNvPr id="30" name="Text 28"/>
          <p:cNvSpPr/>
          <p:nvPr/>
        </p:nvSpPr>
        <p:spPr>
          <a:xfrm>
            <a:off x="365760" y="4242816"/>
            <a:ext cx="1645920" cy="256032"/>
          </a:xfrm>
          <a:prstGeom prst="rect">
            <a:avLst/>
          </a:prstGeom>
          <a:noFill/>
          <a:ln/>
        </p:spPr>
        <p:txBody>
          <a:bodyPr wrap="square" rtlCol="0" anchor="ctr"/>
          <a:lstStyle/>
          <a:p>
            <a:pPr marL="0" indent="0">
              <a:buNone/>
            </a:pPr>
            <a:r>
              <a:rPr lang="en-US" sz="950" b="1" dirty="0">
                <a:solidFill>
                  <a:srgbClr val="00C8FF"/>
                </a:solidFill>
              </a:rPr>
              <a:t>ThoughtSpot</a:t>
            </a:r>
            <a:endParaRPr lang="en-US" sz="950" dirty="0"/>
          </a:p>
        </p:txBody>
      </p:sp>
      <p:sp>
        <p:nvSpPr>
          <p:cNvPr id="31" name="Text 29"/>
          <p:cNvSpPr/>
          <p:nvPr/>
        </p:nvSpPr>
        <p:spPr>
          <a:xfrm>
            <a:off x="2103120" y="4242816"/>
            <a:ext cx="2084832" cy="256032"/>
          </a:xfrm>
          <a:prstGeom prst="rect">
            <a:avLst/>
          </a:prstGeom>
          <a:noFill/>
          <a:ln/>
        </p:spPr>
        <p:txBody>
          <a:bodyPr wrap="square" rtlCol="0" anchor="ctr"/>
          <a:lstStyle/>
          <a:p>
            <a:pPr marL="0" indent="0">
              <a:buNone/>
            </a:pPr>
            <a:r>
              <a:rPr lang="en-US" sz="950" dirty="0">
                <a:solidFill>
                  <a:srgbClr val="E8F4FD"/>
                </a:solidFill>
              </a:rPr>
              <a:t>Business users</a:t>
            </a:r>
            <a:endParaRPr lang="en-US" sz="950" dirty="0"/>
          </a:p>
        </p:txBody>
      </p:sp>
      <p:sp>
        <p:nvSpPr>
          <p:cNvPr id="32" name="Text 30"/>
          <p:cNvSpPr/>
          <p:nvPr/>
        </p:nvSpPr>
        <p:spPr>
          <a:xfrm>
            <a:off x="4279392" y="4242816"/>
            <a:ext cx="4407408" cy="256032"/>
          </a:xfrm>
          <a:prstGeom prst="rect">
            <a:avLst/>
          </a:prstGeom>
          <a:noFill/>
          <a:ln/>
        </p:spPr>
        <p:txBody>
          <a:bodyPr wrap="square" rtlCol="0" anchor="ctr"/>
          <a:lstStyle/>
          <a:p>
            <a:pPr marL="0" indent="0">
              <a:buNone/>
            </a:pPr>
            <a:r>
              <a:rPr lang="en-US" sz="950" dirty="0">
                <a:solidFill>
                  <a:srgbClr val="E8F4FD"/>
                </a:solidFill>
              </a:rPr>
              <a:t>Self-service, Google-like simplicity</a:t>
            </a:r>
            <a:endParaRPr lang="en-US" sz="950" dirty="0"/>
          </a:p>
        </p:txBody>
      </p:sp>
      <p:sp>
        <p:nvSpPr>
          <p:cNvPr id="33" name="Shape 31"/>
          <p:cNvSpPr/>
          <p:nvPr/>
        </p:nvSpPr>
        <p:spPr>
          <a:xfrm>
            <a:off x="274320" y="4517136"/>
            <a:ext cx="8485632" cy="256032"/>
          </a:xfrm>
          <a:prstGeom prst="rect">
            <a:avLst/>
          </a:prstGeom>
          <a:solidFill>
            <a:srgbClr val="112244"/>
          </a:solidFill>
          <a:ln w="12700">
            <a:solidFill>
              <a:srgbClr val="0F2041"/>
            </a:solidFill>
            <a:prstDash val="solid"/>
          </a:ln>
        </p:spPr>
        <p:txBody>
          <a:bodyPr/>
          <a:lstStyle/>
          <a:p>
            <a:endParaRPr lang="en-IN"/>
          </a:p>
        </p:txBody>
      </p:sp>
      <p:sp>
        <p:nvSpPr>
          <p:cNvPr id="34" name="Text 32"/>
          <p:cNvSpPr/>
          <p:nvPr/>
        </p:nvSpPr>
        <p:spPr>
          <a:xfrm>
            <a:off x="365760" y="4517136"/>
            <a:ext cx="1645920" cy="256032"/>
          </a:xfrm>
          <a:prstGeom prst="rect">
            <a:avLst/>
          </a:prstGeom>
          <a:noFill/>
          <a:ln/>
        </p:spPr>
        <p:txBody>
          <a:bodyPr wrap="square" rtlCol="0" anchor="ctr"/>
          <a:lstStyle/>
          <a:p>
            <a:pPr marL="0" indent="0">
              <a:buNone/>
            </a:pPr>
            <a:r>
              <a:rPr lang="en-US" sz="950" b="1" dirty="0">
                <a:solidFill>
                  <a:srgbClr val="00C8FF"/>
                </a:solidFill>
              </a:rPr>
              <a:t>Power BI Q&amp;A</a:t>
            </a:r>
            <a:endParaRPr lang="en-US" sz="950" dirty="0"/>
          </a:p>
        </p:txBody>
      </p:sp>
      <p:sp>
        <p:nvSpPr>
          <p:cNvPr id="35" name="Text 33"/>
          <p:cNvSpPr/>
          <p:nvPr/>
        </p:nvSpPr>
        <p:spPr>
          <a:xfrm>
            <a:off x="2103120" y="4517136"/>
            <a:ext cx="2084832" cy="256032"/>
          </a:xfrm>
          <a:prstGeom prst="rect">
            <a:avLst/>
          </a:prstGeom>
          <a:noFill/>
          <a:ln/>
        </p:spPr>
        <p:txBody>
          <a:bodyPr wrap="square" rtlCol="0" anchor="ctr"/>
          <a:lstStyle/>
          <a:p>
            <a:pPr marL="0" indent="0">
              <a:buNone/>
            </a:pPr>
            <a:r>
              <a:rPr lang="en-US" sz="950" dirty="0">
                <a:solidFill>
                  <a:srgbClr val="E8F4FD"/>
                </a:solidFill>
              </a:rPr>
              <a:t>Microsoft stack users</a:t>
            </a:r>
            <a:endParaRPr lang="en-US" sz="950" dirty="0"/>
          </a:p>
        </p:txBody>
      </p:sp>
      <p:sp>
        <p:nvSpPr>
          <p:cNvPr id="36" name="Text 34"/>
          <p:cNvSpPr/>
          <p:nvPr/>
        </p:nvSpPr>
        <p:spPr>
          <a:xfrm>
            <a:off x="4279392" y="4517136"/>
            <a:ext cx="4407408" cy="256032"/>
          </a:xfrm>
          <a:prstGeom prst="rect">
            <a:avLst/>
          </a:prstGeom>
          <a:noFill/>
          <a:ln/>
        </p:spPr>
        <p:txBody>
          <a:bodyPr wrap="square" rtlCol="0" anchor="ctr"/>
          <a:lstStyle/>
          <a:p>
            <a:pPr marL="0" indent="0">
              <a:buNone/>
            </a:pPr>
            <a:r>
              <a:rPr lang="en-US" sz="950" dirty="0">
                <a:solidFill>
                  <a:srgbClr val="E8F4FD"/>
                </a:solidFill>
              </a:rPr>
              <a:t>Integrated into existing Power BI</a:t>
            </a:r>
            <a:endParaRPr lang="en-US" sz="950" dirty="0"/>
          </a:p>
        </p:txBody>
      </p:sp>
      <p:sp>
        <p:nvSpPr>
          <p:cNvPr id="37" name="Shape 35"/>
          <p:cNvSpPr/>
          <p:nvPr/>
        </p:nvSpPr>
        <p:spPr>
          <a:xfrm>
            <a:off x="274320" y="4791456"/>
            <a:ext cx="8485632" cy="256032"/>
          </a:xfrm>
          <a:prstGeom prst="rect">
            <a:avLst/>
          </a:prstGeom>
          <a:solidFill>
            <a:srgbClr val="0F2041"/>
          </a:solidFill>
          <a:ln w="12700">
            <a:solidFill>
              <a:srgbClr val="0F2041"/>
            </a:solidFill>
            <a:prstDash val="solid"/>
          </a:ln>
        </p:spPr>
        <p:txBody>
          <a:bodyPr/>
          <a:lstStyle/>
          <a:p>
            <a:endParaRPr lang="en-IN"/>
          </a:p>
        </p:txBody>
      </p:sp>
      <p:sp>
        <p:nvSpPr>
          <p:cNvPr id="38" name="Text 36"/>
          <p:cNvSpPr/>
          <p:nvPr/>
        </p:nvSpPr>
        <p:spPr>
          <a:xfrm>
            <a:off x="365760" y="4791456"/>
            <a:ext cx="1645920" cy="256032"/>
          </a:xfrm>
          <a:prstGeom prst="rect">
            <a:avLst/>
          </a:prstGeom>
          <a:noFill/>
          <a:ln/>
        </p:spPr>
        <p:txBody>
          <a:bodyPr wrap="square" rtlCol="0" anchor="ctr"/>
          <a:lstStyle/>
          <a:p>
            <a:pPr marL="0" indent="0">
              <a:buNone/>
            </a:pPr>
            <a:r>
              <a:rPr lang="en-US" sz="950" b="1" dirty="0">
                <a:solidFill>
                  <a:srgbClr val="00C8FF"/>
                </a:solidFill>
              </a:rPr>
              <a:t>Crystal</a:t>
            </a:r>
            <a:endParaRPr lang="en-US" sz="950" dirty="0"/>
          </a:p>
        </p:txBody>
      </p:sp>
      <p:sp>
        <p:nvSpPr>
          <p:cNvPr id="39" name="Text 37"/>
          <p:cNvSpPr/>
          <p:nvPr/>
        </p:nvSpPr>
        <p:spPr>
          <a:xfrm>
            <a:off x="2103120" y="4791456"/>
            <a:ext cx="2084832" cy="256032"/>
          </a:xfrm>
          <a:prstGeom prst="rect">
            <a:avLst/>
          </a:prstGeom>
          <a:noFill/>
          <a:ln/>
        </p:spPr>
        <p:txBody>
          <a:bodyPr wrap="square" rtlCol="0" anchor="ctr"/>
          <a:lstStyle/>
          <a:p>
            <a:pPr marL="0" indent="0">
              <a:buNone/>
            </a:pPr>
            <a:r>
              <a:rPr lang="en-US" sz="950" dirty="0">
                <a:solidFill>
                  <a:srgbClr val="E8F4FD"/>
                </a:solidFill>
              </a:rPr>
              <a:t>Executives / non-technical</a:t>
            </a:r>
            <a:endParaRPr lang="en-US" sz="950" dirty="0"/>
          </a:p>
        </p:txBody>
      </p:sp>
      <p:sp>
        <p:nvSpPr>
          <p:cNvPr id="40" name="Text 38"/>
          <p:cNvSpPr/>
          <p:nvPr/>
        </p:nvSpPr>
        <p:spPr>
          <a:xfrm>
            <a:off x="4279392" y="4791456"/>
            <a:ext cx="4407408" cy="256032"/>
          </a:xfrm>
          <a:prstGeom prst="rect">
            <a:avLst/>
          </a:prstGeom>
          <a:noFill/>
          <a:ln/>
        </p:spPr>
        <p:txBody>
          <a:bodyPr wrap="square" rtlCol="0" anchor="ctr"/>
          <a:lstStyle/>
          <a:p>
            <a:pPr marL="0" indent="0">
              <a:buNone/>
            </a:pPr>
            <a:r>
              <a:rPr lang="en-US" sz="950" dirty="0">
                <a:solidFill>
                  <a:srgbClr val="E8F4FD"/>
                </a:solidFill>
              </a:rPr>
              <a:t>Voice + text, KPI alerts</a:t>
            </a:r>
            <a:endParaRPr lang="en-US" sz="950" dirty="0"/>
          </a:p>
        </p:txBody>
      </p:sp>
    </p:spTree>
    <p:extLst>
      <p:ext uri="{BB962C8B-B14F-4D97-AF65-F5344CB8AC3E}">
        <p14:creationId xmlns:p14="http://schemas.microsoft.com/office/powerpoint/2010/main" val="386924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00C8FF"/>
          </a:solidFill>
          <a:ln w="12700">
            <a:solidFill>
              <a:srgbClr val="00C8FF"/>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4 · MICROSOFT COPILOT</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Microsoft 365 Copilot — AI in Your Daily Tools</a:t>
            </a:r>
            <a:endParaRPr lang="en-US" sz="2200" dirty="0"/>
          </a:p>
        </p:txBody>
      </p:sp>
      <p:pic>
        <p:nvPicPr>
          <p:cNvPr id="6" name="Image 0" descr="preencoded.png"/>
          <p:cNvPicPr>
            <a:picLocks noChangeAspect="1"/>
          </p:cNvPicPr>
          <p:nvPr/>
        </p:nvPicPr>
        <p:blipFill>
          <a:blip r:embed="rId3"/>
          <a:stretch>
            <a:fillRect/>
          </a:stretch>
        </p:blipFill>
        <p:spPr>
          <a:xfrm>
            <a:off x="8138160" y="512064"/>
            <a:ext cx="566928" cy="566928"/>
          </a:xfrm>
          <a:prstGeom prst="rect">
            <a:avLst/>
          </a:prstGeom>
        </p:spPr>
      </p:pic>
      <p:sp>
        <p:nvSpPr>
          <p:cNvPr id="7" name="Shape 4"/>
          <p:cNvSpPr/>
          <p:nvPr/>
        </p:nvSpPr>
        <p:spPr>
          <a:xfrm>
            <a:off x="274320" y="841248"/>
            <a:ext cx="8595360" cy="658368"/>
          </a:xfrm>
          <a:prstGeom prst="rect">
            <a:avLst/>
          </a:prstGeom>
          <a:solidFill>
            <a:srgbClr val="0F2041"/>
          </a:solidFill>
          <a:ln w="19050">
            <a:solidFill>
              <a:srgbClr val="00C8FF"/>
            </a:solidFill>
            <a:prstDash val="solid"/>
          </a:ln>
        </p:spPr>
        <p:txBody>
          <a:bodyPr/>
          <a:lstStyle/>
          <a:p>
            <a:endParaRPr lang="en-IN"/>
          </a:p>
        </p:txBody>
      </p:sp>
      <p:sp>
        <p:nvSpPr>
          <p:cNvPr id="8" name="Text 5"/>
          <p:cNvSpPr/>
          <p:nvPr/>
        </p:nvSpPr>
        <p:spPr>
          <a:xfrm>
            <a:off x="457200" y="859536"/>
            <a:ext cx="8229600" cy="603504"/>
          </a:xfrm>
          <a:prstGeom prst="rect">
            <a:avLst/>
          </a:prstGeom>
          <a:noFill/>
          <a:ln/>
        </p:spPr>
        <p:txBody>
          <a:bodyPr wrap="square" rtlCol="0" anchor="ctr"/>
          <a:lstStyle/>
          <a:p>
            <a:pPr marL="0" indent="0">
              <a:buNone/>
            </a:pPr>
            <a:r>
              <a:rPr lang="en-US" sz="1100" b="1" dirty="0">
                <a:solidFill>
                  <a:srgbClr val="00C8FF"/>
                </a:solidFill>
              </a:rPr>
              <a:t>Core Concept:</a:t>
            </a:r>
            <a:r>
              <a:rPr lang="en-US" sz="1100" dirty="0">
                <a:solidFill>
                  <a:srgbClr val="E8F4FD"/>
                </a:solidFill>
              </a:rPr>
              <a:t> Microsoft 365 Copilot integrates GPT-4 into Word, Excel, PowerPoint, Outlook, and Teams — transforming routine, time-consuming tasks into conversational interactions.</a:t>
            </a:r>
            <a:endParaRPr lang="en-US" sz="1100" dirty="0"/>
          </a:p>
        </p:txBody>
      </p:sp>
      <p:sp>
        <p:nvSpPr>
          <p:cNvPr id="9" name="Shape 6"/>
          <p:cNvSpPr/>
          <p:nvPr/>
        </p:nvSpPr>
        <p:spPr>
          <a:xfrm>
            <a:off x="274320" y="1664208"/>
            <a:ext cx="2761488" cy="1645920"/>
          </a:xfrm>
          <a:prstGeom prst="rect">
            <a:avLst/>
          </a:prstGeom>
          <a:solidFill>
            <a:srgbClr val="112244"/>
          </a:solidFill>
          <a:ln w="2540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10" name="Text 7"/>
          <p:cNvSpPr/>
          <p:nvPr/>
        </p:nvSpPr>
        <p:spPr>
          <a:xfrm>
            <a:off x="274320" y="1755648"/>
            <a:ext cx="2761488" cy="822960"/>
          </a:xfrm>
          <a:prstGeom prst="rect">
            <a:avLst/>
          </a:prstGeom>
          <a:noFill/>
          <a:ln/>
        </p:spPr>
        <p:txBody>
          <a:bodyPr wrap="square" rtlCol="0" anchor="ctr"/>
          <a:lstStyle/>
          <a:p>
            <a:pPr marL="0" indent="0" algn="ctr">
              <a:buNone/>
            </a:pPr>
            <a:r>
              <a:rPr lang="en-US" sz="4800" b="1" dirty="0">
                <a:solidFill>
                  <a:srgbClr val="00C8FF"/>
                </a:solidFill>
              </a:rPr>
              <a:t>88%</a:t>
            </a:r>
            <a:endParaRPr lang="en-US" sz="4800" dirty="0"/>
          </a:p>
        </p:txBody>
      </p:sp>
      <p:sp>
        <p:nvSpPr>
          <p:cNvPr id="11" name="Text 8"/>
          <p:cNvSpPr/>
          <p:nvPr/>
        </p:nvSpPr>
        <p:spPr>
          <a:xfrm>
            <a:off x="384048" y="2615184"/>
            <a:ext cx="2542032" cy="548640"/>
          </a:xfrm>
          <a:prstGeom prst="rect">
            <a:avLst/>
          </a:prstGeom>
          <a:noFill/>
          <a:ln/>
        </p:spPr>
        <p:txBody>
          <a:bodyPr wrap="square" rtlCol="0" anchor="ctr"/>
          <a:lstStyle/>
          <a:p>
            <a:pPr marL="0" indent="0" algn="ctr">
              <a:buNone/>
            </a:pPr>
            <a:r>
              <a:rPr lang="en-US" sz="1150" dirty="0">
                <a:solidFill>
                  <a:srgbClr val="E8F4FD"/>
                </a:solidFill>
              </a:rPr>
              <a:t>of users are more</a:t>
            </a:r>
            <a:endParaRPr lang="en-US" sz="1150" dirty="0"/>
          </a:p>
          <a:p>
            <a:pPr marL="0" indent="0" algn="ctr">
              <a:buNone/>
            </a:pPr>
            <a:r>
              <a:rPr lang="en-US" sz="1150" dirty="0">
                <a:solidFill>
                  <a:srgbClr val="E8F4FD"/>
                </a:solidFill>
              </a:rPr>
              <a:t>productive</a:t>
            </a:r>
            <a:endParaRPr lang="en-US" sz="1150" dirty="0"/>
          </a:p>
        </p:txBody>
      </p:sp>
      <p:sp>
        <p:nvSpPr>
          <p:cNvPr id="12" name="Shape 9"/>
          <p:cNvSpPr/>
          <p:nvPr/>
        </p:nvSpPr>
        <p:spPr>
          <a:xfrm>
            <a:off x="3182112" y="1664208"/>
            <a:ext cx="2761488" cy="1645920"/>
          </a:xfrm>
          <a:prstGeom prst="rect">
            <a:avLst/>
          </a:prstGeom>
          <a:solidFill>
            <a:srgbClr val="112244"/>
          </a:solidFill>
          <a:ln w="2540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13" name="Text 10"/>
          <p:cNvSpPr/>
          <p:nvPr/>
        </p:nvSpPr>
        <p:spPr>
          <a:xfrm>
            <a:off x="3182112" y="1755648"/>
            <a:ext cx="2761488" cy="822960"/>
          </a:xfrm>
          <a:prstGeom prst="rect">
            <a:avLst/>
          </a:prstGeom>
          <a:noFill/>
          <a:ln/>
        </p:spPr>
        <p:txBody>
          <a:bodyPr wrap="square" rtlCol="0" anchor="ctr"/>
          <a:lstStyle/>
          <a:p>
            <a:pPr marL="0" indent="0" algn="ctr">
              <a:buNone/>
            </a:pPr>
            <a:r>
              <a:rPr lang="en-US" sz="4800" b="1" dirty="0">
                <a:solidFill>
                  <a:srgbClr val="7B5EA7"/>
                </a:solidFill>
              </a:rPr>
              <a:t>77%</a:t>
            </a:r>
            <a:endParaRPr lang="en-US" sz="4800" dirty="0"/>
          </a:p>
        </p:txBody>
      </p:sp>
      <p:sp>
        <p:nvSpPr>
          <p:cNvPr id="14" name="Text 11"/>
          <p:cNvSpPr/>
          <p:nvPr/>
        </p:nvSpPr>
        <p:spPr>
          <a:xfrm>
            <a:off x="3291840" y="2615184"/>
            <a:ext cx="2542032" cy="548640"/>
          </a:xfrm>
          <a:prstGeom prst="rect">
            <a:avLst/>
          </a:prstGeom>
          <a:noFill/>
          <a:ln/>
        </p:spPr>
        <p:txBody>
          <a:bodyPr wrap="square" rtlCol="0" anchor="ctr"/>
          <a:lstStyle/>
          <a:p>
            <a:pPr marL="0" indent="0" algn="ctr">
              <a:buNone/>
            </a:pPr>
            <a:r>
              <a:rPr lang="en-US" sz="1150" dirty="0">
                <a:solidFill>
                  <a:srgbClr val="E8F4FD"/>
                </a:solidFill>
              </a:rPr>
              <a:t>spend less time</a:t>
            </a:r>
            <a:endParaRPr lang="en-US" sz="1150" dirty="0"/>
          </a:p>
          <a:p>
            <a:pPr marL="0" indent="0" algn="ctr">
              <a:buNone/>
            </a:pPr>
            <a:r>
              <a:rPr lang="en-US" sz="1150" dirty="0">
                <a:solidFill>
                  <a:srgbClr val="E8F4FD"/>
                </a:solidFill>
              </a:rPr>
              <a:t>finding information</a:t>
            </a:r>
            <a:endParaRPr lang="en-US" sz="1150" dirty="0"/>
          </a:p>
        </p:txBody>
      </p:sp>
      <p:sp>
        <p:nvSpPr>
          <p:cNvPr id="15" name="Shape 12"/>
          <p:cNvSpPr/>
          <p:nvPr/>
        </p:nvSpPr>
        <p:spPr>
          <a:xfrm>
            <a:off x="6089904" y="1664208"/>
            <a:ext cx="2761488" cy="1645920"/>
          </a:xfrm>
          <a:prstGeom prst="rect">
            <a:avLst/>
          </a:prstGeom>
          <a:solidFill>
            <a:srgbClr val="112244"/>
          </a:solidFill>
          <a:ln w="2540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16" name="Text 13"/>
          <p:cNvSpPr/>
          <p:nvPr/>
        </p:nvSpPr>
        <p:spPr>
          <a:xfrm>
            <a:off x="6089904" y="1755648"/>
            <a:ext cx="2761488" cy="822960"/>
          </a:xfrm>
          <a:prstGeom prst="rect">
            <a:avLst/>
          </a:prstGeom>
          <a:noFill/>
          <a:ln/>
        </p:spPr>
        <p:txBody>
          <a:bodyPr wrap="square" rtlCol="0" anchor="ctr"/>
          <a:lstStyle/>
          <a:p>
            <a:pPr marL="0" indent="0" algn="ctr">
              <a:buNone/>
            </a:pPr>
            <a:r>
              <a:rPr lang="en-US" sz="4800" b="1" dirty="0">
                <a:solidFill>
                  <a:srgbClr val="00E5A0"/>
                </a:solidFill>
              </a:rPr>
              <a:t>74%</a:t>
            </a:r>
            <a:endParaRPr lang="en-US" sz="4800" dirty="0"/>
          </a:p>
        </p:txBody>
      </p:sp>
      <p:sp>
        <p:nvSpPr>
          <p:cNvPr id="17" name="Text 14"/>
          <p:cNvSpPr/>
          <p:nvPr/>
        </p:nvSpPr>
        <p:spPr>
          <a:xfrm>
            <a:off x="6199632" y="2615184"/>
            <a:ext cx="2542032" cy="548640"/>
          </a:xfrm>
          <a:prstGeom prst="rect">
            <a:avLst/>
          </a:prstGeom>
          <a:noFill/>
          <a:ln/>
        </p:spPr>
        <p:txBody>
          <a:bodyPr wrap="square" rtlCol="0" anchor="ctr"/>
          <a:lstStyle/>
          <a:p>
            <a:pPr marL="0" indent="0" algn="ctr">
              <a:buNone/>
            </a:pPr>
            <a:r>
              <a:rPr lang="en-US" sz="1150" dirty="0">
                <a:solidFill>
                  <a:srgbClr val="E8F4FD"/>
                </a:solidFill>
              </a:rPr>
              <a:t>can focus on more</a:t>
            </a:r>
            <a:endParaRPr lang="en-US" sz="1150" dirty="0"/>
          </a:p>
          <a:p>
            <a:pPr marL="0" indent="0" algn="ctr">
              <a:buNone/>
            </a:pPr>
            <a:r>
              <a:rPr lang="en-US" sz="1150" dirty="0">
                <a:solidFill>
                  <a:srgbClr val="E8F4FD"/>
                </a:solidFill>
              </a:rPr>
              <a:t>meaningful work</a:t>
            </a:r>
            <a:endParaRPr lang="en-US" sz="1150" dirty="0"/>
          </a:p>
        </p:txBody>
      </p:sp>
      <p:sp>
        <p:nvSpPr>
          <p:cNvPr id="18" name="Shape 15"/>
          <p:cNvSpPr/>
          <p:nvPr/>
        </p:nvSpPr>
        <p:spPr>
          <a:xfrm>
            <a:off x="274320" y="3493008"/>
            <a:ext cx="2029968" cy="1371600"/>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19" name="Text 16"/>
          <p:cNvSpPr/>
          <p:nvPr/>
        </p:nvSpPr>
        <p:spPr>
          <a:xfrm>
            <a:off x="365760" y="3566160"/>
            <a:ext cx="1847088" cy="438912"/>
          </a:xfrm>
          <a:prstGeom prst="rect">
            <a:avLst/>
          </a:prstGeom>
          <a:noFill/>
          <a:ln/>
        </p:spPr>
        <p:txBody>
          <a:bodyPr wrap="square" rtlCol="0" anchor="ctr"/>
          <a:lstStyle/>
          <a:p>
            <a:pPr marL="0" indent="0">
              <a:buNone/>
            </a:pPr>
            <a:r>
              <a:rPr lang="en-US" sz="1300" b="1" dirty="0">
                <a:solidFill>
                  <a:srgbClr val="00C8FF"/>
                </a:solidFill>
              </a:rPr>
              <a:t>📄  Word</a:t>
            </a:r>
            <a:endParaRPr lang="en-US" sz="1300" dirty="0"/>
          </a:p>
        </p:txBody>
      </p:sp>
      <p:sp>
        <p:nvSpPr>
          <p:cNvPr id="20" name="Text 17"/>
          <p:cNvSpPr/>
          <p:nvPr/>
        </p:nvSpPr>
        <p:spPr>
          <a:xfrm>
            <a:off x="365760" y="4041648"/>
            <a:ext cx="1847088" cy="749808"/>
          </a:xfrm>
          <a:prstGeom prst="rect">
            <a:avLst/>
          </a:prstGeom>
          <a:noFill/>
          <a:ln/>
        </p:spPr>
        <p:txBody>
          <a:bodyPr wrap="square" rtlCol="0" anchor="ctr"/>
          <a:lstStyle/>
          <a:p>
            <a:pPr marL="0" indent="0">
              <a:buNone/>
            </a:pPr>
            <a:r>
              <a:rPr lang="en-US" sz="1000" dirty="0">
                <a:solidFill>
                  <a:srgbClr val="E8F4FD"/>
                </a:solidFill>
              </a:rPr>
              <a:t>Draft, rewrite, summarise documents</a:t>
            </a:r>
            <a:endParaRPr lang="en-US" sz="1000" dirty="0"/>
          </a:p>
        </p:txBody>
      </p:sp>
      <p:sp>
        <p:nvSpPr>
          <p:cNvPr id="21" name="Shape 18"/>
          <p:cNvSpPr/>
          <p:nvPr/>
        </p:nvSpPr>
        <p:spPr>
          <a:xfrm>
            <a:off x="2450592" y="3493008"/>
            <a:ext cx="2029968" cy="1371600"/>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22" name="Text 19"/>
          <p:cNvSpPr/>
          <p:nvPr/>
        </p:nvSpPr>
        <p:spPr>
          <a:xfrm>
            <a:off x="2542032" y="3566160"/>
            <a:ext cx="1847088" cy="438912"/>
          </a:xfrm>
          <a:prstGeom prst="rect">
            <a:avLst/>
          </a:prstGeom>
          <a:noFill/>
          <a:ln/>
        </p:spPr>
        <p:txBody>
          <a:bodyPr wrap="square" rtlCol="0" anchor="ctr"/>
          <a:lstStyle/>
          <a:p>
            <a:pPr marL="0" indent="0">
              <a:buNone/>
            </a:pPr>
            <a:r>
              <a:rPr lang="en-US" sz="1300" b="1" dirty="0">
                <a:solidFill>
                  <a:srgbClr val="7B5EA7"/>
                </a:solidFill>
              </a:rPr>
              <a:t>📊  PowerPoint</a:t>
            </a:r>
            <a:endParaRPr lang="en-US" sz="1300" dirty="0"/>
          </a:p>
        </p:txBody>
      </p:sp>
      <p:sp>
        <p:nvSpPr>
          <p:cNvPr id="23" name="Text 20"/>
          <p:cNvSpPr/>
          <p:nvPr/>
        </p:nvSpPr>
        <p:spPr>
          <a:xfrm>
            <a:off x="2542032" y="4041648"/>
            <a:ext cx="1847088" cy="749808"/>
          </a:xfrm>
          <a:prstGeom prst="rect">
            <a:avLst/>
          </a:prstGeom>
          <a:noFill/>
          <a:ln/>
        </p:spPr>
        <p:txBody>
          <a:bodyPr wrap="square" rtlCol="0" anchor="ctr"/>
          <a:lstStyle/>
          <a:p>
            <a:pPr marL="0" indent="0">
              <a:buNone/>
            </a:pPr>
            <a:r>
              <a:rPr lang="en-US" sz="1000" dirty="0">
                <a:solidFill>
                  <a:srgbClr val="E8F4FD"/>
                </a:solidFill>
              </a:rPr>
              <a:t>Create presentations from prompts</a:t>
            </a:r>
            <a:endParaRPr lang="en-US" sz="1000" dirty="0"/>
          </a:p>
        </p:txBody>
      </p:sp>
      <p:sp>
        <p:nvSpPr>
          <p:cNvPr id="24" name="Shape 21"/>
          <p:cNvSpPr/>
          <p:nvPr/>
        </p:nvSpPr>
        <p:spPr>
          <a:xfrm>
            <a:off x="4626864" y="3493008"/>
            <a:ext cx="2029968" cy="1371600"/>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25" name="Text 22"/>
          <p:cNvSpPr/>
          <p:nvPr/>
        </p:nvSpPr>
        <p:spPr>
          <a:xfrm>
            <a:off x="4718304" y="3566160"/>
            <a:ext cx="1847088" cy="438912"/>
          </a:xfrm>
          <a:prstGeom prst="rect">
            <a:avLst/>
          </a:prstGeom>
          <a:noFill/>
          <a:ln/>
        </p:spPr>
        <p:txBody>
          <a:bodyPr wrap="square" rtlCol="0" anchor="ctr"/>
          <a:lstStyle/>
          <a:p>
            <a:pPr marL="0" indent="0">
              <a:buNone/>
            </a:pPr>
            <a:r>
              <a:rPr lang="en-US" sz="1300" b="1" dirty="0">
                <a:solidFill>
                  <a:srgbClr val="00E5A0"/>
                </a:solidFill>
              </a:rPr>
              <a:t>📧  Outlook</a:t>
            </a:r>
            <a:endParaRPr lang="en-US" sz="1300" dirty="0"/>
          </a:p>
        </p:txBody>
      </p:sp>
      <p:sp>
        <p:nvSpPr>
          <p:cNvPr id="26" name="Text 23"/>
          <p:cNvSpPr/>
          <p:nvPr/>
        </p:nvSpPr>
        <p:spPr>
          <a:xfrm>
            <a:off x="4718304" y="4041648"/>
            <a:ext cx="1847088" cy="749808"/>
          </a:xfrm>
          <a:prstGeom prst="rect">
            <a:avLst/>
          </a:prstGeom>
          <a:noFill/>
          <a:ln/>
        </p:spPr>
        <p:txBody>
          <a:bodyPr wrap="square" rtlCol="0" anchor="ctr"/>
          <a:lstStyle/>
          <a:p>
            <a:pPr marL="0" indent="0">
              <a:buNone/>
            </a:pPr>
            <a:r>
              <a:rPr lang="en-US" sz="1000" dirty="0">
                <a:solidFill>
                  <a:srgbClr val="E8F4FD"/>
                </a:solidFill>
              </a:rPr>
              <a:t>Summarise threads, draft emails</a:t>
            </a:r>
            <a:endParaRPr lang="en-US" sz="1000" dirty="0"/>
          </a:p>
        </p:txBody>
      </p:sp>
      <p:sp>
        <p:nvSpPr>
          <p:cNvPr id="27" name="Shape 24"/>
          <p:cNvSpPr/>
          <p:nvPr/>
        </p:nvSpPr>
        <p:spPr>
          <a:xfrm>
            <a:off x="6803136" y="3493008"/>
            <a:ext cx="2029968" cy="1371600"/>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28" name="Text 25"/>
          <p:cNvSpPr/>
          <p:nvPr/>
        </p:nvSpPr>
        <p:spPr>
          <a:xfrm>
            <a:off x="6894576" y="3566160"/>
            <a:ext cx="1847088" cy="438912"/>
          </a:xfrm>
          <a:prstGeom prst="rect">
            <a:avLst/>
          </a:prstGeom>
          <a:noFill/>
          <a:ln/>
        </p:spPr>
        <p:txBody>
          <a:bodyPr wrap="square" rtlCol="0" anchor="ctr"/>
          <a:lstStyle/>
          <a:p>
            <a:pPr marL="0" indent="0">
              <a:buNone/>
            </a:pPr>
            <a:r>
              <a:rPr lang="en-US" sz="1300" b="1" dirty="0">
                <a:solidFill>
                  <a:srgbClr val="FFD166"/>
                </a:solidFill>
              </a:rPr>
              <a:t>👥  Teams</a:t>
            </a:r>
            <a:endParaRPr lang="en-US" sz="1300" dirty="0"/>
          </a:p>
        </p:txBody>
      </p:sp>
      <p:sp>
        <p:nvSpPr>
          <p:cNvPr id="29" name="Text 26"/>
          <p:cNvSpPr/>
          <p:nvPr/>
        </p:nvSpPr>
        <p:spPr>
          <a:xfrm>
            <a:off x="6894576" y="4041648"/>
            <a:ext cx="1847088" cy="749808"/>
          </a:xfrm>
          <a:prstGeom prst="rect">
            <a:avLst/>
          </a:prstGeom>
          <a:noFill/>
          <a:ln/>
        </p:spPr>
        <p:txBody>
          <a:bodyPr wrap="square" rtlCol="0" anchor="ctr"/>
          <a:lstStyle/>
          <a:p>
            <a:pPr marL="0" indent="0">
              <a:buNone/>
            </a:pPr>
            <a:r>
              <a:rPr lang="en-US" sz="1000" dirty="0">
                <a:solidFill>
                  <a:srgbClr val="E8F4FD"/>
                </a:solidFill>
              </a:rPr>
              <a:t>Meeting summaries, action items</a:t>
            </a:r>
            <a:endParaRPr lang="en-US" sz="1000" dirty="0"/>
          </a:p>
        </p:txBody>
      </p:sp>
      <p:sp>
        <p:nvSpPr>
          <p:cNvPr id="30" name="Text 27"/>
          <p:cNvSpPr/>
          <p:nvPr/>
        </p:nvSpPr>
        <p:spPr>
          <a:xfrm>
            <a:off x="274320" y="4937760"/>
            <a:ext cx="8595360" cy="256032"/>
          </a:xfrm>
          <a:prstGeom prst="rect">
            <a:avLst/>
          </a:prstGeom>
          <a:noFill/>
          <a:ln/>
        </p:spPr>
        <p:txBody>
          <a:bodyPr wrap="square" rtlCol="0" anchor="ctr"/>
          <a:lstStyle/>
          <a:p>
            <a:pPr marL="0" indent="0" algn="ctr">
              <a:buNone/>
            </a:pPr>
            <a:r>
              <a:rPr lang="en-US" sz="1000" i="1" dirty="0">
                <a:solidFill>
                  <a:srgbClr val="A0B4C8"/>
                </a:solidFill>
              </a:rPr>
              <a:t>Keeps your data safe inside your organisation's Microsoft 365 tenant</a:t>
            </a:r>
            <a:endParaRPr lang="en-US" sz="1000" dirty="0"/>
          </a:p>
        </p:txBody>
      </p:sp>
    </p:spTree>
    <p:extLst>
      <p:ext uri="{BB962C8B-B14F-4D97-AF65-F5344CB8AC3E}">
        <p14:creationId xmlns:p14="http://schemas.microsoft.com/office/powerpoint/2010/main" val="181914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00C8FF"/>
          </a:solidFill>
          <a:ln w="12700">
            <a:solidFill>
              <a:srgbClr val="00C8FF"/>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4 · COPILOT IN WORD</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Copilot in Microsoft Word</a:t>
            </a:r>
            <a:endParaRPr lang="en-US" sz="2200" dirty="0"/>
          </a:p>
        </p:txBody>
      </p:sp>
      <p:sp>
        <p:nvSpPr>
          <p:cNvPr id="6" name="Shape 4"/>
          <p:cNvSpPr/>
          <p:nvPr/>
        </p:nvSpPr>
        <p:spPr>
          <a:xfrm>
            <a:off x="274320" y="987552"/>
            <a:ext cx="4160520" cy="3840480"/>
          </a:xfrm>
          <a:prstGeom prst="rect">
            <a:avLst/>
          </a:prstGeom>
          <a:solidFill>
            <a:srgbClr val="112244"/>
          </a:solidFill>
          <a:ln w="2540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7" name="Shape 5"/>
          <p:cNvSpPr/>
          <p:nvPr/>
        </p:nvSpPr>
        <p:spPr>
          <a:xfrm>
            <a:off x="274320" y="987552"/>
            <a:ext cx="4160520" cy="347472"/>
          </a:xfrm>
          <a:prstGeom prst="rect">
            <a:avLst/>
          </a:prstGeom>
          <a:solidFill>
            <a:srgbClr val="00C8FF"/>
          </a:solidFill>
          <a:ln w="12700">
            <a:solidFill>
              <a:srgbClr val="00C8FF"/>
            </a:solidFill>
            <a:prstDash val="solid"/>
          </a:ln>
        </p:spPr>
        <p:txBody>
          <a:bodyPr/>
          <a:lstStyle/>
          <a:p>
            <a:endParaRPr lang="en-IN"/>
          </a:p>
        </p:txBody>
      </p:sp>
      <p:sp>
        <p:nvSpPr>
          <p:cNvPr id="8" name="Text 6"/>
          <p:cNvSpPr/>
          <p:nvPr/>
        </p:nvSpPr>
        <p:spPr>
          <a:xfrm>
            <a:off x="320040" y="987552"/>
            <a:ext cx="4069080" cy="347472"/>
          </a:xfrm>
          <a:prstGeom prst="rect">
            <a:avLst/>
          </a:prstGeom>
          <a:noFill/>
          <a:ln/>
        </p:spPr>
        <p:txBody>
          <a:bodyPr wrap="square" rtlCol="0" anchor="ctr"/>
          <a:lstStyle/>
          <a:p>
            <a:pPr marL="0" indent="0">
              <a:buNone/>
            </a:pPr>
            <a:r>
              <a:rPr lang="en-US" sz="1200" b="1" dirty="0">
                <a:solidFill>
                  <a:srgbClr val="0A1628"/>
                </a:solidFill>
              </a:rPr>
              <a:t>Key Capabilities</a:t>
            </a:r>
            <a:endParaRPr lang="en-US" sz="1200" dirty="0"/>
          </a:p>
        </p:txBody>
      </p:sp>
      <p:sp>
        <p:nvSpPr>
          <p:cNvPr id="9" name="Text 7"/>
          <p:cNvSpPr/>
          <p:nvPr/>
        </p:nvSpPr>
        <p:spPr>
          <a:xfrm>
            <a:off x="411480" y="1389888"/>
            <a:ext cx="3886200" cy="3337560"/>
          </a:xfrm>
          <a:prstGeom prst="rect">
            <a:avLst/>
          </a:prstGeom>
          <a:noFill/>
          <a:ln/>
        </p:spPr>
        <p:txBody>
          <a:bodyPr wrap="square" rtlCol="0" anchor="ctr"/>
          <a:lstStyle/>
          <a:p>
            <a:pPr marL="342900" indent="-342900">
              <a:buSzPct val="100000"/>
              <a:buChar char="•"/>
            </a:pPr>
            <a:r>
              <a:rPr lang="en-US" sz="1050" dirty="0">
                <a:solidFill>
                  <a:srgbClr val="E8F4FD"/>
                </a:solidFill>
              </a:rPr>
              <a:t>Draft entire documents from a brief description</a:t>
            </a:r>
            <a:endParaRPr lang="en-US" sz="1050" dirty="0"/>
          </a:p>
          <a:p>
            <a:pPr marL="342900" indent="-342900">
              <a:buSzPct val="100000"/>
              <a:buChar char="•"/>
            </a:pPr>
            <a:r>
              <a:rPr lang="en-US" sz="1050" dirty="0">
                <a:solidFill>
                  <a:srgbClr val="E8F4FD"/>
                </a:solidFill>
              </a:rPr>
              <a:t>Summarise long documents into key points</a:t>
            </a:r>
            <a:endParaRPr lang="en-US" sz="1050" dirty="0"/>
          </a:p>
          <a:p>
            <a:pPr marL="342900" indent="-342900">
              <a:buSzPct val="100000"/>
              <a:buChar char="•"/>
            </a:pPr>
            <a:r>
              <a:rPr lang="en-US" sz="1050" dirty="0">
                <a:solidFill>
                  <a:srgbClr val="E8F4FD"/>
                </a:solidFill>
              </a:rPr>
              <a:t>Adjust tone — formal, casual, concise, expanded</a:t>
            </a:r>
            <a:endParaRPr lang="en-US" sz="1050" dirty="0"/>
          </a:p>
          <a:p>
            <a:pPr marL="342900" indent="-342900">
              <a:buSzPct val="100000"/>
              <a:buChar char="•"/>
            </a:pPr>
            <a:r>
              <a:rPr lang="en-US" sz="1050" dirty="0">
                <a:solidFill>
                  <a:srgbClr val="E8F4FD"/>
                </a:solidFill>
              </a:rPr>
              <a:t>Rewrite for different audiences (technical / non-technical)</a:t>
            </a:r>
            <a:endParaRPr lang="en-US" sz="1050" dirty="0"/>
          </a:p>
          <a:p>
            <a:pPr marL="342900" indent="-342900">
              <a:buSzPct val="100000"/>
              <a:buChar char="•"/>
            </a:pPr>
            <a:r>
              <a:rPr lang="en-US" sz="1050" dirty="0">
                <a:solidFill>
                  <a:srgbClr val="E8F4FD"/>
                </a:solidFill>
              </a:rPr>
              <a:t>Transform bullet lists into prose and vice versa</a:t>
            </a:r>
            <a:endParaRPr lang="en-US" sz="1050" dirty="0"/>
          </a:p>
        </p:txBody>
      </p:sp>
      <p:sp>
        <p:nvSpPr>
          <p:cNvPr id="10" name="Shape 8"/>
          <p:cNvSpPr/>
          <p:nvPr/>
        </p:nvSpPr>
        <p:spPr>
          <a:xfrm>
            <a:off x="4663440" y="987552"/>
            <a:ext cx="4206240" cy="3840480"/>
          </a:xfrm>
          <a:prstGeom prst="rect">
            <a:avLst/>
          </a:prstGeom>
          <a:solidFill>
            <a:srgbClr val="112244"/>
          </a:solidFill>
          <a:ln w="25400">
            <a:solidFill>
              <a:srgbClr val="00E5A0"/>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4663440" y="987552"/>
            <a:ext cx="4206240" cy="347472"/>
          </a:xfrm>
          <a:prstGeom prst="rect">
            <a:avLst/>
          </a:prstGeom>
          <a:solidFill>
            <a:srgbClr val="00E5A0"/>
          </a:solidFill>
          <a:ln w="12700">
            <a:solidFill>
              <a:srgbClr val="00E5A0"/>
            </a:solidFill>
            <a:prstDash val="solid"/>
          </a:ln>
        </p:spPr>
        <p:txBody>
          <a:bodyPr/>
          <a:lstStyle/>
          <a:p>
            <a:endParaRPr lang="en-IN"/>
          </a:p>
        </p:txBody>
      </p:sp>
      <p:sp>
        <p:nvSpPr>
          <p:cNvPr id="12" name="Text 10"/>
          <p:cNvSpPr/>
          <p:nvPr/>
        </p:nvSpPr>
        <p:spPr>
          <a:xfrm>
            <a:off x="4709160" y="987552"/>
            <a:ext cx="4114800" cy="347472"/>
          </a:xfrm>
          <a:prstGeom prst="rect">
            <a:avLst/>
          </a:prstGeom>
          <a:noFill/>
          <a:ln/>
        </p:spPr>
        <p:txBody>
          <a:bodyPr wrap="square" rtlCol="0" anchor="ctr"/>
          <a:lstStyle/>
          <a:p>
            <a:pPr marL="0" indent="0">
              <a:buNone/>
            </a:pPr>
            <a:r>
              <a:rPr lang="en-US" sz="1200" b="1" dirty="0">
                <a:solidFill>
                  <a:srgbClr val="0A1628"/>
                </a:solidFill>
              </a:rPr>
              <a:t>How to Use — Step by Step</a:t>
            </a:r>
            <a:endParaRPr lang="en-US" sz="1200" dirty="0"/>
          </a:p>
        </p:txBody>
      </p:sp>
      <p:sp>
        <p:nvSpPr>
          <p:cNvPr id="13" name="Text 11"/>
          <p:cNvSpPr/>
          <p:nvPr/>
        </p:nvSpPr>
        <p:spPr>
          <a:xfrm>
            <a:off x="4754880" y="1389888"/>
            <a:ext cx="4023360" cy="502920"/>
          </a:xfrm>
          <a:prstGeom prst="rect">
            <a:avLst/>
          </a:prstGeom>
          <a:noFill/>
          <a:ln/>
        </p:spPr>
        <p:txBody>
          <a:bodyPr wrap="square" rtlCol="0" anchor="ctr"/>
          <a:lstStyle/>
          <a:p>
            <a:pPr marL="0" indent="0">
              <a:buNone/>
            </a:pPr>
            <a:r>
              <a:rPr lang="en-US" sz="1050" dirty="0">
                <a:solidFill>
                  <a:srgbClr val="E8F4FD"/>
                </a:solidFill>
              </a:rPr>
              <a:t>1.  Open Word → Click the Copilot icon (✨) in the ribbon</a:t>
            </a:r>
            <a:endParaRPr lang="en-US" sz="1050" dirty="0"/>
          </a:p>
        </p:txBody>
      </p:sp>
      <p:sp>
        <p:nvSpPr>
          <p:cNvPr id="14" name="Text 12"/>
          <p:cNvSpPr/>
          <p:nvPr/>
        </p:nvSpPr>
        <p:spPr>
          <a:xfrm>
            <a:off x="4754880" y="1938528"/>
            <a:ext cx="4023360" cy="502920"/>
          </a:xfrm>
          <a:prstGeom prst="rect">
            <a:avLst/>
          </a:prstGeom>
          <a:noFill/>
          <a:ln/>
        </p:spPr>
        <p:txBody>
          <a:bodyPr wrap="square" rtlCol="0" anchor="ctr"/>
          <a:lstStyle/>
          <a:p>
            <a:pPr marL="0" indent="0">
              <a:buNone/>
            </a:pPr>
            <a:r>
              <a:rPr lang="en-US" sz="1050" dirty="0">
                <a:solidFill>
                  <a:srgbClr val="E8F4FD"/>
                </a:solidFill>
              </a:rPr>
              <a:t>2.  Type: 'Draft a 1-page report on Gen AI for non-technical readers'</a:t>
            </a:r>
            <a:endParaRPr lang="en-US" sz="1050" dirty="0"/>
          </a:p>
        </p:txBody>
      </p:sp>
      <p:sp>
        <p:nvSpPr>
          <p:cNvPr id="15" name="Text 13"/>
          <p:cNvSpPr/>
          <p:nvPr/>
        </p:nvSpPr>
        <p:spPr>
          <a:xfrm>
            <a:off x="4754880" y="2487168"/>
            <a:ext cx="4023360" cy="502920"/>
          </a:xfrm>
          <a:prstGeom prst="rect">
            <a:avLst/>
          </a:prstGeom>
          <a:noFill/>
          <a:ln/>
        </p:spPr>
        <p:txBody>
          <a:bodyPr wrap="square" rtlCol="0" anchor="ctr"/>
          <a:lstStyle/>
          <a:p>
            <a:pPr marL="0" indent="0">
              <a:buNone/>
            </a:pPr>
            <a:r>
              <a:rPr lang="en-US" sz="1050" dirty="0">
                <a:solidFill>
                  <a:srgbClr val="E8F4FD"/>
                </a:solidFill>
              </a:rPr>
              <a:t>3.  Copilot generates a full draft in the document</a:t>
            </a:r>
            <a:endParaRPr lang="en-US" sz="1050" dirty="0"/>
          </a:p>
        </p:txBody>
      </p:sp>
      <p:sp>
        <p:nvSpPr>
          <p:cNvPr id="16" name="Text 14"/>
          <p:cNvSpPr/>
          <p:nvPr/>
        </p:nvSpPr>
        <p:spPr>
          <a:xfrm>
            <a:off x="4754880" y="3035808"/>
            <a:ext cx="4023360" cy="502920"/>
          </a:xfrm>
          <a:prstGeom prst="rect">
            <a:avLst/>
          </a:prstGeom>
          <a:noFill/>
          <a:ln/>
        </p:spPr>
        <p:txBody>
          <a:bodyPr wrap="square" rtlCol="0" anchor="ctr"/>
          <a:lstStyle/>
          <a:p>
            <a:pPr marL="0" indent="0">
              <a:buNone/>
            </a:pPr>
            <a:r>
              <a:rPr lang="en-US" sz="1050" dirty="0">
                <a:solidFill>
                  <a:srgbClr val="E8F4FD"/>
                </a:solidFill>
              </a:rPr>
              <a:t>4.  Highlight any paragraph → Ask: 'Make this more concise'</a:t>
            </a:r>
            <a:endParaRPr lang="en-US" sz="1050" dirty="0"/>
          </a:p>
        </p:txBody>
      </p:sp>
      <p:sp>
        <p:nvSpPr>
          <p:cNvPr id="17" name="Text 15"/>
          <p:cNvSpPr/>
          <p:nvPr/>
        </p:nvSpPr>
        <p:spPr>
          <a:xfrm>
            <a:off x="4754880" y="3584448"/>
            <a:ext cx="4023360" cy="502920"/>
          </a:xfrm>
          <a:prstGeom prst="rect">
            <a:avLst/>
          </a:prstGeom>
          <a:noFill/>
          <a:ln/>
        </p:spPr>
        <p:txBody>
          <a:bodyPr wrap="square" rtlCol="0" anchor="ctr"/>
          <a:lstStyle/>
          <a:p>
            <a:pPr marL="0" indent="0">
              <a:buNone/>
            </a:pPr>
            <a:r>
              <a:rPr lang="en-US" sz="1050" dirty="0">
                <a:solidFill>
                  <a:srgbClr val="E8F4FD"/>
                </a:solidFill>
              </a:rPr>
              <a:t>5.  Try: 'Change the tone to be more formal'</a:t>
            </a:r>
            <a:endParaRPr lang="en-US" sz="1050" dirty="0"/>
          </a:p>
        </p:txBody>
      </p:sp>
      <p:sp>
        <p:nvSpPr>
          <p:cNvPr id="18" name="Text 16"/>
          <p:cNvSpPr/>
          <p:nvPr/>
        </p:nvSpPr>
        <p:spPr>
          <a:xfrm>
            <a:off x="4754880" y="4133088"/>
            <a:ext cx="4023360" cy="502920"/>
          </a:xfrm>
          <a:prstGeom prst="rect">
            <a:avLst/>
          </a:prstGeom>
          <a:noFill/>
          <a:ln/>
        </p:spPr>
        <p:txBody>
          <a:bodyPr wrap="square" rtlCol="0" anchor="ctr"/>
          <a:lstStyle/>
          <a:p>
            <a:pPr marL="0" indent="0">
              <a:buNone/>
            </a:pPr>
            <a:r>
              <a:rPr lang="en-US" sz="1050" dirty="0">
                <a:solidFill>
                  <a:srgbClr val="E8F4FD"/>
                </a:solidFill>
              </a:rPr>
              <a:t>6.  Try: 'Summarise this document in 5 bullet points'</a:t>
            </a:r>
            <a:endParaRPr lang="en-US" sz="1050" dirty="0"/>
          </a:p>
        </p:txBody>
      </p:sp>
      <p:sp>
        <p:nvSpPr>
          <p:cNvPr id="19" name="Shape 17"/>
          <p:cNvSpPr/>
          <p:nvPr/>
        </p:nvSpPr>
        <p:spPr>
          <a:xfrm>
            <a:off x="274320" y="4901184"/>
            <a:ext cx="8595360" cy="274320"/>
          </a:xfrm>
          <a:prstGeom prst="rect">
            <a:avLst/>
          </a:prstGeom>
          <a:solidFill>
            <a:srgbClr val="0F2041"/>
          </a:solidFill>
          <a:ln w="12700">
            <a:solidFill>
              <a:srgbClr val="00C8FF"/>
            </a:solidFill>
            <a:prstDash val="solid"/>
          </a:ln>
        </p:spPr>
        <p:txBody>
          <a:bodyPr/>
          <a:lstStyle/>
          <a:p>
            <a:endParaRPr lang="en-IN"/>
          </a:p>
        </p:txBody>
      </p:sp>
      <p:sp>
        <p:nvSpPr>
          <p:cNvPr id="20" name="Text 18"/>
          <p:cNvSpPr/>
          <p:nvPr/>
        </p:nvSpPr>
        <p:spPr>
          <a:xfrm>
            <a:off x="274320" y="4901184"/>
            <a:ext cx="8595360" cy="274320"/>
          </a:xfrm>
          <a:prstGeom prst="rect">
            <a:avLst/>
          </a:prstGeom>
          <a:noFill/>
          <a:ln/>
        </p:spPr>
        <p:txBody>
          <a:bodyPr wrap="square" rtlCol="0" anchor="ctr"/>
          <a:lstStyle/>
          <a:p>
            <a:pPr marL="0" indent="0" algn="ctr">
              <a:buNone/>
            </a:pPr>
            <a:r>
              <a:rPr lang="en-US" sz="1000" dirty="0">
                <a:solidFill>
                  <a:srgbClr val="00C8FF"/>
                </a:solidFill>
              </a:rPr>
              <a:t>💡  Try it: 'Summarise this document. Then make the introduction more engaging for students.'</a:t>
            </a:r>
            <a:endParaRPr lang="en-US" sz="1000" dirty="0"/>
          </a:p>
        </p:txBody>
      </p:sp>
    </p:spTree>
    <p:extLst>
      <p:ext uri="{BB962C8B-B14F-4D97-AF65-F5344CB8AC3E}">
        <p14:creationId xmlns:p14="http://schemas.microsoft.com/office/powerpoint/2010/main" val="1845331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4 · COPILOT POWERPOINT &amp; OUTLOOK</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Copilot in PowerPoint &amp; Outlook</a:t>
            </a:r>
            <a:endParaRPr lang="en-US" sz="2200" dirty="0"/>
          </a:p>
        </p:txBody>
      </p:sp>
      <p:sp>
        <p:nvSpPr>
          <p:cNvPr id="6" name="Shape 4"/>
          <p:cNvSpPr/>
          <p:nvPr/>
        </p:nvSpPr>
        <p:spPr>
          <a:xfrm>
            <a:off x="274320" y="987552"/>
            <a:ext cx="4160520" cy="3977640"/>
          </a:xfrm>
          <a:prstGeom prst="rect">
            <a:avLst/>
          </a:prstGeom>
          <a:solidFill>
            <a:srgbClr val="112244"/>
          </a:solidFill>
          <a:ln w="2540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7" name="Shape 5"/>
          <p:cNvSpPr/>
          <p:nvPr/>
        </p:nvSpPr>
        <p:spPr>
          <a:xfrm>
            <a:off x="274320" y="987552"/>
            <a:ext cx="4160520" cy="347472"/>
          </a:xfrm>
          <a:prstGeom prst="rect">
            <a:avLst/>
          </a:prstGeom>
          <a:solidFill>
            <a:srgbClr val="7B5EA7"/>
          </a:solidFill>
          <a:ln w="12700">
            <a:solidFill>
              <a:srgbClr val="7B5EA7"/>
            </a:solidFill>
            <a:prstDash val="solid"/>
          </a:ln>
        </p:spPr>
        <p:txBody>
          <a:bodyPr/>
          <a:lstStyle/>
          <a:p>
            <a:endParaRPr lang="en-IN"/>
          </a:p>
        </p:txBody>
      </p:sp>
      <p:sp>
        <p:nvSpPr>
          <p:cNvPr id="8" name="Text 6"/>
          <p:cNvSpPr/>
          <p:nvPr/>
        </p:nvSpPr>
        <p:spPr>
          <a:xfrm>
            <a:off x="320040" y="987552"/>
            <a:ext cx="4069080" cy="347472"/>
          </a:xfrm>
          <a:prstGeom prst="rect">
            <a:avLst/>
          </a:prstGeom>
          <a:noFill/>
          <a:ln/>
        </p:spPr>
        <p:txBody>
          <a:bodyPr wrap="square" rtlCol="0" anchor="ctr"/>
          <a:lstStyle/>
          <a:p>
            <a:pPr marL="0" indent="0">
              <a:buNone/>
            </a:pPr>
            <a:r>
              <a:rPr lang="en-US" sz="1200" b="1" dirty="0">
                <a:solidFill>
                  <a:srgbClr val="FFFFFF"/>
                </a:solidFill>
              </a:rPr>
              <a:t>📊  Copilot in PowerPoint</a:t>
            </a:r>
            <a:endParaRPr lang="en-US" sz="1200" dirty="0"/>
          </a:p>
        </p:txBody>
      </p:sp>
      <p:sp>
        <p:nvSpPr>
          <p:cNvPr id="9" name="Text 7"/>
          <p:cNvSpPr/>
          <p:nvPr/>
        </p:nvSpPr>
        <p:spPr>
          <a:xfrm>
            <a:off x="411480" y="1389888"/>
            <a:ext cx="3886200" cy="457200"/>
          </a:xfrm>
          <a:prstGeom prst="rect">
            <a:avLst/>
          </a:prstGeom>
          <a:noFill/>
          <a:ln/>
        </p:spPr>
        <p:txBody>
          <a:bodyPr wrap="square" rtlCol="0" anchor="ctr"/>
          <a:lstStyle/>
          <a:p>
            <a:pPr marL="0" indent="0">
              <a:buNone/>
            </a:pPr>
            <a:r>
              <a:rPr lang="en-US" sz="1000" dirty="0">
                <a:solidFill>
                  <a:srgbClr val="E8F4FD"/>
                </a:solidFill>
              </a:rPr>
              <a:t>1.  Open PowerPoint → Click Copilot icon</a:t>
            </a:r>
            <a:endParaRPr lang="en-US" sz="1000" dirty="0"/>
          </a:p>
        </p:txBody>
      </p:sp>
      <p:sp>
        <p:nvSpPr>
          <p:cNvPr id="10" name="Text 8"/>
          <p:cNvSpPr/>
          <p:nvPr/>
        </p:nvSpPr>
        <p:spPr>
          <a:xfrm>
            <a:off x="411480" y="2048256"/>
            <a:ext cx="3886200" cy="621792"/>
          </a:xfrm>
          <a:prstGeom prst="rect">
            <a:avLst/>
          </a:prstGeom>
          <a:noFill/>
          <a:ln/>
        </p:spPr>
        <p:txBody>
          <a:bodyPr wrap="square" rtlCol="0" anchor="ctr"/>
          <a:lstStyle/>
          <a:p>
            <a:pPr marL="0" indent="0">
              <a:buNone/>
            </a:pPr>
            <a:r>
              <a:rPr lang="en-US" sz="1000" dirty="0">
                <a:solidFill>
                  <a:srgbClr val="E8F4FD"/>
                </a:solidFill>
              </a:rPr>
              <a:t>2.  Type: 'Create a 6-slide deck on Gen AI for database querying. Include: what NL-to-SQL is, 3 tool examples, a case study, and summary.'</a:t>
            </a:r>
            <a:endParaRPr lang="en-US" sz="1000" dirty="0"/>
          </a:p>
        </p:txBody>
      </p:sp>
      <p:sp>
        <p:nvSpPr>
          <p:cNvPr id="11" name="Text 9"/>
          <p:cNvSpPr/>
          <p:nvPr/>
        </p:nvSpPr>
        <p:spPr>
          <a:xfrm>
            <a:off x="411480" y="2706624"/>
            <a:ext cx="3886200" cy="621792"/>
          </a:xfrm>
          <a:prstGeom prst="rect">
            <a:avLst/>
          </a:prstGeom>
          <a:noFill/>
          <a:ln/>
        </p:spPr>
        <p:txBody>
          <a:bodyPr wrap="square" rtlCol="0" anchor="ctr"/>
          <a:lstStyle/>
          <a:p>
            <a:pPr marL="0" indent="0">
              <a:buNone/>
            </a:pPr>
            <a:r>
              <a:rPr lang="en-US" sz="1000" dirty="0">
                <a:solidFill>
                  <a:srgbClr val="E8F4FD"/>
                </a:solidFill>
              </a:rPr>
              <a:t>3.  Copilot generates all slides with titles, bullets, and speaker notes</a:t>
            </a:r>
            <a:endParaRPr lang="en-US" sz="1000" dirty="0"/>
          </a:p>
        </p:txBody>
      </p:sp>
      <p:sp>
        <p:nvSpPr>
          <p:cNvPr id="12" name="Text 10"/>
          <p:cNvSpPr/>
          <p:nvPr/>
        </p:nvSpPr>
        <p:spPr>
          <a:xfrm>
            <a:off x="411480" y="2926080"/>
            <a:ext cx="3886200" cy="457200"/>
          </a:xfrm>
          <a:prstGeom prst="rect">
            <a:avLst/>
          </a:prstGeom>
          <a:noFill/>
          <a:ln/>
        </p:spPr>
        <p:txBody>
          <a:bodyPr wrap="square" rtlCol="0" anchor="ctr"/>
          <a:lstStyle/>
          <a:p>
            <a:pPr marL="0" indent="0">
              <a:buNone/>
            </a:pPr>
            <a:r>
              <a:rPr lang="en-US" sz="1000" dirty="0">
                <a:solidFill>
                  <a:srgbClr val="E8F4FD"/>
                </a:solidFill>
              </a:rPr>
              <a:t>4.  Try: 'Redesign this slide to be more visual, fewer words'</a:t>
            </a:r>
            <a:endParaRPr lang="en-US" sz="1000" dirty="0"/>
          </a:p>
        </p:txBody>
      </p:sp>
      <p:sp>
        <p:nvSpPr>
          <p:cNvPr id="13" name="Text 11"/>
          <p:cNvSpPr/>
          <p:nvPr/>
        </p:nvSpPr>
        <p:spPr>
          <a:xfrm>
            <a:off x="411480" y="3438144"/>
            <a:ext cx="3886200" cy="457200"/>
          </a:xfrm>
          <a:prstGeom prst="rect">
            <a:avLst/>
          </a:prstGeom>
          <a:noFill/>
          <a:ln/>
        </p:spPr>
        <p:txBody>
          <a:bodyPr wrap="square" rtlCol="0" anchor="ctr"/>
          <a:lstStyle/>
          <a:p>
            <a:pPr marL="0" indent="0">
              <a:buNone/>
            </a:pPr>
            <a:r>
              <a:rPr lang="en-US" sz="1000" dirty="0">
                <a:solidFill>
                  <a:srgbClr val="E8F4FD"/>
                </a:solidFill>
              </a:rPr>
              <a:t>5.  Try: 'Merge these two slides into one'</a:t>
            </a:r>
            <a:endParaRPr lang="en-US" sz="1000" dirty="0"/>
          </a:p>
        </p:txBody>
      </p:sp>
      <p:sp>
        <p:nvSpPr>
          <p:cNvPr id="14" name="Text 12"/>
          <p:cNvSpPr/>
          <p:nvPr/>
        </p:nvSpPr>
        <p:spPr>
          <a:xfrm>
            <a:off x="411480" y="3950208"/>
            <a:ext cx="3886200" cy="457200"/>
          </a:xfrm>
          <a:prstGeom prst="rect">
            <a:avLst/>
          </a:prstGeom>
          <a:noFill/>
          <a:ln/>
        </p:spPr>
        <p:txBody>
          <a:bodyPr wrap="square" rtlCol="0" anchor="ctr"/>
          <a:lstStyle/>
          <a:p>
            <a:pPr marL="0" indent="0">
              <a:buNone/>
            </a:pPr>
            <a:r>
              <a:rPr lang="en-US" sz="1000" dirty="0">
                <a:solidFill>
                  <a:srgbClr val="E8F4FD"/>
                </a:solidFill>
              </a:rPr>
              <a:t>6.  Try: 'Add speaker notes for every slide'</a:t>
            </a:r>
            <a:endParaRPr lang="en-US" sz="1000" dirty="0"/>
          </a:p>
        </p:txBody>
      </p:sp>
      <p:sp>
        <p:nvSpPr>
          <p:cNvPr id="15" name="Shape 13"/>
          <p:cNvSpPr/>
          <p:nvPr/>
        </p:nvSpPr>
        <p:spPr>
          <a:xfrm>
            <a:off x="4663440" y="987552"/>
            <a:ext cx="4206240" cy="3977640"/>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16" name="Shape 14"/>
          <p:cNvSpPr/>
          <p:nvPr/>
        </p:nvSpPr>
        <p:spPr>
          <a:xfrm>
            <a:off x="4663440" y="987552"/>
            <a:ext cx="4206240" cy="347472"/>
          </a:xfrm>
          <a:prstGeom prst="rect">
            <a:avLst/>
          </a:prstGeom>
          <a:solidFill>
            <a:srgbClr val="FFD166"/>
          </a:solidFill>
          <a:ln w="12700">
            <a:solidFill>
              <a:srgbClr val="FFD166"/>
            </a:solidFill>
            <a:prstDash val="solid"/>
          </a:ln>
        </p:spPr>
        <p:txBody>
          <a:bodyPr/>
          <a:lstStyle/>
          <a:p>
            <a:endParaRPr lang="en-IN"/>
          </a:p>
        </p:txBody>
      </p:sp>
      <p:sp>
        <p:nvSpPr>
          <p:cNvPr id="17" name="Text 15"/>
          <p:cNvSpPr/>
          <p:nvPr/>
        </p:nvSpPr>
        <p:spPr>
          <a:xfrm>
            <a:off x="4709160" y="987552"/>
            <a:ext cx="4114800" cy="347472"/>
          </a:xfrm>
          <a:prstGeom prst="rect">
            <a:avLst/>
          </a:prstGeom>
          <a:noFill/>
          <a:ln/>
        </p:spPr>
        <p:txBody>
          <a:bodyPr wrap="square" rtlCol="0" anchor="ctr"/>
          <a:lstStyle/>
          <a:p>
            <a:pPr marL="0" indent="0">
              <a:buNone/>
            </a:pPr>
            <a:r>
              <a:rPr lang="en-US" sz="1200" b="1" dirty="0">
                <a:solidFill>
                  <a:srgbClr val="0A1628"/>
                </a:solidFill>
              </a:rPr>
              <a:t>📧  Copilot in Outlook</a:t>
            </a:r>
            <a:endParaRPr lang="en-US" sz="1200" dirty="0"/>
          </a:p>
        </p:txBody>
      </p:sp>
      <p:sp>
        <p:nvSpPr>
          <p:cNvPr id="18" name="Text 16"/>
          <p:cNvSpPr/>
          <p:nvPr/>
        </p:nvSpPr>
        <p:spPr>
          <a:xfrm>
            <a:off x="4754880" y="1389888"/>
            <a:ext cx="4023360" cy="502920"/>
          </a:xfrm>
          <a:prstGeom prst="rect">
            <a:avLst/>
          </a:prstGeom>
          <a:noFill/>
          <a:ln/>
        </p:spPr>
        <p:txBody>
          <a:bodyPr wrap="square" rtlCol="0" anchor="ctr"/>
          <a:lstStyle/>
          <a:p>
            <a:pPr marL="0" indent="0">
              <a:buNone/>
            </a:pPr>
            <a:r>
              <a:rPr lang="en-US" sz="1000" dirty="0">
                <a:solidFill>
                  <a:srgbClr val="E8F4FD"/>
                </a:solidFill>
              </a:rPr>
              <a:t>1.  Open a long email chain → Click Copilot</a:t>
            </a:r>
            <a:endParaRPr lang="en-US" sz="1000" dirty="0"/>
          </a:p>
        </p:txBody>
      </p:sp>
      <p:sp>
        <p:nvSpPr>
          <p:cNvPr id="19" name="Text 17"/>
          <p:cNvSpPr/>
          <p:nvPr/>
        </p:nvSpPr>
        <p:spPr>
          <a:xfrm>
            <a:off x="4754880" y="1938528"/>
            <a:ext cx="4023360" cy="502920"/>
          </a:xfrm>
          <a:prstGeom prst="rect">
            <a:avLst/>
          </a:prstGeom>
          <a:noFill/>
          <a:ln/>
        </p:spPr>
        <p:txBody>
          <a:bodyPr wrap="square" rtlCol="0" anchor="ctr"/>
          <a:lstStyle/>
          <a:p>
            <a:pPr marL="0" indent="0">
              <a:buNone/>
            </a:pPr>
            <a:r>
              <a:rPr lang="en-US" sz="1000" dirty="0">
                <a:solidFill>
                  <a:srgbClr val="E8F4FD"/>
                </a:solidFill>
              </a:rPr>
              <a:t>2.  Click 'Summarize this conversation'</a:t>
            </a:r>
            <a:endParaRPr lang="en-US" sz="1000" dirty="0"/>
          </a:p>
        </p:txBody>
      </p:sp>
      <p:sp>
        <p:nvSpPr>
          <p:cNvPr id="20" name="Text 18"/>
          <p:cNvSpPr/>
          <p:nvPr/>
        </p:nvSpPr>
        <p:spPr>
          <a:xfrm>
            <a:off x="4754880" y="2487168"/>
            <a:ext cx="4023360" cy="502920"/>
          </a:xfrm>
          <a:prstGeom prst="rect">
            <a:avLst/>
          </a:prstGeom>
          <a:noFill/>
          <a:ln/>
        </p:spPr>
        <p:txBody>
          <a:bodyPr wrap="square" rtlCol="0" anchor="ctr"/>
          <a:lstStyle/>
          <a:p>
            <a:pPr marL="0" indent="0">
              <a:buNone/>
            </a:pPr>
            <a:r>
              <a:rPr lang="en-US" sz="1000" dirty="0">
                <a:solidFill>
                  <a:srgbClr val="E8F4FD"/>
                </a:solidFill>
              </a:rPr>
              <a:t>3.  Get 3–5 bullet summary of key decisions</a:t>
            </a:r>
            <a:endParaRPr lang="en-US" sz="1000" dirty="0"/>
          </a:p>
        </p:txBody>
      </p:sp>
      <p:sp>
        <p:nvSpPr>
          <p:cNvPr id="21" name="Text 19"/>
          <p:cNvSpPr/>
          <p:nvPr/>
        </p:nvSpPr>
        <p:spPr>
          <a:xfrm>
            <a:off x="4754880" y="3035808"/>
            <a:ext cx="4023360" cy="502920"/>
          </a:xfrm>
          <a:prstGeom prst="rect">
            <a:avLst/>
          </a:prstGeom>
          <a:noFill/>
          <a:ln/>
        </p:spPr>
        <p:txBody>
          <a:bodyPr wrap="square" rtlCol="0" anchor="ctr"/>
          <a:lstStyle/>
          <a:p>
            <a:pPr marL="0" indent="0">
              <a:buNone/>
            </a:pPr>
            <a:r>
              <a:rPr lang="en-US" sz="1000" dirty="0">
                <a:solidFill>
                  <a:srgbClr val="E8F4FD"/>
                </a:solidFill>
              </a:rPr>
              <a:t>4.  Click 'New Email' → Copilot → 'Draft with Copilot'</a:t>
            </a:r>
            <a:endParaRPr lang="en-US" sz="1000" dirty="0"/>
          </a:p>
        </p:txBody>
      </p:sp>
      <p:sp>
        <p:nvSpPr>
          <p:cNvPr id="22" name="Text 20"/>
          <p:cNvSpPr/>
          <p:nvPr/>
        </p:nvSpPr>
        <p:spPr>
          <a:xfrm>
            <a:off x="4754880" y="3584448"/>
            <a:ext cx="4023360" cy="502920"/>
          </a:xfrm>
          <a:prstGeom prst="rect">
            <a:avLst/>
          </a:prstGeom>
          <a:noFill/>
          <a:ln/>
        </p:spPr>
        <p:txBody>
          <a:bodyPr wrap="square" rtlCol="0" anchor="ctr"/>
          <a:lstStyle/>
          <a:p>
            <a:pPr marL="0" indent="0">
              <a:buNone/>
            </a:pPr>
            <a:r>
              <a:rPr lang="en-US" sz="1000" dirty="0">
                <a:solidFill>
                  <a:srgbClr val="E8F4FD"/>
                </a:solidFill>
              </a:rPr>
              <a:t>5.  Describe: 'Follow-up email requesting data report, firm but collegial'</a:t>
            </a:r>
            <a:endParaRPr lang="en-US" sz="1000" dirty="0"/>
          </a:p>
        </p:txBody>
      </p:sp>
      <p:sp>
        <p:nvSpPr>
          <p:cNvPr id="23" name="Text 21"/>
          <p:cNvSpPr/>
          <p:nvPr/>
        </p:nvSpPr>
        <p:spPr>
          <a:xfrm>
            <a:off x="4754880" y="4133088"/>
            <a:ext cx="4023360" cy="502920"/>
          </a:xfrm>
          <a:prstGeom prst="rect">
            <a:avLst/>
          </a:prstGeom>
          <a:noFill/>
          <a:ln/>
        </p:spPr>
        <p:txBody>
          <a:bodyPr wrap="square" rtlCol="0" anchor="ctr"/>
          <a:lstStyle/>
          <a:p>
            <a:pPr marL="0" indent="0">
              <a:buNone/>
            </a:pPr>
            <a:r>
              <a:rPr lang="en-US" sz="1000" dirty="0">
                <a:solidFill>
                  <a:srgbClr val="E8F4FD"/>
                </a:solidFill>
              </a:rPr>
              <a:t>6.  Review draft → adjust tone → send</a:t>
            </a:r>
            <a:endParaRPr lang="en-US" sz="1000" dirty="0"/>
          </a:p>
        </p:txBody>
      </p:sp>
      <p:sp>
        <p:nvSpPr>
          <p:cNvPr id="24" name="Shape 22"/>
          <p:cNvSpPr/>
          <p:nvPr/>
        </p:nvSpPr>
        <p:spPr>
          <a:xfrm>
            <a:off x="274320" y="5029200"/>
            <a:ext cx="8595360" cy="256032"/>
          </a:xfrm>
          <a:prstGeom prst="rect">
            <a:avLst/>
          </a:prstGeom>
          <a:solidFill>
            <a:srgbClr val="0F2041"/>
          </a:solidFill>
          <a:ln w="12700">
            <a:solidFill>
              <a:srgbClr val="7B5EA7"/>
            </a:solidFill>
            <a:prstDash val="solid"/>
          </a:ln>
        </p:spPr>
        <p:txBody>
          <a:bodyPr/>
          <a:lstStyle/>
          <a:p>
            <a:endParaRPr lang="en-IN"/>
          </a:p>
        </p:txBody>
      </p:sp>
      <p:sp>
        <p:nvSpPr>
          <p:cNvPr id="25" name="Text 23"/>
          <p:cNvSpPr/>
          <p:nvPr/>
        </p:nvSpPr>
        <p:spPr>
          <a:xfrm>
            <a:off x="274320" y="5029200"/>
            <a:ext cx="8595360" cy="256032"/>
          </a:xfrm>
          <a:prstGeom prst="rect">
            <a:avLst/>
          </a:prstGeom>
          <a:noFill/>
          <a:ln/>
        </p:spPr>
        <p:txBody>
          <a:bodyPr wrap="square" rtlCol="0" anchor="ctr"/>
          <a:lstStyle/>
          <a:p>
            <a:pPr marL="0" indent="0" algn="ctr">
              <a:buNone/>
            </a:pPr>
            <a:r>
              <a:rPr lang="en-US" sz="1000" i="1" dirty="0">
                <a:solidFill>
                  <a:srgbClr val="A0B4C8"/>
                </a:solidFill>
              </a:rPr>
              <a:t>Both tools: same Copilot panel · same natural language interface · same GPT-4 engine underneath</a:t>
            </a:r>
            <a:endParaRPr lang="en-US" sz="1000" dirty="0"/>
          </a:p>
        </p:txBody>
      </p:sp>
    </p:spTree>
    <p:extLst>
      <p:ext uri="{BB962C8B-B14F-4D97-AF65-F5344CB8AC3E}">
        <p14:creationId xmlns:p14="http://schemas.microsoft.com/office/powerpoint/2010/main" val="29097414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00E5A0"/>
          </a:solidFill>
          <a:ln w="12700">
            <a:solidFill>
              <a:srgbClr val="00E5A0"/>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4 · COPILOT IN TEAMS</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Copilot in Microsoft Teams</a:t>
            </a:r>
            <a:endParaRPr lang="en-US" sz="2200" dirty="0"/>
          </a:p>
        </p:txBody>
      </p:sp>
      <p:sp>
        <p:nvSpPr>
          <p:cNvPr id="6" name="Shape 4"/>
          <p:cNvSpPr/>
          <p:nvPr/>
        </p:nvSpPr>
        <p:spPr>
          <a:xfrm>
            <a:off x="274320" y="841248"/>
            <a:ext cx="8595360" cy="658368"/>
          </a:xfrm>
          <a:prstGeom prst="rect">
            <a:avLst/>
          </a:prstGeom>
          <a:solidFill>
            <a:srgbClr val="0F2041"/>
          </a:solidFill>
          <a:ln w="19050">
            <a:solidFill>
              <a:srgbClr val="00E5A0"/>
            </a:solidFill>
            <a:prstDash val="solid"/>
          </a:ln>
        </p:spPr>
        <p:txBody>
          <a:bodyPr/>
          <a:lstStyle/>
          <a:p>
            <a:endParaRPr lang="en-IN"/>
          </a:p>
        </p:txBody>
      </p:sp>
      <p:sp>
        <p:nvSpPr>
          <p:cNvPr id="7" name="Text 5"/>
          <p:cNvSpPr/>
          <p:nvPr/>
        </p:nvSpPr>
        <p:spPr>
          <a:xfrm>
            <a:off x="457200" y="859536"/>
            <a:ext cx="8229600" cy="603504"/>
          </a:xfrm>
          <a:prstGeom prst="rect">
            <a:avLst/>
          </a:prstGeom>
          <a:noFill/>
          <a:ln/>
        </p:spPr>
        <p:txBody>
          <a:bodyPr wrap="square" rtlCol="0" anchor="ctr"/>
          <a:lstStyle/>
          <a:p>
            <a:pPr marL="0" indent="0">
              <a:buNone/>
            </a:pPr>
            <a:r>
              <a:rPr lang="en-US" sz="1100" b="1" dirty="0">
                <a:solidFill>
                  <a:srgbClr val="00E5A0"/>
                </a:solidFill>
              </a:rPr>
              <a:t>Why It Matters:</a:t>
            </a:r>
            <a:r>
              <a:rPr lang="en-US" sz="1100" dirty="0">
                <a:solidFill>
                  <a:srgbClr val="E8F4FD"/>
                </a:solidFill>
              </a:rPr>
              <a:t> Meetings generate enormous information — decisions, action items, context — that rarely gets captured. Copilot in Teams acts as a persistent, intelligent note-taker for every meeting.</a:t>
            </a:r>
            <a:endParaRPr lang="en-US" sz="1100" dirty="0"/>
          </a:p>
        </p:txBody>
      </p:sp>
      <p:sp>
        <p:nvSpPr>
          <p:cNvPr id="8" name="Shape 6"/>
          <p:cNvSpPr/>
          <p:nvPr/>
        </p:nvSpPr>
        <p:spPr>
          <a:xfrm>
            <a:off x="274320" y="1664208"/>
            <a:ext cx="2761488" cy="3090672"/>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9" name="Shape 7"/>
          <p:cNvSpPr/>
          <p:nvPr/>
        </p:nvSpPr>
        <p:spPr>
          <a:xfrm>
            <a:off x="274320" y="1664208"/>
            <a:ext cx="2761488" cy="347472"/>
          </a:xfrm>
          <a:prstGeom prst="rect">
            <a:avLst/>
          </a:prstGeom>
          <a:solidFill>
            <a:srgbClr val="00C8FF"/>
          </a:solidFill>
          <a:ln w="12700">
            <a:solidFill>
              <a:srgbClr val="00C8FF"/>
            </a:solidFill>
            <a:prstDash val="solid"/>
          </a:ln>
        </p:spPr>
        <p:txBody>
          <a:bodyPr/>
          <a:lstStyle/>
          <a:p>
            <a:endParaRPr lang="en-IN"/>
          </a:p>
        </p:txBody>
      </p:sp>
      <p:sp>
        <p:nvSpPr>
          <p:cNvPr id="10" name="Text 8"/>
          <p:cNvSpPr/>
          <p:nvPr/>
        </p:nvSpPr>
        <p:spPr>
          <a:xfrm>
            <a:off x="274320" y="1664208"/>
            <a:ext cx="2761488" cy="347472"/>
          </a:xfrm>
          <a:prstGeom prst="rect">
            <a:avLst/>
          </a:prstGeom>
          <a:noFill/>
          <a:ln/>
        </p:spPr>
        <p:txBody>
          <a:bodyPr wrap="square" rtlCol="0" anchor="ctr"/>
          <a:lstStyle/>
          <a:p>
            <a:pPr marL="0" indent="0" algn="ctr">
              <a:buNone/>
            </a:pPr>
            <a:r>
              <a:rPr lang="en-US" sz="1150" b="1" dirty="0">
                <a:solidFill>
                  <a:srgbClr val="0A1628"/>
                </a:solidFill>
              </a:rPr>
              <a:t>🎙️  During Meeting</a:t>
            </a:r>
            <a:endParaRPr lang="en-US" sz="1150" dirty="0"/>
          </a:p>
        </p:txBody>
      </p:sp>
      <p:sp>
        <p:nvSpPr>
          <p:cNvPr id="11" name="Text 9"/>
          <p:cNvSpPr/>
          <p:nvPr/>
        </p:nvSpPr>
        <p:spPr>
          <a:xfrm>
            <a:off x="365760" y="2066544"/>
            <a:ext cx="2578608" cy="2606040"/>
          </a:xfrm>
          <a:prstGeom prst="rect">
            <a:avLst/>
          </a:prstGeom>
          <a:noFill/>
          <a:ln/>
        </p:spPr>
        <p:txBody>
          <a:bodyPr wrap="square" rtlCol="0" anchor="ctr"/>
          <a:lstStyle/>
          <a:p>
            <a:pPr marL="342900" indent="-342900">
              <a:buSzPct val="100000"/>
              <a:buFont typeface="+mj-lt"/>
              <a:buAutoNum type="arabicPeriod"/>
            </a:pPr>
            <a:r>
              <a:rPr lang="en-US" sz="1000" dirty="0">
                <a:solidFill>
                  <a:srgbClr val="E8F4FD"/>
                </a:solidFill>
              </a:rPr>
              <a:t>Click Copilot button in meeting toolbar</a:t>
            </a:r>
            <a:endParaRPr lang="en-US" sz="1000" dirty="0"/>
          </a:p>
          <a:p>
            <a:pPr marL="342900" indent="-342900">
              <a:buSzPct val="100000"/>
              <a:buFont typeface="+mj-lt"/>
              <a:buAutoNum type="arabicPeriod"/>
            </a:pPr>
            <a:r>
              <a:rPr lang="en-US" sz="1000" dirty="0">
                <a:solidFill>
                  <a:srgbClr val="E8F4FD"/>
                </a:solidFill>
              </a:rPr>
              <a:t>Ask: 'What has been discussed so far?'</a:t>
            </a:r>
            <a:endParaRPr lang="en-US" sz="1000" dirty="0"/>
          </a:p>
          <a:p>
            <a:pPr marL="342900" indent="-342900">
              <a:buSzPct val="100000"/>
              <a:buFont typeface="+mj-lt"/>
              <a:buAutoNum type="arabicPeriod"/>
            </a:pPr>
            <a:r>
              <a:rPr lang="en-US" sz="1000" dirty="0">
                <a:solidFill>
                  <a:srgbClr val="E8F4FD"/>
                </a:solidFill>
              </a:rPr>
              <a:t>Ask: 'List key decisions made in this meeting'</a:t>
            </a:r>
            <a:endParaRPr lang="en-US" sz="1000" dirty="0"/>
          </a:p>
          <a:p>
            <a:pPr marL="342900" indent="-342900">
              <a:buSzPct val="100000"/>
              <a:buFont typeface="+mj-lt"/>
              <a:buAutoNum type="arabicPeriod"/>
            </a:pPr>
            <a:r>
              <a:rPr lang="en-US" sz="1000" dirty="0">
                <a:solidFill>
                  <a:srgbClr val="E8F4FD"/>
                </a:solidFill>
              </a:rPr>
              <a:t>Real-time running summary of the conversation</a:t>
            </a:r>
            <a:endParaRPr lang="en-US" sz="1000" dirty="0"/>
          </a:p>
        </p:txBody>
      </p:sp>
      <p:sp>
        <p:nvSpPr>
          <p:cNvPr id="12" name="Shape 10"/>
          <p:cNvSpPr/>
          <p:nvPr/>
        </p:nvSpPr>
        <p:spPr>
          <a:xfrm>
            <a:off x="3182112" y="1664208"/>
            <a:ext cx="2761488" cy="3090672"/>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txBody>
          <a:bodyPr/>
          <a:lstStyle/>
          <a:p>
            <a:endParaRPr lang="en-IN"/>
          </a:p>
        </p:txBody>
      </p:sp>
      <p:sp>
        <p:nvSpPr>
          <p:cNvPr id="13" name="Shape 11"/>
          <p:cNvSpPr/>
          <p:nvPr/>
        </p:nvSpPr>
        <p:spPr>
          <a:xfrm>
            <a:off x="3182112" y="1664208"/>
            <a:ext cx="2761488" cy="347472"/>
          </a:xfrm>
          <a:prstGeom prst="rect">
            <a:avLst/>
          </a:prstGeom>
          <a:solidFill>
            <a:srgbClr val="7B5EA7"/>
          </a:solidFill>
          <a:ln w="12700">
            <a:solidFill>
              <a:srgbClr val="7B5EA7"/>
            </a:solidFill>
            <a:prstDash val="solid"/>
          </a:ln>
        </p:spPr>
        <p:txBody>
          <a:bodyPr/>
          <a:lstStyle/>
          <a:p>
            <a:endParaRPr lang="en-IN"/>
          </a:p>
        </p:txBody>
      </p:sp>
      <p:sp>
        <p:nvSpPr>
          <p:cNvPr id="14" name="Text 12"/>
          <p:cNvSpPr/>
          <p:nvPr/>
        </p:nvSpPr>
        <p:spPr>
          <a:xfrm>
            <a:off x="3182112" y="1664208"/>
            <a:ext cx="2761488" cy="347472"/>
          </a:xfrm>
          <a:prstGeom prst="rect">
            <a:avLst/>
          </a:prstGeom>
          <a:noFill/>
          <a:ln/>
        </p:spPr>
        <p:txBody>
          <a:bodyPr wrap="square" rtlCol="0" anchor="ctr"/>
          <a:lstStyle/>
          <a:p>
            <a:pPr marL="0" indent="0" algn="ctr">
              <a:buNone/>
            </a:pPr>
            <a:r>
              <a:rPr lang="en-US" sz="1150" b="1" dirty="0">
                <a:solidFill>
                  <a:srgbClr val="0A1628"/>
                </a:solidFill>
              </a:rPr>
              <a:t>📋  After Meeting</a:t>
            </a:r>
            <a:endParaRPr lang="en-US" sz="1150" dirty="0"/>
          </a:p>
        </p:txBody>
      </p:sp>
      <p:sp>
        <p:nvSpPr>
          <p:cNvPr id="15" name="Text 13"/>
          <p:cNvSpPr/>
          <p:nvPr/>
        </p:nvSpPr>
        <p:spPr>
          <a:xfrm>
            <a:off x="3273552" y="2066544"/>
            <a:ext cx="2578608" cy="2606040"/>
          </a:xfrm>
          <a:prstGeom prst="rect">
            <a:avLst/>
          </a:prstGeom>
          <a:noFill/>
          <a:ln/>
        </p:spPr>
        <p:txBody>
          <a:bodyPr wrap="square" rtlCol="0" anchor="ctr"/>
          <a:lstStyle/>
          <a:p>
            <a:pPr marL="342900" indent="-342900">
              <a:buSzPct val="100000"/>
              <a:buFont typeface="+mj-lt"/>
              <a:buAutoNum type="arabicPeriod"/>
            </a:pPr>
            <a:r>
              <a:rPr lang="en-US" sz="1000" dirty="0">
                <a:solidFill>
                  <a:srgbClr val="E8F4FD"/>
                </a:solidFill>
              </a:rPr>
              <a:t>Open Teams meeting recap → Copilot tab</a:t>
            </a:r>
            <a:endParaRPr lang="en-US" sz="1000" dirty="0"/>
          </a:p>
          <a:p>
            <a:pPr marL="342900" indent="-342900">
              <a:buSzPct val="100000"/>
              <a:buFont typeface="+mj-lt"/>
              <a:buAutoNum type="arabicPeriod"/>
            </a:pPr>
            <a:r>
              <a:rPr lang="en-US" sz="1000" dirty="0">
                <a:solidFill>
                  <a:srgbClr val="E8F4FD"/>
                </a:solidFill>
              </a:rPr>
              <a:t>Ask: 'What were the key decisions?'</a:t>
            </a:r>
            <a:endParaRPr lang="en-US" sz="1000" dirty="0"/>
          </a:p>
          <a:p>
            <a:pPr marL="342900" indent="-342900">
              <a:buSzPct val="100000"/>
              <a:buFont typeface="+mj-lt"/>
              <a:buAutoNum type="arabicPeriod"/>
            </a:pPr>
            <a:r>
              <a:rPr lang="en-US" sz="1000" dirty="0">
                <a:solidFill>
                  <a:srgbClr val="E8F4FD"/>
                </a:solidFill>
              </a:rPr>
              <a:t>Ask: 'What action items were assigned and to whom?'</a:t>
            </a:r>
            <a:endParaRPr lang="en-US" sz="1000" dirty="0"/>
          </a:p>
          <a:p>
            <a:pPr marL="342900" indent="-342900">
              <a:buSzPct val="100000"/>
              <a:buFont typeface="+mj-lt"/>
              <a:buAutoNum type="arabicPeriod"/>
            </a:pPr>
            <a:r>
              <a:rPr lang="en-US" sz="1000" dirty="0">
                <a:solidFill>
                  <a:srgbClr val="E8F4FD"/>
                </a:solidFill>
              </a:rPr>
              <a:t>Share summary with attendees and non-attendees</a:t>
            </a:r>
            <a:endParaRPr lang="en-US" sz="1000" dirty="0"/>
          </a:p>
        </p:txBody>
      </p:sp>
      <p:sp>
        <p:nvSpPr>
          <p:cNvPr id="16" name="Shape 14"/>
          <p:cNvSpPr/>
          <p:nvPr/>
        </p:nvSpPr>
        <p:spPr>
          <a:xfrm>
            <a:off x="6089904" y="1664208"/>
            <a:ext cx="2761488" cy="3090672"/>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17" name="Shape 15"/>
          <p:cNvSpPr/>
          <p:nvPr/>
        </p:nvSpPr>
        <p:spPr>
          <a:xfrm>
            <a:off x="6089904" y="1664208"/>
            <a:ext cx="2761488" cy="347472"/>
          </a:xfrm>
          <a:prstGeom prst="rect">
            <a:avLst/>
          </a:prstGeom>
          <a:solidFill>
            <a:srgbClr val="FFD166"/>
          </a:solidFill>
          <a:ln w="12700">
            <a:solidFill>
              <a:srgbClr val="FFD166"/>
            </a:solidFill>
            <a:prstDash val="solid"/>
          </a:ln>
        </p:spPr>
        <p:txBody>
          <a:bodyPr/>
          <a:lstStyle/>
          <a:p>
            <a:endParaRPr lang="en-IN"/>
          </a:p>
        </p:txBody>
      </p:sp>
      <p:sp>
        <p:nvSpPr>
          <p:cNvPr id="18" name="Text 16"/>
          <p:cNvSpPr/>
          <p:nvPr/>
        </p:nvSpPr>
        <p:spPr>
          <a:xfrm>
            <a:off x="6089904" y="1664208"/>
            <a:ext cx="2761488" cy="347472"/>
          </a:xfrm>
          <a:prstGeom prst="rect">
            <a:avLst/>
          </a:prstGeom>
          <a:noFill/>
          <a:ln/>
        </p:spPr>
        <p:txBody>
          <a:bodyPr wrap="square" rtlCol="0" anchor="ctr"/>
          <a:lstStyle/>
          <a:p>
            <a:pPr marL="0" indent="0" algn="ctr">
              <a:buNone/>
            </a:pPr>
            <a:r>
              <a:rPr lang="en-US" sz="1150" b="1" dirty="0">
                <a:solidFill>
                  <a:srgbClr val="0A1628"/>
                </a:solidFill>
              </a:rPr>
              <a:t>💬  Teams Chat Thread</a:t>
            </a:r>
            <a:endParaRPr lang="en-US" sz="1150" dirty="0"/>
          </a:p>
        </p:txBody>
      </p:sp>
      <p:sp>
        <p:nvSpPr>
          <p:cNvPr id="19" name="Text 17"/>
          <p:cNvSpPr/>
          <p:nvPr/>
        </p:nvSpPr>
        <p:spPr>
          <a:xfrm>
            <a:off x="6181344" y="2066544"/>
            <a:ext cx="2578608" cy="2606040"/>
          </a:xfrm>
          <a:prstGeom prst="rect">
            <a:avLst/>
          </a:prstGeom>
          <a:noFill/>
          <a:ln/>
        </p:spPr>
        <p:txBody>
          <a:bodyPr wrap="square" rtlCol="0" anchor="ctr"/>
          <a:lstStyle/>
          <a:p>
            <a:pPr marL="342900" indent="-342900">
              <a:buSzPct val="100000"/>
              <a:buFont typeface="+mj-lt"/>
              <a:buAutoNum type="arabicPeriod"/>
            </a:pPr>
            <a:r>
              <a:rPr lang="en-US" sz="1000" dirty="0">
                <a:solidFill>
                  <a:srgbClr val="E8F4FD"/>
                </a:solidFill>
              </a:rPr>
              <a:t>Open a busy channel with 50+ messages</a:t>
            </a:r>
            <a:endParaRPr lang="en-US" sz="1000" dirty="0"/>
          </a:p>
          <a:p>
            <a:pPr marL="342900" indent="-342900">
              <a:buSzPct val="100000"/>
              <a:buFont typeface="+mj-lt"/>
              <a:buAutoNum type="arabicPeriod"/>
            </a:pPr>
            <a:r>
              <a:rPr lang="en-US" sz="1000" dirty="0">
                <a:solidFill>
                  <a:srgbClr val="E8F4FD"/>
                </a:solidFill>
              </a:rPr>
              <a:t>Click Copilot icon at top of channel</a:t>
            </a:r>
            <a:endParaRPr lang="en-US" sz="1000" dirty="0"/>
          </a:p>
          <a:p>
            <a:pPr marL="342900" indent="-342900">
              <a:buSzPct val="100000"/>
              <a:buFont typeface="+mj-lt"/>
              <a:buAutoNum type="arabicPeriod"/>
            </a:pPr>
            <a:r>
              <a:rPr lang="en-US" sz="1000" dirty="0">
                <a:solidFill>
                  <a:srgbClr val="E8F4FD"/>
                </a:solidFill>
              </a:rPr>
              <a:t>Type: 'Summarise the last 24 hours of this channel'</a:t>
            </a:r>
            <a:endParaRPr lang="en-US" sz="1000" dirty="0"/>
          </a:p>
          <a:p>
            <a:pPr marL="342900" indent="-342900">
              <a:buSzPct val="100000"/>
              <a:buFont typeface="+mj-lt"/>
              <a:buAutoNum type="arabicPeriod"/>
            </a:pPr>
            <a:r>
              <a:rPr lang="en-US" sz="1000" dirty="0">
                <a:solidFill>
                  <a:srgbClr val="E8F4FD"/>
                </a:solidFill>
              </a:rPr>
              <a:t>Or: 'What decisions were made about the data pipeline?'</a:t>
            </a:r>
            <a:endParaRPr lang="en-US" sz="1000" dirty="0"/>
          </a:p>
        </p:txBody>
      </p:sp>
      <p:sp>
        <p:nvSpPr>
          <p:cNvPr id="20" name="Shape 18"/>
          <p:cNvSpPr/>
          <p:nvPr/>
        </p:nvSpPr>
        <p:spPr>
          <a:xfrm>
            <a:off x="274320" y="4828032"/>
            <a:ext cx="8595360" cy="274320"/>
          </a:xfrm>
          <a:prstGeom prst="rect">
            <a:avLst/>
          </a:prstGeom>
          <a:solidFill>
            <a:srgbClr val="0F2041"/>
          </a:solidFill>
          <a:ln w="12700">
            <a:solidFill>
              <a:srgbClr val="00E5A0"/>
            </a:solidFill>
            <a:prstDash val="solid"/>
          </a:ln>
        </p:spPr>
        <p:txBody>
          <a:bodyPr/>
          <a:lstStyle/>
          <a:p>
            <a:endParaRPr lang="en-IN"/>
          </a:p>
        </p:txBody>
      </p:sp>
      <p:sp>
        <p:nvSpPr>
          <p:cNvPr id="21" name="Text 19"/>
          <p:cNvSpPr/>
          <p:nvPr/>
        </p:nvSpPr>
        <p:spPr>
          <a:xfrm>
            <a:off x="274320" y="4828032"/>
            <a:ext cx="8595360" cy="274320"/>
          </a:xfrm>
          <a:prstGeom prst="rect">
            <a:avLst/>
          </a:prstGeom>
          <a:noFill/>
          <a:ln/>
        </p:spPr>
        <p:txBody>
          <a:bodyPr wrap="square" rtlCol="0" anchor="ctr"/>
          <a:lstStyle/>
          <a:p>
            <a:pPr marL="0" indent="0" algn="ctr">
              <a:buNone/>
            </a:pPr>
            <a:r>
              <a:rPr lang="en-US" sz="1000" dirty="0">
                <a:solidFill>
                  <a:srgbClr val="00E5A0"/>
                </a:solidFill>
              </a:rPr>
              <a:t>Perfect for students joining a project mid-stream — ask Copilot to catch you up on any channel history</a:t>
            </a:r>
            <a:endParaRPr lang="en-US" sz="1000" dirty="0"/>
          </a:p>
        </p:txBody>
      </p:sp>
    </p:spTree>
    <p:extLst>
      <p:ext uri="{BB962C8B-B14F-4D97-AF65-F5344CB8AC3E}">
        <p14:creationId xmlns:p14="http://schemas.microsoft.com/office/powerpoint/2010/main" val="3677386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txBody>
          <a:bodyPr/>
          <a:lstStyle/>
          <a:p>
            <a:endParaRPr lang="en-IN"/>
          </a:p>
        </p:txBody>
      </p:sp>
      <p:sp>
        <p:nvSpPr>
          <p:cNvPr id="3" name="Shape 1"/>
          <p:cNvSpPr/>
          <p:nvPr/>
        </p:nvSpPr>
        <p:spPr>
          <a:xfrm>
            <a:off x="365760" y="128016"/>
            <a:ext cx="2926080" cy="274320"/>
          </a:xfrm>
          <a:prstGeom prst="rect">
            <a:avLst/>
          </a:prstGeom>
          <a:solidFill>
            <a:srgbClr val="FFD166"/>
          </a:solidFill>
          <a:ln w="12700">
            <a:solidFill>
              <a:srgbClr val="FFD166"/>
            </a:solidFill>
            <a:prstDash val="solid"/>
          </a:ln>
        </p:spPr>
        <p:txBody>
          <a:bodyPr/>
          <a:lstStyle/>
          <a:p>
            <a:endParaRPr lang="en-IN"/>
          </a:p>
        </p:txBody>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MODULE SUMMARY</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Module Summary &amp; Key Takeaways</a:t>
            </a:r>
            <a:endParaRPr lang="en-US" sz="2200" dirty="0"/>
          </a:p>
        </p:txBody>
      </p:sp>
      <p:pic>
        <p:nvPicPr>
          <p:cNvPr id="6" name="Image 0" descr="preencoded.png"/>
          <p:cNvPicPr>
            <a:picLocks noChangeAspect="1"/>
          </p:cNvPicPr>
          <p:nvPr/>
        </p:nvPicPr>
        <p:blipFill>
          <a:blip r:embed="rId3"/>
          <a:stretch>
            <a:fillRect/>
          </a:stretch>
        </p:blipFill>
        <p:spPr>
          <a:xfrm>
            <a:off x="8138160" y="512064"/>
            <a:ext cx="566928" cy="566928"/>
          </a:xfrm>
          <a:prstGeom prst="rect">
            <a:avLst/>
          </a:prstGeom>
        </p:spPr>
      </p:pic>
      <p:sp>
        <p:nvSpPr>
          <p:cNvPr id="7" name="Shape 4"/>
          <p:cNvSpPr/>
          <p:nvPr/>
        </p:nvSpPr>
        <p:spPr>
          <a:xfrm>
            <a:off x="274320" y="987552"/>
            <a:ext cx="4160520" cy="3547872"/>
          </a:xfrm>
          <a:prstGeom prst="rect">
            <a:avLst/>
          </a:prstGeom>
          <a:solidFill>
            <a:srgbClr val="112244"/>
          </a:solidFill>
          <a:ln w="25400">
            <a:solidFill>
              <a:srgbClr val="00C8FF"/>
            </a:solidFill>
            <a:prstDash val="solid"/>
          </a:ln>
          <a:effectLst>
            <a:outerShdw blurRad="101600" dist="38100" dir="8100000" algn="bl" rotWithShape="0">
              <a:srgbClr val="000000">
                <a:alpha val="25000"/>
              </a:srgbClr>
            </a:outerShdw>
          </a:effectLst>
        </p:spPr>
        <p:txBody>
          <a:bodyPr/>
          <a:lstStyle/>
          <a:p>
            <a:endParaRPr lang="en-IN"/>
          </a:p>
        </p:txBody>
      </p:sp>
      <p:sp>
        <p:nvSpPr>
          <p:cNvPr id="8" name="Shape 5"/>
          <p:cNvSpPr/>
          <p:nvPr/>
        </p:nvSpPr>
        <p:spPr>
          <a:xfrm>
            <a:off x="274320" y="987552"/>
            <a:ext cx="4160520" cy="347472"/>
          </a:xfrm>
          <a:prstGeom prst="rect">
            <a:avLst/>
          </a:prstGeom>
          <a:solidFill>
            <a:srgbClr val="00C8FF"/>
          </a:solidFill>
          <a:ln w="12700">
            <a:solidFill>
              <a:srgbClr val="00C8FF"/>
            </a:solidFill>
            <a:prstDash val="solid"/>
          </a:ln>
        </p:spPr>
        <p:txBody>
          <a:bodyPr/>
          <a:lstStyle/>
          <a:p>
            <a:endParaRPr lang="en-IN"/>
          </a:p>
        </p:txBody>
      </p:sp>
      <p:sp>
        <p:nvSpPr>
          <p:cNvPr id="9" name="Text 6"/>
          <p:cNvSpPr/>
          <p:nvPr/>
        </p:nvSpPr>
        <p:spPr>
          <a:xfrm>
            <a:off x="320040" y="987552"/>
            <a:ext cx="4069080" cy="347472"/>
          </a:xfrm>
          <a:prstGeom prst="rect">
            <a:avLst/>
          </a:prstGeom>
          <a:noFill/>
          <a:ln/>
        </p:spPr>
        <p:txBody>
          <a:bodyPr wrap="square" rtlCol="0" anchor="ctr"/>
          <a:lstStyle/>
          <a:p>
            <a:pPr marL="0" indent="0">
              <a:buNone/>
            </a:pPr>
            <a:r>
              <a:rPr lang="en-US" sz="1200" b="1" dirty="0">
                <a:solidFill>
                  <a:srgbClr val="0A1628"/>
                </a:solidFill>
              </a:rPr>
              <a:t>Key Takeaways</a:t>
            </a:r>
            <a:endParaRPr lang="en-US" sz="1200" dirty="0"/>
          </a:p>
        </p:txBody>
      </p:sp>
      <p:sp>
        <p:nvSpPr>
          <p:cNvPr id="10" name="Text 7"/>
          <p:cNvSpPr/>
          <p:nvPr/>
        </p:nvSpPr>
        <p:spPr>
          <a:xfrm>
            <a:off x="411480" y="1389888"/>
            <a:ext cx="3886200" cy="3063240"/>
          </a:xfrm>
          <a:prstGeom prst="rect">
            <a:avLst/>
          </a:prstGeom>
          <a:noFill/>
          <a:ln/>
        </p:spPr>
        <p:txBody>
          <a:bodyPr wrap="square" rtlCol="0" anchor="ctr"/>
          <a:lstStyle/>
          <a:p>
            <a:pPr marL="342900" indent="-342900">
              <a:buSzPct val="100000"/>
              <a:buChar char="•"/>
            </a:pPr>
            <a:r>
              <a:rPr lang="en-US" sz="1000" dirty="0">
                <a:solidFill>
                  <a:srgbClr val="E8F4FD"/>
                </a:solidFill>
              </a:rPr>
              <a:t>NL-to-SQL: any user can now query a database in plain English</a:t>
            </a:r>
            <a:endParaRPr lang="en-US" sz="1000" dirty="0"/>
          </a:p>
          <a:p>
            <a:pPr marL="342900" indent="-342900">
              <a:buSzPct val="100000"/>
              <a:buChar char="•"/>
            </a:pPr>
            <a:r>
              <a:rPr lang="en-US" sz="1000" dirty="0">
                <a:solidFill>
                  <a:srgbClr val="E8F4FD"/>
                </a:solidFill>
              </a:rPr>
              <a:t>9 SQL operations: SELECT · COUNT · AVG · WHERE · UPDATE · ORDER BY · INSERT · AND · VIEW</a:t>
            </a:r>
            <a:endParaRPr lang="en-US" sz="1000" dirty="0"/>
          </a:p>
          <a:p>
            <a:pPr marL="342900" indent="-342900">
              <a:buSzPct val="100000"/>
              <a:buChar char="•"/>
            </a:pPr>
            <a:r>
              <a:rPr lang="en-US" sz="1000" dirty="0">
                <a:solidFill>
                  <a:srgbClr val="E8F4FD"/>
                </a:solidFill>
              </a:rPr>
              <a:t>7 Q&amp;A frameworks: IBM Cognos, Tableau, Sisense, ThoughtSpot, Power BI, Dash, Crystal</a:t>
            </a:r>
            <a:endParaRPr lang="en-US" sz="1000" dirty="0"/>
          </a:p>
          <a:p>
            <a:pPr marL="342900" indent="-342900">
              <a:buSzPct val="100000"/>
              <a:buChar char="•"/>
            </a:pPr>
            <a:r>
              <a:rPr lang="en-US" sz="1000" dirty="0">
                <a:solidFill>
                  <a:srgbClr val="E8F4FD"/>
                </a:solidFill>
              </a:rPr>
              <a:t>Gen AI cuts data prep time — synthetic data, auto feature engineering, NLP cleaning</a:t>
            </a:r>
            <a:endParaRPr lang="en-US" sz="1000" dirty="0"/>
          </a:p>
          <a:p>
            <a:pPr marL="342900" indent="-342900">
              <a:buSzPct val="100000"/>
              <a:buChar char="•"/>
            </a:pPr>
            <a:r>
              <a:rPr lang="en-US" sz="1000" dirty="0">
                <a:solidFill>
                  <a:srgbClr val="E8F4FD"/>
                </a:solidFill>
              </a:rPr>
              <a:t>Walmart (50K users), Stanford, DataRobot — Gen AI is already in production</a:t>
            </a:r>
            <a:endParaRPr lang="en-US" sz="1000" dirty="0"/>
          </a:p>
          <a:p>
            <a:pPr marL="342900" indent="-342900">
              <a:buSzPct val="100000"/>
              <a:buChar char="•"/>
            </a:pPr>
            <a:r>
              <a:rPr lang="en-US" sz="1000" dirty="0">
                <a:solidFill>
                  <a:srgbClr val="E8F4FD"/>
                </a:solidFill>
              </a:rPr>
              <a:t>Microsoft Copilot: 88% productivity lift across Word, PPT, Outlook, Teams</a:t>
            </a:r>
            <a:endParaRPr lang="en-US" sz="1000" dirty="0"/>
          </a:p>
        </p:txBody>
      </p:sp>
      <p:sp>
        <p:nvSpPr>
          <p:cNvPr id="11" name="Shape 8"/>
          <p:cNvSpPr/>
          <p:nvPr/>
        </p:nvSpPr>
        <p:spPr>
          <a:xfrm>
            <a:off x="4663440" y="987552"/>
            <a:ext cx="4206240" cy="3547872"/>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txBody>
          <a:bodyPr/>
          <a:lstStyle/>
          <a:p>
            <a:endParaRPr lang="en-IN"/>
          </a:p>
        </p:txBody>
      </p:sp>
      <p:sp>
        <p:nvSpPr>
          <p:cNvPr id="12" name="Shape 9"/>
          <p:cNvSpPr/>
          <p:nvPr/>
        </p:nvSpPr>
        <p:spPr>
          <a:xfrm>
            <a:off x="4663440" y="987552"/>
            <a:ext cx="4206240" cy="347472"/>
          </a:xfrm>
          <a:prstGeom prst="rect">
            <a:avLst/>
          </a:prstGeom>
          <a:solidFill>
            <a:srgbClr val="FFD166"/>
          </a:solidFill>
          <a:ln w="12700">
            <a:solidFill>
              <a:srgbClr val="FFD166"/>
            </a:solidFill>
            <a:prstDash val="solid"/>
          </a:ln>
        </p:spPr>
        <p:txBody>
          <a:bodyPr/>
          <a:lstStyle/>
          <a:p>
            <a:endParaRPr lang="en-IN"/>
          </a:p>
        </p:txBody>
      </p:sp>
      <p:sp>
        <p:nvSpPr>
          <p:cNvPr id="13" name="Text 10"/>
          <p:cNvSpPr/>
          <p:nvPr/>
        </p:nvSpPr>
        <p:spPr>
          <a:xfrm>
            <a:off x="4709160" y="987552"/>
            <a:ext cx="4114800" cy="347472"/>
          </a:xfrm>
          <a:prstGeom prst="rect">
            <a:avLst/>
          </a:prstGeom>
          <a:noFill/>
          <a:ln/>
        </p:spPr>
        <p:txBody>
          <a:bodyPr wrap="square" rtlCol="0" anchor="ctr"/>
          <a:lstStyle/>
          <a:p>
            <a:pPr marL="0" indent="0">
              <a:buNone/>
            </a:pPr>
            <a:r>
              <a:rPr lang="en-US" sz="1200" b="1" dirty="0">
                <a:solidFill>
                  <a:srgbClr val="0A1628"/>
                </a:solidFill>
              </a:rPr>
              <a:t>Assessment Questions</a:t>
            </a:r>
            <a:endParaRPr lang="en-US" sz="1200" dirty="0"/>
          </a:p>
        </p:txBody>
      </p:sp>
      <p:sp>
        <p:nvSpPr>
          <p:cNvPr id="14" name="Text 11"/>
          <p:cNvSpPr/>
          <p:nvPr/>
        </p:nvSpPr>
        <p:spPr>
          <a:xfrm>
            <a:off x="4754880" y="1389888"/>
            <a:ext cx="3977640" cy="3063240"/>
          </a:xfrm>
          <a:prstGeom prst="rect">
            <a:avLst/>
          </a:prstGeom>
          <a:noFill/>
          <a:ln/>
        </p:spPr>
        <p:txBody>
          <a:bodyPr wrap="square" rtlCol="0" anchor="ctr"/>
          <a:lstStyle/>
          <a:p>
            <a:pPr marL="342900" indent="-342900">
              <a:buSzPct val="100000"/>
              <a:buFont typeface="+mj-lt"/>
              <a:buAutoNum type="arabicPeriod"/>
            </a:pPr>
            <a:r>
              <a:rPr lang="en-US" sz="1000" dirty="0">
                <a:solidFill>
                  <a:srgbClr val="E8F4FD"/>
                </a:solidFill>
              </a:rPr>
              <a:t>Write 3 NL prompts for Boston Housing and their SQL</a:t>
            </a:r>
            <a:endParaRPr lang="en-US" sz="1000" dirty="0"/>
          </a:p>
          <a:p>
            <a:pPr marL="342900" indent="-342900">
              <a:buSzPct val="100000"/>
              <a:buFont typeface="+mj-lt"/>
              <a:buAutoNum type="arabicPeriod"/>
            </a:pPr>
            <a:r>
              <a:rPr lang="en-US" sz="1000" dirty="0">
                <a:solidFill>
                  <a:srgbClr val="E8F4FD"/>
                </a:solidFill>
              </a:rPr>
              <a:t>Name 4 Q&amp;A frameworks with one distinguishing strength each</a:t>
            </a:r>
            <a:endParaRPr lang="en-US" sz="1000" dirty="0"/>
          </a:p>
          <a:p>
            <a:pPr marL="342900" indent="-342900">
              <a:buSzPct val="100000"/>
              <a:buFont typeface="+mj-lt"/>
              <a:buAutoNum type="arabicPeriod"/>
            </a:pPr>
            <a:r>
              <a:rPr lang="en-US" sz="1000" dirty="0">
                <a:solidFill>
                  <a:srgbClr val="E8F4FD"/>
                </a:solidFill>
              </a:rPr>
              <a:t>How does Walmart My Assistant protect data privacy?</a:t>
            </a:r>
            <a:endParaRPr lang="en-US" sz="1000" dirty="0"/>
          </a:p>
          <a:p>
            <a:pPr marL="342900" indent="-342900">
              <a:buSzPct val="100000"/>
              <a:buFont typeface="+mj-lt"/>
              <a:buAutoNum type="arabicPeriod"/>
            </a:pPr>
            <a:r>
              <a:rPr lang="en-US" sz="1000" dirty="0">
                <a:solidFill>
                  <a:srgbClr val="E8F4FD"/>
                </a:solidFill>
              </a:rPr>
              <a:t>Gen AI replaces data analysts — agree or disagree with evidence</a:t>
            </a:r>
            <a:endParaRPr lang="en-US" sz="1000" dirty="0"/>
          </a:p>
          <a:p>
            <a:pPr marL="342900" indent="-342900">
              <a:buSzPct val="100000"/>
              <a:buFont typeface="+mj-lt"/>
              <a:buAutoNum type="arabicPeriod"/>
            </a:pPr>
            <a:r>
              <a:rPr lang="en-US" sz="1000" dirty="0">
                <a:solidFill>
                  <a:srgbClr val="E8F4FD"/>
                </a:solidFill>
              </a:rPr>
              <a:t>Design a workflow: Copilot Teams → NL-to-SQL → Copilot PPT</a:t>
            </a:r>
            <a:endParaRPr lang="en-US" sz="1000" dirty="0"/>
          </a:p>
        </p:txBody>
      </p:sp>
      <p:sp>
        <p:nvSpPr>
          <p:cNvPr id="15" name="Shape 12"/>
          <p:cNvSpPr/>
          <p:nvPr/>
        </p:nvSpPr>
        <p:spPr>
          <a:xfrm>
            <a:off x="274320" y="4626864"/>
            <a:ext cx="8595360" cy="621792"/>
          </a:xfrm>
          <a:prstGeom prst="rect">
            <a:avLst/>
          </a:prstGeom>
          <a:solidFill>
            <a:srgbClr val="0F2041"/>
          </a:solidFill>
          <a:ln w="19050">
            <a:solidFill>
              <a:srgbClr val="7B5EA7"/>
            </a:solidFill>
            <a:prstDash val="solid"/>
          </a:ln>
        </p:spPr>
        <p:txBody>
          <a:bodyPr/>
          <a:lstStyle/>
          <a:p>
            <a:endParaRPr lang="en-IN"/>
          </a:p>
        </p:txBody>
      </p:sp>
      <p:sp>
        <p:nvSpPr>
          <p:cNvPr id="16" name="Text 13"/>
          <p:cNvSpPr/>
          <p:nvPr/>
        </p:nvSpPr>
        <p:spPr>
          <a:xfrm>
            <a:off x="411480" y="4663440"/>
            <a:ext cx="8229600" cy="292608"/>
          </a:xfrm>
          <a:prstGeom prst="rect">
            <a:avLst/>
          </a:prstGeom>
          <a:noFill/>
          <a:ln/>
        </p:spPr>
        <p:txBody>
          <a:bodyPr wrap="square" rtlCol="0" anchor="ctr"/>
          <a:lstStyle/>
          <a:p>
            <a:pPr marL="0" indent="0">
              <a:buNone/>
            </a:pPr>
            <a:r>
              <a:rPr lang="en-US" sz="1200" b="1" dirty="0">
                <a:solidFill>
                  <a:srgbClr val="7B5EA7"/>
                </a:solidFill>
              </a:rPr>
              <a:t>Coming Up — Module 5, Chapter 2:</a:t>
            </a:r>
            <a:endParaRPr lang="en-US" sz="1200" dirty="0"/>
          </a:p>
        </p:txBody>
      </p:sp>
      <p:sp>
        <p:nvSpPr>
          <p:cNvPr id="17" name="Text 14"/>
          <p:cNvSpPr/>
          <p:nvPr/>
        </p:nvSpPr>
        <p:spPr>
          <a:xfrm>
            <a:off x="411480" y="4956048"/>
            <a:ext cx="8229600" cy="237744"/>
          </a:xfrm>
          <a:prstGeom prst="rect">
            <a:avLst/>
          </a:prstGeom>
          <a:noFill/>
          <a:ln/>
        </p:spPr>
        <p:txBody>
          <a:bodyPr wrap="square" rtlCol="0" anchor="ctr"/>
          <a:lstStyle/>
          <a:p>
            <a:pPr marL="0" indent="0">
              <a:buNone/>
            </a:pPr>
            <a:r>
              <a:rPr lang="en-US" sz="1100" dirty="0">
                <a:solidFill>
                  <a:srgbClr val="E8F4FD"/>
                </a:solidFill>
              </a:rPr>
              <a:t>Gen AI for Data Visualisation  ·  Storytelling  ·  Advanced Analytics Workflows</a:t>
            </a:r>
            <a:endParaRPr lang="en-US" sz="1100" dirty="0"/>
          </a:p>
        </p:txBody>
      </p:sp>
    </p:spTree>
    <p:extLst>
      <p:ext uri="{BB962C8B-B14F-4D97-AF65-F5344CB8AC3E}">
        <p14:creationId xmlns:p14="http://schemas.microsoft.com/office/powerpoint/2010/main" val="4046052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5D3E5A-4156-623F-46FC-E9D858C905DA}"/>
              </a:ext>
            </a:extLst>
          </p:cNvPr>
          <p:cNvSpPr txBox="1"/>
          <p:nvPr/>
        </p:nvSpPr>
        <p:spPr>
          <a:xfrm>
            <a:off x="2445234" y="1787997"/>
            <a:ext cx="7862029"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a:ea typeface="Calibri"/>
                <a:cs typeface="Calibri"/>
              </a:rPr>
              <a:t>DAY 11</a:t>
            </a:r>
          </a:p>
        </p:txBody>
      </p:sp>
    </p:spTree>
    <p:extLst>
      <p:ext uri="{BB962C8B-B14F-4D97-AF65-F5344CB8AC3E}">
        <p14:creationId xmlns:p14="http://schemas.microsoft.com/office/powerpoint/2010/main" val="32897026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8FF"/>
          </a:solidFill>
          <a:ln w="12700">
            <a:solidFill>
              <a:srgbClr val="00C8FF"/>
            </a:solidFill>
            <a:prstDash val="solid"/>
          </a:ln>
        </p:spPr>
      </p:sp>
      <p:sp>
        <p:nvSpPr>
          <p:cNvPr id="3" name="Shape 1"/>
          <p:cNvSpPr/>
          <p:nvPr/>
        </p:nvSpPr>
        <p:spPr>
          <a:xfrm>
            <a:off x="0" y="5070348"/>
            <a:ext cx="9144000" cy="73152"/>
          </a:xfrm>
          <a:prstGeom prst="rect">
            <a:avLst/>
          </a:prstGeom>
          <a:solidFill>
            <a:srgbClr val="7B5EA7"/>
          </a:solidFill>
          <a:ln w="12700">
            <a:solidFill>
              <a:srgbClr val="7B5EA7"/>
            </a:solidFill>
            <a:prstDash val="solid"/>
          </a:ln>
        </p:spPr>
      </p:sp>
      <p:sp>
        <p:nvSpPr>
          <p:cNvPr id="4" name="Shape 2"/>
          <p:cNvSpPr/>
          <p:nvPr/>
        </p:nvSpPr>
        <p:spPr>
          <a:xfrm>
            <a:off x="6949440" y="640080"/>
            <a:ext cx="1828800" cy="1828800"/>
          </a:xfrm>
          <a:prstGeom prst="ellipse">
            <a:avLst/>
          </a:prstGeom>
          <a:solidFill>
            <a:srgbClr val="7B5EA7">
              <a:alpha val="30000"/>
            </a:srgbClr>
          </a:solidFill>
          <a:ln w="12700">
            <a:solidFill>
              <a:srgbClr val="7B5EA7"/>
            </a:solidFill>
            <a:prstDash val="solid"/>
          </a:ln>
        </p:spPr>
      </p:sp>
      <p:sp>
        <p:nvSpPr>
          <p:cNvPr id="5" name="Shape 3"/>
          <p:cNvSpPr/>
          <p:nvPr/>
        </p:nvSpPr>
        <p:spPr>
          <a:xfrm>
            <a:off x="7498080" y="1371600"/>
            <a:ext cx="1188720" cy="1188720"/>
          </a:xfrm>
          <a:prstGeom prst="ellipse">
            <a:avLst/>
          </a:prstGeom>
          <a:solidFill>
            <a:srgbClr val="00C8FF">
              <a:alpha val="25000"/>
            </a:srgbClr>
          </a:solidFill>
          <a:ln w="12700">
            <a:solidFill>
              <a:srgbClr val="00C8FF"/>
            </a:solidFill>
            <a:prstDash val="solid"/>
          </a:ln>
        </p:spPr>
      </p:sp>
      <p:sp>
        <p:nvSpPr>
          <p:cNvPr id="6" name="Shape 4"/>
          <p:cNvSpPr/>
          <p:nvPr/>
        </p:nvSpPr>
        <p:spPr>
          <a:xfrm>
            <a:off x="6858000" y="1737360"/>
            <a:ext cx="822960" cy="822960"/>
          </a:xfrm>
          <a:prstGeom prst="ellipse">
            <a:avLst/>
          </a:prstGeom>
          <a:solidFill>
            <a:srgbClr val="00E5A0">
              <a:alpha val="28000"/>
            </a:srgbClr>
          </a:solidFill>
          <a:ln w="12700">
            <a:solidFill>
              <a:srgbClr val="00E5A0"/>
            </a:solidFill>
            <a:prstDash val="solid"/>
          </a:ln>
        </p:spPr>
      </p:sp>
      <p:sp>
        <p:nvSpPr>
          <p:cNvPr id="7" name="Text 5"/>
          <p:cNvSpPr/>
          <p:nvPr/>
        </p:nvSpPr>
        <p:spPr>
          <a:xfrm>
            <a:off x="457200" y="914400"/>
            <a:ext cx="6400800" cy="384048"/>
          </a:xfrm>
          <a:prstGeom prst="rect">
            <a:avLst/>
          </a:prstGeom>
          <a:noFill/>
          <a:ln/>
        </p:spPr>
        <p:txBody>
          <a:bodyPr wrap="square" rtlCol="0" anchor="ctr"/>
          <a:lstStyle/>
          <a:p>
            <a:pPr marL="0" indent="0">
              <a:buNone/>
            </a:pPr>
            <a:r>
              <a:rPr lang="en-US" sz="1100" b="1" kern="0" spc="500" dirty="0">
                <a:solidFill>
                  <a:srgbClr val="00C8FF"/>
                </a:solidFill>
              </a:rPr>
              <a:t>MODULE 5  ·  CHAPTER 1  ·  LESSONS 5–7</a:t>
            </a:r>
            <a:endParaRPr lang="en-US" sz="1100" dirty="0"/>
          </a:p>
        </p:txBody>
      </p:sp>
      <p:sp>
        <p:nvSpPr>
          <p:cNvPr id="8" name="Text 6"/>
          <p:cNvSpPr/>
          <p:nvPr/>
        </p:nvSpPr>
        <p:spPr>
          <a:xfrm>
            <a:off x="457200" y="1335024"/>
            <a:ext cx="7315200" cy="1600200"/>
          </a:xfrm>
          <a:prstGeom prst="rect">
            <a:avLst/>
          </a:prstGeom>
          <a:noFill/>
          <a:ln/>
        </p:spPr>
        <p:txBody>
          <a:bodyPr wrap="square" rtlCol="0" anchor="ctr"/>
          <a:lstStyle/>
          <a:p>
            <a:pPr marL="0" indent="0">
              <a:lnSpc>
                <a:spcPct val="108000"/>
              </a:lnSpc>
              <a:buNone/>
            </a:pPr>
            <a:r>
              <a:rPr lang="en-US" sz="4600" b="1" dirty="0">
                <a:solidFill>
                  <a:srgbClr val="FFFFFF"/>
                </a:solidFill>
                <a:latin typeface="Calibri" pitchFamily="34" charset="0"/>
                <a:ea typeface="Calibri" pitchFamily="34" charset="-122"/>
                <a:cs typeface="Calibri" pitchFamily="34" charset="-120"/>
              </a:rPr>
              <a:t>Storytelling,</a:t>
            </a:r>
            <a:endParaRPr lang="en-US" sz="4600" dirty="0"/>
          </a:p>
          <a:p>
            <a:pPr marL="0" indent="0">
              <a:lnSpc>
                <a:spcPct val="108000"/>
              </a:lnSpc>
              <a:buNone/>
            </a:pPr>
            <a:r>
              <a:rPr lang="en-US" sz="4600" b="1" dirty="0">
                <a:solidFill>
                  <a:srgbClr val="FFFFFF"/>
                </a:solidFill>
                <a:latin typeface="Calibri" pitchFamily="34" charset="0"/>
                <a:ea typeface="Calibri" pitchFamily="34" charset="-122"/>
                <a:cs typeface="Calibri" pitchFamily="34" charset="-120"/>
              </a:rPr>
              <a:t>Considerations</a:t>
            </a:r>
            <a:endParaRPr lang="en-US" sz="4600" dirty="0"/>
          </a:p>
          <a:p>
            <a:pPr marL="0" indent="0">
              <a:lnSpc>
                <a:spcPct val="108000"/>
              </a:lnSpc>
              <a:buNone/>
            </a:pPr>
            <a:r>
              <a:rPr lang="en-US" sz="4600" b="1" dirty="0">
                <a:solidFill>
                  <a:srgbClr val="FFFFFF"/>
                </a:solidFill>
                <a:latin typeface="Calibri" pitchFamily="34" charset="0"/>
                <a:ea typeface="Calibri" pitchFamily="34" charset="-122"/>
                <a:cs typeface="Calibri" pitchFamily="34" charset="-120"/>
              </a:rPr>
              <a:t>&amp; Challenges</a:t>
            </a:r>
            <a:endParaRPr lang="en-US" sz="4600" dirty="0"/>
          </a:p>
        </p:txBody>
      </p:sp>
      <p:sp>
        <p:nvSpPr>
          <p:cNvPr id="9" name="Shape 7"/>
          <p:cNvSpPr/>
          <p:nvPr/>
        </p:nvSpPr>
        <p:spPr>
          <a:xfrm>
            <a:off x="457200" y="2999232"/>
            <a:ext cx="1097280" cy="54864"/>
          </a:xfrm>
          <a:prstGeom prst="rect">
            <a:avLst/>
          </a:prstGeom>
          <a:solidFill>
            <a:srgbClr val="FFD166"/>
          </a:solidFill>
          <a:ln w="12700">
            <a:solidFill>
              <a:srgbClr val="FFD166"/>
            </a:solidFill>
            <a:prstDash val="solid"/>
          </a:ln>
        </p:spPr>
      </p:sp>
      <p:sp>
        <p:nvSpPr>
          <p:cNvPr id="10" name="Text 8"/>
          <p:cNvSpPr/>
          <p:nvPr/>
        </p:nvSpPr>
        <p:spPr>
          <a:xfrm>
            <a:off x="457200" y="3127248"/>
            <a:ext cx="8229600" cy="274320"/>
          </a:xfrm>
          <a:prstGeom prst="rect">
            <a:avLst/>
          </a:prstGeom>
          <a:noFill/>
          <a:ln/>
        </p:spPr>
        <p:txBody>
          <a:bodyPr wrap="square" rtlCol="0" anchor="ctr"/>
          <a:lstStyle/>
          <a:p>
            <a:pPr marL="0" indent="0">
              <a:buNone/>
            </a:pPr>
            <a:r>
              <a:rPr lang="en-US" sz="1100" dirty="0">
                <a:solidFill>
                  <a:srgbClr val="A0B4C8"/>
                </a:solidFill>
              </a:rPr>
              <a:t>VIT College  ·  IBM Career Education  ·  Corporate Training</a:t>
            </a:r>
            <a:endParaRPr lang="en-US" sz="1100" dirty="0"/>
          </a:p>
        </p:txBody>
      </p:sp>
      <p:sp>
        <p:nvSpPr>
          <p:cNvPr id="11" name="Text 9"/>
          <p:cNvSpPr/>
          <p:nvPr/>
        </p:nvSpPr>
        <p:spPr>
          <a:xfrm>
            <a:off x="457200" y="3493008"/>
            <a:ext cx="8229600" cy="310896"/>
          </a:xfrm>
          <a:prstGeom prst="rect">
            <a:avLst/>
          </a:prstGeom>
          <a:noFill/>
          <a:ln/>
        </p:spPr>
        <p:txBody>
          <a:bodyPr wrap="square" rtlCol="0" anchor="ctr"/>
          <a:lstStyle/>
          <a:p>
            <a:pPr marL="0" indent="0">
              <a:buNone/>
            </a:pPr>
            <a:r>
              <a:rPr lang="en-US" sz="1050" i="1" dirty="0">
                <a:solidFill>
                  <a:srgbClr val="00E5A0"/>
                </a:solidFill>
              </a:rPr>
              <a:t>Data Storytelling  ·  5 Gen AI Tools  ·  Data &amp; Model Ethics  ·  3 Challenge Categories</a:t>
            </a:r>
            <a:endParaRPr lang="en-US" sz="1050" dirty="0"/>
          </a:p>
        </p:txBody>
      </p:sp>
    </p:spTree>
    <p:extLst>
      <p:ext uri="{BB962C8B-B14F-4D97-AF65-F5344CB8AC3E}">
        <p14:creationId xmlns:p14="http://schemas.microsoft.com/office/powerpoint/2010/main" val="80623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Text 1"/>
          <p:cNvSpPr/>
          <p:nvPr/>
        </p:nvSpPr>
        <p:spPr>
          <a:xfrm>
            <a:off x="365760" y="164592"/>
            <a:ext cx="8412480" cy="420624"/>
          </a:xfrm>
          <a:prstGeom prst="rect">
            <a:avLst/>
          </a:prstGeom>
          <a:noFill/>
          <a:ln/>
        </p:spPr>
        <p:txBody>
          <a:bodyPr wrap="square" rtlCol="0" anchor="ctr"/>
          <a:lstStyle/>
          <a:p>
            <a:pPr marL="0" indent="0">
              <a:buNone/>
            </a:pPr>
            <a:r>
              <a:rPr lang="en-US" sz="2200" b="1" dirty="0">
                <a:solidFill>
                  <a:srgbClr val="FFFFFF"/>
                </a:solidFill>
              </a:rPr>
              <a:t>Lessons 5–7 Overview</a:t>
            </a:r>
            <a:endParaRPr lang="en-US" sz="2200" dirty="0"/>
          </a:p>
        </p:txBody>
      </p:sp>
      <p:sp>
        <p:nvSpPr>
          <p:cNvPr id="4" name="Shape 2"/>
          <p:cNvSpPr/>
          <p:nvPr/>
        </p:nvSpPr>
        <p:spPr>
          <a:xfrm>
            <a:off x="274320" y="749808"/>
            <a:ext cx="2798064" cy="4133088"/>
          </a:xfrm>
          <a:prstGeom prst="rect">
            <a:avLst/>
          </a:prstGeom>
          <a:solidFill>
            <a:srgbClr val="112244"/>
          </a:solidFill>
          <a:ln w="25400">
            <a:solidFill>
              <a:srgbClr val="00C8FF"/>
            </a:solidFill>
            <a:prstDash val="solid"/>
          </a:ln>
          <a:effectLst>
            <a:outerShdw blurRad="101600" dist="38100" dir="8100000" algn="bl" rotWithShape="0">
              <a:srgbClr val="000000">
                <a:alpha val="25000"/>
              </a:srgbClr>
            </a:outerShdw>
          </a:effectLst>
        </p:spPr>
      </p:sp>
      <p:sp>
        <p:nvSpPr>
          <p:cNvPr id="5" name="Shape 3"/>
          <p:cNvSpPr/>
          <p:nvPr/>
        </p:nvSpPr>
        <p:spPr>
          <a:xfrm>
            <a:off x="274320" y="749808"/>
            <a:ext cx="2798064" cy="365760"/>
          </a:xfrm>
          <a:prstGeom prst="rect">
            <a:avLst/>
          </a:prstGeom>
          <a:solidFill>
            <a:srgbClr val="00C8FF"/>
          </a:solidFill>
          <a:ln w="12700">
            <a:solidFill>
              <a:srgbClr val="00C8FF"/>
            </a:solidFill>
            <a:prstDash val="solid"/>
          </a:ln>
        </p:spPr>
      </p:sp>
      <p:sp>
        <p:nvSpPr>
          <p:cNvPr id="6" name="Text 4"/>
          <p:cNvSpPr/>
          <p:nvPr/>
        </p:nvSpPr>
        <p:spPr>
          <a:xfrm>
            <a:off x="274320" y="749808"/>
            <a:ext cx="2798064" cy="365760"/>
          </a:xfrm>
          <a:prstGeom prst="rect">
            <a:avLst/>
          </a:prstGeom>
          <a:noFill/>
          <a:ln/>
        </p:spPr>
        <p:txBody>
          <a:bodyPr wrap="square" rtlCol="0" anchor="ctr"/>
          <a:lstStyle/>
          <a:p>
            <a:pPr marL="0" indent="0" algn="ctr">
              <a:buNone/>
            </a:pPr>
            <a:r>
              <a:rPr lang="en-US" sz="1100" b="1" dirty="0">
                <a:solidFill>
                  <a:srgbClr val="0A1628"/>
                </a:solidFill>
              </a:rPr>
              <a:t>L5</a:t>
            </a:r>
            <a:endParaRPr lang="en-US" sz="1100" dirty="0"/>
          </a:p>
        </p:txBody>
      </p:sp>
      <p:sp>
        <p:nvSpPr>
          <p:cNvPr id="7" name="Text 5"/>
          <p:cNvSpPr/>
          <p:nvPr/>
        </p:nvSpPr>
        <p:spPr>
          <a:xfrm>
            <a:off x="365760" y="1170432"/>
            <a:ext cx="2615184" cy="475488"/>
          </a:xfrm>
          <a:prstGeom prst="rect">
            <a:avLst/>
          </a:prstGeom>
          <a:noFill/>
          <a:ln/>
        </p:spPr>
        <p:txBody>
          <a:bodyPr wrap="square" rtlCol="0" anchor="ctr"/>
          <a:lstStyle/>
          <a:p>
            <a:pPr marL="0" indent="0">
              <a:buNone/>
            </a:pPr>
            <a:r>
              <a:rPr lang="en-US" sz="1300" b="1" dirty="0">
                <a:solidFill>
                  <a:srgbClr val="00C8FF"/>
                </a:solidFill>
              </a:rPr>
              <a:t>Data Storytelling</a:t>
            </a:r>
            <a:endParaRPr lang="en-US" sz="1300" dirty="0"/>
          </a:p>
        </p:txBody>
      </p:sp>
      <p:sp>
        <p:nvSpPr>
          <p:cNvPr id="8" name="Text 6"/>
          <p:cNvSpPr/>
          <p:nvPr/>
        </p:nvSpPr>
        <p:spPr>
          <a:xfrm>
            <a:off x="365760" y="1700784"/>
            <a:ext cx="2615184" cy="2980944"/>
          </a:xfrm>
          <a:prstGeom prst="rect">
            <a:avLst/>
          </a:prstGeom>
          <a:noFill/>
          <a:ln/>
        </p:spPr>
        <p:txBody>
          <a:bodyPr wrap="square" rtlCol="0" anchor="ctr"/>
          <a:lstStyle/>
          <a:p>
            <a:pPr marL="342900" indent="-342900">
              <a:buSzPct val="100000"/>
              <a:buChar char="•"/>
            </a:pPr>
            <a:r>
              <a:rPr lang="en-US" sz="1050" dirty="0">
                <a:solidFill>
                  <a:srgbClr val="E8F4FD"/>
                </a:solidFill>
              </a:rPr>
              <a:t>What is data storytelling?</a:t>
            </a:r>
            <a:endParaRPr lang="en-US" sz="1050" dirty="0"/>
          </a:p>
          <a:p>
            <a:pPr marL="342900" indent="-342900">
              <a:buSzPct val="100000"/>
              <a:buChar char="•"/>
            </a:pPr>
            <a:r>
              <a:rPr lang="en-US" sz="1050" dirty="0">
                <a:solidFill>
                  <a:srgbClr val="E8F4FD"/>
                </a:solidFill>
              </a:rPr>
              <a:t>Why numbers alone aren't enough</a:t>
            </a:r>
            <a:endParaRPr lang="en-US" sz="1050" dirty="0"/>
          </a:p>
          <a:p>
            <a:pPr marL="342900" indent="-342900">
              <a:buSzPct val="100000"/>
              <a:buChar char="•"/>
            </a:pPr>
            <a:r>
              <a:rPr lang="en-US" sz="1050" dirty="0">
                <a:solidFill>
                  <a:srgbClr val="E8F4FD"/>
                </a:solidFill>
              </a:rPr>
              <a:t>7 Key Aspects framework</a:t>
            </a:r>
            <a:endParaRPr lang="en-US" sz="1050" dirty="0"/>
          </a:p>
          <a:p>
            <a:pPr marL="342900" indent="-342900">
              <a:buSzPct val="100000"/>
              <a:buChar char="•"/>
            </a:pPr>
            <a:r>
              <a:rPr lang="en-US" sz="1050" dirty="0">
                <a:solidFill>
                  <a:srgbClr val="E8F4FD"/>
                </a:solidFill>
              </a:rPr>
              <a:t>Class activity: storytelling audit</a:t>
            </a:r>
            <a:endParaRPr lang="en-US" sz="1050" dirty="0"/>
          </a:p>
        </p:txBody>
      </p:sp>
      <p:sp>
        <p:nvSpPr>
          <p:cNvPr id="9" name="Shape 7"/>
          <p:cNvSpPr/>
          <p:nvPr/>
        </p:nvSpPr>
        <p:spPr>
          <a:xfrm>
            <a:off x="365760" y="4590288"/>
            <a:ext cx="2615184" cy="237744"/>
          </a:xfrm>
          <a:prstGeom prst="rect">
            <a:avLst/>
          </a:prstGeom>
          <a:solidFill>
            <a:srgbClr val="00C8FF">
              <a:alpha val="75000"/>
            </a:srgbClr>
          </a:solidFill>
          <a:ln w="12700">
            <a:solidFill>
              <a:srgbClr val="00C8FF"/>
            </a:solidFill>
            <a:prstDash val="solid"/>
          </a:ln>
        </p:spPr>
      </p:sp>
      <p:sp>
        <p:nvSpPr>
          <p:cNvPr id="10" name="Text 8"/>
          <p:cNvSpPr/>
          <p:nvPr/>
        </p:nvSpPr>
        <p:spPr>
          <a:xfrm>
            <a:off x="365760" y="4590288"/>
            <a:ext cx="2615184" cy="237744"/>
          </a:xfrm>
          <a:prstGeom prst="rect">
            <a:avLst/>
          </a:prstGeom>
          <a:noFill/>
          <a:ln/>
        </p:spPr>
        <p:txBody>
          <a:bodyPr wrap="square" rtlCol="0" anchor="ctr"/>
          <a:lstStyle/>
          <a:p>
            <a:pPr marL="0" indent="0" algn="ctr">
              <a:buNone/>
            </a:pPr>
            <a:r>
              <a:rPr lang="en-US" sz="950" b="1" dirty="0">
                <a:solidFill>
                  <a:srgbClr val="0A1628"/>
                </a:solidFill>
              </a:rPr>
              <a:t>35 min</a:t>
            </a:r>
            <a:endParaRPr lang="en-US" sz="950" dirty="0"/>
          </a:p>
        </p:txBody>
      </p:sp>
      <p:sp>
        <p:nvSpPr>
          <p:cNvPr id="11" name="Shape 9"/>
          <p:cNvSpPr/>
          <p:nvPr/>
        </p:nvSpPr>
        <p:spPr>
          <a:xfrm>
            <a:off x="3218688" y="749808"/>
            <a:ext cx="2798064" cy="4133088"/>
          </a:xfrm>
          <a:prstGeom prst="rect">
            <a:avLst/>
          </a:prstGeom>
          <a:solidFill>
            <a:srgbClr val="112244"/>
          </a:solidFill>
          <a:ln w="25400">
            <a:solidFill>
              <a:srgbClr val="7B5EA7"/>
            </a:solidFill>
            <a:prstDash val="solid"/>
          </a:ln>
          <a:effectLst>
            <a:outerShdw blurRad="101600" dist="38100" dir="8100000" algn="bl" rotWithShape="0">
              <a:srgbClr val="000000">
                <a:alpha val="25000"/>
              </a:srgbClr>
            </a:outerShdw>
          </a:effectLst>
        </p:spPr>
      </p:sp>
      <p:sp>
        <p:nvSpPr>
          <p:cNvPr id="12" name="Shape 10"/>
          <p:cNvSpPr/>
          <p:nvPr/>
        </p:nvSpPr>
        <p:spPr>
          <a:xfrm>
            <a:off x="3218688" y="749808"/>
            <a:ext cx="2798064" cy="365760"/>
          </a:xfrm>
          <a:prstGeom prst="rect">
            <a:avLst/>
          </a:prstGeom>
          <a:solidFill>
            <a:srgbClr val="7B5EA7"/>
          </a:solidFill>
          <a:ln w="12700">
            <a:solidFill>
              <a:srgbClr val="7B5EA7"/>
            </a:solidFill>
            <a:prstDash val="solid"/>
          </a:ln>
        </p:spPr>
      </p:sp>
      <p:sp>
        <p:nvSpPr>
          <p:cNvPr id="13" name="Text 11"/>
          <p:cNvSpPr/>
          <p:nvPr/>
        </p:nvSpPr>
        <p:spPr>
          <a:xfrm>
            <a:off x="3218688" y="749808"/>
            <a:ext cx="2798064" cy="365760"/>
          </a:xfrm>
          <a:prstGeom prst="rect">
            <a:avLst/>
          </a:prstGeom>
          <a:noFill/>
          <a:ln/>
        </p:spPr>
        <p:txBody>
          <a:bodyPr wrap="square" rtlCol="0" anchor="ctr"/>
          <a:lstStyle/>
          <a:p>
            <a:pPr marL="0" indent="0" algn="ctr">
              <a:buNone/>
            </a:pPr>
            <a:r>
              <a:rPr lang="en-US" sz="1100" b="1" dirty="0">
                <a:solidFill>
                  <a:srgbClr val="0A1628"/>
                </a:solidFill>
              </a:rPr>
              <a:t>L6</a:t>
            </a:r>
            <a:endParaRPr lang="en-US" sz="1100" dirty="0"/>
          </a:p>
        </p:txBody>
      </p:sp>
      <p:sp>
        <p:nvSpPr>
          <p:cNvPr id="14" name="Text 12"/>
          <p:cNvSpPr/>
          <p:nvPr/>
        </p:nvSpPr>
        <p:spPr>
          <a:xfrm>
            <a:off x="3310128" y="1170432"/>
            <a:ext cx="2615184" cy="475488"/>
          </a:xfrm>
          <a:prstGeom prst="rect">
            <a:avLst/>
          </a:prstGeom>
          <a:noFill/>
          <a:ln/>
        </p:spPr>
        <p:txBody>
          <a:bodyPr wrap="square" rtlCol="0" anchor="ctr"/>
          <a:lstStyle/>
          <a:p>
            <a:pPr marL="0" indent="0">
              <a:buNone/>
            </a:pPr>
            <a:r>
              <a:rPr lang="en-US" sz="1300" b="1" dirty="0">
                <a:solidFill>
                  <a:srgbClr val="7B5EA7"/>
                </a:solidFill>
              </a:rPr>
              <a:t>Gen AI Storytelling Tools</a:t>
            </a:r>
            <a:endParaRPr lang="en-US" sz="1300" dirty="0"/>
          </a:p>
        </p:txBody>
      </p:sp>
      <p:sp>
        <p:nvSpPr>
          <p:cNvPr id="15" name="Text 13"/>
          <p:cNvSpPr/>
          <p:nvPr/>
        </p:nvSpPr>
        <p:spPr>
          <a:xfrm>
            <a:off x="3310128" y="1700784"/>
            <a:ext cx="2615184" cy="2980944"/>
          </a:xfrm>
          <a:prstGeom prst="rect">
            <a:avLst/>
          </a:prstGeom>
          <a:noFill/>
          <a:ln/>
        </p:spPr>
        <p:txBody>
          <a:bodyPr wrap="square" rtlCol="0" anchor="ctr"/>
          <a:lstStyle/>
          <a:p>
            <a:pPr marL="342900" indent="-342900">
              <a:buSzPct val="100000"/>
              <a:buChar char="•"/>
            </a:pPr>
            <a:r>
              <a:rPr lang="en-US" sz="1050" dirty="0">
                <a:solidFill>
                  <a:srgbClr val="E8F4FD"/>
                </a:solidFill>
              </a:rPr>
              <a:t>Google Slides + Duet AI</a:t>
            </a:r>
            <a:endParaRPr lang="en-US" sz="1050" dirty="0"/>
          </a:p>
          <a:p>
            <a:pPr marL="342900" indent="-342900">
              <a:buSzPct val="100000"/>
              <a:buChar char="•"/>
            </a:pPr>
            <a:r>
              <a:rPr lang="en-US" sz="1050" dirty="0">
                <a:solidFill>
                  <a:srgbClr val="E8F4FD"/>
                </a:solidFill>
              </a:rPr>
              <a:t>Accio Generative Reports</a:t>
            </a:r>
            <a:endParaRPr lang="en-US" sz="1050" dirty="0"/>
          </a:p>
          <a:p>
            <a:pPr marL="342900" indent="-342900">
              <a:buSzPct val="100000"/>
              <a:buChar char="•"/>
            </a:pPr>
            <a:r>
              <a:rPr lang="en-US" sz="1050" dirty="0">
                <a:solidFill>
                  <a:srgbClr val="E8F4FD"/>
                </a:solidFill>
              </a:rPr>
              <a:t>DesignerBot (Beautiful.ai)</a:t>
            </a:r>
            <a:endParaRPr lang="en-US" sz="1050" dirty="0"/>
          </a:p>
          <a:p>
            <a:pPr marL="342900" indent="-342900">
              <a:buSzPct val="100000"/>
              <a:buChar char="•"/>
            </a:pPr>
            <a:r>
              <a:rPr lang="en-US" sz="1050" dirty="0">
                <a:solidFill>
                  <a:srgbClr val="E8F4FD"/>
                </a:solidFill>
              </a:rPr>
              <a:t>ChatGPT + Bard / Gemini</a:t>
            </a:r>
            <a:endParaRPr lang="en-US" sz="1050" dirty="0"/>
          </a:p>
        </p:txBody>
      </p:sp>
      <p:sp>
        <p:nvSpPr>
          <p:cNvPr id="16" name="Shape 14"/>
          <p:cNvSpPr/>
          <p:nvPr/>
        </p:nvSpPr>
        <p:spPr>
          <a:xfrm>
            <a:off x="3310128" y="4590288"/>
            <a:ext cx="2615184" cy="237744"/>
          </a:xfrm>
          <a:prstGeom prst="rect">
            <a:avLst/>
          </a:prstGeom>
          <a:solidFill>
            <a:srgbClr val="7B5EA7">
              <a:alpha val="75000"/>
            </a:srgbClr>
          </a:solidFill>
          <a:ln w="12700">
            <a:solidFill>
              <a:srgbClr val="7B5EA7"/>
            </a:solidFill>
            <a:prstDash val="solid"/>
          </a:ln>
        </p:spPr>
      </p:sp>
      <p:sp>
        <p:nvSpPr>
          <p:cNvPr id="17" name="Text 15"/>
          <p:cNvSpPr/>
          <p:nvPr/>
        </p:nvSpPr>
        <p:spPr>
          <a:xfrm>
            <a:off x="3310128" y="4590288"/>
            <a:ext cx="2615184" cy="237744"/>
          </a:xfrm>
          <a:prstGeom prst="rect">
            <a:avLst/>
          </a:prstGeom>
          <a:noFill/>
          <a:ln/>
        </p:spPr>
        <p:txBody>
          <a:bodyPr wrap="square" rtlCol="0" anchor="ctr"/>
          <a:lstStyle/>
          <a:p>
            <a:pPr marL="0" indent="0" algn="ctr">
              <a:buNone/>
            </a:pPr>
            <a:r>
              <a:rPr lang="en-US" sz="950" b="1" dirty="0">
                <a:solidFill>
                  <a:srgbClr val="0A1628"/>
                </a:solidFill>
              </a:rPr>
              <a:t>35 min</a:t>
            </a:r>
            <a:endParaRPr lang="en-US" sz="950" dirty="0"/>
          </a:p>
        </p:txBody>
      </p:sp>
      <p:sp>
        <p:nvSpPr>
          <p:cNvPr id="18" name="Shape 16"/>
          <p:cNvSpPr/>
          <p:nvPr/>
        </p:nvSpPr>
        <p:spPr>
          <a:xfrm>
            <a:off x="6163056" y="749808"/>
            <a:ext cx="2798064" cy="4133088"/>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sp>
      <p:sp>
        <p:nvSpPr>
          <p:cNvPr id="19" name="Shape 17"/>
          <p:cNvSpPr/>
          <p:nvPr/>
        </p:nvSpPr>
        <p:spPr>
          <a:xfrm>
            <a:off x="6163056" y="749808"/>
            <a:ext cx="2798064" cy="365760"/>
          </a:xfrm>
          <a:prstGeom prst="rect">
            <a:avLst/>
          </a:prstGeom>
          <a:solidFill>
            <a:srgbClr val="FFD166"/>
          </a:solidFill>
          <a:ln w="12700">
            <a:solidFill>
              <a:srgbClr val="FFD166"/>
            </a:solidFill>
            <a:prstDash val="solid"/>
          </a:ln>
        </p:spPr>
      </p:sp>
      <p:sp>
        <p:nvSpPr>
          <p:cNvPr id="20" name="Text 18"/>
          <p:cNvSpPr/>
          <p:nvPr/>
        </p:nvSpPr>
        <p:spPr>
          <a:xfrm>
            <a:off x="6163056" y="749808"/>
            <a:ext cx="2798064" cy="365760"/>
          </a:xfrm>
          <a:prstGeom prst="rect">
            <a:avLst/>
          </a:prstGeom>
          <a:noFill/>
          <a:ln/>
        </p:spPr>
        <p:txBody>
          <a:bodyPr wrap="square" rtlCol="0" anchor="ctr"/>
          <a:lstStyle/>
          <a:p>
            <a:pPr marL="0" indent="0" algn="ctr">
              <a:buNone/>
            </a:pPr>
            <a:r>
              <a:rPr lang="en-US" sz="1100" b="1" dirty="0">
                <a:solidFill>
                  <a:srgbClr val="0A1628"/>
                </a:solidFill>
              </a:rPr>
              <a:t>L7</a:t>
            </a:r>
            <a:endParaRPr lang="en-US" sz="1100" dirty="0"/>
          </a:p>
        </p:txBody>
      </p:sp>
      <p:sp>
        <p:nvSpPr>
          <p:cNvPr id="21" name="Text 19"/>
          <p:cNvSpPr/>
          <p:nvPr/>
        </p:nvSpPr>
        <p:spPr>
          <a:xfrm>
            <a:off x="6254496" y="1170432"/>
            <a:ext cx="2615184" cy="475488"/>
          </a:xfrm>
          <a:prstGeom prst="rect">
            <a:avLst/>
          </a:prstGeom>
          <a:noFill/>
          <a:ln/>
        </p:spPr>
        <p:txBody>
          <a:bodyPr wrap="square" rtlCol="0" anchor="ctr"/>
          <a:lstStyle/>
          <a:p>
            <a:pPr marL="0" indent="0">
              <a:buNone/>
            </a:pPr>
            <a:r>
              <a:rPr lang="en-US" sz="1300" b="1" dirty="0">
                <a:solidFill>
                  <a:srgbClr val="FFD166"/>
                </a:solidFill>
              </a:rPr>
              <a:t>Considerations &amp; Challenges</a:t>
            </a:r>
            <a:endParaRPr lang="en-US" sz="1300" dirty="0"/>
          </a:p>
        </p:txBody>
      </p:sp>
      <p:sp>
        <p:nvSpPr>
          <p:cNvPr id="22" name="Text 20"/>
          <p:cNvSpPr/>
          <p:nvPr/>
        </p:nvSpPr>
        <p:spPr>
          <a:xfrm>
            <a:off x="6254496" y="1700784"/>
            <a:ext cx="2615184" cy="2980944"/>
          </a:xfrm>
          <a:prstGeom prst="rect">
            <a:avLst/>
          </a:prstGeom>
          <a:noFill/>
          <a:ln/>
        </p:spPr>
        <p:txBody>
          <a:bodyPr wrap="square" rtlCol="0" anchor="ctr"/>
          <a:lstStyle/>
          <a:p>
            <a:pPr marL="342900" indent="-342900">
              <a:buSzPct val="100000"/>
              <a:buChar char="•"/>
            </a:pPr>
            <a:r>
              <a:rPr lang="en-US" sz="1050" dirty="0">
                <a:solidFill>
                  <a:srgbClr val="E8F4FD"/>
                </a:solidFill>
              </a:rPr>
              <a:t>Data, Model &amp; Ethical dimensions</a:t>
            </a:r>
            <a:endParaRPr lang="en-US" sz="1050" dirty="0"/>
          </a:p>
          <a:p>
            <a:pPr marL="342900" indent="-342900">
              <a:buSzPct val="100000"/>
              <a:buChar char="•"/>
            </a:pPr>
            <a:r>
              <a:rPr lang="en-US" sz="1050" dirty="0">
                <a:solidFill>
                  <a:srgbClr val="E8F4FD"/>
                </a:solidFill>
              </a:rPr>
              <a:t>Technical challenges (5 types)</a:t>
            </a:r>
            <a:endParaRPr lang="en-US" sz="1050" dirty="0"/>
          </a:p>
          <a:p>
            <a:pPr marL="342900" indent="-342900">
              <a:buSzPct val="100000"/>
              <a:buChar char="•"/>
            </a:pPr>
            <a:r>
              <a:rPr lang="en-US" sz="1050" dirty="0">
                <a:solidFill>
                  <a:srgbClr val="E8F4FD"/>
                </a:solidFill>
              </a:rPr>
              <a:t>Organisational challenges (5 types)</a:t>
            </a:r>
            <a:endParaRPr lang="en-US" sz="1050" dirty="0"/>
          </a:p>
          <a:p>
            <a:pPr marL="342900" indent="-342900">
              <a:buSzPct val="100000"/>
              <a:buChar char="•"/>
            </a:pPr>
            <a:r>
              <a:rPr lang="en-US" sz="1050" dirty="0">
                <a:solidFill>
                  <a:srgbClr val="E8F4FD"/>
                </a:solidFill>
              </a:rPr>
              <a:t>Cultural challenges (4 types)</a:t>
            </a:r>
            <a:endParaRPr lang="en-US" sz="1050" dirty="0"/>
          </a:p>
        </p:txBody>
      </p:sp>
      <p:sp>
        <p:nvSpPr>
          <p:cNvPr id="23" name="Shape 21"/>
          <p:cNvSpPr/>
          <p:nvPr/>
        </p:nvSpPr>
        <p:spPr>
          <a:xfrm>
            <a:off x="6254496" y="4590288"/>
            <a:ext cx="2615184" cy="237744"/>
          </a:xfrm>
          <a:prstGeom prst="rect">
            <a:avLst/>
          </a:prstGeom>
          <a:solidFill>
            <a:srgbClr val="FFD166">
              <a:alpha val="75000"/>
            </a:srgbClr>
          </a:solidFill>
          <a:ln w="12700">
            <a:solidFill>
              <a:srgbClr val="FFD166"/>
            </a:solidFill>
            <a:prstDash val="solid"/>
          </a:ln>
        </p:spPr>
      </p:sp>
      <p:sp>
        <p:nvSpPr>
          <p:cNvPr id="24" name="Text 22"/>
          <p:cNvSpPr/>
          <p:nvPr/>
        </p:nvSpPr>
        <p:spPr>
          <a:xfrm>
            <a:off x="6254496" y="4590288"/>
            <a:ext cx="2615184" cy="237744"/>
          </a:xfrm>
          <a:prstGeom prst="rect">
            <a:avLst/>
          </a:prstGeom>
          <a:noFill/>
          <a:ln/>
        </p:spPr>
        <p:txBody>
          <a:bodyPr wrap="square" rtlCol="0" anchor="ctr"/>
          <a:lstStyle/>
          <a:p>
            <a:pPr marL="0" indent="0" algn="ctr">
              <a:buNone/>
            </a:pPr>
            <a:r>
              <a:rPr lang="en-US" sz="950" b="1" dirty="0">
                <a:solidFill>
                  <a:srgbClr val="0A1628"/>
                </a:solidFill>
              </a:rPr>
              <a:t>50 min</a:t>
            </a:r>
            <a:endParaRPr lang="en-US" sz="950" dirty="0"/>
          </a:p>
        </p:txBody>
      </p:sp>
      <p:sp>
        <p:nvSpPr>
          <p:cNvPr id="25" name="Text 23"/>
          <p:cNvSpPr/>
          <p:nvPr/>
        </p:nvSpPr>
        <p:spPr>
          <a:xfrm>
            <a:off x="1828800" y="4882896"/>
            <a:ext cx="5486400" cy="228600"/>
          </a:xfrm>
          <a:prstGeom prst="rect">
            <a:avLst/>
          </a:prstGeom>
          <a:noFill/>
          <a:ln/>
        </p:spPr>
        <p:txBody>
          <a:bodyPr wrap="square" rtlCol="0" anchor="ctr"/>
          <a:lstStyle/>
          <a:p>
            <a:pPr marL="0" indent="0" algn="ctr">
              <a:buNone/>
            </a:pPr>
            <a:r>
              <a:rPr lang="en-US" sz="1000" b="1" dirty="0">
                <a:solidFill>
                  <a:srgbClr val="FFD166"/>
                </a:solidFill>
              </a:rPr>
              <a:t>Total: ~2 Hours  ·  Theory + Demo + Group Activity + Discussion</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5 · WHAT IS DATA STORYTELLING</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What Is Data Storytelling?</a:t>
            </a:r>
            <a:endParaRPr lang="en-US" sz="2200" dirty="0"/>
          </a:p>
        </p:txBody>
      </p:sp>
      <p:pic>
        <p:nvPicPr>
          <p:cNvPr id="6" name="Image 0" descr="preencoded.png"/>
          <p:cNvPicPr>
            <a:picLocks noChangeAspect="1"/>
          </p:cNvPicPr>
          <p:nvPr/>
        </p:nvPicPr>
        <p:blipFill>
          <a:blip r:embed="rId3"/>
          <a:stretch>
            <a:fillRect/>
          </a:stretch>
        </p:blipFill>
        <p:spPr>
          <a:xfrm>
            <a:off x="8138160" y="512064"/>
            <a:ext cx="566928" cy="566928"/>
          </a:xfrm>
          <a:prstGeom prst="rect">
            <a:avLst/>
          </a:prstGeom>
        </p:spPr>
      </p:pic>
      <p:sp>
        <p:nvSpPr>
          <p:cNvPr id="7" name="Shape 4"/>
          <p:cNvSpPr/>
          <p:nvPr/>
        </p:nvSpPr>
        <p:spPr>
          <a:xfrm>
            <a:off x="274320" y="841248"/>
            <a:ext cx="8595360" cy="658368"/>
          </a:xfrm>
          <a:prstGeom prst="rect">
            <a:avLst/>
          </a:prstGeom>
          <a:solidFill>
            <a:srgbClr val="0F2041"/>
          </a:solidFill>
          <a:ln w="19050">
            <a:solidFill>
              <a:srgbClr val="00C8FF"/>
            </a:solidFill>
            <a:prstDash val="solid"/>
          </a:ln>
        </p:spPr>
      </p:sp>
      <p:sp>
        <p:nvSpPr>
          <p:cNvPr id="8" name="Text 5"/>
          <p:cNvSpPr/>
          <p:nvPr/>
        </p:nvSpPr>
        <p:spPr>
          <a:xfrm>
            <a:off x="457200" y="859536"/>
            <a:ext cx="8229600" cy="603504"/>
          </a:xfrm>
          <a:prstGeom prst="rect">
            <a:avLst/>
          </a:prstGeom>
          <a:noFill/>
          <a:ln/>
        </p:spPr>
        <p:txBody>
          <a:bodyPr wrap="square" rtlCol="0" anchor="ctr"/>
          <a:lstStyle/>
          <a:p>
            <a:pPr marL="0" indent="0">
              <a:buNone/>
            </a:pPr>
            <a:r>
              <a:rPr lang="en-US" sz="1100" b="1" dirty="0">
                <a:solidFill>
                  <a:srgbClr val="00C8FF"/>
                </a:solidFill>
              </a:rPr>
              <a:t>Definition:</a:t>
            </a:r>
            <a:r>
              <a:rPr lang="en-US" sz="1100" dirty="0">
                <a:solidFill>
                  <a:srgbClr val="E8F4FD"/>
                </a:solidFill>
              </a:rPr>
              <a:t> The art of transforming raw data into a compelling, human-centred narrative — adding context, structure, and meaning to make data accessible, engaging, and actionable for any audience.</a:t>
            </a:r>
            <a:endParaRPr lang="en-US" sz="1100" dirty="0"/>
          </a:p>
        </p:txBody>
      </p:sp>
      <p:sp>
        <p:nvSpPr>
          <p:cNvPr id="9" name="Shape 6"/>
          <p:cNvSpPr/>
          <p:nvPr/>
        </p:nvSpPr>
        <p:spPr>
          <a:xfrm>
            <a:off x="274320" y="1627632"/>
            <a:ext cx="4160520" cy="3182112"/>
          </a:xfrm>
          <a:prstGeom prst="rect">
            <a:avLst/>
          </a:prstGeom>
          <a:solidFill>
            <a:srgbClr val="112244"/>
          </a:solidFill>
          <a:ln w="25400">
            <a:solidFill>
              <a:srgbClr val="FF6B6B"/>
            </a:solidFill>
            <a:prstDash val="solid"/>
          </a:ln>
          <a:effectLst>
            <a:outerShdw blurRad="101600" dist="38100" dir="8100000" algn="bl" rotWithShape="0">
              <a:srgbClr val="000000">
                <a:alpha val="25000"/>
              </a:srgbClr>
            </a:outerShdw>
          </a:effectLst>
        </p:spPr>
      </p:sp>
      <p:sp>
        <p:nvSpPr>
          <p:cNvPr id="10" name="Shape 7"/>
          <p:cNvSpPr/>
          <p:nvPr/>
        </p:nvSpPr>
        <p:spPr>
          <a:xfrm>
            <a:off x="274320" y="1627632"/>
            <a:ext cx="4160520" cy="347472"/>
          </a:xfrm>
          <a:prstGeom prst="rect">
            <a:avLst/>
          </a:prstGeom>
          <a:solidFill>
            <a:srgbClr val="FF6B6B"/>
          </a:solidFill>
          <a:ln w="12700">
            <a:solidFill>
              <a:srgbClr val="FF6B6B"/>
            </a:solidFill>
            <a:prstDash val="solid"/>
          </a:ln>
        </p:spPr>
      </p:sp>
      <p:sp>
        <p:nvSpPr>
          <p:cNvPr id="11" name="Text 8"/>
          <p:cNvSpPr/>
          <p:nvPr/>
        </p:nvSpPr>
        <p:spPr>
          <a:xfrm>
            <a:off x="320040" y="1627632"/>
            <a:ext cx="4069080" cy="347472"/>
          </a:xfrm>
          <a:prstGeom prst="rect">
            <a:avLst/>
          </a:prstGeom>
          <a:noFill/>
          <a:ln/>
        </p:spPr>
        <p:txBody>
          <a:bodyPr wrap="square" rtlCol="0" anchor="ctr"/>
          <a:lstStyle/>
          <a:p>
            <a:pPr marL="0" indent="0">
              <a:buNone/>
            </a:pPr>
            <a:r>
              <a:rPr lang="en-US" sz="1100" b="1" dirty="0">
                <a:solidFill>
                  <a:srgbClr val="FFFFFF"/>
                </a:solidFill>
              </a:rPr>
              <a:t>Without Storytelling</a:t>
            </a:r>
            <a:endParaRPr lang="en-US" sz="1100" dirty="0"/>
          </a:p>
        </p:txBody>
      </p:sp>
      <p:sp>
        <p:nvSpPr>
          <p:cNvPr id="12" name="Text 9"/>
          <p:cNvSpPr/>
          <p:nvPr/>
        </p:nvSpPr>
        <p:spPr>
          <a:xfrm>
            <a:off x="411480" y="2029968"/>
            <a:ext cx="3886200" cy="2697480"/>
          </a:xfrm>
          <a:prstGeom prst="rect">
            <a:avLst/>
          </a:prstGeom>
          <a:noFill/>
          <a:ln/>
        </p:spPr>
        <p:txBody>
          <a:bodyPr wrap="square" rtlCol="0" anchor="ctr"/>
          <a:lstStyle/>
          <a:p>
            <a:pPr marL="342900" indent="-342900">
              <a:buSzPct val="100000"/>
              <a:buChar char="•"/>
            </a:pPr>
            <a:r>
              <a:rPr lang="en-US" sz="1050" dirty="0">
                <a:solidFill>
                  <a:srgbClr val="E8F4FD"/>
                </a:solidFill>
              </a:rPr>
              <a:t>Raw numbers — mean nothing without context
</a:t>
            </a:r>
            <a:endParaRPr lang="en-US" sz="1050" dirty="0"/>
          </a:p>
          <a:p>
            <a:pPr marL="342900" indent="-342900">
              <a:buSzPct val="100000"/>
              <a:buChar char="•"/>
            </a:pPr>
            <a:r>
              <a:rPr lang="en-US" sz="1050" dirty="0">
                <a:solidFill>
                  <a:srgbClr val="E8F4FD"/>
                </a:solidFill>
              </a:rPr>
              <a:t>Patterns hidden inside spreadsheets
</a:t>
            </a:r>
            <a:endParaRPr lang="en-US" sz="1050" dirty="0"/>
          </a:p>
          <a:p>
            <a:pPr marL="342900" indent="-342900">
              <a:buSzPct val="100000"/>
              <a:buChar char="•"/>
            </a:pPr>
            <a:r>
              <a:rPr lang="en-US" sz="1050" dirty="0">
                <a:solidFill>
                  <a:srgbClr val="E8F4FD"/>
                </a:solidFill>
              </a:rPr>
              <a:t>Only analysts understand the findings
</a:t>
            </a:r>
            <a:endParaRPr lang="en-US" sz="1050" dirty="0"/>
          </a:p>
          <a:p>
            <a:pPr marL="342900" indent="-342900">
              <a:buSzPct val="100000"/>
              <a:buChar char="•"/>
            </a:pPr>
            <a:r>
              <a:rPr lang="en-US" sz="1050" dirty="0">
                <a:solidFill>
                  <a:srgbClr val="E8F4FD"/>
                </a:solidFill>
              </a:rPr>
              <a:t>Data sits unused after analysis
</a:t>
            </a:r>
            <a:endParaRPr lang="en-US" sz="1050" dirty="0"/>
          </a:p>
          <a:p>
            <a:pPr marL="342900" indent="-342900">
              <a:buSzPct val="100000"/>
              <a:buChar char="•"/>
            </a:pPr>
            <a:r>
              <a:rPr lang="en-US" sz="1000" i="1" dirty="0">
                <a:solidFill>
                  <a:srgbClr val="A0B4C8"/>
                </a:solidFill>
              </a:rPr>
              <a:t>'Model accuracy is 0.89'</a:t>
            </a:r>
            <a:endParaRPr lang="en-US" sz="1050" dirty="0"/>
          </a:p>
        </p:txBody>
      </p:sp>
      <p:sp>
        <p:nvSpPr>
          <p:cNvPr id="13" name="Shape 10"/>
          <p:cNvSpPr/>
          <p:nvPr/>
        </p:nvSpPr>
        <p:spPr>
          <a:xfrm>
            <a:off x="4663440" y="1627632"/>
            <a:ext cx="4206240" cy="3182112"/>
          </a:xfrm>
          <a:prstGeom prst="rect">
            <a:avLst/>
          </a:prstGeom>
          <a:solidFill>
            <a:srgbClr val="112244"/>
          </a:solidFill>
          <a:ln w="25400">
            <a:solidFill>
              <a:srgbClr val="00E5A0"/>
            </a:solidFill>
            <a:prstDash val="solid"/>
          </a:ln>
          <a:effectLst>
            <a:outerShdw blurRad="101600" dist="38100" dir="8100000" algn="bl" rotWithShape="0">
              <a:srgbClr val="000000">
                <a:alpha val="25000"/>
              </a:srgbClr>
            </a:outerShdw>
          </a:effectLst>
        </p:spPr>
      </p:sp>
      <p:sp>
        <p:nvSpPr>
          <p:cNvPr id="14" name="Shape 11"/>
          <p:cNvSpPr/>
          <p:nvPr/>
        </p:nvSpPr>
        <p:spPr>
          <a:xfrm>
            <a:off x="4663440" y="1627632"/>
            <a:ext cx="4206240" cy="347472"/>
          </a:xfrm>
          <a:prstGeom prst="rect">
            <a:avLst/>
          </a:prstGeom>
          <a:solidFill>
            <a:srgbClr val="00E5A0"/>
          </a:solidFill>
          <a:ln w="12700">
            <a:solidFill>
              <a:srgbClr val="00E5A0"/>
            </a:solidFill>
            <a:prstDash val="solid"/>
          </a:ln>
        </p:spPr>
      </p:sp>
      <p:sp>
        <p:nvSpPr>
          <p:cNvPr id="15" name="Text 12"/>
          <p:cNvSpPr/>
          <p:nvPr/>
        </p:nvSpPr>
        <p:spPr>
          <a:xfrm>
            <a:off x="4709160" y="1627632"/>
            <a:ext cx="4114800" cy="347472"/>
          </a:xfrm>
          <a:prstGeom prst="rect">
            <a:avLst/>
          </a:prstGeom>
          <a:noFill/>
          <a:ln/>
        </p:spPr>
        <p:txBody>
          <a:bodyPr wrap="square" rtlCol="0" anchor="ctr"/>
          <a:lstStyle/>
          <a:p>
            <a:pPr marL="0" indent="0">
              <a:buNone/>
            </a:pPr>
            <a:r>
              <a:rPr lang="en-US" sz="1100" b="1" dirty="0">
                <a:solidFill>
                  <a:srgbClr val="0A1628"/>
                </a:solidFill>
              </a:rPr>
              <a:t>With Storytelling</a:t>
            </a:r>
            <a:endParaRPr lang="en-US" sz="1100" dirty="0"/>
          </a:p>
        </p:txBody>
      </p:sp>
      <p:sp>
        <p:nvSpPr>
          <p:cNvPr id="16" name="Text 13"/>
          <p:cNvSpPr/>
          <p:nvPr/>
        </p:nvSpPr>
        <p:spPr>
          <a:xfrm>
            <a:off x="4754880" y="2029968"/>
            <a:ext cx="3977640" cy="2697480"/>
          </a:xfrm>
          <a:prstGeom prst="rect">
            <a:avLst/>
          </a:prstGeom>
          <a:noFill/>
          <a:ln/>
        </p:spPr>
        <p:txBody>
          <a:bodyPr wrap="square" rtlCol="0" anchor="ctr"/>
          <a:lstStyle/>
          <a:p>
            <a:pPr marL="342900" indent="-342900">
              <a:buSzPct val="100000"/>
              <a:buChar char="•"/>
            </a:pPr>
            <a:r>
              <a:rPr lang="en-US" sz="1050" dirty="0">
                <a:solidFill>
                  <a:srgbClr val="E8F4FD"/>
                </a:solidFill>
              </a:rPr>
              <a:t>Numbers + context = actionable insight
</a:t>
            </a:r>
            <a:endParaRPr lang="en-US" sz="1050" dirty="0"/>
          </a:p>
          <a:p>
            <a:pPr marL="342900" indent="-342900">
              <a:buSzPct val="100000"/>
              <a:buChar char="•"/>
            </a:pPr>
            <a:r>
              <a:rPr lang="en-US" sz="1050" dirty="0">
                <a:solidFill>
                  <a:srgbClr val="E8F4FD"/>
                </a:solidFill>
              </a:rPr>
              <a:t>Patterns surfaced through narrative &amp; visuals
</a:t>
            </a:r>
            <a:endParaRPr lang="en-US" sz="1050" dirty="0"/>
          </a:p>
          <a:p>
            <a:pPr marL="342900" indent="-342900">
              <a:buSzPct val="100000"/>
              <a:buChar char="•"/>
            </a:pPr>
            <a:r>
              <a:rPr lang="en-US" sz="1050" dirty="0">
                <a:solidFill>
                  <a:srgbClr val="E8F4FD"/>
                </a:solidFill>
              </a:rPr>
              <a:t>Every stakeholder understands the findings
</a:t>
            </a:r>
            <a:endParaRPr lang="en-US" sz="1050" dirty="0"/>
          </a:p>
          <a:p>
            <a:pPr marL="342900" indent="-342900">
              <a:buSzPct val="100000"/>
              <a:buChar char="•"/>
            </a:pPr>
            <a:r>
              <a:rPr lang="en-US" sz="1050" dirty="0">
                <a:solidFill>
                  <a:srgbClr val="E8F4FD"/>
                </a:solidFill>
              </a:rPr>
              <a:t>Data drives confident decisions and actions
</a:t>
            </a:r>
            <a:endParaRPr lang="en-US" sz="1050" dirty="0"/>
          </a:p>
          <a:p>
            <a:pPr marL="342900" indent="-342900">
              <a:buSzPct val="100000"/>
              <a:buChar char="•"/>
            </a:pPr>
            <a:r>
              <a:rPr lang="en-US" sz="1000" i="1" dirty="0">
                <a:solidFill>
                  <a:srgbClr val="FFD166"/>
                </a:solidFill>
              </a:rPr>
              <a:t>'Our fraud model catches 89% of fraud — saving ~Rs 4.2 crore/quarter'</a:t>
            </a:r>
            <a:endParaRPr lang="en-US" sz="1050" dirty="0"/>
          </a:p>
        </p:txBody>
      </p:sp>
    </p:spTree>
    <p:extLst>
      <p:ext uri="{BB962C8B-B14F-4D97-AF65-F5344CB8AC3E}">
        <p14:creationId xmlns:p14="http://schemas.microsoft.com/office/powerpoint/2010/main" val="9882378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5 · 7 KEY ASPECTS</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100" b="1" dirty="0">
                <a:solidFill>
                  <a:srgbClr val="FFFFFF"/>
                </a:solidFill>
              </a:rPr>
              <a:t>The 7 Key Aspects of Effective Data Storytelling</a:t>
            </a:r>
            <a:endParaRPr lang="en-US" sz="2100" dirty="0"/>
          </a:p>
        </p:txBody>
      </p:sp>
      <p:sp>
        <p:nvSpPr>
          <p:cNvPr id="6" name="Shape 4"/>
          <p:cNvSpPr/>
          <p:nvPr/>
        </p:nvSpPr>
        <p:spPr>
          <a:xfrm>
            <a:off x="274320" y="841248"/>
            <a:ext cx="8595360" cy="658368"/>
          </a:xfrm>
          <a:prstGeom prst="rect">
            <a:avLst/>
          </a:prstGeom>
          <a:solidFill>
            <a:srgbClr val="0F2041"/>
          </a:solidFill>
          <a:ln w="19050">
            <a:solidFill>
              <a:srgbClr val="00C8FF"/>
            </a:solidFill>
            <a:prstDash val="solid"/>
          </a:ln>
        </p:spPr>
      </p:sp>
      <p:sp>
        <p:nvSpPr>
          <p:cNvPr id="7" name="Text 5"/>
          <p:cNvSpPr/>
          <p:nvPr/>
        </p:nvSpPr>
        <p:spPr>
          <a:xfrm>
            <a:off x="457200" y="859536"/>
            <a:ext cx="8229600" cy="603504"/>
          </a:xfrm>
          <a:prstGeom prst="rect">
            <a:avLst/>
          </a:prstGeom>
          <a:noFill/>
          <a:ln/>
        </p:spPr>
        <p:txBody>
          <a:bodyPr wrap="square" rtlCol="0" anchor="ctr"/>
          <a:lstStyle/>
          <a:p>
            <a:pPr marL="0" indent="0">
              <a:buNone/>
            </a:pPr>
            <a:r>
              <a:rPr lang="en-US" sz="1100" b="1" dirty="0">
                <a:solidFill>
                  <a:srgbClr val="00C8FF"/>
                </a:solidFill>
              </a:rPr>
              <a:t>Quality Framework:</a:t>
            </a:r>
            <a:r>
              <a:rPr lang="en-US" sz="1100" dirty="0">
                <a:solidFill>
                  <a:srgbClr val="E8F4FD"/>
                </a:solidFill>
              </a:rPr>
              <a:t> Every powerful data story contains ALL seven of these elements. Use this as a checklist — a story missing any one is weaker than it could be.</a:t>
            </a:r>
            <a:endParaRPr lang="en-US" sz="1100" dirty="0"/>
          </a:p>
        </p:txBody>
      </p:sp>
      <p:sp>
        <p:nvSpPr>
          <p:cNvPr id="8" name="Shape 6"/>
          <p:cNvSpPr/>
          <p:nvPr/>
        </p:nvSpPr>
        <p:spPr>
          <a:xfrm>
            <a:off x="274320" y="1664208"/>
            <a:ext cx="2029968" cy="1600200"/>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sp>
      <p:sp>
        <p:nvSpPr>
          <p:cNvPr id="9" name="Shape 7"/>
          <p:cNvSpPr/>
          <p:nvPr/>
        </p:nvSpPr>
        <p:spPr>
          <a:xfrm>
            <a:off x="365760" y="1737360"/>
            <a:ext cx="402336" cy="402336"/>
          </a:xfrm>
          <a:prstGeom prst="ellipse">
            <a:avLst/>
          </a:prstGeom>
          <a:solidFill>
            <a:srgbClr val="00C8FF"/>
          </a:solidFill>
          <a:ln w="12700">
            <a:solidFill>
              <a:srgbClr val="00C8FF"/>
            </a:solidFill>
            <a:prstDash val="solid"/>
          </a:ln>
        </p:spPr>
      </p:sp>
      <p:sp>
        <p:nvSpPr>
          <p:cNvPr id="10" name="Text 8"/>
          <p:cNvSpPr/>
          <p:nvPr/>
        </p:nvSpPr>
        <p:spPr>
          <a:xfrm>
            <a:off x="365760" y="1737360"/>
            <a:ext cx="402336" cy="402336"/>
          </a:xfrm>
          <a:prstGeom prst="rect">
            <a:avLst/>
          </a:prstGeom>
          <a:noFill/>
          <a:ln/>
        </p:spPr>
        <p:txBody>
          <a:bodyPr wrap="square" rtlCol="0" anchor="ctr"/>
          <a:lstStyle/>
          <a:p>
            <a:pPr marL="0" indent="0" algn="ctr">
              <a:buNone/>
            </a:pPr>
            <a:r>
              <a:rPr lang="en-US" sz="1100" b="1" dirty="0">
                <a:solidFill>
                  <a:srgbClr val="0A1628"/>
                </a:solidFill>
              </a:rPr>
              <a:t>01</a:t>
            </a:r>
            <a:endParaRPr lang="en-US" sz="1100" dirty="0"/>
          </a:p>
        </p:txBody>
      </p:sp>
      <p:sp>
        <p:nvSpPr>
          <p:cNvPr id="11" name="Text 9"/>
          <p:cNvSpPr/>
          <p:nvPr/>
        </p:nvSpPr>
        <p:spPr>
          <a:xfrm>
            <a:off x="859536" y="1755648"/>
            <a:ext cx="1353312" cy="402336"/>
          </a:xfrm>
          <a:prstGeom prst="rect">
            <a:avLst/>
          </a:prstGeom>
          <a:noFill/>
          <a:ln/>
        </p:spPr>
        <p:txBody>
          <a:bodyPr wrap="square" rtlCol="0" anchor="ctr"/>
          <a:lstStyle/>
          <a:p>
            <a:pPr marL="0" indent="0">
              <a:buNone/>
            </a:pPr>
            <a:r>
              <a:rPr lang="en-US" sz="1050" b="1" dirty="0">
                <a:solidFill>
                  <a:srgbClr val="00C8FF"/>
                </a:solidFill>
              </a:rPr>
              <a:t>Data Visualisation</a:t>
            </a:r>
            <a:endParaRPr lang="en-US" sz="1050" dirty="0"/>
          </a:p>
        </p:txBody>
      </p:sp>
      <p:sp>
        <p:nvSpPr>
          <p:cNvPr id="12" name="Text 10"/>
          <p:cNvSpPr/>
          <p:nvPr/>
        </p:nvSpPr>
        <p:spPr>
          <a:xfrm>
            <a:off x="365760" y="2194560"/>
            <a:ext cx="1847088" cy="1005840"/>
          </a:xfrm>
          <a:prstGeom prst="rect">
            <a:avLst/>
          </a:prstGeom>
          <a:noFill/>
          <a:ln/>
        </p:spPr>
        <p:txBody>
          <a:bodyPr wrap="square" rtlCol="0" anchor="ctr"/>
          <a:lstStyle/>
          <a:p>
            <a:pPr marL="0" indent="0">
              <a:buNone/>
            </a:pPr>
            <a:r>
              <a:rPr lang="en-US" sz="950" dirty="0">
                <a:solidFill>
                  <a:srgbClr val="E8F4FD"/>
                </a:solidFill>
              </a:rPr>
              <a:t>Graphs, charts &amp; visuals make complex data instantly understandable</a:t>
            </a:r>
            <a:endParaRPr lang="en-US" sz="950" dirty="0"/>
          </a:p>
        </p:txBody>
      </p:sp>
      <p:sp>
        <p:nvSpPr>
          <p:cNvPr id="13" name="Shape 11"/>
          <p:cNvSpPr/>
          <p:nvPr/>
        </p:nvSpPr>
        <p:spPr>
          <a:xfrm>
            <a:off x="2450592" y="1664208"/>
            <a:ext cx="2029968" cy="1600200"/>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sp>
      <p:sp>
        <p:nvSpPr>
          <p:cNvPr id="14" name="Shape 12"/>
          <p:cNvSpPr/>
          <p:nvPr/>
        </p:nvSpPr>
        <p:spPr>
          <a:xfrm>
            <a:off x="2542032" y="1737360"/>
            <a:ext cx="402336" cy="402336"/>
          </a:xfrm>
          <a:prstGeom prst="ellipse">
            <a:avLst/>
          </a:prstGeom>
          <a:solidFill>
            <a:srgbClr val="7B5EA7"/>
          </a:solidFill>
          <a:ln w="12700">
            <a:solidFill>
              <a:srgbClr val="7B5EA7"/>
            </a:solidFill>
            <a:prstDash val="solid"/>
          </a:ln>
        </p:spPr>
      </p:sp>
      <p:sp>
        <p:nvSpPr>
          <p:cNvPr id="15" name="Text 13"/>
          <p:cNvSpPr/>
          <p:nvPr/>
        </p:nvSpPr>
        <p:spPr>
          <a:xfrm>
            <a:off x="2542032" y="1737360"/>
            <a:ext cx="402336" cy="402336"/>
          </a:xfrm>
          <a:prstGeom prst="rect">
            <a:avLst/>
          </a:prstGeom>
          <a:noFill/>
          <a:ln/>
        </p:spPr>
        <p:txBody>
          <a:bodyPr wrap="square" rtlCol="0" anchor="ctr"/>
          <a:lstStyle/>
          <a:p>
            <a:pPr marL="0" indent="0" algn="ctr">
              <a:buNone/>
            </a:pPr>
            <a:r>
              <a:rPr lang="en-US" sz="1100" b="1" dirty="0">
                <a:solidFill>
                  <a:srgbClr val="0A1628"/>
                </a:solidFill>
              </a:rPr>
              <a:t>02</a:t>
            </a:r>
            <a:endParaRPr lang="en-US" sz="1100" dirty="0"/>
          </a:p>
        </p:txBody>
      </p:sp>
      <p:sp>
        <p:nvSpPr>
          <p:cNvPr id="16" name="Text 14"/>
          <p:cNvSpPr/>
          <p:nvPr/>
        </p:nvSpPr>
        <p:spPr>
          <a:xfrm>
            <a:off x="3035808" y="1755648"/>
            <a:ext cx="1353312" cy="402336"/>
          </a:xfrm>
          <a:prstGeom prst="rect">
            <a:avLst/>
          </a:prstGeom>
          <a:noFill/>
          <a:ln/>
        </p:spPr>
        <p:txBody>
          <a:bodyPr wrap="square" rtlCol="0" anchor="ctr"/>
          <a:lstStyle/>
          <a:p>
            <a:pPr marL="0" indent="0">
              <a:buNone/>
            </a:pPr>
            <a:r>
              <a:rPr lang="en-US" sz="1050" b="1" dirty="0">
                <a:solidFill>
                  <a:srgbClr val="7B5EA7"/>
                </a:solidFill>
              </a:rPr>
              <a:t>Logical Organisation</a:t>
            </a:r>
            <a:endParaRPr lang="en-US" sz="1050" dirty="0"/>
          </a:p>
        </p:txBody>
      </p:sp>
      <p:sp>
        <p:nvSpPr>
          <p:cNvPr id="17" name="Text 15"/>
          <p:cNvSpPr/>
          <p:nvPr/>
        </p:nvSpPr>
        <p:spPr>
          <a:xfrm>
            <a:off x="2542032" y="2194560"/>
            <a:ext cx="1847088" cy="1005840"/>
          </a:xfrm>
          <a:prstGeom prst="rect">
            <a:avLst/>
          </a:prstGeom>
          <a:noFill/>
          <a:ln/>
        </p:spPr>
        <p:txBody>
          <a:bodyPr wrap="square" rtlCol="0" anchor="ctr"/>
          <a:lstStyle/>
          <a:p>
            <a:pPr marL="0" indent="0">
              <a:buNone/>
            </a:pPr>
            <a:r>
              <a:rPr lang="en-US" sz="950" dirty="0">
                <a:solidFill>
                  <a:srgbClr val="E8F4FD"/>
                </a:solidFill>
              </a:rPr>
              <a:t>Clear narrative arc: Context → Problem → Evidence → Conclusion → Action</a:t>
            </a:r>
            <a:endParaRPr lang="en-US" sz="950" dirty="0"/>
          </a:p>
        </p:txBody>
      </p:sp>
      <p:sp>
        <p:nvSpPr>
          <p:cNvPr id="18" name="Shape 16"/>
          <p:cNvSpPr/>
          <p:nvPr/>
        </p:nvSpPr>
        <p:spPr>
          <a:xfrm>
            <a:off x="4626864" y="1664208"/>
            <a:ext cx="2029968" cy="1600200"/>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sp>
      <p:sp>
        <p:nvSpPr>
          <p:cNvPr id="19" name="Shape 17"/>
          <p:cNvSpPr/>
          <p:nvPr/>
        </p:nvSpPr>
        <p:spPr>
          <a:xfrm>
            <a:off x="4718304" y="1737360"/>
            <a:ext cx="402336" cy="402336"/>
          </a:xfrm>
          <a:prstGeom prst="ellipse">
            <a:avLst/>
          </a:prstGeom>
          <a:solidFill>
            <a:srgbClr val="00E5A0"/>
          </a:solidFill>
          <a:ln w="12700">
            <a:solidFill>
              <a:srgbClr val="00E5A0"/>
            </a:solidFill>
            <a:prstDash val="solid"/>
          </a:ln>
        </p:spPr>
      </p:sp>
      <p:sp>
        <p:nvSpPr>
          <p:cNvPr id="20" name="Text 18"/>
          <p:cNvSpPr/>
          <p:nvPr/>
        </p:nvSpPr>
        <p:spPr>
          <a:xfrm>
            <a:off x="4718304" y="1737360"/>
            <a:ext cx="402336" cy="402336"/>
          </a:xfrm>
          <a:prstGeom prst="rect">
            <a:avLst/>
          </a:prstGeom>
          <a:noFill/>
          <a:ln/>
        </p:spPr>
        <p:txBody>
          <a:bodyPr wrap="square" rtlCol="0" anchor="ctr"/>
          <a:lstStyle/>
          <a:p>
            <a:pPr marL="0" indent="0" algn="ctr">
              <a:buNone/>
            </a:pPr>
            <a:r>
              <a:rPr lang="en-US" sz="1100" b="1" dirty="0">
                <a:solidFill>
                  <a:srgbClr val="0A1628"/>
                </a:solidFill>
              </a:rPr>
              <a:t>03</a:t>
            </a:r>
            <a:endParaRPr lang="en-US" sz="1100" dirty="0"/>
          </a:p>
        </p:txBody>
      </p:sp>
      <p:sp>
        <p:nvSpPr>
          <p:cNvPr id="21" name="Text 19"/>
          <p:cNvSpPr/>
          <p:nvPr/>
        </p:nvSpPr>
        <p:spPr>
          <a:xfrm>
            <a:off x="5212080" y="1755648"/>
            <a:ext cx="1353312" cy="402336"/>
          </a:xfrm>
          <a:prstGeom prst="rect">
            <a:avLst/>
          </a:prstGeom>
          <a:noFill/>
          <a:ln/>
        </p:spPr>
        <p:txBody>
          <a:bodyPr wrap="square" rtlCol="0" anchor="ctr"/>
          <a:lstStyle/>
          <a:p>
            <a:pPr marL="0" indent="0">
              <a:buNone/>
            </a:pPr>
            <a:r>
              <a:rPr lang="en-US" sz="1050" b="1" dirty="0">
                <a:solidFill>
                  <a:srgbClr val="00E5A0"/>
                </a:solidFill>
              </a:rPr>
              <a:t>Contextualisation</a:t>
            </a:r>
            <a:endParaRPr lang="en-US" sz="1050" dirty="0"/>
          </a:p>
        </p:txBody>
      </p:sp>
      <p:sp>
        <p:nvSpPr>
          <p:cNvPr id="22" name="Text 20"/>
          <p:cNvSpPr/>
          <p:nvPr/>
        </p:nvSpPr>
        <p:spPr>
          <a:xfrm>
            <a:off x="4718304" y="2194560"/>
            <a:ext cx="1847088" cy="1005840"/>
          </a:xfrm>
          <a:prstGeom prst="rect">
            <a:avLst/>
          </a:prstGeom>
          <a:noFill/>
          <a:ln/>
        </p:spPr>
        <p:txBody>
          <a:bodyPr wrap="square" rtlCol="0" anchor="ctr"/>
          <a:lstStyle/>
          <a:p>
            <a:pPr marL="0" indent="0">
              <a:buNone/>
            </a:pPr>
            <a:r>
              <a:rPr lang="en-US" sz="950" dirty="0">
                <a:solidFill>
                  <a:srgbClr val="E8F4FD"/>
                </a:solidFill>
              </a:rPr>
              <a:t>Always explain WHY the data matters. 'So what?' must be obvious.</a:t>
            </a:r>
            <a:endParaRPr lang="en-US" sz="950" dirty="0"/>
          </a:p>
        </p:txBody>
      </p:sp>
      <p:sp>
        <p:nvSpPr>
          <p:cNvPr id="23" name="Shape 21"/>
          <p:cNvSpPr/>
          <p:nvPr/>
        </p:nvSpPr>
        <p:spPr>
          <a:xfrm>
            <a:off x="6803136" y="1664208"/>
            <a:ext cx="2029968" cy="1600200"/>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sp>
      <p:sp>
        <p:nvSpPr>
          <p:cNvPr id="24" name="Shape 22"/>
          <p:cNvSpPr/>
          <p:nvPr/>
        </p:nvSpPr>
        <p:spPr>
          <a:xfrm>
            <a:off x="6894576" y="1737360"/>
            <a:ext cx="402336" cy="402336"/>
          </a:xfrm>
          <a:prstGeom prst="ellipse">
            <a:avLst/>
          </a:prstGeom>
          <a:solidFill>
            <a:srgbClr val="FFD166"/>
          </a:solidFill>
          <a:ln w="12700">
            <a:solidFill>
              <a:srgbClr val="FFD166"/>
            </a:solidFill>
            <a:prstDash val="solid"/>
          </a:ln>
        </p:spPr>
      </p:sp>
      <p:sp>
        <p:nvSpPr>
          <p:cNvPr id="25" name="Text 23"/>
          <p:cNvSpPr/>
          <p:nvPr/>
        </p:nvSpPr>
        <p:spPr>
          <a:xfrm>
            <a:off x="6894576" y="1737360"/>
            <a:ext cx="402336" cy="402336"/>
          </a:xfrm>
          <a:prstGeom prst="rect">
            <a:avLst/>
          </a:prstGeom>
          <a:noFill/>
          <a:ln/>
        </p:spPr>
        <p:txBody>
          <a:bodyPr wrap="square" rtlCol="0" anchor="ctr"/>
          <a:lstStyle/>
          <a:p>
            <a:pPr marL="0" indent="0" algn="ctr">
              <a:buNone/>
            </a:pPr>
            <a:r>
              <a:rPr lang="en-US" sz="1100" b="1" dirty="0">
                <a:solidFill>
                  <a:srgbClr val="0A1628"/>
                </a:solidFill>
              </a:rPr>
              <a:t>04</a:t>
            </a:r>
            <a:endParaRPr lang="en-US" sz="1100" dirty="0"/>
          </a:p>
        </p:txBody>
      </p:sp>
      <p:sp>
        <p:nvSpPr>
          <p:cNvPr id="26" name="Text 24"/>
          <p:cNvSpPr/>
          <p:nvPr/>
        </p:nvSpPr>
        <p:spPr>
          <a:xfrm>
            <a:off x="7388352" y="1755648"/>
            <a:ext cx="1353312" cy="402336"/>
          </a:xfrm>
          <a:prstGeom prst="rect">
            <a:avLst/>
          </a:prstGeom>
          <a:noFill/>
          <a:ln/>
        </p:spPr>
        <p:txBody>
          <a:bodyPr wrap="square" rtlCol="0" anchor="ctr"/>
          <a:lstStyle/>
          <a:p>
            <a:pPr marL="0" indent="0">
              <a:buNone/>
            </a:pPr>
            <a:r>
              <a:rPr lang="en-US" sz="1050" b="1" dirty="0">
                <a:solidFill>
                  <a:srgbClr val="FFD166"/>
                </a:solidFill>
              </a:rPr>
              <a:t>Audience Engagement</a:t>
            </a:r>
            <a:endParaRPr lang="en-US" sz="1050" dirty="0"/>
          </a:p>
        </p:txBody>
      </p:sp>
      <p:sp>
        <p:nvSpPr>
          <p:cNvPr id="27" name="Text 25"/>
          <p:cNvSpPr/>
          <p:nvPr/>
        </p:nvSpPr>
        <p:spPr>
          <a:xfrm>
            <a:off x="6894576" y="2194560"/>
            <a:ext cx="1847088" cy="1005840"/>
          </a:xfrm>
          <a:prstGeom prst="rect">
            <a:avLst/>
          </a:prstGeom>
          <a:noFill/>
          <a:ln/>
        </p:spPr>
        <p:txBody>
          <a:bodyPr wrap="square" rtlCol="0" anchor="ctr"/>
          <a:lstStyle/>
          <a:p>
            <a:pPr marL="0" indent="0">
              <a:buNone/>
            </a:pPr>
            <a:r>
              <a:rPr lang="en-US" sz="950" dirty="0">
                <a:solidFill>
                  <a:srgbClr val="E8F4FD"/>
                </a:solidFill>
              </a:rPr>
              <a:t>Ask questions, invite predictions, use polls to make audiences active</a:t>
            </a:r>
            <a:endParaRPr lang="en-US" sz="950" dirty="0"/>
          </a:p>
        </p:txBody>
      </p:sp>
      <p:sp>
        <p:nvSpPr>
          <p:cNvPr id="28" name="Shape 26"/>
          <p:cNvSpPr/>
          <p:nvPr/>
        </p:nvSpPr>
        <p:spPr>
          <a:xfrm>
            <a:off x="274320" y="3401568"/>
            <a:ext cx="2798064" cy="1508760"/>
          </a:xfrm>
          <a:prstGeom prst="rect">
            <a:avLst/>
          </a:prstGeom>
          <a:solidFill>
            <a:srgbClr val="112244"/>
          </a:solidFill>
          <a:ln w="19050">
            <a:solidFill>
              <a:srgbClr val="FF6B6B"/>
            </a:solidFill>
            <a:prstDash val="solid"/>
          </a:ln>
          <a:effectLst>
            <a:outerShdw blurRad="101600" dist="38100" dir="8100000" algn="bl" rotWithShape="0">
              <a:srgbClr val="000000">
                <a:alpha val="25000"/>
              </a:srgbClr>
            </a:outerShdw>
          </a:effectLst>
        </p:spPr>
      </p:sp>
      <p:sp>
        <p:nvSpPr>
          <p:cNvPr id="29" name="Shape 27"/>
          <p:cNvSpPr/>
          <p:nvPr/>
        </p:nvSpPr>
        <p:spPr>
          <a:xfrm>
            <a:off x="365760" y="3474720"/>
            <a:ext cx="402336" cy="402336"/>
          </a:xfrm>
          <a:prstGeom prst="ellipse">
            <a:avLst/>
          </a:prstGeom>
          <a:solidFill>
            <a:srgbClr val="FF6B6B"/>
          </a:solidFill>
          <a:ln w="12700">
            <a:solidFill>
              <a:srgbClr val="FF6B6B"/>
            </a:solidFill>
            <a:prstDash val="solid"/>
          </a:ln>
        </p:spPr>
      </p:sp>
      <p:sp>
        <p:nvSpPr>
          <p:cNvPr id="30" name="Text 28"/>
          <p:cNvSpPr/>
          <p:nvPr/>
        </p:nvSpPr>
        <p:spPr>
          <a:xfrm>
            <a:off x="365760" y="3474720"/>
            <a:ext cx="402336" cy="402336"/>
          </a:xfrm>
          <a:prstGeom prst="rect">
            <a:avLst/>
          </a:prstGeom>
          <a:noFill/>
          <a:ln/>
        </p:spPr>
        <p:txBody>
          <a:bodyPr wrap="square" rtlCol="0" anchor="ctr"/>
          <a:lstStyle/>
          <a:p>
            <a:pPr marL="0" indent="0" algn="ctr">
              <a:buNone/>
            </a:pPr>
            <a:r>
              <a:rPr lang="en-US" sz="1100" b="1" dirty="0">
                <a:solidFill>
                  <a:srgbClr val="0A1628"/>
                </a:solidFill>
              </a:rPr>
              <a:t>05</a:t>
            </a:r>
            <a:endParaRPr lang="en-US" sz="1100" dirty="0"/>
          </a:p>
        </p:txBody>
      </p:sp>
      <p:sp>
        <p:nvSpPr>
          <p:cNvPr id="31" name="Text 29"/>
          <p:cNvSpPr/>
          <p:nvPr/>
        </p:nvSpPr>
        <p:spPr>
          <a:xfrm>
            <a:off x="859536" y="3493008"/>
            <a:ext cx="2121408" cy="402336"/>
          </a:xfrm>
          <a:prstGeom prst="rect">
            <a:avLst/>
          </a:prstGeom>
          <a:noFill/>
          <a:ln/>
        </p:spPr>
        <p:txBody>
          <a:bodyPr wrap="square" rtlCol="0" anchor="ctr"/>
          <a:lstStyle/>
          <a:p>
            <a:pPr marL="0" indent="0">
              <a:buNone/>
            </a:pPr>
            <a:r>
              <a:rPr lang="en-US" sz="1050" b="1" dirty="0">
                <a:solidFill>
                  <a:srgbClr val="FF6B6B"/>
                </a:solidFill>
              </a:rPr>
              <a:t>Real-World Examples</a:t>
            </a:r>
            <a:endParaRPr lang="en-US" sz="1050" dirty="0"/>
          </a:p>
        </p:txBody>
      </p:sp>
      <p:sp>
        <p:nvSpPr>
          <p:cNvPr id="32" name="Text 30"/>
          <p:cNvSpPr/>
          <p:nvPr/>
        </p:nvSpPr>
        <p:spPr>
          <a:xfrm>
            <a:off x="365760" y="3931920"/>
            <a:ext cx="2615184" cy="914400"/>
          </a:xfrm>
          <a:prstGeom prst="rect">
            <a:avLst/>
          </a:prstGeom>
          <a:noFill/>
          <a:ln/>
        </p:spPr>
        <p:txBody>
          <a:bodyPr wrap="square" rtlCol="0" anchor="ctr"/>
          <a:lstStyle/>
          <a:p>
            <a:pPr marL="0" indent="0">
              <a:buNone/>
            </a:pPr>
            <a:r>
              <a:rPr lang="en-US" sz="950" dirty="0">
                <a:solidFill>
                  <a:srgbClr val="E8F4FD"/>
                </a:solidFill>
              </a:rPr>
              <a:t>Anecdotes and case studies anchor abstract findings in reality</a:t>
            </a:r>
            <a:endParaRPr lang="en-US" sz="950" dirty="0"/>
          </a:p>
        </p:txBody>
      </p:sp>
      <p:sp>
        <p:nvSpPr>
          <p:cNvPr id="33" name="Shape 31"/>
          <p:cNvSpPr/>
          <p:nvPr/>
        </p:nvSpPr>
        <p:spPr>
          <a:xfrm>
            <a:off x="3218688" y="3401568"/>
            <a:ext cx="2798064" cy="1508760"/>
          </a:xfrm>
          <a:prstGeom prst="rect">
            <a:avLst/>
          </a:prstGeom>
          <a:solidFill>
            <a:srgbClr val="112244"/>
          </a:solidFill>
          <a:ln w="19050">
            <a:solidFill>
              <a:srgbClr val="00D4AA"/>
            </a:solidFill>
            <a:prstDash val="solid"/>
          </a:ln>
          <a:effectLst>
            <a:outerShdw blurRad="101600" dist="38100" dir="8100000" algn="bl" rotWithShape="0">
              <a:srgbClr val="000000">
                <a:alpha val="25000"/>
              </a:srgbClr>
            </a:outerShdw>
          </a:effectLst>
        </p:spPr>
      </p:sp>
      <p:sp>
        <p:nvSpPr>
          <p:cNvPr id="34" name="Shape 32"/>
          <p:cNvSpPr/>
          <p:nvPr/>
        </p:nvSpPr>
        <p:spPr>
          <a:xfrm>
            <a:off x="3310128" y="3474720"/>
            <a:ext cx="402336" cy="402336"/>
          </a:xfrm>
          <a:prstGeom prst="ellipse">
            <a:avLst/>
          </a:prstGeom>
          <a:solidFill>
            <a:srgbClr val="00D4AA"/>
          </a:solidFill>
          <a:ln w="12700">
            <a:solidFill>
              <a:srgbClr val="00D4AA"/>
            </a:solidFill>
            <a:prstDash val="solid"/>
          </a:ln>
        </p:spPr>
      </p:sp>
      <p:sp>
        <p:nvSpPr>
          <p:cNvPr id="35" name="Text 33"/>
          <p:cNvSpPr/>
          <p:nvPr/>
        </p:nvSpPr>
        <p:spPr>
          <a:xfrm>
            <a:off x="3310128" y="3474720"/>
            <a:ext cx="402336" cy="402336"/>
          </a:xfrm>
          <a:prstGeom prst="rect">
            <a:avLst/>
          </a:prstGeom>
          <a:noFill/>
          <a:ln/>
        </p:spPr>
        <p:txBody>
          <a:bodyPr wrap="square" rtlCol="0" anchor="ctr"/>
          <a:lstStyle/>
          <a:p>
            <a:pPr marL="0" indent="0" algn="ctr">
              <a:buNone/>
            </a:pPr>
            <a:r>
              <a:rPr lang="en-US" sz="1100" b="1" dirty="0">
                <a:solidFill>
                  <a:srgbClr val="0A1628"/>
                </a:solidFill>
              </a:rPr>
              <a:t>06</a:t>
            </a:r>
            <a:endParaRPr lang="en-US" sz="1100" dirty="0"/>
          </a:p>
        </p:txBody>
      </p:sp>
      <p:sp>
        <p:nvSpPr>
          <p:cNvPr id="36" name="Text 34"/>
          <p:cNvSpPr/>
          <p:nvPr/>
        </p:nvSpPr>
        <p:spPr>
          <a:xfrm>
            <a:off x="3803904" y="3493008"/>
            <a:ext cx="2121408" cy="402336"/>
          </a:xfrm>
          <a:prstGeom prst="rect">
            <a:avLst/>
          </a:prstGeom>
          <a:noFill/>
          <a:ln/>
        </p:spPr>
        <p:txBody>
          <a:bodyPr wrap="square" rtlCol="0" anchor="ctr"/>
          <a:lstStyle/>
          <a:p>
            <a:pPr marL="0" indent="0">
              <a:buNone/>
            </a:pPr>
            <a:r>
              <a:rPr lang="en-US" sz="1050" b="1" dirty="0">
                <a:solidFill>
                  <a:srgbClr val="00D4AA"/>
                </a:solidFill>
              </a:rPr>
              <a:t>Audience-Centric Approach</a:t>
            </a:r>
            <a:endParaRPr lang="en-US" sz="1050" dirty="0"/>
          </a:p>
        </p:txBody>
      </p:sp>
      <p:sp>
        <p:nvSpPr>
          <p:cNvPr id="37" name="Text 35"/>
          <p:cNvSpPr/>
          <p:nvPr/>
        </p:nvSpPr>
        <p:spPr>
          <a:xfrm>
            <a:off x="3310128" y="3931920"/>
            <a:ext cx="2615184" cy="914400"/>
          </a:xfrm>
          <a:prstGeom prst="rect">
            <a:avLst/>
          </a:prstGeom>
          <a:noFill/>
          <a:ln/>
        </p:spPr>
        <p:txBody>
          <a:bodyPr wrap="square" rtlCol="0" anchor="ctr"/>
          <a:lstStyle/>
          <a:p>
            <a:pPr marL="0" indent="0">
              <a:buNone/>
            </a:pPr>
            <a:r>
              <a:rPr lang="en-US" sz="950" dirty="0">
                <a:solidFill>
                  <a:srgbClr val="E8F4FD"/>
                </a:solidFill>
              </a:rPr>
              <a:t>Same data — different stories for CFO, ops manager, and data team</a:t>
            </a:r>
            <a:endParaRPr lang="en-US" sz="950" dirty="0"/>
          </a:p>
        </p:txBody>
      </p:sp>
      <p:sp>
        <p:nvSpPr>
          <p:cNvPr id="38" name="Shape 36"/>
          <p:cNvSpPr/>
          <p:nvPr/>
        </p:nvSpPr>
        <p:spPr>
          <a:xfrm>
            <a:off x="5907024" y="3401568"/>
            <a:ext cx="3072384" cy="1508760"/>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sp>
      <p:sp>
        <p:nvSpPr>
          <p:cNvPr id="39" name="Shape 37"/>
          <p:cNvSpPr/>
          <p:nvPr/>
        </p:nvSpPr>
        <p:spPr>
          <a:xfrm>
            <a:off x="5998464" y="3474720"/>
            <a:ext cx="402336" cy="402336"/>
          </a:xfrm>
          <a:prstGeom prst="ellipse">
            <a:avLst/>
          </a:prstGeom>
          <a:solidFill>
            <a:srgbClr val="00C8FF"/>
          </a:solidFill>
          <a:ln w="12700">
            <a:solidFill>
              <a:srgbClr val="00C8FF"/>
            </a:solidFill>
            <a:prstDash val="solid"/>
          </a:ln>
        </p:spPr>
      </p:sp>
      <p:sp>
        <p:nvSpPr>
          <p:cNvPr id="40" name="Text 38"/>
          <p:cNvSpPr/>
          <p:nvPr/>
        </p:nvSpPr>
        <p:spPr>
          <a:xfrm>
            <a:off x="5998464" y="3474720"/>
            <a:ext cx="402336" cy="402336"/>
          </a:xfrm>
          <a:prstGeom prst="rect">
            <a:avLst/>
          </a:prstGeom>
          <a:noFill/>
          <a:ln/>
        </p:spPr>
        <p:txBody>
          <a:bodyPr wrap="square" rtlCol="0" anchor="ctr"/>
          <a:lstStyle/>
          <a:p>
            <a:pPr marL="0" indent="0" algn="ctr">
              <a:buNone/>
            </a:pPr>
            <a:r>
              <a:rPr lang="en-US" sz="1100" b="1" dirty="0">
                <a:solidFill>
                  <a:srgbClr val="0A1628"/>
                </a:solidFill>
              </a:rPr>
              <a:t>07</a:t>
            </a:r>
            <a:endParaRPr lang="en-US" sz="1100" dirty="0"/>
          </a:p>
        </p:txBody>
      </p:sp>
      <p:sp>
        <p:nvSpPr>
          <p:cNvPr id="41" name="Text 39"/>
          <p:cNvSpPr/>
          <p:nvPr/>
        </p:nvSpPr>
        <p:spPr>
          <a:xfrm>
            <a:off x="6492240" y="3493008"/>
            <a:ext cx="2395728" cy="402336"/>
          </a:xfrm>
          <a:prstGeom prst="rect">
            <a:avLst/>
          </a:prstGeom>
          <a:noFill/>
          <a:ln/>
        </p:spPr>
        <p:txBody>
          <a:bodyPr wrap="square" rtlCol="0" anchor="ctr"/>
          <a:lstStyle/>
          <a:p>
            <a:pPr marL="0" indent="0">
              <a:buNone/>
            </a:pPr>
            <a:r>
              <a:rPr lang="en-US" sz="1050" b="1" dirty="0">
                <a:solidFill>
                  <a:srgbClr val="00C8FF"/>
                </a:solidFill>
              </a:rPr>
              <a:t>Clear Call to Action</a:t>
            </a:r>
            <a:endParaRPr lang="en-US" sz="1050" dirty="0"/>
          </a:p>
        </p:txBody>
      </p:sp>
      <p:sp>
        <p:nvSpPr>
          <p:cNvPr id="42" name="Text 40"/>
          <p:cNvSpPr/>
          <p:nvPr/>
        </p:nvSpPr>
        <p:spPr>
          <a:xfrm>
            <a:off x="5998464" y="3931920"/>
            <a:ext cx="2889504" cy="914400"/>
          </a:xfrm>
          <a:prstGeom prst="rect">
            <a:avLst/>
          </a:prstGeom>
          <a:noFill/>
          <a:ln/>
        </p:spPr>
        <p:txBody>
          <a:bodyPr wrap="square" rtlCol="0" anchor="ctr"/>
          <a:lstStyle/>
          <a:p>
            <a:pPr marL="0" indent="0">
              <a:buNone/>
            </a:pPr>
            <a:r>
              <a:rPr lang="en-US" sz="950" dirty="0">
                <a:solidFill>
                  <a:srgbClr val="E8F4FD"/>
                </a:solidFill>
              </a:rPr>
              <a:t>End with a specific, measurable recommendation within their power</a:t>
            </a:r>
            <a:endParaRPr lang="en-US" sz="950" dirty="0"/>
          </a:p>
        </p:txBody>
      </p:sp>
    </p:spTree>
    <p:extLst>
      <p:ext uri="{BB962C8B-B14F-4D97-AF65-F5344CB8AC3E}">
        <p14:creationId xmlns:p14="http://schemas.microsoft.com/office/powerpoint/2010/main" val="29075018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5 · ASPECTS IN DEPTH</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100" b="1" dirty="0">
                <a:solidFill>
                  <a:srgbClr val="FFFFFF"/>
                </a:solidFill>
              </a:rPr>
              <a:t>Key Aspects — What They Mean in Practice</a:t>
            </a:r>
            <a:endParaRPr lang="en-US" sz="2100" dirty="0"/>
          </a:p>
        </p:txBody>
      </p:sp>
      <p:sp>
        <p:nvSpPr>
          <p:cNvPr id="6" name="Shape 4"/>
          <p:cNvSpPr/>
          <p:nvPr/>
        </p:nvSpPr>
        <p:spPr>
          <a:xfrm>
            <a:off x="274320" y="987552"/>
            <a:ext cx="8595360" cy="749808"/>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sp>
      <p:sp>
        <p:nvSpPr>
          <p:cNvPr id="7" name="Shape 5"/>
          <p:cNvSpPr/>
          <p:nvPr/>
        </p:nvSpPr>
        <p:spPr>
          <a:xfrm>
            <a:off x="274320" y="987552"/>
            <a:ext cx="1645920" cy="749808"/>
          </a:xfrm>
          <a:prstGeom prst="rect">
            <a:avLst/>
          </a:prstGeom>
          <a:solidFill>
            <a:srgbClr val="00C8FF">
              <a:alpha val="90000"/>
            </a:srgbClr>
          </a:solidFill>
          <a:ln w="12700">
            <a:solidFill>
              <a:srgbClr val="00C8FF"/>
            </a:solidFill>
            <a:prstDash val="solid"/>
          </a:ln>
        </p:spPr>
      </p:sp>
      <p:sp>
        <p:nvSpPr>
          <p:cNvPr id="8" name="Text 6"/>
          <p:cNvSpPr/>
          <p:nvPr/>
        </p:nvSpPr>
        <p:spPr>
          <a:xfrm>
            <a:off x="347472" y="987552"/>
            <a:ext cx="1508760" cy="749808"/>
          </a:xfrm>
          <a:prstGeom prst="rect">
            <a:avLst/>
          </a:prstGeom>
          <a:noFill/>
          <a:ln/>
        </p:spPr>
        <p:txBody>
          <a:bodyPr wrap="square" rtlCol="0" anchor="ctr"/>
          <a:lstStyle/>
          <a:p>
            <a:pPr marL="0" indent="0" algn="ctr">
              <a:buNone/>
            </a:pPr>
            <a:r>
              <a:rPr lang="en-US" sz="950" b="1" dirty="0">
                <a:solidFill>
                  <a:srgbClr val="0A1628"/>
                </a:solidFill>
              </a:rPr>
              <a:t>01 Data Visualisation</a:t>
            </a:r>
            <a:endParaRPr lang="en-US" sz="950" dirty="0"/>
          </a:p>
        </p:txBody>
      </p:sp>
      <p:sp>
        <p:nvSpPr>
          <p:cNvPr id="9" name="Text 7"/>
          <p:cNvSpPr/>
          <p:nvPr/>
        </p:nvSpPr>
        <p:spPr>
          <a:xfrm>
            <a:off x="1993392" y="1024128"/>
            <a:ext cx="6693408" cy="329184"/>
          </a:xfrm>
          <a:prstGeom prst="rect">
            <a:avLst/>
          </a:prstGeom>
          <a:noFill/>
          <a:ln/>
        </p:spPr>
        <p:txBody>
          <a:bodyPr wrap="square" rtlCol="0" anchor="ctr"/>
          <a:lstStyle/>
          <a:p>
            <a:pPr marL="0" indent="0">
              <a:buNone/>
            </a:pPr>
            <a:r>
              <a:rPr lang="en-US" sz="1050" b="1" dirty="0">
                <a:solidFill>
                  <a:srgbClr val="00C8FF"/>
                </a:solidFill>
              </a:rPr>
              <a:t>Rule: </a:t>
            </a:r>
            <a:r>
              <a:rPr lang="en-US" sz="1050" dirty="0">
                <a:solidFill>
                  <a:srgbClr val="E8F4FD"/>
                </a:solidFill>
              </a:rPr>
              <a:t>Match chart type to the question</a:t>
            </a:r>
            <a:endParaRPr lang="en-US" sz="1050" dirty="0"/>
          </a:p>
        </p:txBody>
      </p:sp>
      <p:sp>
        <p:nvSpPr>
          <p:cNvPr id="10" name="Text 8"/>
          <p:cNvSpPr/>
          <p:nvPr/>
        </p:nvSpPr>
        <p:spPr>
          <a:xfrm>
            <a:off x="1993392" y="1389888"/>
            <a:ext cx="6693408" cy="292608"/>
          </a:xfrm>
          <a:prstGeom prst="rect">
            <a:avLst/>
          </a:prstGeom>
          <a:noFill/>
          <a:ln/>
        </p:spPr>
        <p:txBody>
          <a:bodyPr wrap="square" rtlCol="0" anchor="ctr"/>
          <a:lstStyle/>
          <a:p>
            <a:pPr marL="0" indent="0">
              <a:buNone/>
            </a:pPr>
            <a:r>
              <a:rPr lang="en-US" sz="950" b="1" i="1" dirty="0">
                <a:solidFill>
                  <a:srgbClr val="A0B4C8"/>
                </a:solidFill>
              </a:rPr>
              <a:t>Example: </a:t>
            </a:r>
            <a:r>
              <a:rPr lang="en-US" sz="950" i="1" dirty="0">
                <a:solidFill>
                  <a:srgbClr val="A0B4C8"/>
                </a:solidFill>
              </a:rPr>
              <a:t>Trends = Line  ·  Comparisons = Bar  ·  Proportions = Pie  ·  Relationships = Scatter</a:t>
            </a:r>
            <a:endParaRPr lang="en-US" sz="950" dirty="0"/>
          </a:p>
        </p:txBody>
      </p:sp>
      <p:sp>
        <p:nvSpPr>
          <p:cNvPr id="11" name="Shape 9"/>
          <p:cNvSpPr/>
          <p:nvPr/>
        </p:nvSpPr>
        <p:spPr>
          <a:xfrm>
            <a:off x="274320" y="1810512"/>
            <a:ext cx="8595360" cy="749808"/>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sp>
      <p:sp>
        <p:nvSpPr>
          <p:cNvPr id="12" name="Shape 10"/>
          <p:cNvSpPr/>
          <p:nvPr/>
        </p:nvSpPr>
        <p:spPr>
          <a:xfrm>
            <a:off x="274320" y="1810512"/>
            <a:ext cx="1645920" cy="749808"/>
          </a:xfrm>
          <a:prstGeom prst="rect">
            <a:avLst/>
          </a:prstGeom>
          <a:solidFill>
            <a:srgbClr val="7B5EA7">
              <a:alpha val="90000"/>
            </a:srgbClr>
          </a:solidFill>
          <a:ln w="12700">
            <a:solidFill>
              <a:srgbClr val="7B5EA7"/>
            </a:solidFill>
            <a:prstDash val="solid"/>
          </a:ln>
        </p:spPr>
      </p:sp>
      <p:sp>
        <p:nvSpPr>
          <p:cNvPr id="13" name="Text 11"/>
          <p:cNvSpPr/>
          <p:nvPr/>
        </p:nvSpPr>
        <p:spPr>
          <a:xfrm>
            <a:off x="347472" y="1810512"/>
            <a:ext cx="1508760" cy="749808"/>
          </a:xfrm>
          <a:prstGeom prst="rect">
            <a:avLst/>
          </a:prstGeom>
          <a:noFill/>
          <a:ln/>
        </p:spPr>
        <p:txBody>
          <a:bodyPr wrap="square" rtlCol="0" anchor="ctr"/>
          <a:lstStyle/>
          <a:p>
            <a:pPr marL="0" indent="0" algn="ctr">
              <a:buNone/>
            </a:pPr>
            <a:r>
              <a:rPr lang="en-US" sz="950" b="1" dirty="0">
                <a:solidFill>
                  <a:srgbClr val="0A1628"/>
                </a:solidFill>
              </a:rPr>
              <a:t>02 Logical Organisation</a:t>
            </a:r>
            <a:endParaRPr lang="en-US" sz="950" dirty="0"/>
          </a:p>
        </p:txBody>
      </p:sp>
      <p:sp>
        <p:nvSpPr>
          <p:cNvPr id="14" name="Text 12"/>
          <p:cNvSpPr/>
          <p:nvPr/>
        </p:nvSpPr>
        <p:spPr>
          <a:xfrm>
            <a:off x="1993392" y="1847088"/>
            <a:ext cx="6693408" cy="329184"/>
          </a:xfrm>
          <a:prstGeom prst="rect">
            <a:avLst/>
          </a:prstGeom>
          <a:noFill/>
          <a:ln/>
        </p:spPr>
        <p:txBody>
          <a:bodyPr wrap="square" rtlCol="0" anchor="ctr"/>
          <a:lstStyle/>
          <a:p>
            <a:pPr marL="0" indent="0">
              <a:buNone/>
            </a:pPr>
            <a:r>
              <a:rPr lang="en-US" sz="1050" b="1" dirty="0">
                <a:solidFill>
                  <a:srgbClr val="7B5EA7"/>
                </a:solidFill>
              </a:rPr>
              <a:t>Rule: </a:t>
            </a:r>
            <a:r>
              <a:rPr lang="en-US" sz="1050" dirty="0">
                <a:solidFill>
                  <a:srgbClr val="E8F4FD"/>
                </a:solidFill>
              </a:rPr>
              <a:t>Pyramid Principle: conclusion first, evidence second</a:t>
            </a:r>
            <a:endParaRPr lang="en-US" sz="1050" dirty="0"/>
          </a:p>
        </p:txBody>
      </p:sp>
      <p:sp>
        <p:nvSpPr>
          <p:cNvPr id="15" name="Text 13"/>
          <p:cNvSpPr/>
          <p:nvPr/>
        </p:nvSpPr>
        <p:spPr>
          <a:xfrm>
            <a:off x="1993392" y="2212848"/>
            <a:ext cx="6693408" cy="292608"/>
          </a:xfrm>
          <a:prstGeom prst="rect">
            <a:avLst/>
          </a:prstGeom>
          <a:noFill/>
          <a:ln/>
        </p:spPr>
        <p:txBody>
          <a:bodyPr wrap="square" rtlCol="0" anchor="ctr"/>
          <a:lstStyle/>
          <a:p>
            <a:pPr marL="0" indent="0">
              <a:buNone/>
            </a:pPr>
            <a:r>
              <a:rPr lang="en-US" sz="950" b="1" i="1" dirty="0">
                <a:solidFill>
                  <a:srgbClr val="A0B4C8"/>
                </a:solidFill>
              </a:rPr>
              <a:t>Example: </a:t>
            </a:r>
            <a:r>
              <a:rPr lang="en-US" sz="950" i="1" dirty="0">
                <a:solidFill>
                  <a:srgbClr val="A0B4C8"/>
                </a:solidFill>
              </a:rPr>
              <a:t>Open with: 'NPAs declined 18% YoY'  →  Show supporting charts  →  Recommend action</a:t>
            </a:r>
            <a:endParaRPr lang="en-US" sz="950" dirty="0"/>
          </a:p>
        </p:txBody>
      </p:sp>
      <p:sp>
        <p:nvSpPr>
          <p:cNvPr id="16" name="Shape 14"/>
          <p:cNvSpPr/>
          <p:nvPr/>
        </p:nvSpPr>
        <p:spPr>
          <a:xfrm>
            <a:off x="274320" y="2633472"/>
            <a:ext cx="8595360" cy="749808"/>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sp>
      <p:sp>
        <p:nvSpPr>
          <p:cNvPr id="17" name="Shape 15"/>
          <p:cNvSpPr/>
          <p:nvPr/>
        </p:nvSpPr>
        <p:spPr>
          <a:xfrm>
            <a:off x="274320" y="2633472"/>
            <a:ext cx="1645920" cy="749808"/>
          </a:xfrm>
          <a:prstGeom prst="rect">
            <a:avLst/>
          </a:prstGeom>
          <a:solidFill>
            <a:srgbClr val="00E5A0">
              <a:alpha val="90000"/>
            </a:srgbClr>
          </a:solidFill>
          <a:ln w="12700">
            <a:solidFill>
              <a:srgbClr val="00E5A0"/>
            </a:solidFill>
            <a:prstDash val="solid"/>
          </a:ln>
        </p:spPr>
      </p:sp>
      <p:sp>
        <p:nvSpPr>
          <p:cNvPr id="18" name="Text 16"/>
          <p:cNvSpPr/>
          <p:nvPr/>
        </p:nvSpPr>
        <p:spPr>
          <a:xfrm>
            <a:off x="347472" y="2633472"/>
            <a:ext cx="1508760" cy="749808"/>
          </a:xfrm>
          <a:prstGeom prst="rect">
            <a:avLst/>
          </a:prstGeom>
          <a:noFill/>
          <a:ln/>
        </p:spPr>
        <p:txBody>
          <a:bodyPr wrap="square" rtlCol="0" anchor="ctr"/>
          <a:lstStyle/>
          <a:p>
            <a:pPr marL="0" indent="0" algn="ctr">
              <a:buNone/>
            </a:pPr>
            <a:r>
              <a:rPr lang="en-US" sz="950" b="1" dirty="0">
                <a:solidFill>
                  <a:srgbClr val="0A1628"/>
                </a:solidFill>
              </a:rPr>
              <a:t>03 Contextualisation</a:t>
            </a:r>
            <a:endParaRPr lang="en-US" sz="950" dirty="0"/>
          </a:p>
        </p:txBody>
      </p:sp>
      <p:sp>
        <p:nvSpPr>
          <p:cNvPr id="19" name="Text 17"/>
          <p:cNvSpPr/>
          <p:nvPr/>
        </p:nvSpPr>
        <p:spPr>
          <a:xfrm>
            <a:off x="1993392" y="2670048"/>
            <a:ext cx="6693408" cy="329184"/>
          </a:xfrm>
          <a:prstGeom prst="rect">
            <a:avLst/>
          </a:prstGeom>
          <a:noFill/>
          <a:ln/>
        </p:spPr>
        <p:txBody>
          <a:bodyPr wrap="square" rtlCol="0" anchor="ctr"/>
          <a:lstStyle/>
          <a:p>
            <a:pPr marL="0" indent="0">
              <a:buNone/>
            </a:pPr>
            <a:r>
              <a:rPr lang="en-US" sz="1050" b="1" dirty="0">
                <a:solidFill>
                  <a:srgbClr val="00E5A0"/>
                </a:solidFill>
              </a:rPr>
              <a:t>Rule: </a:t>
            </a:r>
            <a:r>
              <a:rPr lang="en-US" sz="1050" dirty="0">
                <a:solidFill>
                  <a:srgbClr val="E8F4FD"/>
                </a:solidFill>
              </a:rPr>
              <a:t>For every data point ask: 'So what?' If you can't answer — cut it</a:t>
            </a:r>
            <a:endParaRPr lang="en-US" sz="1050" dirty="0"/>
          </a:p>
        </p:txBody>
      </p:sp>
      <p:sp>
        <p:nvSpPr>
          <p:cNvPr id="20" name="Text 18"/>
          <p:cNvSpPr/>
          <p:nvPr/>
        </p:nvSpPr>
        <p:spPr>
          <a:xfrm>
            <a:off x="1993392" y="3035808"/>
            <a:ext cx="6693408" cy="292608"/>
          </a:xfrm>
          <a:prstGeom prst="rect">
            <a:avLst/>
          </a:prstGeom>
          <a:noFill/>
          <a:ln/>
        </p:spPr>
        <p:txBody>
          <a:bodyPr wrap="square" rtlCol="0" anchor="ctr"/>
          <a:lstStyle/>
          <a:p>
            <a:pPr marL="0" indent="0">
              <a:buNone/>
            </a:pPr>
            <a:r>
              <a:rPr lang="en-US" sz="950" b="1" i="1" dirty="0">
                <a:solidFill>
                  <a:srgbClr val="A0B4C8"/>
                </a:solidFill>
              </a:rPr>
              <a:t>Example: </a:t>
            </a:r>
            <a:r>
              <a:rPr lang="en-US" sz="950" i="1" dirty="0">
                <a:solidFill>
                  <a:srgbClr val="A0B4C8"/>
                </a:solidFill>
              </a:rPr>
              <a:t>'Avg rooms = 6.28' vs '7+ room homes command 34% price premium — target this segment'</a:t>
            </a:r>
            <a:endParaRPr lang="en-US" sz="950" dirty="0"/>
          </a:p>
        </p:txBody>
      </p:sp>
      <p:sp>
        <p:nvSpPr>
          <p:cNvPr id="21" name="Shape 19"/>
          <p:cNvSpPr/>
          <p:nvPr/>
        </p:nvSpPr>
        <p:spPr>
          <a:xfrm>
            <a:off x="274320" y="3456432"/>
            <a:ext cx="8595360" cy="749808"/>
          </a:xfrm>
          <a:prstGeom prst="rect">
            <a:avLst/>
          </a:prstGeom>
          <a:solidFill>
            <a:srgbClr val="112244"/>
          </a:solidFill>
          <a:ln w="19050">
            <a:solidFill>
              <a:srgbClr val="00D4AA"/>
            </a:solidFill>
            <a:prstDash val="solid"/>
          </a:ln>
          <a:effectLst>
            <a:outerShdw blurRad="101600" dist="38100" dir="8100000" algn="bl" rotWithShape="0">
              <a:srgbClr val="000000">
                <a:alpha val="25000"/>
              </a:srgbClr>
            </a:outerShdw>
          </a:effectLst>
        </p:spPr>
      </p:sp>
      <p:sp>
        <p:nvSpPr>
          <p:cNvPr id="22" name="Shape 20"/>
          <p:cNvSpPr/>
          <p:nvPr/>
        </p:nvSpPr>
        <p:spPr>
          <a:xfrm>
            <a:off x="274320" y="3456432"/>
            <a:ext cx="1645920" cy="749808"/>
          </a:xfrm>
          <a:prstGeom prst="rect">
            <a:avLst/>
          </a:prstGeom>
          <a:solidFill>
            <a:srgbClr val="00D4AA">
              <a:alpha val="90000"/>
            </a:srgbClr>
          </a:solidFill>
          <a:ln w="12700">
            <a:solidFill>
              <a:srgbClr val="00D4AA"/>
            </a:solidFill>
            <a:prstDash val="solid"/>
          </a:ln>
        </p:spPr>
      </p:sp>
      <p:sp>
        <p:nvSpPr>
          <p:cNvPr id="23" name="Text 21"/>
          <p:cNvSpPr/>
          <p:nvPr/>
        </p:nvSpPr>
        <p:spPr>
          <a:xfrm>
            <a:off x="347472" y="3456432"/>
            <a:ext cx="1508760" cy="749808"/>
          </a:xfrm>
          <a:prstGeom prst="rect">
            <a:avLst/>
          </a:prstGeom>
          <a:noFill/>
          <a:ln/>
        </p:spPr>
        <p:txBody>
          <a:bodyPr wrap="square" rtlCol="0" anchor="ctr"/>
          <a:lstStyle/>
          <a:p>
            <a:pPr marL="0" indent="0" algn="ctr">
              <a:buNone/>
            </a:pPr>
            <a:r>
              <a:rPr lang="en-US" sz="950" b="1" dirty="0">
                <a:solidFill>
                  <a:srgbClr val="0A1628"/>
                </a:solidFill>
              </a:rPr>
              <a:t>06 Audience-Centric</a:t>
            </a:r>
            <a:endParaRPr lang="en-US" sz="950" dirty="0"/>
          </a:p>
        </p:txBody>
      </p:sp>
      <p:sp>
        <p:nvSpPr>
          <p:cNvPr id="24" name="Text 22"/>
          <p:cNvSpPr/>
          <p:nvPr/>
        </p:nvSpPr>
        <p:spPr>
          <a:xfrm>
            <a:off x="1993392" y="3493008"/>
            <a:ext cx="6693408" cy="329184"/>
          </a:xfrm>
          <a:prstGeom prst="rect">
            <a:avLst/>
          </a:prstGeom>
          <a:noFill/>
          <a:ln/>
        </p:spPr>
        <p:txBody>
          <a:bodyPr wrap="square" rtlCol="0" anchor="ctr"/>
          <a:lstStyle/>
          <a:p>
            <a:pPr marL="0" indent="0">
              <a:buNone/>
            </a:pPr>
            <a:r>
              <a:rPr lang="en-US" sz="1050" b="1" dirty="0">
                <a:solidFill>
                  <a:srgbClr val="00D4AA"/>
                </a:solidFill>
              </a:rPr>
              <a:t>Rule: </a:t>
            </a:r>
            <a:r>
              <a:rPr lang="en-US" sz="1050" dirty="0">
                <a:solidFill>
                  <a:srgbClr val="E8F4FD"/>
                </a:solidFill>
              </a:rPr>
              <a:t>Build 3 versions: 30-second (CEO), 5-min (manager), full (data team)</a:t>
            </a:r>
            <a:endParaRPr lang="en-US" sz="1050" dirty="0"/>
          </a:p>
        </p:txBody>
      </p:sp>
      <p:sp>
        <p:nvSpPr>
          <p:cNvPr id="25" name="Text 23"/>
          <p:cNvSpPr/>
          <p:nvPr/>
        </p:nvSpPr>
        <p:spPr>
          <a:xfrm>
            <a:off x="1993392" y="3858768"/>
            <a:ext cx="6693408" cy="292608"/>
          </a:xfrm>
          <a:prstGeom prst="rect">
            <a:avLst/>
          </a:prstGeom>
          <a:noFill/>
          <a:ln/>
        </p:spPr>
        <p:txBody>
          <a:bodyPr wrap="square" rtlCol="0" anchor="ctr"/>
          <a:lstStyle/>
          <a:p>
            <a:pPr marL="0" indent="0">
              <a:buNone/>
            </a:pPr>
            <a:r>
              <a:rPr lang="en-US" sz="950" b="1" i="1" dirty="0">
                <a:solidFill>
                  <a:srgbClr val="A0B4C8"/>
                </a:solidFill>
              </a:rPr>
              <a:t>Example: </a:t>
            </a:r>
            <a:r>
              <a:rPr lang="en-US" sz="950" i="1" dirty="0">
                <a:solidFill>
                  <a:srgbClr val="A0B4C8"/>
                </a:solidFill>
              </a:rPr>
              <a:t>NatWest Marge to CEO: 'NPS +20%'  ·  To IT director: 'Watson Assistant, IBM Cloud, 99.9% SLA'</a:t>
            </a:r>
            <a:endParaRPr lang="en-US" sz="950" dirty="0"/>
          </a:p>
        </p:txBody>
      </p:sp>
      <p:sp>
        <p:nvSpPr>
          <p:cNvPr id="26" name="Shape 24"/>
          <p:cNvSpPr/>
          <p:nvPr/>
        </p:nvSpPr>
        <p:spPr>
          <a:xfrm>
            <a:off x="274320" y="4279392"/>
            <a:ext cx="8595360" cy="749808"/>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sp>
      <p:sp>
        <p:nvSpPr>
          <p:cNvPr id="27" name="Shape 25"/>
          <p:cNvSpPr/>
          <p:nvPr/>
        </p:nvSpPr>
        <p:spPr>
          <a:xfrm>
            <a:off x="274320" y="4279392"/>
            <a:ext cx="1645920" cy="749808"/>
          </a:xfrm>
          <a:prstGeom prst="rect">
            <a:avLst/>
          </a:prstGeom>
          <a:solidFill>
            <a:srgbClr val="FFD166">
              <a:alpha val="90000"/>
            </a:srgbClr>
          </a:solidFill>
          <a:ln w="12700">
            <a:solidFill>
              <a:srgbClr val="FFD166"/>
            </a:solidFill>
            <a:prstDash val="solid"/>
          </a:ln>
        </p:spPr>
      </p:sp>
      <p:sp>
        <p:nvSpPr>
          <p:cNvPr id="28" name="Text 26"/>
          <p:cNvSpPr/>
          <p:nvPr/>
        </p:nvSpPr>
        <p:spPr>
          <a:xfrm>
            <a:off x="347472" y="4279392"/>
            <a:ext cx="1508760" cy="749808"/>
          </a:xfrm>
          <a:prstGeom prst="rect">
            <a:avLst/>
          </a:prstGeom>
          <a:noFill/>
          <a:ln/>
        </p:spPr>
        <p:txBody>
          <a:bodyPr wrap="square" rtlCol="0" anchor="ctr"/>
          <a:lstStyle/>
          <a:p>
            <a:pPr marL="0" indent="0" algn="ctr">
              <a:buNone/>
            </a:pPr>
            <a:r>
              <a:rPr lang="en-US" sz="950" b="1" dirty="0">
                <a:solidFill>
                  <a:srgbClr val="0A1628"/>
                </a:solidFill>
              </a:rPr>
              <a:t>07 Clear Call to Action</a:t>
            </a:r>
            <a:endParaRPr lang="en-US" sz="950" dirty="0"/>
          </a:p>
        </p:txBody>
      </p:sp>
      <p:sp>
        <p:nvSpPr>
          <p:cNvPr id="29" name="Text 27"/>
          <p:cNvSpPr/>
          <p:nvPr/>
        </p:nvSpPr>
        <p:spPr>
          <a:xfrm>
            <a:off x="1993392" y="4315968"/>
            <a:ext cx="6693408" cy="329184"/>
          </a:xfrm>
          <a:prstGeom prst="rect">
            <a:avLst/>
          </a:prstGeom>
          <a:noFill/>
          <a:ln/>
        </p:spPr>
        <p:txBody>
          <a:bodyPr wrap="square" rtlCol="0" anchor="ctr"/>
          <a:lstStyle/>
          <a:p>
            <a:pPr marL="0" indent="0">
              <a:buNone/>
            </a:pPr>
            <a:r>
              <a:rPr lang="en-US" sz="1050" b="1" dirty="0">
                <a:solidFill>
                  <a:srgbClr val="FFD166"/>
                </a:solidFill>
              </a:rPr>
              <a:t>Rule: </a:t>
            </a:r>
            <a:r>
              <a:rPr lang="en-US" sz="1050" dirty="0">
                <a:solidFill>
                  <a:srgbClr val="E8F4FD"/>
                </a:solidFill>
              </a:rPr>
              <a:t>Specific, measurable, within the audience's power to act on</a:t>
            </a:r>
            <a:endParaRPr lang="en-US" sz="1050" dirty="0"/>
          </a:p>
        </p:txBody>
      </p:sp>
      <p:sp>
        <p:nvSpPr>
          <p:cNvPr id="30" name="Text 28"/>
          <p:cNvSpPr/>
          <p:nvPr/>
        </p:nvSpPr>
        <p:spPr>
          <a:xfrm>
            <a:off x="1993392" y="4681728"/>
            <a:ext cx="6693408" cy="292608"/>
          </a:xfrm>
          <a:prstGeom prst="rect">
            <a:avLst/>
          </a:prstGeom>
          <a:noFill/>
          <a:ln/>
        </p:spPr>
        <p:txBody>
          <a:bodyPr wrap="square" rtlCol="0" anchor="ctr"/>
          <a:lstStyle/>
          <a:p>
            <a:pPr marL="0" indent="0">
              <a:buNone/>
            </a:pPr>
            <a:r>
              <a:rPr lang="en-US" sz="950" b="1" i="1" dirty="0">
                <a:solidFill>
                  <a:srgbClr val="A0B4C8"/>
                </a:solidFill>
              </a:rPr>
              <a:t>Example: </a:t>
            </a:r>
            <a:r>
              <a:rPr lang="en-US" sz="950" i="1" dirty="0">
                <a:solidFill>
                  <a:srgbClr val="A0B4C8"/>
                </a:solidFill>
              </a:rPr>
              <a:t>'Pilot price elasticity test — top 3 declining segments — Rs 2 crore budget — Q3 results'</a:t>
            </a:r>
            <a:endParaRPr lang="en-US" sz="950" dirty="0"/>
          </a:p>
        </p:txBody>
      </p:sp>
      <p:sp>
        <p:nvSpPr>
          <p:cNvPr id="31" name="Shape 29"/>
          <p:cNvSpPr/>
          <p:nvPr/>
        </p:nvSpPr>
        <p:spPr>
          <a:xfrm>
            <a:off x="274320" y="5074920"/>
            <a:ext cx="8595360" cy="256032"/>
          </a:xfrm>
          <a:prstGeom prst="rect">
            <a:avLst/>
          </a:prstGeom>
          <a:solidFill>
            <a:srgbClr val="0F2041"/>
          </a:solidFill>
          <a:ln w="12700">
            <a:solidFill>
              <a:srgbClr val="00E5A0"/>
            </a:solidFill>
            <a:prstDash val="solid"/>
          </a:ln>
        </p:spPr>
      </p:sp>
      <p:sp>
        <p:nvSpPr>
          <p:cNvPr id="32" name="Text 30"/>
          <p:cNvSpPr/>
          <p:nvPr/>
        </p:nvSpPr>
        <p:spPr>
          <a:xfrm>
            <a:off x="274320" y="5074920"/>
            <a:ext cx="8595360" cy="256032"/>
          </a:xfrm>
          <a:prstGeom prst="rect">
            <a:avLst/>
          </a:prstGeom>
          <a:noFill/>
          <a:ln/>
        </p:spPr>
        <p:txBody>
          <a:bodyPr wrap="square" rtlCol="0" anchor="ctr"/>
          <a:lstStyle/>
          <a:p>
            <a:pPr marL="0" indent="0" algn="ctr">
              <a:buNone/>
            </a:pPr>
            <a:r>
              <a:rPr lang="en-US" sz="950" dirty="0">
                <a:solidFill>
                  <a:srgbClr val="00E5A0"/>
                </a:solidFill>
              </a:rPr>
              <a:t>Class Activity: Groups use real Indian datasets — Swiggy, IPL, HDFC, Flipkart, COVID vaccination — build a 3-min data story using all 7 aspects</a:t>
            </a:r>
            <a:endParaRPr lang="en-US" sz="950" dirty="0"/>
          </a:p>
        </p:txBody>
      </p:sp>
    </p:spTree>
    <p:extLst>
      <p:ext uri="{BB962C8B-B14F-4D97-AF65-F5344CB8AC3E}">
        <p14:creationId xmlns:p14="http://schemas.microsoft.com/office/powerpoint/2010/main" val="251683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6 · AI STORYTELLING TOOLS</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Gen AI Tools for Data Storytelling</a:t>
            </a:r>
            <a:endParaRPr lang="en-US" sz="2200" dirty="0"/>
          </a:p>
        </p:txBody>
      </p:sp>
      <p:sp>
        <p:nvSpPr>
          <p:cNvPr id="6" name="Shape 4"/>
          <p:cNvSpPr/>
          <p:nvPr/>
        </p:nvSpPr>
        <p:spPr>
          <a:xfrm>
            <a:off x="274320" y="841248"/>
            <a:ext cx="8595360" cy="658368"/>
          </a:xfrm>
          <a:prstGeom prst="rect">
            <a:avLst/>
          </a:prstGeom>
          <a:solidFill>
            <a:srgbClr val="0F2041"/>
          </a:solidFill>
          <a:ln w="19050">
            <a:solidFill>
              <a:srgbClr val="7B5EA7"/>
            </a:solidFill>
            <a:prstDash val="solid"/>
          </a:ln>
        </p:spPr>
      </p:sp>
      <p:sp>
        <p:nvSpPr>
          <p:cNvPr id="7" name="Text 5"/>
          <p:cNvSpPr/>
          <p:nvPr/>
        </p:nvSpPr>
        <p:spPr>
          <a:xfrm>
            <a:off x="457200" y="859536"/>
            <a:ext cx="8229600" cy="603504"/>
          </a:xfrm>
          <a:prstGeom prst="rect">
            <a:avLst/>
          </a:prstGeom>
          <a:noFill/>
          <a:ln/>
        </p:spPr>
        <p:txBody>
          <a:bodyPr wrap="square" rtlCol="0" anchor="ctr"/>
          <a:lstStyle/>
          <a:p>
            <a:pPr marL="0" indent="0">
              <a:buNone/>
            </a:pPr>
            <a:r>
              <a:rPr lang="en-US" sz="1100" b="1" dirty="0">
                <a:solidFill>
                  <a:srgbClr val="7B5EA7"/>
                </a:solidFill>
              </a:rPr>
              <a:t>Core Concept:</a:t>
            </a:r>
            <a:r>
              <a:rPr lang="en-US" sz="1100" dirty="0">
                <a:solidFill>
                  <a:srgbClr val="E8F4FD"/>
                </a:solidFill>
              </a:rPr>
              <a:t> Gen AI tools can automatically transform raw data and ideas into professional presentations, reports, and narratives — collapsing hours of manual work into minutes.</a:t>
            </a:r>
            <a:endParaRPr lang="en-US" sz="1100" dirty="0"/>
          </a:p>
        </p:txBody>
      </p:sp>
      <p:sp>
        <p:nvSpPr>
          <p:cNvPr id="8" name="Shape 6"/>
          <p:cNvSpPr/>
          <p:nvPr/>
        </p:nvSpPr>
        <p:spPr>
          <a:xfrm>
            <a:off x="201168" y="1664208"/>
            <a:ext cx="1627632" cy="3246120"/>
          </a:xfrm>
          <a:prstGeom prst="rect">
            <a:avLst/>
          </a:prstGeom>
          <a:solidFill>
            <a:srgbClr val="112244"/>
          </a:solidFill>
          <a:ln w="25400">
            <a:solidFill>
              <a:srgbClr val="00C8FF"/>
            </a:solidFill>
            <a:prstDash val="solid"/>
          </a:ln>
          <a:effectLst>
            <a:outerShdw blurRad="101600" dist="38100" dir="8100000" algn="bl" rotWithShape="0">
              <a:srgbClr val="000000">
                <a:alpha val="25000"/>
              </a:srgbClr>
            </a:outerShdw>
          </a:effectLst>
        </p:spPr>
      </p:sp>
      <p:sp>
        <p:nvSpPr>
          <p:cNvPr id="9" name="Shape 7"/>
          <p:cNvSpPr/>
          <p:nvPr/>
        </p:nvSpPr>
        <p:spPr>
          <a:xfrm>
            <a:off x="201168" y="1664208"/>
            <a:ext cx="1627632" cy="365760"/>
          </a:xfrm>
          <a:prstGeom prst="rect">
            <a:avLst/>
          </a:prstGeom>
          <a:solidFill>
            <a:srgbClr val="00C8FF"/>
          </a:solidFill>
          <a:ln w="12700">
            <a:solidFill>
              <a:srgbClr val="00C8FF"/>
            </a:solidFill>
            <a:prstDash val="solid"/>
          </a:ln>
        </p:spPr>
      </p:sp>
      <p:sp>
        <p:nvSpPr>
          <p:cNvPr id="10" name="Text 8"/>
          <p:cNvSpPr/>
          <p:nvPr/>
        </p:nvSpPr>
        <p:spPr>
          <a:xfrm>
            <a:off x="201168" y="1664208"/>
            <a:ext cx="1627632" cy="365760"/>
          </a:xfrm>
          <a:prstGeom prst="rect">
            <a:avLst/>
          </a:prstGeom>
          <a:noFill/>
          <a:ln/>
        </p:spPr>
        <p:txBody>
          <a:bodyPr wrap="square" rtlCol="0" anchor="ctr"/>
          <a:lstStyle/>
          <a:p>
            <a:pPr marL="0" indent="0" algn="ctr">
              <a:buNone/>
            </a:pPr>
            <a:r>
              <a:rPr lang="en-US" sz="1200" b="1" dirty="0">
                <a:solidFill>
                  <a:srgbClr val="0A1628"/>
                </a:solidFill>
              </a:rPr>
              <a:t>1</a:t>
            </a:r>
            <a:endParaRPr lang="en-US" sz="1200" dirty="0"/>
          </a:p>
        </p:txBody>
      </p:sp>
      <p:sp>
        <p:nvSpPr>
          <p:cNvPr id="11" name="Text 9"/>
          <p:cNvSpPr/>
          <p:nvPr/>
        </p:nvSpPr>
        <p:spPr>
          <a:xfrm>
            <a:off x="201168" y="2084832"/>
            <a:ext cx="1627632" cy="50292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2" name="Text 10"/>
          <p:cNvSpPr/>
          <p:nvPr/>
        </p:nvSpPr>
        <p:spPr>
          <a:xfrm>
            <a:off x="274320" y="2633472"/>
            <a:ext cx="1481328" cy="621792"/>
          </a:xfrm>
          <a:prstGeom prst="rect">
            <a:avLst/>
          </a:prstGeom>
          <a:noFill/>
          <a:ln/>
        </p:spPr>
        <p:txBody>
          <a:bodyPr wrap="square" rtlCol="0" anchor="ctr"/>
          <a:lstStyle/>
          <a:p>
            <a:pPr marL="0" indent="0" algn="ctr">
              <a:buNone/>
            </a:pPr>
            <a:r>
              <a:rPr lang="en-US" sz="1050" b="1" dirty="0">
                <a:solidFill>
                  <a:srgbClr val="00C8FF"/>
                </a:solidFill>
              </a:rPr>
              <a:t>Google Slides</a:t>
            </a:r>
            <a:endParaRPr lang="en-US" sz="1050" dirty="0"/>
          </a:p>
          <a:p>
            <a:pPr marL="0" indent="0" algn="ctr">
              <a:buNone/>
            </a:pPr>
            <a:r>
              <a:rPr lang="en-US" sz="1050" b="1" dirty="0">
                <a:solidFill>
                  <a:srgbClr val="00C8FF"/>
                </a:solidFill>
              </a:rPr>
              <a:t>+ Duet AI</a:t>
            </a:r>
            <a:endParaRPr lang="en-US" sz="1050" dirty="0"/>
          </a:p>
        </p:txBody>
      </p:sp>
      <p:sp>
        <p:nvSpPr>
          <p:cNvPr id="13" name="Text 11"/>
          <p:cNvSpPr/>
          <p:nvPr/>
        </p:nvSpPr>
        <p:spPr>
          <a:xfrm>
            <a:off x="274320" y="3291840"/>
            <a:ext cx="1481328" cy="320040"/>
          </a:xfrm>
          <a:prstGeom prst="rect">
            <a:avLst/>
          </a:prstGeom>
          <a:noFill/>
          <a:ln/>
        </p:spPr>
        <p:txBody>
          <a:bodyPr wrap="square" rtlCol="0" anchor="ctr"/>
          <a:lstStyle/>
          <a:p>
            <a:pPr marL="0" indent="0" algn="ctr">
              <a:buNone/>
            </a:pPr>
            <a:r>
              <a:rPr lang="en-US" sz="950" i="1" dirty="0">
                <a:solidFill>
                  <a:srgbClr val="A0B4C8"/>
                </a:solidFill>
              </a:rPr>
              <a:t>Cloud Presentation</a:t>
            </a:r>
            <a:endParaRPr lang="en-US" sz="950" dirty="0"/>
          </a:p>
        </p:txBody>
      </p:sp>
      <p:sp>
        <p:nvSpPr>
          <p:cNvPr id="14" name="Shape 12"/>
          <p:cNvSpPr/>
          <p:nvPr/>
        </p:nvSpPr>
        <p:spPr>
          <a:xfrm>
            <a:off x="1956816" y="1664208"/>
            <a:ext cx="1627632" cy="3246120"/>
          </a:xfrm>
          <a:prstGeom prst="rect">
            <a:avLst/>
          </a:prstGeom>
          <a:solidFill>
            <a:srgbClr val="112244"/>
          </a:solidFill>
          <a:ln w="25400">
            <a:solidFill>
              <a:srgbClr val="7B5EA7"/>
            </a:solidFill>
            <a:prstDash val="solid"/>
          </a:ln>
          <a:effectLst>
            <a:outerShdw blurRad="101600" dist="38100" dir="8100000" algn="bl" rotWithShape="0">
              <a:srgbClr val="000000">
                <a:alpha val="25000"/>
              </a:srgbClr>
            </a:outerShdw>
          </a:effectLst>
        </p:spPr>
      </p:sp>
      <p:sp>
        <p:nvSpPr>
          <p:cNvPr id="15" name="Shape 13"/>
          <p:cNvSpPr/>
          <p:nvPr/>
        </p:nvSpPr>
        <p:spPr>
          <a:xfrm>
            <a:off x="1956816" y="1664208"/>
            <a:ext cx="1627632" cy="365760"/>
          </a:xfrm>
          <a:prstGeom prst="rect">
            <a:avLst/>
          </a:prstGeom>
          <a:solidFill>
            <a:srgbClr val="7B5EA7"/>
          </a:solidFill>
          <a:ln w="12700">
            <a:solidFill>
              <a:srgbClr val="7B5EA7"/>
            </a:solidFill>
            <a:prstDash val="solid"/>
          </a:ln>
        </p:spPr>
      </p:sp>
      <p:sp>
        <p:nvSpPr>
          <p:cNvPr id="16" name="Text 14"/>
          <p:cNvSpPr/>
          <p:nvPr/>
        </p:nvSpPr>
        <p:spPr>
          <a:xfrm>
            <a:off x="1956816" y="1664208"/>
            <a:ext cx="1627632" cy="365760"/>
          </a:xfrm>
          <a:prstGeom prst="rect">
            <a:avLst/>
          </a:prstGeom>
          <a:noFill/>
          <a:ln/>
        </p:spPr>
        <p:txBody>
          <a:bodyPr wrap="square" rtlCol="0" anchor="ctr"/>
          <a:lstStyle/>
          <a:p>
            <a:pPr marL="0" indent="0" algn="ctr">
              <a:buNone/>
            </a:pPr>
            <a:r>
              <a:rPr lang="en-US" sz="1200" b="1" dirty="0">
                <a:solidFill>
                  <a:srgbClr val="0A1628"/>
                </a:solidFill>
              </a:rPr>
              <a:t>2</a:t>
            </a:r>
            <a:endParaRPr lang="en-US" sz="1200" dirty="0"/>
          </a:p>
        </p:txBody>
      </p:sp>
      <p:sp>
        <p:nvSpPr>
          <p:cNvPr id="17" name="Text 15"/>
          <p:cNvSpPr/>
          <p:nvPr/>
        </p:nvSpPr>
        <p:spPr>
          <a:xfrm>
            <a:off x="1956816" y="2084832"/>
            <a:ext cx="1627632" cy="50292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2029968" y="2633472"/>
            <a:ext cx="1481328" cy="621792"/>
          </a:xfrm>
          <a:prstGeom prst="rect">
            <a:avLst/>
          </a:prstGeom>
          <a:noFill/>
          <a:ln/>
        </p:spPr>
        <p:txBody>
          <a:bodyPr wrap="square" rtlCol="0" anchor="ctr"/>
          <a:lstStyle/>
          <a:p>
            <a:pPr marL="0" indent="0" algn="ctr">
              <a:buNone/>
            </a:pPr>
            <a:r>
              <a:rPr lang="en-US" sz="1050" b="1" dirty="0">
                <a:solidFill>
                  <a:srgbClr val="7B5EA7"/>
                </a:solidFill>
              </a:rPr>
              <a:t>Accio</a:t>
            </a:r>
            <a:endParaRPr lang="en-US" sz="1050" dirty="0"/>
          </a:p>
          <a:p>
            <a:pPr marL="0" indent="0" algn="ctr">
              <a:buNone/>
            </a:pPr>
            <a:r>
              <a:rPr lang="en-US" sz="1050" b="1" dirty="0">
                <a:solidFill>
                  <a:srgbClr val="7B5EA7"/>
                </a:solidFill>
              </a:rPr>
              <a:t>Generative Reports</a:t>
            </a:r>
            <a:endParaRPr lang="en-US" sz="1050" dirty="0"/>
          </a:p>
        </p:txBody>
      </p:sp>
      <p:sp>
        <p:nvSpPr>
          <p:cNvPr id="19" name="Text 17"/>
          <p:cNvSpPr/>
          <p:nvPr/>
        </p:nvSpPr>
        <p:spPr>
          <a:xfrm>
            <a:off x="2029968" y="3291840"/>
            <a:ext cx="1481328" cy="320040"/>
          </a:xfrm>
          <a:prstGeom prst="rect">
            <a:avLst/>
          </a:prstGeom>
          <a:noFill/>
          <a:ln/>
        </p:spPr>
        <p:txBody>
          <a:bodyPr wrap="square" rtlCol="0" anchor="ctr"/>
          <a:lstStyle/>
          <a:p>
            <a:pPr marL="0" indent="0" algn="ctr">
              <a:buNone/>
            </a:pPr>
            <a:r>
              <a:rPr lang="en-US" sz="950" i="1" dirty="0">
                <a:solidFill>
                  <a:srgbClr val="A0B4C8"/>
                </a:solidFill>
              </a:rPr>
              <a:t>Report Generator</a:t>
            </a:r>
            <a:endParaRPr lang="en-US" sz="950" dirty="0"/>
          </a:p>
        </p:txBody>
      </p:sp>
      <p:sp>
        <p:nvSpPr>
          <p:cNvPr id="20" name="Shape 18"/>
          <p:cNvSpPr/>
          <p:nvPr/>
        </p:nvSpPr>
        <p:spPr>
          <a:xfrm>
            <a:off x="3712464" y="1664208"/>
            <a:ext cx="1627632" cy="3246120"/>
          </a:xfrm>
          <a:prstGeom prst="rect">
            <a:avLst/>
          </a:prstGeom>
          <a:solidFill>
            <a:srgbClr val="112244"/>
          </a:solidFill>
          <a:ln w="25400">
            <a:solidFill>
              <a:srgbClr val="00E5A0"/>
            </a:solidFill>
            <a:prstDash val="solid"/>
          </a:ln>
          <a:effectLst>
            <a:outerShdw blurRad="101600" dist="38100" dir="8100000" algn="bl" rotWithShape="0">
              <a:srgbClr val="000000">
                <a:alpha val="25000"/>
              </a:srgbClr>
            </a:outerShdw>
          </a:effectLst>
        </p:spPr>
      </p:sp>
      <p:sp>
        <p:nvSpPr>
          <p:cNvPr id="21" name="Shape 19"/>
          <p:cNvSpPr/>
          <p:nvPr/>
        </p:nvSpPr>
        <p:spPr>
          <a:xfrm>
            <a:off x="3712464" y="1664208"/>
            <a:ext cx="1627632" cy="365760"/>
          </a:xfrm>
          <a:prstGeom prst="rect">
            <a:avLst/>
          </a:prstGeom>
          <a:solidFill>
            <a:srgbClr val="00E5A0"/>
          </a:solidFill>
          <a:ln w="12700">
            <a:solidFill>
              <a:srgbClr val="00E5A0"/>
            </a:solidFill>
            <a:prstDash val="solid"/>
          </a:ln>
        </p:spPr>
      </p:sp>
      <p:sp>
        <p:nvSpPr>
          <p:cNvPr id="22" name="Text 20"/>
          <p:cNvSpPr/>
          <p:nvPr/>
        </p:nvSpPr>
        <p:spPr>
          <a:xfrm>
            <a:off x="3712464" y="1664208"/>
            <a:ext cx="1627632" cy="365760"/>
          </a:xfrm>
          <a:prstGeom prst="rect">
            <a:avLst/>
          </a:prstGeom>
          <a:noFill/>
          <a:ln/>
        </p:spPr>
        <p:txBody>
          <a:bodyPr wrap="square" rtlCol="0" anchor="ctr"/>
          <a:lstStyle/>
          <a:p>
            <a:pPr marL="0" indent="0" algn="ctr">
              <a:buNone/>
            </a:pPr>
            <a:r>
              <a:rPr lang="en-US" sz="1200" b="1" dirty="0">
                <a:solidFill>
                  <a:srgbClr val="0A1628"/>
                </a:solidFill>
              </a:rPr>
              <a:t>3</a:t>
            </a:r>
            <a:endParaRPr lang="en-US" sz="1200" dirty="0"/>
          </a:p>
        </p:txBody>
      </p:sp>
      <p:sp>
        <p:nvSpPr>
          <p:cNvPr id="23" name="Text 21"/>
          <p:cNvSpPr/>
          <p:nvPr/>
        </p:nvSpPr>
        <p:spPr>
          <a:xfrm>
            <a:off x="3712464" y="2084832"/>
            <a:ext cx="1627632" cy="50292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4" name="Text 22"/>
          <p:cNvSpPr/>
          <p:nvPr/>
        </p:nvSpPr>
        <p:spPr>
          <a:xfrm>
            <a:off x="3785616" y="2633472"/>
            <a:ext cx="1481328" cy="621792"/>
          </a:xfrm>
          <a:prstGeom prst="rect">
            <a:avLst/>
          </a:prstGeom>
          <a:noFill/>
          <a:ln/>
        </p:spPr>
        <p:txBody>
          <a:bodyPr wrap="square" rtlCol="0" anchor="ctr"/>
          <a:lstStyle/>
          <a:p>
            <a:pPr marL="0" indent="0" algn="ctr">
              <a:buNone/>
            </a:pPr>
            <a:r>
              <a:rPr lang="en-US" sz="1050" b="1" dirty="0">
                <a:solidFill>
                  <a:srgbClr val="00E5A0"/>
                </a:solidFill>
              </a:rPr>
              <a:t>DesignerBot</a:t>
            </a:r>
            <a:endParaRPr lang="en-US" sz="1050" dirty="0"/>
          </a:p>
          <a:p>
            <a:pPr marL="0" indent="0" algn="ctr">
              <a:buNone/>
            </a:pPr>
            <a:r>
              <a:rPr lang="en-US" sz="1050" b="1" dirty="0">
                <a:solidFill>
                  <a:srgbClr val="00E5A0"/>
                </a:solidFill>
              </a:rPr>
              <a:t>(Beautiful.ai)</a:t>
            </a:r>
            <a:endParaRPr lang="en-US" sz="1050" dirty="0"/>
          </a:p>
        </p:txBody>
      </p:sp>
      <p:sp>
        <p:nvSpPr>
          <p:cNvPr id="25" name="Text 23"/>
          <p:cNvSpPr/>
          <p:nvPr/>
        </p:nvSpPr>
        <p:spPr>
          <a:xfrm>
            <a:off x="3785616" y="3291840"/>
            <a:ext cx="1481328" cy="320040"/>
          </a:xfrm>
          <a:prstGeom prst="rect">
            <a:avLst/>
          </a:prstGeom>
          <a:noFill/>
          <a:ln/>
        </p:spPr>
        <p:txBody>
          <a:bodyPr wrap="square" rtlCol="0" anchor="ctr"/>
          <a:lstStyle/>
          <a:p>
            <a:pPr marL="0" indent="0" algn="ctr">
              <a:buNone/>
            </a:pPr>
            <a:r>
              <a:rPr lang="en-US" sz="950" i="1" dirty="0">
                <a:solidFill>
                  <a:srgbClr val="A0B4C8"/>
                </a:solidFill>
              </a:rPr>
              <a:t>Smart Presentation</a:t>
            </a:r>
            <a:endParaRPr lang="en-US" sz="950" dirty="0"/>
          </a:p>
        </p:txBody>
      </p:sp>
      <p:sp>
        <p:nvSpPr>
          <p:cNvPr id="26" name="Shape 24"/>
          <p:cNvSpPr/>
          <p:nvPr/>
        </p:nvSpPr>
        <p:spPr>
          <a:xfrm>
            <a:off x="5468112" y="1664208"/>
            <a:ext cx="1627632" cy="3246120"/>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sp>
      <p:sp>
        <p:nvSpPr>
          <p:cNvPr id="27" name="Shape 25"/>
          <p:cNvSpPr/>
          <p:nvPr/>
        </p:nvSpPr>
        <p:spPr>
          <a:xfrm>
            <a:off x="5468112" y="1664208"/>
            <a:ext cx="1627632" cy="365760"/>
          </a:xfrm>
          <a:prstGeom prst="rect">
            <a:avLst/>
          </a:prstGeom>
          <a:solidFill>
            <a:srgbClr val="FFD166"/>
          </a:solidFill>
          <a:ln w="12700">
            <a:solidFill>
              <a:srgbClr val="FFD166"/>
            </a:solidFill>
            <a:prstDash val="solid"/>
          </a:ln>
        </p:spPr>
      </p:sp>
      <p:sp>
        <p:nvSpPr>
          <p:cNvPr id="28" name="Text 26"/>
          <p:cNvSpPr/>
          <p:nvPr/>
        </p:nvSpPr>
        <p:spPr>
          <a:xfrm>
            <a:off x="5468112" y="1664208"/>
            <a:ext cx="1627632" cy="365760"/>
          </a:xfrm>
          <a:prstGeom prst="rect">
            <a:avLst/>
          </a:prstGeom>
          <a:noFill/>
          <a:ln/>
        </p:spPr>
        <p:txBody>
          <a:bodyPr wrap="square" rtlCol="0" anchor="ctr"/>
          <a:lstStyle/>
          <a:p>
            <a:pPr marL="0" indent="0" algn="ctr">
              <a:buNone/>
            </a:pPr>
            <a:r>
              <a:rPr lang="en-US" sz="1200" b="1" dirty="0">
                <a:solidFill>
                  <a:srgbClr val="0A1628"/>
                </a:solidFill>
              </a:rPr>
              <a:t>4</a:t>
            </a:r>
            <a:endParaRPr lang="en-US" sz="1200" dirty="0"/>
          </a:p>
        </p:txBody>
      </p:sp>
      <p:sp>
        <p:nvSpPr>
          <p:cNvPr id="29" name="Text 27"/>
          <p:cNvSpPr/>
          <p:nvPr/>
        </p:nvSpPr>
        <p:spPr>
          <a:xfrm>
            <a:off x="5468112" y="2084832"/>
            <a:ext cx="1627632" cy="50292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30" name="Text 28"/>
          <p:cNvSpPr/>
          <p:nvPr/>
        </p:nvSpPr>
        <p:spPr>
          <a:xfrm>
            <a:off x="5541264" y="2633472"/>
            <a:ext cx="1481328" cy="621792"/>
          </a:xfrm>
          <a:prstGeom prst="rect">
            <a:avLst/>
          </a:prstGeom>
          <a:noFill/>
          <a:ln/>
        </p:spPr>
        <p:txBody>
          <a:bodyPr wrap="square" rtlCol="0" anchor="ctr"/>
          <a:lstStyle/>
          <a:p>
            <a:pPr marL="0" indent="0" algn="ctr">
              <a:buNone/>
            </a:pPr>
            <a:r>
              <a:rPr lang="en-US" sz="1050" b="1" dirty="0">
                <a:solidFill>
                  <a:srgbClr val="FFD166"/>
                </a:solidFill>
              </a:rPr>
              <a:t>ChatGPT</a:t>
            </a:r>
            <a:endParaRPr lang="en-US" sz="1050" dirty="0"/>
          </a:p>
          <a:p>
            <a:pPr marL="0" indent="0" algn="ctr">
              <a:buNone/>
            </a:pPr>
            <a:r>
              <a:rPr lang="en-US" sz="1050" b="1" dirty="0">
                <a:solidFill>
                  <a:srgbClr val="FFD166"/>
                </a:solidFill>
              </a:rPr>
              <a:t>(OpenAI)</a:t>
            </a:r>
            <a:endParaRPr lang="en-US" sz="1050" dirty="0"/>
          </a:p>
        </p:txBody>
      </p:sp>
      <p:sp>
        <p:nvSpPr>
          <p:cNvPr id="31" name="Text 29"/>
          <p:cNvSpPr/>
          <p:nvPr/>
        </p:nvSpPr>
        <p:spPr>
          <a:xfrm>
            <a:off x="5541264" y="3291840"/>
            <a:ext cx="1481328" cy="320040"/>
          </a:xfrm>
          <a:prstGeom prst="rect">
            <a:avLst/>
          </a:prstGeom>
          <a:noFill/>
          <a:ln/>
        </p:spPr>
        <p:txBody>
          <a:bodyPr wrap="square" rtlCol="0" anchor="ctr"/>
          <a:lstStyle/>
          <a:p>
            <a:pPr marL="0" indent="0" algn="ctr">
              <a:buNone/>
            </a:pPr>
            <a:r>
              <a:rPr lang="en-US" sz="950" i="1" dirty="0">
                <a:solidFill>
                  <a:srgbClr val="A0B4C8"/>
                </a:solidFill>
              </a:rPr>
              <a:t>Content Co-Writer</a:t>
            </a:r>
            <a:endParaRPr lang="en-US" sz="950" dirty="0"/>
          </a:p>
        </p:txBody>
      </p:sp>
      <p:sp>
        <p:nvSpPr>
          <p:cNvPr id="32" name="Shape 30"/>
          <p:cNvSpPr/>
          <p:nvPr/>
        </p:nvSpPr>
        <p:spPr>
          <a:xfrm>
            <a:off x="7223760" y="1664208"/>
            <a:ext cx="1627632" cy="3246120"/>
          </a:xfrm>
          <a:prstGeom prst="rect">
            <a:avLst/>
          </a:prstGeom>
          <a:solidFill>
            <a:srgbClr val="112244"/>
          </a:solidFill>
          <a:ln w="25400">
            <a:solidFill>
              <a:srgbClr val="FF6B6B"/>
            </a:solidFill>
            <a:prstDash val="solid"/>
          </a:ln>
          <a:effectLst>
            <a:outerShdw blurRad="101600" dist="38100" dir="8100000" algn="bl" rotWithShape="0">
              <a:srgbClr val="000000">
                <a:alpha val="25000"/>
              </a:srgbClr>
            </a:outerShdw>
          </a:effectLst>
        </p:spPr>
      </p:sp>
      <p:sp>
        <p:nvSpPr>
          <p:cNvPr id="33" name="Shape 31"/>
          <p:cNvSpPr/>
          <p:nvPr/>
        </p:nvSpPr>
        <p:spPr>
          <a:xfrm>
            <a:off x="7223760" y="1664208"/>
            <a:ext cx="1627632" cy="365760"/>
          </a:xfrm>
          <a:prstGeom prst="rect">
            <a:avLst/>
          </a:prstGeom>
          <a:solidFill>
            <a:srgbClr val="FF6B6B"/>
          </a:solidFill>
          <a:ln w="12700">
            <a:solidFill>
              <a:srgbClr val="FF6B6B"/>
            </a:solidFill>
            <a:prstDash val="solid"/>
          </a:ln>
        </p:spPr>
      </p:sp>
      <p:sp>
        <p:nvSpPr>
          <p:cNvPr id="34" name="Text 32"/>
          <p:cNvSpPr/>
          <p:nvPr/>
        </p:nvSpPr>
        <p:spPr>
          <a:xfrm>
            <a:off x="7223760" y="1664208"/>
            <a:ext cx="1627632" cy="365760"/>
          </a:xfrm>
          <a:prstGeom prst="rect">
            <a:avLst/>
          </a:prstGeom>
          <a:noFill/>
          <a:ln/>
        </p:spPr>
        <p:txBody>
          <a:bodyPr wrap="square" rtlCol="0" anchor="ctr"/>
          <a:lstStyle/>
          <a:p>
            <a:pPr marL="0" indent="0" algn="ctr">
              <a:buNone/>
            </a:pPr>
            <a:r>
              <a:rPr lang="en-US" sz="1200" b="1" dirty="0">
                <a:solidFill>
                  <a:srgbClr val="0A1628"/>
                </a:solidFill>
              </a:rPr>
              <a:t>5</a:t>
            </a:r>
            <a:endParaRPr lang="en-US" sz="1200" dirty="0"/>
          </a:p>
        </p:txBody>
      </p:sp>
      <p:sp>
        <p:nvSpPr>
          <p:cNvPr id="35" name="Text 33"/>
          <p:cNvSpPr/>
          <p:nvPr/>
        </p:nvSpPr>
        <p:spPr>
          <a:xfrm>
            <a:off x="7223760" y="2084832"/>
            <a:ext cx="1627632" cy="50292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36" name="Text 34"/>
          <p:cNvSpPr/>
          <p:nvPr/>
        </p:nvSpPr>
        <p:spPr>
          <a:xfrm>
            <a:off x="7296912" y="2633472"/>
            <a:ext cx="1481328" cy="621792"/>
          </a:xfrm>
          <a:prstGeom prst="rect">
            <a:avLst/>
          </a:prstGeom>
          <a:noFill/>
          <a:ln/>
        </p:spPr>
        <p:txBody>
          <a:bodyPr wrap="square" rtlCol="0" anchor="ctr"/>
          <a:lstStyle/>
          <a:p>
            <a:pPr marL="0" indent="0" algn="ctr">
              <a:buNone/>
            </a:pPr>
            <a:r>
              <a:rPr lang="en-US" sz="1050" b="1" dirty="0">
                <a:solidFill>
                  <a:srgbClr val="FF6B6B"/>
                </a:solidFill>
              </a:rPr>
              <a:t>Bard / Gemini</a:t>
            </a:r>
            <a:endParaRPr lang="en-US" sz="1050" dirty="0"/>
          </a:p>
          <a:p>
            <a:pPr marL="0" indent="0" algn="ctr">
              <a:buNone/>
            </a:pPr>
            <a:r>
              <a:rPr lang="en-US" sz="1050" b="1" dirty="0">
                <a:solidFill>
                  <a:srgbClr val="FF6B6B"/>
                </a:solidFill>
              </a:rPr>
              <a:t>(Google)</a:t>
            </a:r>
            <a:endParaRPr lang="en-US" sz="1050" dirty="0"/>
          </a:p>
        </p:txBody>
      </p:sp>
      <p:sp>
        <p:nvSpPr>
          <p:cNvPr id="37" name="Text 35"/>
          <p:cNvSpPr/>
          <p:nvPr/>
        </p:nvSpPr>
        <p:spPr>
          <a:xfrm>
            <a:off x="7296912" y="3291840"/>
            <a:ext cx="1481328" cy="320040"/>
          </a:xfrm>
          <a:prstGeom prst="rect">
            <a:avLst/>
          </a:prstGeom>
          <a:noFill/>
          <a:ln/>
        </p:spPr>
        <p:txBody>
          <a:bodyPr wrap="square" rtlCol="0" anchor="ctr"/>
          <a:lstStyle/>
          <a:p>
            <a:pPr marL="0" indent="0" algn="ctr">
              <a:buNone/>
            </a:pPr>
            <a:r>
              <a:rPr lang="en-US" sz="950" i="1" dirty="0">
                <a:solidFill>
                  <a:srgbClr val="A0B4C8"/>
                </a:solidFill>
              </a:rPr>
              <a:t>Multilingual AI</a:t>
            </a:r>
            <a:endParaRPr lang="en-US" sz="950" dirty="0"/>
          </a:p>
        </p:txBody>
      </p:sp>
      <p:sp>
        <p:nvSpPr>
          <p:cNvPr id="38" name="Shape 36"/>
          <p:cNvSpPr/>
          <p:nvPr/>
        </p:nvSpPr>
        <p:spPr>
          <a:xfrm>
            <a:off x="274320" y="4992624"/>
            <a:ext cx="8595360" cy="292608"/>
          </a:xfrm>
          <a:prstGeom prst="rect">
            <a:avLst/>
          </a:prstGeom>
          <a:solidFill>
            <a:srgbClr val="0F2041"/>
          </a:solidFill>
          <a:ln w="12700">
            <a:solidFill>
              <a:srgbClr val="7B5EA7"/>
            </a:solidFill>
            <a:prstDash val="solid"/>
          </a:ln>
        </p:spPr>
      </p:sp>
      <p:sp>
        <p:nvSpPr>
          <p:cNvPr id="39" name="Text 37"/>
          <p:cNvSpPr/>
          <p:nvPr/>
        </p:nvSpPr>
        <p:spPr>
          <a:xfrm>
            <a:off x="274320" y="4992624"/>
            <a:ext cx="8595360" cy="292608"/>
          </a:xfrm>
          <a:prstGeom prst="rect">
            <a:avLst/>
          </a:prstGeom>
          <a:noFill/>
          <a:ln/>
        </p:spPr>
        <p:txBody>
          <a:bodyPr wrap="square" rtlCol="0" anchor="ctr"/>
          <a:lstStyle/>
          <a:p>
            <a:pPr marL="0" indent="0" algn="ctr">
              <a:buNone/>
            </a:pPr>
            <a:r>
              <a:rPr lang="en-US" sz="1000" i="1" dirty="0">
                <a:solidFill>
                  <a:srgbClr val="A0B4C8"/>
                </a:solidFill>
              </a:rPr>
              <a:t>All 5 tools share the same goal: turn your analytical findings into a story that resonates with your audience</a:t>
            </a:r>
            <a:endParaRPr lang="en-US" sz="1000" dirty="0"/>
          </a:p>
        </p:txBody>
      </p:sp>
    </p:spTree>
    <p:extLst>
      <p:ext uri="{BB962C8B-B14F-4D97-AF65-F5344CB8AC3E}">
        <p14:creationId xmlns:p14="http://schemas.microsoft.com/office/powerpoint/2010/main" val="4693548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6 · TOOLS 1 &amp; 2</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100" b="1" dirty="0">
                <a:solidFill>
                  <a:srgbClr val="FFFFFF"/>
                </a:solidFill>
              </a:rPr>
              <a:t>Google Slides + Duet AI  &amp;  Accio Generative Reports</a:t>
            </a:r>
            <a:endParaRPr lang="en-US" sz="2100" dirty="0"/>
          </a:p>
        </p:txBody>
      </p:sp>
      <p:sp>
        <p:nvSpPr>
          <p:cNvPr id="6" name="Shape 4"/>
          <p:cNvSpPr/>
          <p:nvPr/>
        </p:nvSpPr>
        <p:spPr>
          <a:xfrm>
            <a:off x="274320" y="987552"/>
            <a:ext cx="4160520" cy="3977640"/>
          </a:xfrm>
          <a:prstGeom prst="rect">
            <a:avLst/>
          </a:prstGeom>
          <a:solidFill>
            <a:srgbClr val="112244"/>
          </a:solidFill>
          <a:ln w="25400">
            <a:solidFill>
              <a:srgbClr val="00C8FF"/>
            </a:solidFill>
            <a:prstDash val="solid"/>
          </a:ln>
          <a:effectLst>
            <a:outerShdw blurRad="101600" dist="38100" dir="8100000" algn="bl" rotWithShape="0">
              <a:srgbClr val="000000">
                <a:alpha val="25000"/>
              </a:srgbClr>
            </a:outerShdw>
          </a:effectLst>
        </p:spPr>
      </p:sp>
      <p:sp>
        <p:nvSpPr>
          <p:cNvPr id="7" name="Shape 5"/>
          <p:cNvSpPr/>
          <p:nvPr/>
        </p:nvSpPr>
        <p:spPr>
          <a:xfrm>
            <a:off x="274320" y="987552"/>
            <a:ext cx="4160520" cy="347472"/>
          </a:xfrm>
          <a:prstGeom prst="rect">
            <a:avLst/>
          </a:prstGeom>
          <a:solidFill>
            <a:srgbClr val="00C8FF"/>
          </a:solidFill>
          <a:ln w="12700">
            <a:solidFill>
              <a:srgbClr val="00C8FF"/>
            </a:solidFill>
            <a:prstDash val="solid"/>
          </a:ln>
        </p:spPr>
      </p:sp>
      <p:sp>
        <p:nvSpPr>
          <p:cNvPr id="8" name="Text 6"/>
          <p:cNvSpPr/>
          <p:nvPr/>
        </p:nvSpPr>
        <p:spPr>
          <a:xfrm>
            <a:off x="320040" y="987552"/>
            <a:ext cx="4069080" cy="347472"/>
          </a:xfrm>
          <a:prstGeom prst="rect">
            <a:avLst/>
          </a:prstGeom>
          <a:noFill/>
          <a:ln/>
        </p:spPr>
        <p:txBody>
          <a:bodyPr wrap="square" rtlCol="0" anchor="ctr"/>
          <a:lstStyle/>
          <a:p>
            <a:pPr marL="0" indent="0">
              <a:buNone/>
            </a:pPr>
            <a:r>
              <a:rPr lang="en-US" sz="1150" b="1" dirty="0">
                <a:solidFill>
                  <a:srgbClr val="0A1628"/>
                </a:solidFill>
              </a:rPr>
              <a:t>🎨  Google Slides + Duet AI</a:t>
            </a:r>
            <a:endParaRPr lang="en-US" sz="1150" dirty="0"/>
          </a:p>
        </p:txBody>
      </p:sp>
      <p:sp>
        <p:nvSpPr>
          <p:cNvPr id="9" name="Text 7"/>
          <p:cNvSpPr/>
          <p:nvPr/>
        </p:nvSpPr>
        <p:spPr>
          <a:xfrm>
            <a:off x="411480" y="1389888"/>
            <a:ext cx="3886200" cy="3474720"/>
          </a:xfrm>
          <a:prstGeom prst="rect">
            <a:avLst/>
          </a:prstGeom>
          <a:noFill/>
          <a:ln/>
        </p:spPr>
        <p:txBody>
          <a:bodyPr wrap="square" rtlCol="0" anchor="ctr"/>
          <a:lstStyle/>
          <a:p>
            <a:pPr marL="0" indent="0">
              <a:buNone/>
            </a:pPr>
            <a:r>
              <a:rPr lang="en-US" sz="1050" b="1" dirty="0">
                <a:solidFill>
                  <a:srgbClr val="00C8FF"/>
                </a:solidFill>
              </a:rPr>
              <a:t>What it does:
</a:t>
            </a:r>
            <a:r>
              <a:rPr lang="en-US" sz="1050" dirty="0">
                <a:solidFill>
                  <a:srgbClr val="E8F4FD"/>
                </a:solidFill>
              </a:rPr>
              <a:t>AI assistant built into Google Slides — generate images, create new slides, summarise decks
</a:t>
            </a:r>
            <a:r>
              <a:rPr lang="en-US" sz="1050" b="1" dirty="0">
                <a:solidFill>
                  <a:srgbClr val="00C8FF"/>
                </a:solidFill>
              </a:rPr>
              <a:t>Key features:
</a:t>
            </a:r>
            <a:r>
              <a:rPr lang="en-US" sz="1000" dirty="0">
                <a:solidFill>
                  <a:srgbClr val="E8F4FD"/>
                </a:solidFill>
              </a:rPr>
              <a:t>• Auto-generate images from text descriptions
• Create/expand slides with one command
• Summarise long presentations instantly
• Real-time team collaboration + AI suggestions
</a:t>
            </a:r>
            <a:r>
              <a:rPr lang="en-US" sz="1000" b="1" dirty="0">
                <a:solidFill>
                  <a:srgbClr val="00C8FF"/>
                </a:solidFill>
              </a:rPr>
              <a:t>Best for: </a:t>
            </a:r>
            <a:r>
              <a:rPr lang="en-US" sz="1000" i="1" dirty="0">
                <a:solidFill>
                  <a:srgbClr val="A0B4C8"/>
                </a:solidFill>
              </a:rPr>
              <a:t>Google Workspace teams wanting AI-assisted collaborative presentations</a:t>
            </a:r>
            <a:endParaRPr lang="en-US" sz="1050" dirty="0"/>
          </a:p>
        </p:txBody>
      </p:sp>
      <p:sp>
        <p:nvSpPr>
          <p:cNvPr id="10" name="Shape 8"/>
          <p:cNvSpPr/>
          <p:nvPr/>
        </p:nvSpPr>
        <p:spPr>
          <a:xfrm>
            <a:off x="4663440" y="987552"/>
            <a:ext cx="4206240" cy="3977640"/>
          </a:xfrm>
          <a:prstGeom prst="rect">
            <a:avLst/>
          </a:prstGeom>
          <a:solidFill>
            <a:srgbClr val="112244"/>
          </a:solidFill>
          <a:ln w="25400">
            <a:solidFill>
              <a:srgbClr val="7B5EA7"/>
            </a:solidFill>
            <a:prstDash val="solid"/>
          </a:ln>
          <a:effectLst>
            <a:outerShdw blurRad="101600" dist="38100" dir="8100000" algn="bl" rotWithShape="0">
              <a:srgbClr val="000000">
                <a:alpha val="25000"/>
              </a:srgbClr>
            </a:outerShdw>
          </a:effectLst>
        </p:spPr>
      </p:sp>
      <p:sp>
        <p:nvSpPr>
          <p:cNvPr id="11" name="Shape 9"/>
          <p:cNvSpPr/>
          <p:nvPr/>
        </p:nvSpPr>
        <p:spPr>
          <a:xfrm>
            <a:off x="4663440" y="987552"/>
            <a:ext cx="4206240" cy="347472"/>
          </a:xfrm>
          <a:prstGeom prst="rect">
            <a:avLst/>
          </a:prstGeom>
          <a:solidFill>
            <a:srgbClr val="7B5EA7"/>
          </a:solidFill>
          <a:ln w="12700">
            <a:solidFill>
              <a:srgbClr val="7B5EA7"/>
            </a:solidFill>
            <a:prstDash val="solid"/>
          </a:ln>
        </p:spPr>
      </p:sp>
      <p:sp>
        <p:nvSpPr>
          <p:cNvPr id="12" name="Text 10"/>
          <p:cNvSpPr/>
          <p:nvPr/>
        </p:nvSpPr>
        <p:spPr>
          <a:xfrm>
            <a:off x="4709160" y="987552"/>
            <a:ext cx="4114800" cy="347472"/>
          </a:xfrm>
          <a:prstGeom prst="rect">
            <a:avLst/>
          </a:prstGeom>
          <a:noFill/>
          <a:ln/>
        </p:spPr>
        <p:txBody>
          <a:bodyPr wrap="square" rtlCol="0" anchor="ctr"/>
          <a:lstStyle/>
          <a:p>
            <a:pPr marL="0" indent="0">
              <a:buNone/>
            </a:pPr>
            <a:r>
              <a:rPr lang="en-US" sz="1150" b="1" dirty="0">
                <a:solidFill>
                  <a:srgbClr val="FFFFFF"/>
                </a:solidFill>
              </a:rPr>
              <a:t>📊  Accio Generative Reports</a:t>
            </a:r>
            <a:endParaRPr lang="en-US" sz="1150" dirty="0"/>
          </a:p>
        </p:txBody>
      </p:sp>
      <p:sp>
        <p:nvSpPr>
          <p:cNvPr id="13" name="Text 11"/>
          <p:cNvSpPr/>
          <p:nvPr/>
        </p:nvSpPr>
        <p:spPr>
          <a:xfrm>
            <a:off x="4754880" y="1389888"/>
            <a:ext cx="3977640" cy="3474720"/>
          </a:xfrm>
          <a:prstGeom prst="rect">
            <a:avLst/>
          </a:prstGeom>
          <a:noFill/>
          <a:ln/>
        </p:spPr>
        <p:txBody>
          <a:bodyPr wrap="square" rtlCol="0" anchor="ctr"/>
          <a:lstStyle/>
          <a:p>
            <a:pPr marL="0" indent="0">
              <a:buNone/>
            </a:pPr>
            <a:r>
              <a:rPr lang="en-US" sz="1050" b="1" dirty="0">
                <a:solidFill>
                  <a:srgbClr val="7B5EA7"/>
                </a:solidFill>
              </a:rPr>
              <a:t>What it does:
</a:t>
            </a:r>
            <a:r>
              <a:rPr lang="en-US" sz="1050" dirty="0">
                <a:solidFill>
                  <a:srgbClr val="E8F4FD"/>
                </a:solidFill>
              </a:rPr>
              <a:t>Connects to LIVE data sources and auto-generates branded professional reports
</a:t>
            </a:r>
            <a:r>
              <a:rPr lang="en-US" sz="1050" b="1" dirty="0">
                <a:solidFill>
                  <a:srgbClr val="7B5EA7"/>
                </a:solidFill>
              </a:rPr>
              <a:t>Key features:
</a:t>
            </a:r>
            <a:r>
              <a:rPr lang="en-US" sz="1000" dirty="0">
                <a:solidFill>
                  <a:srgbClr val="E8F4FD"/>
                </a:solidFill>
              </a:rPr>
              <a:t>• Live data connection — no manual export
• Goal-tailored reports: marketing, revenue, leads
• Brand customisation: logo, colours, fonts
• Direct client sharing from the platform
</a:t>
            </a:r>
            <a:r>
              <a:rPr lang="en-US" sz="1000" b="1" dirty="0">
                <a:solidFill>
                  <a:srgbClr val="7B5EA7"/>
                </a:solidFill>
              </a:rPr>
              <a:t>Best for: </a:t>
            </a:r>
            <a:r>
              <a:rPr lang="en-US" sz="1000" i="1" dirty="0">
                <a:solidFill>
                  <a:srgbClr val="A0B4C8"/>
                </a:solidFill>
              </a:rPr>
              <a:t>Client-facing data teams needing recurring branded reports at scale</a:t>
            </a:r>
            <a:endParaRPr lang="en-US" sz="1050" dirty="0"/>
          </a:p>
        </p:txBody>
      </p:sp>
      <p:sp>
        <p:nvSpPr>
          <p:cNvPr id="14" name="Shape 12"/>
          <p:cNvSpPr/>
          <p:nvPr/>
        </p:nvSpPr>
        <p:spPr>
          <a:xfrm>
            <a:off x="274320" y="5029200"/>
            <a:ext cx="8595360" cy="256032"/>
          </a:xfrm>
          <a:prstGeom prst="rect">
            <a:avLst/>
          </a:prstGeom>
          <a:solidFill>
            <a:srgbClr val="0F2041"/>
          </a:solidFill>
          <a:ln w="12700">
            <a:solidFill>
              <a:srgbClr val="00C8FF"/>
            </a:solidFill>
            <a:prstDash val="solid"/>
          </a:ln>
        </p:spPr>
      </p:sp>
      <p:sp>
        <p:nvSpPr>
          <p:cNvPr id="15" name="Text 13"/>
          <p:cNvSpPr/>
          <p:nvPr/>
        </p:nvSpPr>
        <p:spPr>
          <a:xfrm>
            <a:off x="274320" y="5029200"/>
            <a:ext cx="8595360" cy="256032"/>
          </a:xfrm>
          <a:prstGeom prst="rect">
            <a:avLst/>
          </a:prstGeom>
          <a:noFill/>
          <a:ln/>
        </p:spPr>
        <p:txBody>
          <a:bodyPr wrap="square" rtlCol="0" anchor="ctr"/>
          <a:lstStyle/>
          <a:p>
            <a:pPr marL="0" indent="0" algn="ctr">
              <a:buNone/>
            </a:pPr>
            <a:r>
              <a:rPr lang="en-US" sz="950" dirty="0">
                <a:solidFill>
                  <a:srgbClr val="00C8FF"/>
                </a:solidFill>
              </a:rPr>
              <a:t>Accio killer feature: set up once, connect live data, clients receive auto-updated reports — zero manual effort per cycle</a:t>
            </a:r>
            <a:endParaRPr lang="en-US" sz="950" dirty="0"/>
          </a:p>
        </p:txBody>
      </p:sp>
    </p:spTree>
    <p:extLst>
      <p:ext uri="{BB962C8B-B14F-4D97-AF65-F5344CB8AC3E}">
        <p14:creationId xmlns:p14="http://schemas.microsoft.com/office/powerpoint/2010/main" val="10146527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6 · TOOLS 3, 4 &amp; 5</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DesignerBot, ChatGPT &amp; Bard/Gemini</a:t>
            </a:r>
            <a:endParaRPr lang="en-US" sz="2200" dirty="0"/>
          </a:p>
        </p:txBody>
      </p:sp>
      <p:sp>
        <p:nvSpPr>
          <p:cNvPr id="6" name="Shape 4"/>
          <p:cNvSpPr/>
          <p:nvPr/>
        </p:nvSpPr>
        <p:spPr>
          <a:xfrm>
            <a:off x="274320" y="987552"/>
            <a:ext cx="2761488" cy="3657600"/>
          </a:xfrm>
          <a:prstGeom prst="rect">
            <a:avLst/>
          </a:prstGeom>
          <a:solidFill>
            <a:srgbClr val="112244"/>
          </a:solidFill>
          <a:ln w="25400">
            <a:solidFill>
              <a:srgbClr val="00E5A0"/>
            </a:solidFill>
            <a:prstDash val="solid"/>
          </a:ln>
          <a:effectLst>
            <a:outerShdw blurRad="101600" dist="38100" dir="8100000" algn="bl" rotWithShape="0">
              <a:srgbClr val="000000">
                <a:alpha val="25000"/>
              </a:srgbClr>
            </a:outerShdw>
          </a:effectLst>
        </p:spPr>
      </p:sp>
      <p:sp>
        <p:nvSpPr>
          <p:cNvPr id="7" name="Shape 5"/>
          <p:cNvSpPr/>
          <p:nvPr/>
        </p:nvSpPr>
        <p:spPr>
          <a:xfrm>
            <a:off x="274320" y="987552"/>
            <a:ext cx="2761488" cy="347472"/>
          </a:xfrm>
          <a:prstGeom prst="rect">
            <a:avLst/>
          </a:prstGeom>
          <a:solidFill>
            <a:srgbClr val="00E5A0"/>
          </a:solidFill>
          <a:ln w="12700">
            <a:solidFill>
              <a:srgbClr val="00E5A0"/>
            </a:solidFill>
            <a:prstDash val="solid"/>
          </a:ln>
        </p:spPr>
      </p:sp>
      <p:sp>
        <p:nvSpPr>
          <p:cNvPr id="8" name="Text 6"/>
          <p:cNvSpPr/>
          <p:nvPr/>
        </p:nvSpPr>
        <p:spPr>
          <a:xfrm>
            <a:off x="365760" y="987552"/>
            <a:ext cx="2578608" cy="347472"/>
          </a:xfrm>
          <a:prstGeom prst="rect">
            <a:avLst/>
          </a:prstGeom>
          <a:noFill/>
          <a:ln/>
        </p:spPr>
        <p:txBody>
          <a:bodyPr wrap="square" rtlCol="0" anchor="ctr"/>
          <a:lstStyle/>
          <a:p>
            <a:pPr marL="0" indent="0">
              <a:buNone/>
            </a:pPr>
            <a:r>
              <a:rPr lang="en-US" sz="1050" b="1" dirty="0">
                <a:solidFill>
                  <a:srgbClr val="0A1628"/>
                </a:solidFill>
              </a:rPr>
              <a:t>DesignerBot (Beautiful.ai)</a:t>
            </a:r>
            <a:endParaRPr lang="en-US" sz="1050" dirty="0"/>
          </a:p>
        </p:txBody>
      </p:sp>
      <p:sp>
        <p:nvSpPr>
          <p:cNvPr id="9" name="Text 7"/>
          <p:cNvSpPr/>
          <p:nvPr/>
        </p:nvSpPr>
        <p:spPr>
          <a:xfrm>
            <a:off x="365760" y="1389888"/>
            <a:ext cx="2578608" cy="2560320"/>
          </a:xfrm>
          <a:prstGeom prst="rect">
            <a:avLst/>
          </a:prstGeom>
          <a:noFill/>
          <a:ln/>
        </p:spPr>
        <p:txBody>
          <a:bodyPr wrap="square" rtlCol="0" anchor="ctr"/>
          <a:lstStyle/>
          <a:p>
            <a:pPr marL="342900" indent="-342900">
              <a:buSzPct val="100000"/>
              <a:buChar char="•"/>
            </a:pPr>
            <a:r>
              <a:rPr lang="en-US" sz="1000" dirty="0">
                <a:solidFill>
                  <a:srgbClr val="E8F4FD"/>
                </a:solidFill>
              </a:rPr>
              <a:t>Doc/PDF/URL → designed slide deck in seconds</a:t>
            </a:r>
            <a:endParaRPr lang="en-US" sz="1000" dirty="0"/>
          </a:p>
          <a:p>
            <a:pPr marL="342900" indent="-342900">
              <a:buSzPct val="100000"/>
              <a:buChar char="•"/>
            </a:pPr>
            <a:r>
              <a:rPr lang="en-US" sz="1000" dirty="0">
                <a:solidFill>
                  <a:srgbClr val="E8F4FD"/>
                </a:solidFill>
              </a:rPr>
              <a:t>Smart templates: timelines, flowcharts, infographics</a:t>
            </a:r>
            <a:endParaRPr lang="en-US" sz="1000" dirty="0"/>
          </a:p>
          <a:p>
            <a:pPr marL="342900" indent="-342900">
              <a:buSzPct val="100000"/>
              <a:buChar char="•"/>
            </a:pPr>
            <a:r>
              <a:rPr lang="en-US" sz="1000" dirty="0">
                <a:solidFill>
                  <a:srgbClr val="E8F4FD"/>
                </a:solidFill>
              </a:rPr>
              <a:t>Tone adjustment, translation, expand/summarise</a:t>
            </a:r>
            <a:endParaRPr lang="en-US" sz="1000" dirty="0"/>
          </a:p>
          <a:p>
            <a:pPr marL="342900" indent="-342900">
              <a:buSzPct val="100000"/>
              <a:buChar char="•"/>
            </a:pPr>
            <a:r>
              <a:rPr lang="en-US" sz="1000" dirty="0">
                <a:solidFill>
                  <a:srgbClr val="E8F4FD"/>
                </a:solidFill>
              </a:rPr>
              <a:t>Killer feature: paste your written report → get a presentation skeleton in &lt;60 seconds</a:t>
            </a:r>
            <a:endParaRPr lang="en-US" sz="1000" dirty="0"/>
          </a:p>
        </p:txBody>
      </p:sp>
      <p:sp>
        <p:nvSpPr>
          <p:cNvPr id="10" name="Shape 8"/>
          <p:cNvSpPr/>
          <p:nvPr/>
        </p:nvSpPr>
        <p:spPr>
          <a:xfrm>
            <a:off x="365760" y="4005072"/>
            <a:ext cx="2578608" cy="548640"/>
          </a:xfrm>
          <a:prstGeom prst="rect">
            <a:avLst/>
          </a:prstGeom>
          <a:solidFill>
            <a:srgbClr val="0F2041"/>
          </a:solidFill>
          <a:ln w="12700">
            <a:solidFill>
              <a:srgbClr val="00E5A0"/>
            </a:solidFill>
            <a:prstDash val="solid"/>
          </a:ln>
        </p:spPr>
      </p:sp>
      <p:sp>
        <p:nvSpPr>
          <p:cNvPr id="11" name="Text 9"/>
          <p:cNvSpPr/>
          <p:nvPr/>
        </p:nvSpPr>
        <p:spPr>
          <a:xfrm>
            <a:off x="365760" y="4005072"/>
            <a:ext cx="2578608" cy="548640"/>
          </a:xfrm>
          <a:prstGeom prst="rect">
            <a:avLst/>
          </a:prstGeom>
          <a:noFill/>
          <a:ln/>
        </p:spPr>
        <p:txBody>
          <a:bodyPr wrap="square" rtlCol="0" anchor="ctr"/>
          <a:lstStyle/>
          <a:p>
            <a:pPr marL="0" indent="0">
              <a:buNone/>
            </a:pPr>
            <a:r>
              <a:rPr lang="en-US" sz="900" i="1" dirty="0">
                <a:solidFill>
                  <a:srgbClr val="00E5A0"/>
                </a:solidFill>
              </a:rPr>
              <a:t>Best for: Individual analysts who need to rapidly convert written analysis into presentations</a:t>
            </a:r>
            <a:endParaRPr lang="en-US" sz="900" dirty="0"/>
          </a:p>
        </p:txBody>
      </p:sp>
      <p:sp>
        <p:nvSpPr>
          <p:cNvPr id="12" name="Shape 10"/>
          <p:cNvSpPr/>
          <p:nvPr/>
        </p:nvSpPr>
        <p:spPr>
          <a:xfrm>
            <a:off x="3218688" y="987552"/>
            <a:ext cx="2761488" cy="3657600"/>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sp>
      <p:sp>
        <p:nvSpPr>
          <p:cNvPr id="13" name="Shape 11"/>
          <p:cNvSpPr/>
          <p:nvPr/>
        </p:nvSpPr>
        <p:spPr>
          <a:xfrm>
            <a:off x="3218688" y="987552"/>
            <a:ext cx="2761488" cy="347472"/>
          </a:xfrm>
          <a:prstGeom prst="rect">
            <a:avLst/>
          </a:prstGeom>
          <a:solidFill>
            <a:srgbClr val="FFD166"/>
          </a:solidFill>
          <a:ln w="12700">
            <a:solidFill>
              <a:srgbClr val="FFD166"/>
            </a:solidFill>
            <a:prstDash val="solid"/>
          </a:ln>
        </p:spPr>
      </p:sp>
      <p:sp>
        <p:nvSpPr>
          <p:cNvPr id="14" name="Text 12"/>
          <p:cNvSpPr/>
          <p:nvPr/>
        </p:nvSpPr>
        <p:spPr>
          <a:xfrm>
            <a:off x="3310128" y="987552"/>
            <a:ext cx="2578608" cy="347472"/>
          </a:xfrm>
          <a:prstGeom prst="rect">
            <a:avLst/>
          </a:prstGeom>
          <a:noFill/>
          <a:ln/>
        </p:spPr>
        <p:txBody>
          <a:bodyPr wrap="square" rtlCol="0" anchor="ctr"/>
          <a:lstStyle/>
          <a:p>
            <a:pPr marL="0" indent="0">
              <a:buNone/>
            </a:pPr>
            <a:r>
              <a:rPr lang="en-US" sz="1050" b="1" dirty="0">
                <a:solidFill>
                  <a:srgbClr val="0A1628"/>
                </a:solidFill>
              </a:rPr>
              <a:t>ChatGPT (OpenAI)</a:t>
            </a:r>
            <a:endParaRPr lang="en-US" sz="1050" dirty="0"/>
          </a:p>
        </p:txBody>
      </p:sp>
      <p:sp>
        <p:nvSpPr>
          <p:cNvPr id="15" name="Text 13"/>
          <p:cNvSpPr/>
          <p:nvPr/>
        </p:nvSpPr>
        <p:spPr>
          <a:xfrm>
            <a:off x="3310128" y="1389888"/>
            <a:ext cx="2578608" cy="2560320"/>
          </a:xfrm>
          <a:prstGeom prst="rect">
            <a:avLst/>
          </a:prstGeom>
          <a:noFill/>
          <a:ln/>
        </p:spPr>
        <p:txBody>
          <a:bodyPr wrap="square" rtlCol="0" anchor="ctr"/>
          <a:lstStyle/>
          <a:p>
            <a:pPr marL="342900" indent="-342900">
              <a:buSzPct val="100000"/>
              <a:buChar char="•"/>
            </a:pPr>
            <a:r>
              <a:rPr lang="en-US" sz="1000" dirty="0">
                <a:solidFill>
                  <a:srgbClr val="E8F4FD"/>
                </a:solidFill>
              </a:rPr>
              <a:t>Generate titles, bullets, transitions, conclusions</a:t>
            </a:r>
            <a:endParaRPr lang="en-US" sz="1000" dirty="0"/>
          </a:p>
          <a:p>
            <a:pPr marL="342900" indent="-342900">
              <a:buSzPct val="100000"/>
              <a:buChar char="•"/>
            </a:pPr>
            <a:r>
              <a:rPr lang="en-US" sz="1000" dirty="0">
                <a:solidFill>
                  <a:srgbClr val="E8F4FD"/>
                </a:solidFill>
              </a:rPr>
              <a:t>'Make this more compelling for a CFO audience'</a:t>
            </a:r>
            <a:endParaRPr lang="en-US" sz="1000" dirty="0"/>
          </a:p>
          <a:p>
            <a:pPr marL="342900" indent="-342900">
              <a:buSzPct val="100000"/>
              <a:buChar char="•"/>
            </a:pPr>
            <a:r>
              <a:rPr lang="en-US" sz="1000" dirty="0">
                <a:solidFill>
                  <a:srgbClr val="E8F4FD"/>
                </a:solidFill>
              </a:rPr>
              <a:t>SCQA prompt framework: Situation → Complication → Question → Answer</a:t>
            </a:r>
            <a:endParaRPr lang="en-US" sz="1000" dirty="0"/>
          </a:p>
          <a:p>
            <a:pPr marL="342900" indent="-342900">
              <a:buSzPct val="100000"/>
              <a:buChar char="•"/>
            </a:pPr>
            <a:r>
              <a:rPr lang="en-US" sz="1000" dirty="0">
                <a:solidFill>
                  <a:srgbClr val="E8F4FD"/>
                </a:solidFill>
              </a:rPr>
              <a:t>Multiple versions of same content — choose the best</a:t>
            </a:r>
            <a:endParaRPr lang="en-US" sz="1000" dirty="0"/>
          </a:p>
        </p:txBody>
      </p:sp>
      <p:sp>
        <p:nvSpPr>
          <p:cNvPr id="16" name="Shape 14"/>
          <p:cNvSpPr/>
          <p:nvPr/>
        </p:nvSpPr>
        <p:spPr>
          <a:xfrm>
            <a:off x="3310128" y="4005072"/>
            <a:ext cx="2578608" cy="548640"/>
          </a:xfrm>
          <a:prstGeom prst="rect">
            <a:avLst/>
          </a:prstGeom>
          <a:solidFill>
            <a:srgbClr val="0F2041"/>
          </a:solidFill>
          <a:ln w="12700">
            <a:solidFill>
              <a:srgbClr val="FFD166"/>
            </a:solidFill>
            <a:prstDash val="solid"/>
          </a:ln>
        </p:spPr>
      </p:sp>
      <p:sp>
        <p:nvSpPr>
          <p:cNvPr id="17" name="Text 15"/>
          <p:cNvSpPr/>
          <p:nvPr/>
        </p:nvSpPr>
        <p:spPr>
          <a:xfrm>
            <a:off x="3310128" y="4005072"/>
            <a:ext cx="2578608" cy="548640"/>
          </a:xfrm>
          <a:prstGeom prst="rect">
            <a:avLst/>
          </a:prstGeom>
          <a:noFill/>
          <a:ln/>
        </p:spPr>
        <p:txBody>
          <a:bodyPr wrap="square" rtlCol="0" anchor="ctr"/>
          <a:lstStyle/>
          <a:p>
            <a:pPr marL="0" indent="0">
              <a:buNone/>
            </a:pPr>
            <a:r>
              <a:rPr lang="en-US" sz="900" i="1" dirty="0">
                <a:solidFill>
                  <a:srgbClr val="FFD166"/>
                </a:solidFill>
              </a:rPr>
              <a:t>Best for: Any professional wanting a flexible AI co-writer for narrative structure</a:t>
            </a:r>
            <a:endParaRPr lang="en-US" sz="900" dirty="0"/>
          </a:p>
        </p:txBody>
      </p:sp>
      <p:sp>
        <p:nvSpPr>
          <p:cNvPr id="18" name="Shape 16"/>
          <p:cNvSpPr/>
          <p:nvPr/>
        </p:nvSpPr>
        <p:spPr>
          <a:xfrm>
            <a:off x="6163056" y="987552"/>
            <a:ext cx="2761488" cy="3657600"/>
          </a:xfrm>
          <a:prstGeom prst="rect">
            <a:avLst/>
          </a:prstGeom>
          <a:solidFill>
            <a:srgbClr val="112244"/>
          </a:solidFill>
          <a:ln w="25400">
            <a:solidFill>
              <a:srgbClr val="FF6B6B"/>
            </a:solidFill>
            <a:prstDash val="solid"/>
          </a:ln>
          <a:effectLst>
            <a:outerShdw blurRad="101600" dist="38100" dir="8100000" algn="bl" rotWithShape="0">
              <a:srgbClr val="000000">
                <a:alpha val="25000"/>
              </a:srgbClr>
            </a:outerShdw>
          </a:effectLst>
        </p:spPr>
      </p:sp>
      <p:sp>
        <p:nvSpPr>
          <p:cNvPr id="19" name="Shape 17"/>
          <p:cNvSpPr/>
          <p:nvPr/>
        </p:nvSpPr>
        <p:spPr>
          <a:xfrm>
            <a:off x="6163056" y="987552"/>
            <a:ext cx="2761488" cy="347472"/>
          </a:xfrm>
          <a:prstGeom prst="rect">
            <a:avLst/>
          </a:prstGeom>
          <a:solidFill>
            <a:srgbClr val="FF6B6B"/>
          </a:solidFill>
          <a:ln w="12700">
            <a:solidFill>
              <a:srgbClr val="FF6B6B"/>
            </a:solidFill>
            <a:prstDash val="solid"/>
          </a:ln>
        </p:spPr>
      </p:sp>
      <p:sp>
        <p:nvSpPr>
          <p:cNvPr id="20" name="Text 18"/>
          <p:cNvSpPr/>
          <p:nvPr/>
        </p:nvSpPr>
        <p:spPr>
          <a:xfrm>
            <a:off x="6254496" y="987552"/>
            <a:ext cx="2578608" cy="347472"/>
          </a:xfrm>
          <a:prstGeom prst="rect">
            <a:avLst/>
          </a:prstGeom>
          <a:noFill/>
          <a:ln/>
        </p:spPr>
        <p:txBody>
          <a:bodyPr wrap="square" rtlCol="0" anchor="ctr"/>
          <a:lstStyle/>
          <a:p>
            <a:pPr marL="0" indent="0">
              <a:buNone/>
            </a:pPr>
            <a:r>
              <a:rPr lang="en-US" sz="1050" b="1" dirty="0">
                <a:solidFill>
                  <a:srgbClr val="0A1628"/>
                </a:solidFill>
              </a:rPr>
              <a:t>Bard / Gemini (Google)</a:t>
            </a:r>
            <a:endParaRPr lang="en-US" sz="1050" dirty="0"/>
          </a:p>
        </p:txBody>
      </p:sp>
      <p:sp>
        <p:nvSpPr>
          <p:cNvPr id="21" name="Text 19"/>
          <p:cNvSpPr/>
          <p:nvPr/>
        </p:nvSpPr>
        <p:spPr>
          <a:xfrm>
            <a:off x="6254496" y="1389888"/>
            <a:ext cx="2578608" cy="2560320"/>
          </a:xfrm>
          <a:prstGeom prst="rect">
            <a:avLst/>
          </a:prstGeom>
          <a:noFill/>
          <a:ln/>
        </p:spPr>
        <p:txBody>
          <a:bodyPr wrap="square" rtlCol="0" anchor="ctr"/>
          <a:lstStyle/>
          <a:p>
            <a:pPr marL="342900" indent="-342900">
              <a:buSzPct val="100000"/>
              <a:buChar char="•"/>
            </a:pPr>
            <a:r>
              <a:rPr lang="en-US" sz="1000" dirty="0">
                <a:solidFill>
                  <a:srgbClr val="E8F4FD"/>
                </a:solidFill>
              </a:rPr>
              <a:t>Multi-language storytelling — 40+ languages</a:t>
            </a:r>
            <a:endParaRPr lang="en-US" sz="1000" dirty="0"/>
          </a:p>
          <a:p>
            <a:pPr marL="342900" indent="-342900">
              <a:buSzPct val="100000"/>
              <a:buChar char="•"/>
            </a:pPr>
            <a:r>
              <a:rPr lang="en-US" sz="1000" dirty="0">
                <a:solidFill>
                  <a:srgbClr val="E8F4FD"/>
                </a:solidFill>
              </a:rPr>
              <a:t>Real-time web search: contextualises data with current benchmarks</a:t>
            </a:r>
            <a:endParaRPr lang="en-US" sz="1000" dirty="0"/>
          </a:p>
          <a:p>
            <a:pPr marL="342900" indent="-342900">
              <a:buSzPct val="100000"/>
              <a:buChar char="•"/>
            </a:pPr>
            <a:r>
              <a:rPr lang="en-US" sz="1000" dirty="0">
                <a:solidFill>
                  <a:srgbClr val="E8F4FD"/>
                </a:solidFill>
              </a:rPr>
              <a:t>Works across text, data, and images simultaneously</a:t>
            </a:r>
            <a:endParaRPr lang="en-US" sz="1000" dirty="0"/>
          </a:p>
          <a:p>
            <a:pPr marL="342900" indent="-342900">
              <a:buSzPct val="100000"/>
              <a:buChar char="•"/>
            </a:pPr>
            <a:r>
              <a:rPr lang="en-US" sz="1000" dirty="0">
                <a:solidFill>
                  <a:srgbClr val="E8F4FD"/>
                </a:solidFill>
              </a:rPr>
              <a:t>'Contextualise my finding with current industry benchmarks' — pulls live data</a:t>
            </a:r>
            <a:endParaRPr lang="en-US" sz="1000" dirty="0"/>
          </a:p>
        </p:txBody>
      </p:sp>
      <p:sp>
        <p:nvSpPr>
          <p:cNvPr id="22" name="Shape 20"/>
          <p:cNvSpPr/>
          <p:nvPr/>
        </p:nvSpPr>
        <p:spPr>
          <a:xfrm>
            <a:off x="6254496" y="4005072"/>
            <a:ext cx="2578608" cy="548640"/>
          </a:xfrm>
          <a:prstGeom prst="rect">
            <a:avLst/>
          </a:prstGeom>
          <a:solidFill>
            <a:srgbClr val="0F2041"/>
          </a:solidFill>
          <a:ln w="12700">
            <a:solidFill>
              <a:srgbClr val="FF6B6B"/>
            </a:solidFill>
            <a:prstDash val="solid"/>
          </a:ln>
        </p:spPr>
      </p:sp>
      <p:sp>
        <p:nvSpPr>
          <p:cNvPr id="23" name="Text 21"/>
          <p:cNvSpPr/>
          <p:nvPr/>
        </p:nvSpPr>
        <p:spPr>
          <a:xfrm>
            <a:off x="6254496" y="4005072"/>
            <a:ext cx="2578608" cy="548640"/>
          </a:xfrm>
          <a:prstGeom prst="rect">
            <a:avLst/>
          </a:prstGeom>
          <a:noFill/>
          <a:ln/>
        </p:spPr>
        <p:txBody>
          <a:bodyPr wrap="square" rtlCol="0" anchor="ctr"/>
          <a:lstStyle/>
          <a:p>
            <a:pPr marL="0" indent="0">
              <a:buNone/>
            </a:pPr>
            <a:r>
              <a:rPr lang="en-US" sz="900" i="1" dirty="0">
                <a:solidFill>
                  <a:srgbClr val="FF6B6B"/>
                </a:solidFill>
              </a:rPr>
              <a:t>Best for: Multilingual teams and Google Workspace users needing current real-world context</a:t>
            </a:r>
            <a:endParaRPr lang="en-US" sz="900" dirty="0"/>
          </a:p>
        </p:txBody>
      </p:sp>
      <p:sp>
        <p:nvSpPr>
          <p:cNvPr id="24" name="Shape 22"/>
          <p:cNvSpPr/>
          <p:nvPr/>
        </p:nvSpPr>
        <p:spPr>
          <a:xfrm>
            <a:off x="274320" y="4709160"/>
            <a:ext cx="8595360" cy="566928"/>
          </a:xfrm>
          <a:prstGeom prst="rect">
            <a:avLst/>
          </a:prstGeom>
          <a:solidFill>
            <a:srgbClr val="0F2041"/>
          </a:solidFill>
          <a:ln w="12700">
            <a:solidFill>
              <a:srgbClr val="FFD166"/>
            </a:solidFill>
            <a:prstDash val="solid"/>
          </a:ln>
        </p:spPr>
      </p:sp>
      <p:sp>
        <p:nvSpPr>
          <p:cNvPr id="25" name="Text 23"/>
          <p:cNvSpPr/>
          <p:nvPr/>
        </p:nvSpPr>
        <p:spPr>
          <a:xfrm>
            <a:off x="457200" y="4736592"/>
            <a:ext cx="1828800" cy="256032"/>
          </a:xfrm>
          <a:prstGeom prst="rect">
            <a:avLst/>
          </a:prstGeom>
          <a:noFill/>
          <a:ln/>
        </p:spPr>
        <p:txBody>
          <a:bodyPr wrap="square" rtlCol="0" anchor="ctr"/>
          <a:lstStyle/>
          <a:p>
            <a:pPr marL="0" indent="0">
              <a:buNone/>
            </a:pPr>
            <a:r>
              <a:rPr lang="en-US" sz="1000" b="1" dirty="0">
                <a:solidFill>
                  <a:srgbClr val="FFD166"/>
                </a:solidFill>
              </a:rPr>
              <a:t>Tool Selection Guide:</a:t>
            </a:r>
            <a:endParaRPr lang="en-US" sz="1000" dirty="0"/>
          </a:p>
        </p:txBody>
      </p:sp>
      <p:sp>
        <p:nvSpPr>
          <p:cNvPr id="26" name="Text 24"/>
          <p:cNvSpPr/>
          <p:nvPr/>
        </p:nvSpPr>
        <p:spPr>
          <a:xfrm>
            <a:off x="457200" y="4992624"/>
            <a:ext cx="8229600" cy="256032"/>
          </a:xfrm>
          <a:prstGeom prst="rect">
            <a:avLst/>
          </a:prstGeom>
          <a:noFill/>
          <a:ln/>
        </p:spPr>
        <p:txBody>
          <a:bodyPr wrap="square" rtlCol="0" anchor="ctr"/>
          <a:lstStyle/>
          <a:p>
            <a:pPr marL="0" indent="0">
              <a:buNone/>
            </a:pPr>
            <a:r>
              <a:rPr lang="en-US" sz="950" dirty="0">
                <a:solidFill>
                  <a:srgbClr val="E8F4FD"/>
                </a:solidFill>
              </a:rPr>
              <a:t>Team collab → Duet AI  ·  Client reports → Accio  ·  Fast deck from doc → DesignerBot  ·  Any narrative → ChatGPT  ·  Multilingual + live context → Gemini</a:t>
            </a:r>
            <a:endParaRPr lang="en-US" sz="950" dirty="0"/>
          </a:p>
        </p:txBody>
      </p:sp>
    </p:spTree>
    <p:extLst>
      <p:ext uri="{BB962C8B-B14F-4D97-AF65-F5344CB8AC3E}">
        <p14:creationId xmlns:p14="http://schemas.microsoft.com/office/powerpoint/2010/main" val="8565729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Shape 1"/>
          <p:cNvSpPr/>
          <p:nvPr/>
        </p:nvSpPr>
        <p:spPr>
          <a:xfrm>
            <a:off x="365760" y="128016"/>
            <a:ext cx="2926080" cy="274320"/>
          </a:xfrm>
          <a:prstGeom prst="rect">
            <a:avLst/>
          </a:prstGeom>
          <a:solidFill>
            <a:srgbClr val="FFD166"/>
          </a:solidFill>
          <a:ln w="12700">
            <a:solidFill>
              <a:srgbClr val="FFD166"/>
            </a:solidFill>
            <a:prstDash val="solid"/>
          </a:ln>
        </p:spPr>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7 · KEY CONSIDERATIONS</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000" b="1" dirty="0">
                <a:solidFill>
                  <a:srgbClr val="FFFFFF"/>
                </a:solidFill>
              </a:rPr>
              <a:t>Key Considerations When Using Gen AI in Data Science</a:t>
            </a:r>
            <a:endParaRPr lang="en-US" sz="2000" dirty="0"/>
          </a:p>
        </p:txBody>
      </p:sp>
      <p:pic>
        <p:nvPicPr>
          <p:cNvPr id="6" name="Image 0" descr="preencoded.png"/>
          <p:cNvPicPr>
            <a:picLocks noChangeAspect="1"/>
          </p:cNvPicPr>
          <p:nvPr/>
        </p:nvPicPr>
        <p:blipFill>
          <a:blip r:embed="rId3"/>
          <a:stretch>
            <a:fillRect/>
          </a:stretch>
        </p:blipFill>
        <p:spPr>
          <a:xfrm>
            <a:off x="8138160" y="512064"/>
            <a:ext cx="566928" cy="566928"/>
          </a:xfrm>
          <a:prstGeom prst="rect">
            <a:avLst/>
          </a:prstGeom>
        </p:spPr>
      </p:pic>
      <p:sp>
        <p:nvSpPr>
          <p:cNvPr id="7" name="Shape 4"/>
          <p:cNvSpPr/>
          <p:nvPr/>
        </p:nvSpPr>
        <p:spPr>
          <a:xfrm>
            <a:off x="274320" y="841248"/>
            <a:ext cx="8595360" cy="658368"/>
          </a:xfrm>
          <a:prstGeom prst="rect">
            <a:avLst/>
          </a:prstGeom>
          <a:solidFill>
            <a:srgbClr val="0F2041"/>
          </a:solidFill>
          <a:ln w="19050">
            <a:solidFill>
              <a:srgbClr val="FFD166"/>
            </a:solidFill>
            <a:prstDash val="solid"/>
          </a:ln>
        </p:spPr>
      </p:sp>
      <p:sp>
        <p:nvSpPr>
          <p:cNvPr id="8" name="Text 5"/>
          <p:cNvSpPr/>
          <p:nvPr/>
        </p:nvSpPr>
        <p:spPr>
          <a:xfrm>
            <a:off x="457200" y="859536"/>
            <a:ext cx="8229600" cy="603504"/>
          </a:xfrm>
          <a:prstGeom prst="rect">
            <a:avLst/>
          </a:prstGeom>
          <a:noFill/>
          <a:ln/>
        </p:spPr>
        <p:txBody>
          <a:bodyPr wrap="square" rtlCol="0" anchor="ctr"/>
          <a:lstStyle/>
          <a:p>
            <a:pPr marL="0" indent="0">
              <a:buNone/>
            </a:pPr>
            <a:r>
              <a:rPr lang="en-US" sz="1100" b="1" dirty="0">
                <a:solidFill>
                  <a:srgbClr val="FFD166"/>
                </a:solidFill>
              </a:rPr>
              <a:t>Core Concept:</a:t>
            </a:r>
            <a:r>
              <a:rPr lang="en-US" sz="1100" dirty="0">
                <a:solidFill>
                  <a:srgbClr val="E8F4FD"/>
                </a:solidFill>
              </a:rPr>
              <a:t> Gen AI is not neutral — it reflects the quality of its data, the design of its architecture, and the values of its deployers. Professionals must evaluate three critical dimensions before trusting any Gen AI output.</a:t>
            </a:r>
            <a:endParaRPr lang="en-US" sz="1100" dirty="0"/>
          </a:p>
        </p:txBody>
      </p:sp>
      <p:sp>
        <p:nvSpPr>
          <p:cNvPr id="9" name="Shape 6"/>
          <p:cNvSpPr/>
          <p:nvPr/>
        </p:nvSpPr>
        <p:spPr>
          <a:xfrm>
            <a:off x="274320" y="1719072"/>
            <a:ext cx="2761488" cy="3154680"/>
          </a:xfrm>
          <a:prstGeom prst="rect">
            <a:avLst/>
          </a:prstGeom>
          <a:solidFill>
            <a:srgbClr val="112244"/>
          </a:solidFill>
          <a:ln w="25400">
            <a:solidFill>
              <a:srgbClr val="00C8FF"/>
            </a:solidFill>
            <a:prstDash val="solid"/>
          </a:ln>
          <a:effectLst>
            <a:outerShdw blurRad="101600" dist="38100" dir="8100000" algn="bl" rotWithShape="0">
              <a:srgbClr val="000000">
                <a:alpha val="25000"/>
              </a:srgbClr>
            </a:outerShdw>
          </a:effectLst>
        </p:spPr>
      </p:sp>
      <p:sp>
        <p:nvSpPr>
          <p:cNvPr id="10" name="Shape 7"/>
          <p:cNvSpPr/>
          <p:nvPr/>
        </p:nvSpPr>
        <p:spPr>
          <a:xfrm>
            <a:off x="274320" y="1719072"/>
            <a:ext cx="2761488" cy="36576"/>
          </a:xfrm>
          <a:prstGeom prst="rect">
            <a:avLst/>
          </a:prstGeom>
          <a:solidFill>
            <a:srgbClr val="00C8FF"/>
          </a:solidFill>
          <a:ln w="12700">
            <a:solidFill>
              <a:srgbClr val="00C8FF"/>
            </a:solidFill>
            <a:prstDash val="solid"/>
          </a:ln>
        </p:spPr>
      </p:sp>
      <p:sp>
        <p:nvSpPr>
          <p:cNvPr id="11" name="Text 8"/>
          <p:cNvSpPr/>
          <p:nvPr/>
        </p:nvSpPr>
        <p:spPr>
          <a:xfrm>
            <a:off x="365760" y="1792224"/>
            <a:ext cx="2578608" cy="347472"/>
          </a:xfrm>
          <a:prstGeom prst="rect">
            <a:avLst/>
          </a:prstGeom>
          <a:noFill/>
          <a:ln/>
        </p:spPr>
        <p:txBody>
          <a:bodyPr wrap="square" rtlCol="0" anchor="ctr"/>
          <a:lstStyle/>
          <a:p>
            <a:pPr marL="0" indent="0">
              <a:buNone/>
            </a:pPr>
            <a:r>
              <a:rPr lang="en-US" sz="1300" b="1" dirty="0">
                <a:solidFill>
                  <a:srgbClr val="00C8FF"/>
                </a:solidFill>
              </a:rPr>
              <a:t>💾  01</a:t>
            </a:r>
            <a:endParaRPr lang="en-US" sz="1300" dirty="0"/>
          </a:p>
        </p:txBody>
      </p:sp>
      <p:sp>
        <p:nvSpPr>
          <p:cNvPr id="12" name="Text 9"/>
          <p:cNvSpPr/>
          <p:nvPr/>
        </p:nvSpPr>
        <p:spPr>
          <a:xfrm>
            <a:off x="365760" y="2157984"/>
            <a:ext cx="2578608" cy="347472"/>
          </a:xfrm>
          <a:prstGeom prst="rect">
            <a:avLst/>
          </a:prstGeom>
          <a:noFill/>
          <a:ln/>
        </p:spPr>
        <p:txBody>
          <a:bodyPr wrap="square" rtlCol="0" anchor="ctr"/>
          <a:lstStyle/>
          <a:p>
            <a:pPr marL="0" indent="0">
              <a:buNone/>
            </a:pPr>
            <a:r>
              <a:rPr lang="en-US" sz="1200" b="1" dirty="0">
                <a:solidFill>
                  <a:srgbClr val="00C8FF"/>
                </a:solidFill>
              </a:rPr>
              <a:t>Data Considerations</a:t>
            </a:r>
            <a:endParaRPr lang="en-US" sz="1200" dirty="0"/>
          </a:p>
        </p:txBody>
      </p:sp>
      <p:sp>
        <p:nvSpPr>
          <p:cNvPr id="13" name="Text 10"/>
          <p:cNvSpPr/>
          <p:nvPr/>
        </p:nvSpPr>
        <p:spPr>
          <a:xfrm>
            <a:off x="365760" y="2523744"/>
            <a:ext cx="2578608" cy="256032"/>
          </a:xfrm>
          <a:prstGeom prst="rect">
            <a:avLst/>
          </a:prstGeom>
          <a:noFill/>
          <a:ln/>
        </p:spPr>
        <p:txBody>
          <a:bodyPr wrap="square" rtlCol="0" anchor="ctr"/>
          <a:lstStyle/>
          <a:p>
            <a:pPr marL="0" indent="0">
              <a:buNone/>
            </a:pPr>
            <a:r>
              <a:rPr lang="en-US" sz="950" i="1" dirty="0">
                <a:solidFill>
                  <a:srgbClr val="A0B4C8"/>
                </a:solidFill>
              </a:rPr>
              <a:t>Foundation of every model</a:t>
            </a:r>
            <a:endParaRPr lang="en-US" sz="950" dirty="0"/>
          </a:p>
        </p:txBody>
      </p:sp>
      <p:sp>
        <p:nvSpPr>
          <p:cNvPr id="14" name="Text 11"/>
          <p:cNvSpPr/>
          <p:nvPr/>
        </p:nvSpPr>
        <p:spPr>
          <a:xfrm>
            <a:off x="365760" y="2834640"/>
            <a:ext cx="2578608" cy="1938528"/>
          </a:xfrm>
          <a:prstGeom prst="rect">
            <a:avLst/>
          </a:prstGeom>
          <a:noFill/>
          <a:ln/>
        </p:spPr>
        <p:txBody>
          <a:bodyPr wrap="square" rtlCol="0" anchor="ctr"/>
          <a:lstStyle/>
          <a:p>
            <a:pPr marL="342900" indent="-342900">
              <a:buSzPct val="100000"/>
              <a:buChar char="•"/>
            </a:pPr>
            <a:r>
              <a:rPr lang="en-US" sz="1000" dirty="0">
                <a:solidFill>
                  <a:srgbClr val="E8F4FD"/>
                </a:solidFill>
              </a:rPr>
              <a:t>Training data bias = biased outputs</a:t>
            </a:r>
            <a:endParaRPr lang="en-US" sz="1000" dirty="0"/>
          </a:p>
          <a:p>
            <a:pPr marL="342900" indent="-342900">
              <a:buSzPct val="100000"/>
              <a:buChar char="•"/>
            </a:pPr>
            <a:r>
              <a:rPr lang="en-US" sz="1000" dirty="0">
                <a:solidFill>
                  <a:srgbClr val="E8F4FD"/>
                </a:solidFill>
              </a:rPr>
              <a:t>Evaluate datasets for representativeness</a:t>
            </a:r>
            <a:endParaRPr lang="en-US" sz="1000" dirty="0"/>
          </a:p>
          <a:p>
            <a:pPr marL="342900" indent="-342900">
              <a:buSzPct val="100000"/>
              <a:buChar char="•"/>
            </a:pPr>
            <a:r>
              <a:rPr lang="en-US" sz="1000" dirty="0">
                <a:solidFill>
                  <a:srgbClr val="E8F4FD"/>
                </a:solidFill>
              </a:rPr>
              <a:t>Correct imbalances before model training</a:t>
            </a:r>
            <a:endParaRPr lang="en-US" sz="1000" dirty="0"/>
          </a:p>
          <a:p>
            <a:pPr marL="342900" indent="-342900">
              <a:buSzPct val="100000"/>
              <a:buChar char="•"/>
            </a:pPr>
            <a:r>
              <a:rPr lang="en-US" sz="1000" dirty="0">
                <a:solidFill>
                  <a:srgbClr val="E8F4FD"/>
                </a:solidFill>
              </a:rPr>
              <a:t>Your model is only as fair as your data</a:t>
            </a:r>
            <a:endParaRPr lang="en-US" sz="1000" dirty="0"/>
          </a:p>
        </p:txBody>
      </p:sp>
      <p:sp>
        <p:nvSpPr>
          <p:cNvPr id="15" name="Shape 12"/>
          <p:cNvSpPr/>
          <p:nvPr/>
        </p:nvSpPr>
        <p:spPr>
          <a:xfrm>
            <a:off x="3218688" y="1719072"/>
            <a:ext cx="2761488" cy="3154680"/>
          </a:xfrm>
          <a:prstGeom prst="rect">
            <a:avLst/>
          </a:prstGeom>
          <a:solidFill>
            <a:srgbClr val="112244"/>
          </a:solidFill>
          <a:ln w="25400">
            <a:solidFill>
              <a:srgbClr val="7B5EA7"/>
            </a:solidFill>
            <a:prstDash val="solid"/>
          </a:ln>
          <a:effectLst>
            <a:outerShdw blurRad="101600" dist="38100" dir="8100000" algn="bl" rotWithShape="0">
              <a:srgbClr val="000000">
                <a:alpha val="25000"/>
              </a:srgbClr>
            </a:outerShdw>
          </a:effectLst>
        </p:spPr>
      </p:sp>
      <p:sp>
        <p:nvSpPr>
          <p:cNvPr id="16" name="Shape 13"/>
          <p:cNvSpPr/>
          <p:nvPr/>
        </p:nvSpPr>
        <p:spPr>
          <a:xfrm>
            <a:off x="3218688" y="1719072"/>
            <a:ext cx="2761488" cy="36576"/>
          </a:xfrm>
          <a:prstGeom prst="rect">
            <a:avLst/>
          </a:prstGeom>
          <a:solidFill>
            <a:srgbClr val="7B5EA7"/>
          </a:solidFill>
          <a:ln w="12700">
            <a:solidFill>
              <a:srgbClr val="7B5EA7"/>
            </a:solidFill>
            <a:prstDash val="solid"/>
          </a:ln>
        </p:spPr>
      </p:sp>
      <p:sp>
        <p:nvSpPr>
          <p:cNvPr id="17" name="Text 14"/>
          <p:cNvSpPr/>
          <p:nvPr/>
        </p:nvSpPr>
        <p:spPr>
          <a:xfrm>
            <a:off x="3310128" y="1792224"/>
            <a:ext cx="2578608" cy="347472"/>
          </a:xfrm>
          <a:prstGeom prst="rect">
            <a:avLst/>
          </a:prstGeom>
          <a:noFill/>
          <a:ln/>
        </p:spPr>
        <p:txBody>
          <a:bodyPr wrap="square" rtlCol="0" anchor="ctr"/>
          <a:lstStyle/>
          <a:p>
            <a:pPr marL="0" indent="0">
              <a:buNone/>
            </a:pPr>
            <a:r>
              <a:rPr lang="en-US" sz="1300" b="1" dirty="0">
                <a:solidFill>
                  <a:srgbClr val="7B5EA7"/>
                </a:solidFill>
              </a:rPr>
              <a:t>⚙️  02</a:t>
            </a:r>
            <a:endParaRPr lang="en-US" sz="1300" dirty="0"/>
          </a:p>
        </p:txBody>
      </p:sp>
      <p:sp>
        <p:nvSpPr>
          <p:cNvPr id="18" name="Text 15"/>
          <p:cNvSpPr/>
          <p:nvPr/>
        </p:nvSpPr>
        <p:spPr>
          <a:xfrm>
            <a:off x="3310128" y="2157984"/>
            <a:ext cx="2578608" cy="347472"/>
          </a:xfrm>
          <a:prstGeom prst="rect">
            <a:avLst/>
          </a:prstGeom>
          <a:noFill/>
          <a:ln/>
        </p:spPr>
        <p:txBody>
          <a:bodyPr wrap="square" rtlCol="0" anchor="ctr"/>
          <a:lstStyle/>
          <a:p>
            <a:pPr marL="0" indent="0">
              <a:buNone/>
            </a:pPr>
            <a:r>
              <a:rPr lang="en-US" sz="1200" b="1" dirty="0">
                <a:solidFill>
                  <a:srgbClr val="7B5EA7"/>
                </a:solidFill>
              </a:rPr>
              <a:t>Model Considerations</a:t>
            </a:r>
            <a:endParaRPr lang="en-US" sz="1200" dirty="0"/>
          </a:p>
        </p:txBody>
      </p:sp>
      <p:sp>
        <p:nvSpPr>
          <p:cNvPr id="19" name="Text 16"/>
          <p:cNvSpPr/>
          <p:nvPr/>
        </p:nvSpPr>
        <p:spPr>
          <a:xfrm>
            <a:off x="3310128" y="2523744"/>
            <a:ext cx="2578608" cy="256032"/>
          </a:xfrm>
          <a:prstGeom prst="rect">
            <a:avLst/>
          </a:prstGeom>
          <a:noFill/>
          <a:ln/>
        </p:spPr>
        <p:txBody>
          <a:bodyPr wrap="square" rtlCol="0" anchor="ctr"/>
          <a:lstStyle/>
          <a:p>
            <a:pPr marL="0" indent="0">
              <a:buNone/>
            </a:pPr>
            <a:r>
              <a:rPr lang="en-US" sz="950" i="1" dirty="0">
                <a:solidFill>
                  <a:srgbClr val="A0B4C8"/>
                </a:solidFill>
              </a:rPr>
              <a:t>Design &amp; explainability</a:t>
            </a:r>
            <a:endParaRPr lang="en-US" sz="950" dirty="0"/>
          </a:p>
        </p:txBody>
      </p:sp>
      <p:sp>
        <p:nvSpPr>
          <p:cNvPr id="20" name="Text 17"/>
          <p:cNvSpPr/>
          <p:nvPr/>
        </p:nvSpPr>
        <p:spPr>
          <a:xfrm>
            <a:off x="3310128" y="2834640"/>
            <a:ext cx="2578608" cy="1938528"/>
          </a:xfrm>
          <a:prstGeom prst="rect">
            <a:avLst/>
          </a:prstGeom>
          <a:noFill/>
          <a:ln/>
        </p:spPr>
        <p:txBody>
          <a:bodyPr wrap="square" rtlCol="0" anchor="ctr"/>
          <a:lstStyle/>
          <a:p>
            <a:pPr marL="342900" indent="-342900">
              <a:buSzPct val="100000"/>
              <a:buChar char="•"/>
            </a:pPr>
            <a:r>
              <a:rPr lang="en-US" sz="1000" dirty="0">
                <a:solidFill>
                  <a:srgbClr val="E8F4FD"/>
                </a:solidFill>
              </a:rPr>
              <a:t>Explainability: WHY did it output this?</a:t>
            </a:r>
            <a:endParaRPr lang="en-US" sz="1000" dirty="0"/>
          </a:p>
          <a:p>
            <a:pPr marL="342900" indent="-342900">
              <a:buSzPct val="100000"/>
              <a:buChar char="•"/>
            </a:pPr>
            <a:r>
              <a:rPr lang="en-US" sz="1000" dirty="0">
                <a:solidFill>
                  <a:srgbClr val="E8F4FD"/>
                </a:solidFill>
              </a:rPr>
              <a:t>Interpretability: does the pattern make sense?</a:t>
            </a:r>
            <a:endParaRPr lang="en-US" sz="1000" dirty="0"/>
          </a:p>
          <a:p>
            <a:pPr marL="342900" indent="-342900">
              <a:buSzPct val="100000"/>
              <a:buChar char="•"/>
            </a:pPr>
            <a:r>
              <a:rPr lang="en-US" sz="1000" dirty="0">
                <a:solidFill>
                  <a:srgbClr val="E8F4FD"/>
                </a:solidFill>
              </a:rPr>
              <a:t>Feature attribution maps for transparency</a:t>
            </a:r>
            <a:endParaRPr lang="en-US" sz="1000" dirty="0"/>
          </a:p>
          <a:p>
            <a:pPr marL="342900" indent="-342900">
              <a:buSzPct val="100000"/>
              <a:buChar char="•"/>
            </a:pPr>
            <a:r>
              <a:rPr lang="en-US" sz="1000" dirty="0">
                <a:solidFill>
                  <a:srgbClr val="E8F4FD"/>
                </a:solidFill>
              </a:rPr>
              <a:t>Partial dependence plots for model auditing</a:t>
            </a:r>
            <a:endParaRPr lang="en-US" sz="1000" dirty="0"/>
          </a:p>
        </p:txBody>
      </p:sp>
      <p:sp>
        <p:nvSpPr>
          <p:cNvPr id="21" name="Shape 18"/>
          <p:cNvSpPr/>
          <p:nvPr/>
        </p:nvSpPr>
        <p:spPr>
          <a:xfrm>
            <a:off x="6163056" y="1719072"/>
            <a:ext cx="2761488" cy="3154680"/>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sp>
      <p:sp>
        <p:nvSpPr>
          <p:cNvPr id="22" name="Shape 19"/>
          <p:cNvSpPr/>
          <p:nvPr/>
        </p:nvSpPr>
        <p:spPr>
          <a:xfrm>
            <a:off x="6163056" y="1719072"/>
            <a:ext cx="2761488" cy="36576"/>
          </a:xfrm>
          <a:prstGeom prst="rect">
            <a:avLst/>
          </a:prstGeom>
          <a:solidFill>
            <a:srgbClr val="FFD166"/>
          </a:solidFill>
          <a:ln w="12700">
            <a:solidFill>
              <a:srgbClr val="FFD166"/>
            </a:solidFill>
            <a:prstDash val="solid"/>
          </a:ln>
        </p:spPr>
      </p:sp>
      <p:sp>
        <p:nvSpPr>
          <p:cNvPr id="23" name="Text 20"/>
          <p:cNvSpPr/>
          <p:nvPr/>
        </p:nvSpPr>
        <p:spPr>
          <a:xfrm>
            <a:off x="6254496" y="1792224"/>
            <a:ext cx="2578608" cy="347472"/>
          </a:xfrm>
          <a:prstGeom prst="rect">
            <a:avLst/>
          </a:prstGeom>
          <a:noFill/>
          <a:ln/>
        </p:spPr>
        <p:txBody>
          <a:bodyPr wrap="square" rtlCol="0" anchor="ctr"/>
          <a:lstStyle/>
          <a:p>
            <a:pPr marL="0" indent="0">
              <a:buNone/>
            </a:pPr>
            <a:r>
              <a:rPr lang="en-US" sz="1300" b="1" dirty="0">
                <a:solidFill>
                  <a:srgbClr val="FFD166"/>
                </a:solidFill>
              </a:rPr>
              <a:t>⚖️  03</a:t>
            </a:r>
            <a:endParaRPr lang="en-US" sz="1300" dirty="0"/>
          </a:p>
        </p:txBody>
      </p:sp>
      <p:sp>
        <p:nvSpPr>
          <p:cNvPr id="24" name="Text 21"/>
          <p:cNvSpPr/>
          <p:nvPr/>
        </p:nvSpPr>
        <p:spPr>
          <a:xfrm>
            <a:off x="6254496" y="2157984"/>
            <a:ext cx="2578608" cy="347472"/>
          </a:xfrm>
          <a:prstGeom prst="rect">
            <a:avLst/>
          </a:prstGeom>
          <a:noFill/>
          <a:ln/>
        </p:spPr>
        <p:txBody>
          <a:bodyPr wrap="square" rtlCol="0" anchor="ctr"/>
          <a:lstStyle/>
          <a:p>
            <a:pPr marL="0" indent="0">
              <a:buNone/>
            </a:pPr>
            <a:r>
              <a:rPr lang="en-US" sz="1200" b="1" dirty="0">
                <a:solidFill>
                  <a:srgbClr val="FFD166"/>
                </a:solidFill>
              </a:rPr>
              <a:t>Ethical Considerations</a:t>
            </a:r>
            <a:endParaRPr lang="en-US" sz="1200" dirty="0"/>
          </a:p>
        </p:txBody>
      </p:sp>
      <p:sp>
        <p:nvSpPr>
          <p:cNvPr id="25" name="Text 22"/>
          <p:cNvSpPr/>
          <p:nvPr/>
        </p:nvSpPr>
        <p:spPr>
          <a:xfrm>
            <a:off x="6254496" y="2523744"/>
            <a:ext cx="2578608" cy="256032"/>
          </a:xfrm>
          <a:prstGeom prst="rect">
            <a:avLst/>
          </a:prstGeom>
          <a:noFill/>
          <a:ln/>
        </p:spPr>
        <p:txBody>
          <a:bodyPr wrap="square" rtlCol="0" anchor="ctr"/>
          <a:lstStyle/>
          <a:p>
            <a:pPr marL="0" indent="0">
              <a:buNone/>
            </a:pPr>
            <a:r>
              <a:rPr lang="en-US" sz="950" i="1" dirty="0">
                <a:solidFill>
                  <a:srgbClr val="A0B4C8"/>
                </a:solidFill>
              </a:rPr>
              <a:t>Responsible deployment</a:t>
            </a:r>
            <a:endParaRPr lang="en-US" sz="950" dirty="0"/>
          </a:p>
        </p:txBody>
      </p:sp>
      <p:sp>
        <p:nvSpPr>
          <p:cNvPr id="26" name="Text 23"/>
          <p:cNvSpPr/>
          <p:nvPr/>
        </p:nvSpPr>
        <p:spPr>
          <a:xfrm>
            <a:off x="6254496" y="2834640"/>
            <a:ext cx="2578608" cy="1938528"/>
          </a:xfrm>
          <a:prstGeom prst="rect">
            <a:avLst/>
          </a:prstGeom>
          <a:noFill/>
          <a:ln/>
        </p:spPr>
        <p:txBody>
          <a:bodyPr wrap="square" rtlCol="0" anchor="ctr"/>
          <a:lstStyle/>
          <a:p>
            <a:pPr marL="342900" indent="-342900">
              <a:buSzPct val="100000"/>
              <a:buChar char="•"/>
            </a:pPr>
            <a:r>
              <a:rPr lang="en-US" sz="1000" dirty="0">
                <a:solidFill>
                  <a:srgbClr val="E8F4FD"/>
                </a:solidFill>
              </a:rPr>
              <a:t>Fairness: no discrimination by design</a:t>
            </a:r>
            <a:endParaRPr lang="en-US" sz="1000" dirty="0"/>
          </a:p>
          <a:p>
            <a:pPr marL="342900" indent="-342900">
              <a:buSzPct val="100000"/>
              <a:buChar char="•"/>
            </a:pPr>
            <a:r>
              <a:rPr lang="en-US" sz="1000" dirty="0">
                <a:solidFill>
                  <a:srgbClr val="E8F4FD"/>
                </a:solidFill>
              </a:rPr>
              <a:t>Transparency: document training + limits</a:t>
            </a:r>
            <a:endParaRPr lang="en-US" sz="1000" dirty="0"/>
          </a:p>
          <a:p>
            <a:pPr marL="342900" indent="-342900">
              <a:buSzPct val="100000"/>
              <a:buChar char="•"/>
            </a:pPr>
            <a:r>
              <a:rPr lang="en-US" sz="1000" dirty="0">
                <a:solidFill>
                  <a:srgbClr val="E8F4FD"/>
                </a:solidFill>
              </a:rPr>
              <a:t>Informed consent: users must know</a:t>
            </a:r>
            <a:endParaRPr lang="en-US" sz="1000" dirty="0"/>
          </a:p>
          <a:p>
            <a:pPr marL="342900" indent="-342900">
              <a:buSzPct val="100000"/>
              <a:buChar char="•"/>
            </a:pPr>
            <a:r>
              <a:rPr lang="en-US" sz="1000" dirty="0">
                <a:solidFill>
                  <a:srgbClr val="E8F4FD"/>
                </a:solidFill>
              </a:rPr>
              <a:t>Accountability: clear ownership + audit trails</a:t>
            </a:r>
            <a:endParaRPr lang="en-US" sz="1000" dirty="0"/>
          </a:p>
        </p:txBody>
      </p:sp>
    </p:spTree>
    <p:extLst>
      <p:ext uri="{BB962C8B-B14F-4D97-AF65-F5344CB8AC3E}">
        <p14:creationId xmlns:p14="http://schemas.microsoft.com/office/powerpoint/2010/main" val="3124679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Shape 1"/>
          <p:cNvSpPr/>
          <p:nvPr/>
        </p:nvSpPr>
        <p:spPr>
          <a:xfrm>
            <a:off x="365760" y="128016"/>
            <a:ext cx="2926080" cy="274320"/>
          </a:xfrm>
          <a:prstGeom prst="rect">
            <a:avLst/>
          </a:prstGeom>
          <a:solidFill>
            <a:srgbClr val="00C8FF"/>
          </a:solidFill>
          <a:ln w="12700">
            <a:solidFill>
              <a:srgbClr val="00C8FF"/>
            </a:solidFill>
            <a:prstDash val="solid"/>
          </a:ln>
        </p:spPr>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7 · DATA CONSIDERATIONS</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Dimension 1: Data Considerations</a:t>
            </a:r>
            <a:endParaRPr lang="en-US" sz="2200" dirty="0"/>
          </a:p>
        </p:txBody>
      </p:sp>
      <p:sp>
        <p:nvSpPr>
          <p:cNvPr id="6" name="Shape 4"/>
          <p:cNvSpPr/>
          <p:nvPr/>
        </p:nvSpPr>
        <p:spPr>
          <a:xfrm>
            <a:off x="274320" y="841248"/>
            <a:ext cx="8595360" cy="658368"/>
          </a:xfrm>
          <a:prstGeom prst="rect">
            <a:avLst/>
          </a:prstGeom>
          <a:solidFill>
            <a:srgbClr val="0F2041"/>
          </a:solidFill>
          <a:ln w="19050">
            <a:solidFill>
              <a:srgbClr val="00C8FF"/>
            </a:solidFill>
            <a:prstDash val="solid"/>
          </a:ln>
        </p:spPr>
      </p:sp>
      <p:sp>
        <p:nvSpPr>
          <p:cNvPr id="7" name="Text 5"/>
          <p:cNvSpPr/>
          <p:nvPr/>
        </p:nvSpPr>
        <p:spPr>
          <a:xfrm>
            <a:off x="457200" y="859536"/>
            <a:ext cx="8229600" cy="603504"/>
          </a:xfrm>
          <a:prstGeom prst="rect">
            <a:avLst/>
          </a:prstGeom>
          <a:noFill/>
          <a:ln/>
        </p:spPr>
        <p:txBody>
          <a:bodyPr wrap="square" rtlCol="0" anchor="ctr"/>
          <a:lstStyle/>
          <a:p>
            <a:pPr marL="0" indent="0">
              <a:buNone/>
            </a:pPr>
            <a:r>
              <a:rPr lang="en-US" sz="1100" b="1" dirty="0">
                <a:solidFill>
                  <a:srgbClr val="00C8FF"/>
                </a:solidFill>
              </a:rPr>
              <a:t>Foundation Principle:</a:t>
            </a:r>
            <a:r>
              <a:rPr lang="en-US" sz="1100" dirty="0">
                <a:solidFill>
                  <a:srgbClr val="E8F4FD"/>
                </a:solidFill>
              </a:rPr>
              <a:t> The performance, fairness, and reliability of Gen AI models are directly tied to the integrity of the input data. Garbage in = garbage out — but with AI, biased in = discriminatory out.</a:t>
            </a:r>
            <a:endParaRPr lang="en-US" sz="1100" dirty="0"/>
          </a:p>
        </p:txBody>
      </p:sp>
      <p:sp>
        <p:nvSpPr>
          <p:cNvPr id="8" name="Shape 6"/>
          <p:cNvSpPr/>
          <p:nvPr/>
        </p:nvSpPr>
        <p:spPr>
          <a:xfrm>
            <a:off x="274320" y="1627632"/>
            <a:ext cx="4160520" cy="3246120"/>
          </a:xfrm>
          <a:prstGeom prst="rect">
            <a:avLst/>
          </a:prstGeom>
          <a:solidFill>
            <a:srgbClr val="112244"/>
          </a:solidFill>
          <a:ln w="25400">
            <a:solidFill>
              <a:srgbClr val="00C8FF"/>
            </a:solidFill>
            <a:prstDash val="solid"/>
          </a:ln>
          <a:effectLst>
            <a:outerShdw blurRad="101600" dist="38100" dir="8100000" algn="bl" rotWithShape="0">
              <a:srgbClr val="000000">
                <a:alpha val="25000"/>
              </a:srgbClr>
            </a:outerShdw>
          </a:effectLst>
        </p:spPr>
      </p:sp>
      <p:sp>
        <p:nvSpPr>
          <p:cNvPr id="9" name="Shape 7"/>
          <p:cNvSpPr/>
          <p:nvPr/>
        </p:nvSpPr>
        <p:spPr>
          <a:xfrm>
            <a:off x="274320" y="1627632"/>
            <a:ext cx="4160520" cy="347472"/>
          </a:xfrm>
          <a:prstGeom prst="rect">
            <a:avLst/>
          </a:prstGeom>
          <a:solidFill>
            <a:srgbClr val="00C8FF"/>
          </a:solidFill>
          <a:ln w="12700">
            <a:solidFill>
              <a:srgbClr val="00C8FF"/>
            </a:solidFill>
            <a:prstDash val="solid"/>
          </a:ln>
        </p:spPr>
      </p:sp>
      <p:sp>
        <p:nvSpPr>
          <p:cNvPr id="10" name="Text 8"/>
          <p:cNvSpPr/>
          <p:nvPr/>
        </p:nvSpPr>
        <p:spPr>
          <a:xfrm>
            <a:off x="320040" y="1627632"/>
            <a:ext cx="4069080" cy="347472"/>
          </a:xfrm>
          <a:prstGeom prst="rect">
            <a:avLst/>
          </a:prstGeom>
          <a:noFill/>
          <a:ln/>
        </p:spPr>
        <p:txBody>
          <a:bodyPr wrap="square" rtlCol="0" anchor="ctr"/>
          <a:lstStyle/>
          <a:p>
            <a:pPr marL="0" indent="0">
              <a:buNone/>
            </a:pPr>
            <a:r>
              <a:rPr lang="en-US" sz="1200" b="1" dirty="0">
                <a:solidFill>
                  <a:srgbClr val="0A1628"/>
                </a:solidFill>
              </a:rPr>
              <a:t>Real Bias Examples</a:t>
            </a:r>
            <a:endParaRPr lang="en-US" sz="1200" dirty="0"/>
          </a:p>
        </p:txBody>
      </p:sp>
      <p:sp>
        <p:nvSpPr>
          <p:cNvPr id="11" name="Text 9"/>
          <p:cNvSpPr/>
          <p:nvPr/>
        </p:nvSpPr>
        <p:spPr>
          <a:xfrm>
            <a:off x="411480" y="2029968"/>
            <a:ext cx="3886200" cy="2743200"/>
          </a:xfrm>
          <a:prstGeom prst="rect">
            <a:avLst/>
          </a:prstGeom>
          <a:noFill/>
          <a:ln/>
        </p:spPr>
        <p:txBody>
          <a:bodyPr wrap="square" rtlCol="0" anchor="ctr"/>
          <a:lstStyle/>
          <a:p>
            <a:pPr marL="0" indent="0">
              <a:buNone/>
            </a:pPr>
            <a:r>
              <a:rPr lang="en-US" sz="1050" b="1" dirty="0">
                <a:solidFill>
                  <a:srgbClr val="00C8FF"/>
                </a:solidFill>
              </a:rPr>
              <a:t>Amazon Hiring AI (2018)
</a:t>
            </a:r>
            <a:r>
              <a:rPr lang="en-US" sz="1000" dirty="0">
                <a:solidFill>
                  <a:srgbClr val="E8F4FD"/>
                </a:solidFill>
              </a:rPr>
              <a:t>Trained on male-dominated CVs. Penalised CVs with word 'women's'. Scrapped after discovery.
</a:t>
            </a:r>
            <a:r>
              <a:rPr lang="en-US" sz="1050" b="1" dirty="0">
                <a:solidFill>
                  <a:srgbClr val="00C8FF"/>
                </a:solidFill>
              </a:rPr>
              <a:t>COMPAS Algorithm (USA Courts)
</a:t>
            </a:r>
            <a:r>
              <a:rPr lang="en-US" sz="1000" dirty="0">
                <a:solidFill>
                  <a:srgbClr val="E8F4FD"/>
                </a:solidFill>
              </a:rPr>
              <a:t>Predicted reoffending risk. Falsely flagged Black defendants at 2x the rate of white defendants.
</a:t>
            </a:r>
            <a:r>
              <a:rPr lang="en-US" sz="1050" b="1" dirty="0">
                <a:solidFill>
                  <a:srgbClr val="00C8FF"/>
                </a:solidFill>
              </a:rPr>
              <a:t>Healthcare AI
</a:t>
            </a:r>
            <a:r>
              <a:rPr lang="en-US" sz="1000" dirty="0">
                <a:solidFill>
                  <a:srgbClr val="E8F4FD"/>
                </a:solidFill>
              </a:rPr>
              <a:t>Models trained on Western patient data under-diagnose South Asian and African patients.</a:t>
            </a:r>
            <a:endParaRPr lang="en-US" sz="1050" dirty="0"/>
          </a:p>
        </p:txBody>
      </p:sp>
      <p:sp>
        <p:nvSpPr>
          <p:cNvPr id="12" name="Shape 10"/>
          <p:cNvSpPr/>
          <p:nvPr/>
        </p:nvSpPr>
        <p:spPr>
          <a:xfrm>
            <a:off x="4663440" y="1627632"/>
            <a:ext cx="4206240" cy="3246120"/>
          </a:xfrm>
          <a:prstGeom prst="rect">
            <a:avLst/>
          </a:prstGeom>
          <a:solidFill>
            <a:srgbClr val="112244"/>
          </a:solidFill>
          <a:ln w="25400">
            <a:solidFill>
              <a:srgbClr val="00E5A0"/>
            </a:solidFill>
            <a:prstDash val="solid"/>
          </a:ln>
          <a:effectLst>
            <a:outerShdw blurRad="101600" dist="38100" dir="8100000" algn="bl" rotWithShape="0">
              <a:srgbClr val="000000">
                <a:alpha val="25000"/>
              </a:srgbClr>
            </a:outerShdw>
          </a:effectLst>
        </p:spPr>
      </p:sp>
      <p:sp>
        <p:nvSpPr>
          <p:cNvPr id="13" name="Shape 11"/>
          <p:cNvSpPr/>
          <p:nvPr/>
        </p:nvSpPr>
        <p:spPr>
          <a:xfrm>
            <a:off x="4663440" y="1627632"/>
            <a:ext cx="4206240" cy="347472"/>
          </a:xfrm>
          <a:prstGeom prst="rect">
            <a:avLst/>
          </a:prstGeom>
          <a:solidFill>
            <a:srgbClr val="00E5A0"/>
          </a:solidFill>
          <a:ln w="12700">
            <a:solidFill>
              <a:srgbClr val="00E5A0"/>
            </a:solidFill>
            <a:prstDash val="solid"/>
          </a:ln>
        </p:spPr>
      </p:sp>
      <p:sp>
        <p:nvSpPr>
          <p:cNvPr id="14" name="Text 12"/>
          <p:cNvSpPr/>
          <p:nvPr/>
        </p:nvSpPr>
        <p:spPr>
          <a:xfrm>
            <a:off x="4709160" y="1627632"/>
            <a:ext cx="4114800" cy="347472"/>
          </a:xfrm>
          <a:prstGeom prst="rect">
            <a:avLst/>
          </a:prstGeom>
          <a:noFill/>
          <a:ln/>
        </p:spPr>
        <p:txBody>
          <a:bodyPr wrap="square" rtlCol="0" anchor="ctr"/>
          <a:lstStyle/>
          <a:p>
            <a:pPr marL="0" indent="0">
              <a:buNone/>
            </a:pPr>
            <a:r>
              <a:rPr lang="en-US" sz="1200" b="1" dirty="0">
                <a:solidFill>
                  <a:srgbClr val="0A1628"/>
                </a:solidFill>
              </a:rPr>
              <a:t>Data Evaluation Checklist</a:t>
            </a:r>
            <a:endParaRPr lang="en-US" sz="1200" dirty="0"/>
          </a:p>
        </p:txBody>
      </p:sp>
      <p:sp>
        <p:nvSpPr>
          <p:cNvPr id="15" name="Shape 13"/>
          <p:cNvSpPr/>
          <p:nvPr/>
        </p:nvSpPr>
        <p:spPr>
          <a:xfrm>
            <a:off x="4754880" y="2029968"/>
            <a:ext cx="4023360" cy="512064"/>
          </a:xfrm>
          <a:prstGeom prst="rect">
            <a:avLst/>
          </a:prstGeom>
          <a:solidFill>
            <a:srgbClr val="0A1628"/>
          </a:solidFill>
          <a:ln w="12700">
            <a:solidFill>
              <a:srgbClr val="0F2041"/>
            </a:solidFill>
            <a:prstDash val="solid"/>
          </a:ln>
        </p:spPr>
      </p:sp>
      <p:sp>
        <p:nvSpPr>
          <p:cNvPr id="16" name="Text 14"/>
          <p:cNvSpPr/>
          <p:nvPr/>
        </p:nvSpPr>
        <p:spPr>
          <a:xfrm>
            <a:off x="4846320" y="2029968"/>
            <a:ext cx="1554480" cy="512064"/>
          </a:xfrm>
          <a:prstGeom prst="rect">
            <a:avLst/>
          </a:prstGeom>
          <a:noFill/>
          <a:ln/>
        </p:spPr>
        <p:txBody>
          <a:bodyPr wrap="square" rtlCol="0" anchor="ctr"/>
          <a:lstStyle/>
          <a:p>
            <a:pPr marL="0" indent="0">
              <a:buNone/>
            </a:pPr>
            <a:r>
              <a:rPr lang="en-US" sz="1000" b="1" dirty="0">
                <a:solidFill>
                  <a:srgbClr val="00E5A0"/>
                </a:solidFill>
              </a:rPr>
              <a:t>Representativeness</a:t>
            </a:r>
            <a:endParaRPr lang="en-US" sz="1000" dirty="0"/>
          </a:p>
        </p:txBody>
      </p:sp>
      <p:sp>
        <p:nvSpPr>
          <p:cNvPr id="17" name="Text 15"/>
          <p:cNvSpPr/>
          <p:nvPr/>
        </p:nvSpPr>
        <p:spPr>
          <a:xfrm>
            <a:off x="6473952" y="2029968"/>
            <a:ext cx="2231136" cy="512064"/>
          </a:xfrm>
          <a:prstGeom prst="rect">
            <a:avLst/>
          </a:prstGeom>
          <a:noFill/>
          <a:ln/>
        </p:spPr>
        <p:txBody>
          <a:bodyPr wrap="square" rtlCol="0" anchor="ctr"/>
          <a:lstStyle/>
          <a:p>
            <a:pPr marL="0" indent="0">
              <a:buNone/>
            </a:pPr>
            <a:r>
              <a:rPr lang="en-US" sz="1000" dirty="0">
                <a:solidFill>
                  <a:srgbClr val="E8F4FD"/>
                </a:solidFill>
              </a:rPr>
              <a:t>Does data reflect real-world population?</a:t>
            </a:r>
            <a:endParaRPr lang="en-US" sz="1000" dirty="0"/>
          </a:p>
        </p:txBody>
      </p:sp>
      <p:sp>
        <p:nvSpPr>
          <p:cNvPr id="18" name="Shape 16"/>
          <p:cNvSpPr/>
          <p:nvPr/>
        </p:nvSpPr>
        <p:spPr>
          <a:xfrm>
            <a:off x="4754880" y="2596896"/>
            <a:ext cx="4023360" cy="512064"/>
          </a:xfrm>
          <a:prstGeom prst="rect">
            <a:avLst/>
          </a:prstGeom>
          <a:solidFill>
            <a:srgbClr val="0F2041"/>
          </a:solidFill>
          <a:ln w="12700">
            <a:solidFill>
              <a:srgbClr val="0F2041"/>
            </a:solidFill>
            <a:prstDash val="solid"/>
          </a:ln>
        </p:spPr>
      </p:sp>
      <p:sp>
        <p:nvSpPr>
          <p:cNvPr id="19" name="Text 17"/>
          <p:cNvSpPr/>
          <p:nvPr/>
        </p:nvSpPr>
        <p:spPr>
          <a:xfrm>
            <a:off x="4846320" y="2596896"/>
            <a:ext cx="1554480" cy="512064"/>
          </a:xfrm>
          <a:prstGeom prst="rect">
            <a:avLst/>
          </a:prstGeom>
          <a:noFill/>
          <a:ln/>
        </p:spPr>
        <p:txBody>
          <a:bodyPr wrap="square" rtlCol="0" anchor="ctr"/>
          <a:lstStyle/>
          <a:p>
            <a:pPr marL="0" indent="0">
              <a:buNone/>
            </a:pPr>
            <a:r>
              <a:rPr lang="en-US" sz="1000" b="1" dirty="0">
                <a:solidFill>
                  <a:srgbClr val="00E5A0"/>
                </a:solidFill>
              </a:rPr>
              <a:t>Balance</a:t>
            </a:r>
            <a:endParaRPr lang="en-US" sz="1000" dirty="0"/>
          </a:p>
        </p:txBody>
      </p:sp>
      <p:sp>
        <p:nvSpPr>
          <p:cNvPr id="20" name="Text 18"/>
          <p:cNvSpPr/>
          <p:nvPr/>
        </p:nvSpPr>
        <p:spPr>
          <a:xfrm>
            <a:off x="6473952" y="2596896"/>
            <a:ext cx="2231136" cy="512064"/>
          </a:xfrm>
          <a:prstGeom prst="rect">
            <a:avLst/>
          </a:prstGeom>
          <a:noFill/>
          <a:ln/>
        </p:spPr>
        <p:txBody>
          <a:bodyPr wrap="square" rtlCol="0" anchor="ctr"/>
          <a:lstStyle/>
          <a:p>
            <a:pPr marL="0" indent="0">
              <a:buNone/>
            </a:pPr>
            <a:r>
              <a:rPr lang="en-US" sz="1000" dirty="0">
                <a:solidFill>
                  <a:srgbClr val="E8F4FD"/>
                </a:solidFill>
              </a:rPr>
              <a:t>All classes proportionally represented?</a:t>
            </a:r>
            <a:endParaRPr lang="en-US" sz="1000" dirty="0"/>
          </a:p>
        </p:txBody>
      </p:sp>
      <p:sp>
        <p:nvSpPr>
          <p:cNvPr id="21" name="Shape 19"/>
          <p:cNvSpPr/>
          <p:nvPr/>
        </p:nvSpPr>
        <p:spPr>
          <a:xfrm>
            <a:off x="4754880" y="3163824"/>
            <a:ext cx="4023360" cy="512064"/>
          </a:xfrm>
          <a:prstGeom prst="rect">
            <a:avLst/>
          </a:prstGeom>
          <a:solidFill>
            <a:srgbClr val="0A1628"/>
          </a:solidFill>
          <a:ln w="12700">
            <a:solidFill>
              <a:srgbClr val="0F2041"/>
            </a:solidFill>
            <a:prstDash val="solid"/>
          </a:ln>
        </p:spPr>
      </p:sp>
      <p:sp>
        <p:nvSpPr>
          <p:cNvPr id="22" name="Text 20"/>
          <p:cNvSpPr/>
          <p:nvPr/>
        </p:nvSpPr>
        <p:spPr>
          <a:xfrm>
            <a:off x="4846320" y="3163824"/>
            <a:ext cx="1554480" cy="512064"/>
          </a:xfrm>
          <a:prstGeom prst="rect">
            <a:avLst/>
          </a:prstGeom>
          <a:noFill/>
          <a:ln/>
        </p:spPr>
        <p:txBody>
          <a:bodyPr wrap="square" rtlCol="0" anchor="ctr"/>
          <a:lstStyle/>
          <a:p>
            <a:pPr marL="0" indent="0">
              <a:buNone/>
            </a:pPr>
            <a:r>
              <a:rPr lang="en-US" sz="1000" b="1" dirty="0">
                <a:solidFill>
                  <a:srgbClr val="00E5A0"/>
                </a:solidFill>
              </a:rPr>
              <a:t>Accuracy</a:t>
            </a:r>
            <a:endParaRPr lang="en-US" sz="1000" dirty="0"/>
          </a:p>
        </p:txBody>
      </p:sp>
      <p:sp>
        <p:nvSpPr>
          <p:cNvPr id="23" name="Text 21"/>
          <p:cNvSpPr/>
          <p:nvPr/>
        </p:nvSpPr>
        <p:spPr>
          <a:xfrm>
            <a:off x="6473952" y="3163824"/>
            <a:ext cx="2231136" cy="512064"/>
          </a:xfrm>
          <a:prstGeom prst="rect">
            <a:avLst/>
          </a:prstGeom>
          <a:noFill/>
          <a:ln/>
        </p:spPr>
        <p:txBody>
          <a:bodyPr wrap="square" rtlCol="0" anchor="ctr"/>
          <a:lstStyle/>
          <a:p>
            <a:pPr marL="0" indent="0">
              <a:buNone/>
            </a:pPr>
            <a:r>
              <a:rPr lang="en-US" sz="1000" dirty="0">
                <a:solidFill>
                  <a:srgbClr val="E8F4FD"/>
                </a:solidFill>
              </a:rPr>
              <a:t>Labels correct? Systematic errors removed?</a:t>
            </a:r>
            <a:endParaRPr lang="en-US" sz="1000" dirty="0"/>
          </a:p>
        </p:txBody>
      </p:sp>
      <p:sp>
        <p:nvSpPr>
          <p:cNvPr id="24" name="Shape 22"/>
          <p:cNvSpPr/>
          <p:nvPr/>
        </p:nvSpPr>
        <p:spPr>
          <a:xfrm>
            <a:off x="4754880" y="3730752"/>
            <a:ext cx="4023360" cy="512064"/>
          </a:xfrm>
          <a:prstGeom prst="rect">
            <a:avLst/>
          </a:prstGeom>
          <a:solidFill>
            <a:srgbClr val="0F2041"/>
          </a:solidFill>
          <a:ln w="12700">
            <a:solidFill>
              <a:srgbClr val="0F2041"/>
            </a:solidFill>
            <a:prstDash val="solid"/>
          </a:ln>
        </p:spPr>
      </p:sp>
      <p:sp>
        <p:nvSpPr>
          <p:cNvPr id="25" name="Text 23"/>
          <p:cNvSpPr/>
          <p:nvPr/>
        </p:nvSpPr>
        <p:spPr>
          <a:xfrm>
            <a:off x="4846320" y="3730752"/>
            <a:ext cx="1554480" cy="512064"/>
          </a:xfrm>
          <a:prstGeom prst="rect">
            <a:avLst/>
          </a:prstGeom>
          <a:noFill/>
          <a:ln/>
        </p:spPr>
        <p:txBody>
          <a:bodyPr wrap="square" rtlCol="0" anchor="ctr"/>
          <a:lstStyle/>
          <a:p>
            <a:pPr marL="0" indent="0">
              <a:buNone/>
            </a:pPr>
            <a:r>
              <a:rPr lang="en-US" sz="1000" b="1" dirty="0">
                <a:solidFill>
                  <a:srgbClr val="00E5A0"/>
                </a:solidFill>
              </a:rPr>
              <a:t>Recency</a:t>
            </a:r>
            <a:endParaRPr lang="en-US" sz="1000" dirty="0"/>
          </a:p>
        </p:txBody>
      </p:sp>
      <p:sp>
        <p:nvSpPr>
          <p:cNvPr id="26" name="Text 24"/>
          <p:cNvSpPr/>
          <p:nvPr/>
        </p:nvSpPr>
        <p:spPr>
          <a:xfrm>
            <a:off x="6473952" y="3730752"/>
            <a:ext cx="2231136" cy="512064"/>
          </a:xfrm>
          <a:prstGeom prst="rect">
            <a:avLst/>
          </a:prstGeom>
          <a:noFill/>
          <a:ln/>
        </p:spPr>
        <p:txBody>
          <a:bodyPr wrap="square" rtlCol="0" anchor="ctr"/>
          <a:lstStyle/>
          <a:p>
            <a:pPr marL="0" indent="0">
              <a:buNone/>
            </a:pPr>
            <a:r>
              <a:rPr lang="en-US" sz="1000" dirty="0">
                <a:solidFill>
                  <a:srgbClr val="E8F4FD"/>
                </a:solidFill>
              </a:rPr>
              <a:t>Data current enough? Drift monitored?</a:t>
            </a:r>
            <a:endParaRPr lang="en-US" sz="1000" dirty="0"/>
          </a:p>
        </p:txBody>
      </p:sp>
      <p:sp>
        <p:nvSpPr>
          <p:cNvPr id="27" name="Shape 25"/>
          <p:cNvSpPr/>
          <p:nvPr/>
        </p:nvSpPr>
        <p:spPr>
          <a:xfrm>
            <a:off x="4754880" y="4297680"/>
            <a:ext cx="4023360" cy="512064"/>
          </a:xfrm>
          <a:prstGeom prst="rect">
            <a:avLst/>
          </a:prstGeom>
          <a:solidFill>
            <a:srgbClr val="0A1628"/>
          </a:solidFill>
          <a:ln w="12700">
            <a:solidFill>
              <a:srgbClr val="0F2041"/>
            </a:solidFill>
            <a:prstDash val="solid"/>
          </a:ln>
        </p:spPr>
      </p:sp>
      <p:sp>
        <p:nvSpPr>
          <p:cNvPr id="28" name="Text 26"/>
          <p:cNvSpPr/>
          <p:nvPr/>
        </p:nvSpPr>
        <p:spPr>
          <a:xfrm>
            <a:off x="4846320" y="4297680"/>
            <a:ext cx="1554480" cy="512064"/>
          </a:xfrm>
          <a:prstGeom prst="rect">
            <a:avLst/>
          </a:prstGeom>
          <a:noFill/>
          <a:ln/>
        </p:spPr>
        <p:txBody>
          <a:bodyPr wrap="square" rtlCol="0" anchor="ctr"/>
          <a:lstStyle/>
          <a:p>
            <a:pPr marL="0" indent="0">
              <a:buNone/>
            </a:pPr>
            <a:r>
              <a:rPr lang="en-US" sz="1000" b="1" dirty="0">
                <a:solidFill>
                  <a:srgbClr val="00E5A0"/>
                </a:solidFill>
              </a:rPr>
              <a:t>Privacy</a:t>
            </a:r>
            <a:endParaRPr lang="en-US" sz="1000" dirty="0"/>
          </a:p>
        </p:txBody>
      </p:sp>
      <p:sp>
        <p:nvSpPr>
          <p:cNvPr id="29" name="Text 27"/>
          <p:cNvSpPr/>
          <p:nvPr/>
        </p:nvSpPr>
        <p:spPr>
          <a:xfrm>
            <a:off x="6473952" y="4297680"/>
            <a:ext cx="2231136" cy="512064"/>
          </a:xfrm>
          <a:prstGeom prst="rect">
            <a:avLst/>
          </a:prstGeom>
          <a:noFill/>
          <a:ln/>
        </p:spPr>
        <p:txBody>
          <a:bodyPr wrap="square" rtlCol="0" anchor="ctr"/>
          <a:lstStyle/>
          <a:p>
            <a:pPr marL="0" indent="0">
              <a:buNone/>
            </a:pPr>
            <a:r>
              <a:rPr lang="en-US" sz="1000" dirty="0">
                <a:solidFill>
                  <a:srgbClr val="E8F4FD"/>
                </a:solidFill>
              </a:rPr>
              <a:t>PII removed? Differential privacy applied?</a:t>
            </a:r>
            <a:endParaRPr lang="en-US" sz="1000" dirty="0"/>
          </a:p>
        </p:txBody>
      </p:sp>
      <p:sp>
        <p:nvSpPr>
          <p:cNvPr id="30" name="Shape 28"/>
          <p:cNvSpPr/>
          <p:nvPr/>
        </p:nvSpPr>
        <p:spPr>
          <a:xfrm>
            <a:off x="274320" y="4937760"/>
            <a:ext cx="8595360" cy="256032"/>
          </a:xfrm>
          <a:prstGeom prst="rect">
            <a:avLst/>
          </a:prstGeom>
          <a:solidFill>
            <a:srgbClr val="0F2041"/>
          </a:solidFill>
          <a:ln w="12700">
            <a:solidFill>
              <a:srgbClr val="FFD166"/>
            </a:solidFill>
            <a:prstDash val="solid"/>
          </a:ln>
        </p:spPr>
      </p:sp>
      <p:sp>
        <p:nvSpPr>
          <p:cNvPr id="31" name="Text 29"/>
          <p:cNvSpPr/>
          <p:nvPr/>
        </p:nvSpPr>
        <p:spPr>
          <a:xfrm>
            <a:off x="274320" y="4937760"/>
            <a:ext cx="8595360" cy="256032"/>
          </a:xfrm>
          <a:prstGeom prst="rect">
            <a:avLst/>
          </a:prstGeom>
          <a:noFill/>
          <a:ln/>
        </p:spPr>
        <p:txBody>
          <a:bodyPr wrap="square" rtlCol="0" anchor="ctr"/>
          <a:lstStyle/>
          <a:p>
            <a:pPr marL="0" indent="0" algn="ctr">
              <a:buNone/>
            </a:pPr>
            <a:r>
              <a:rPr lang="en-US" sz="1000" dirty="0">
                <a:solidFill>
                  <a:srgbClr val="FFD166"/>
                </a:solidFill>
              </a:rPr>
              <a:t>Professional responsibility: critically evaluate every training dataset before any model is trained on it</a:t>
            </a:r>
            <a:endParaRPr lang="en-US" sz="1000" dirty="0"/>
          </a:p>
        </p:txBody>
      </p:sp>
    </p:spTree>
    <p:extLst>
      <p:ext uri="{BB962C8B-B14F-4D97-AF65-F5344CB8AC3E}">
        <p14:creationId xmlns:p14="http://schemas.microsoft.com/office/powerpoint/2010/main" val="40974012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7 · MODEL &amp; ETHICAL</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100" b="1" dirty="0">
                <a:solidFill>
                  <a:srgbClr val="FFFFFF"/>
                </a:solidFill>
              </a:rPr>
              <a:t>Dimensions 2 &amp; 3: Model &amp; Ethical Considerations</a:t>
            </a:r>
            <a:endParaRPr lang="en-US" sz="2100" dirty="0"/>
          </a:p>
        </p:txBody>
      </p:sp>
      <p:sp>
        <p:nvSpPr>
          <p:cNvPr id="6" name="Shape 4"/>
          <p:cNvSpPr/>
          <p:nvPr/>
        </p:nvSpPr>
        <p:spPr>
          <a:xfrm>
            <a:off x="274320" y="987552"/>
            <a:ext cx="4160520" cy="3858768"/>
          </a:xfrm>
          <a:prstGeom prst="rect">
            <a:avLst/>
          </a:prstGeom>
          <a:solidFill>
            <a:srgbClr val="112244"/>
          </a:solidFill>
          <a:ln w="25400">
            <a:solidFill>
              <a:srgbClr val="7B5EA7"/>
            </a:solidFill>
            <a:prstDash val="solid"/>
          </a:ln>
          <a:effectLst>
            <a:outerShdw blurRad="101600" dist="38100" dir="8100000" algn="bl" rotWithShape="0">
              <a:srgbClr val="000000">
                <a:alpha val="25000"/>
              </a:srgbClr>
            </a:outerShdw>
          </a:effectLst>
        </p:spPr>
      </p:sp>
      <p:sp>
        <p:nvSpPr>
          <p:cNvPr id="7" name="Shape 5"/>
          <p:cNvSpPr/>
          <p:nvPr/>
        </p:nvSpPr>
        <p:spPr>
          <a:xfrm>
            <a:off x="274320" y="987552"/>
            <a:ext cx="4160520" cy="347472"/>
          </a:xfrm>
          <a:prstGeom prst="rect">
            <a:avLst/>
          </a:prstGeom>
          <a:solidFill>
            <a:srgbClr val="7B5EA7"/>
          </a:solidFill>
          <a:ln w="12700">
            <a:solidFill>
              <a:srgbClr val="7B5EA7"/>
            </a:solidFill>
            <a:prstDash val="solid"/>
          </a:ln>
        </p:spPr>
      </p:sp>
      <p:sp>
        <p:nvSpPr>
          <p:cNvPr id="8" name="Text 6"/>
          <p:cNvSpPr/>
          <p:nvPr/>
        </p:nvSpPr>
        <p:spPr>
          <a:xfrm>
            <a:off x="320040" y="987552"/>
            <a:ext cx="4069080" cy="347472"/>
          </a:xfrm>
          <a:prstGeom prst="rect">
            <a:avLst/>
          </a:prstGeom>
          <a:noFill/>
          <a:ln/>
        </p:spPr>
        <p:txBody>
          <a:bodyPr wrap="square" rtlCol="0" anchor="ctr"/>
          <a:lstStyle/>
          <a:p>
            <a:pPr marL="0" indent="0">
              <a:buNone/>
            </a:pPr>
            <a:r>
              <a:rPr lang="en-US" sz="1200" b="1" dirty="0">
                <a:solidFill>
                  <a:srgbClr val="FFFFFF"/>
                </a:solidFill>
              </a:rPr>
              <a:t>⚙️  Model Considerations</a:t>
            </a:r>
            <a:endParaRPr lang="en-US" sz="1200" dirty="0"/>
          </a:p>
        </p:txBody>
      </p:sp>
      <p:sp>
        <p:nvSpPr>
          <p:cNvPr id="9" name="Text 7"/>
          <p:cNvSpPr/>
          <p:nvPr/>
        </p:nvSpPr>
        <p:spPr>
          <a:xfrm>
            <a:off x="411480" y="1389888"/>
            <a:ext cx="3886200" cy="3383280"/>
          </a:xfrm>
          <a:prstGeom prst="rect">
            <a:avLst/>
          </a:prstGeom>
          <a:noFill/>
          <a:ln/>
        </p:spPr>
        <p:txBody>
          <a:bodyPr wrap="square" rtlCol="0" anchor="ctr"/>
          <a:lstStyle/>
          <a:p>
            <a:pPr marL="0" indent="0">
              <a:buNone/>
            </a:pPr>
            <a:r>
              <a:rPr lang="en-US" sz="1050" b="1" dirty="0">
                <a:solidFill>
                  <a:srgbClr val="7B5EA7"/>
                </a:solidFill>
              </a:rPr>
              <a:t>Explainability
</a:t>
            </a:r>
            <a:r>
              <a:rPr lang="en-US" sz="1000" dirty="0">
                <a:solidFill>
                  <a:srgbClr val="E8F4FD"/>
                </a:solidFill>
              </a:rPr>
              <a:t>Know WHY the model outputs what it does. In healthcare or finance: 'the model said so' is not acceptable.
</a:t>
            </a:r>
            <a:r>
              <a:rPr lang="en-US" sz="1050" b="1" dirty="0">
                <a:solidFill>
                  <a:srgbClr val="7B5EA7"/>
                </a:solidFill>
              </a:rPr>
              <a:t>Interpretability
</a:t>
            </a:r>
            <a:r>
              <a:rPr lang="en-US" sz="1000" dirty="0">
                <a:solidFill>
                  <a:srgbClr val="E8F4FD"/>
                </a:solidFill>
              </a:rPr>
              <a:t>Understand the overall decision pattern — not just one prediction.
</a:t>
            </a:r>
            <a:r>
              <a:rPr lang="en-US" sz="1050" b="1" dirty="0">
                <a:solidFill>
                  <a:srgbClr val="7B5EA7"/>
                </a:solidFill>
              </a:rPr>
              <a:t>Key Tools
</a:t>
            </a:r>
            <a:r>
              <a:rPr lang="en-US" sz="1000" dirty="0">
                <a:solidFill>
                  <a:srgbClr val="A0B4C8"/>
                </a:solidFill>
              </a:rPr>
              <a:t>LIME  ·  SHAP  ·  Feature Attribution Maps  ·  Partial Dependence Plots  ·  Google What-If Tool  ·  IBM AI Fairness 360</a:t>
            </a:r>
            <a:endParaRPr lang="en-US" sz="1050" dirty="0"/>
          </a:p>
        </p:txBody>
      </p:sp>
      <p:sp>
        <p:nvSpPr>
          <p:cNvPr id="10" name="Shape 8"/>
          <p:cNvSpPr/>
          <p:nvPr/>
        </p:nvSpPr>
        <p:spPr>
          <a:xfrm>
            <a:off x="4663440" y="987552"/>
            <a:ext cx="4206240" cy="3858768"/>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sp>
      <p:sp>
        <p:nvSpPr>
          <p:cNvPr id="11" name="Shape 9"/>
          <p:cNvSpPr/>
          <p:nvPr/>
        </p:nvSpPr>
        <p:spPr>
          <a:xfrm>
            <a:off x="4663440" y="987552"/>
            <a:ext cx="4206240" cy="347472"/>
          </a:xfrm>
          <a:prstGeom prst="rect">
            <a:avLst/>
          </a:prstGeom>
          <a:solidFill>
            <a:srgbClr val="FFD166"/>
          </a:solidFill>
          <a:ln w="12700">
            <a:solidFill>
              <a:srgbClr val="FFD166"/>
            </a:solidFill>
            <a:prstDash val="solid"/>
          </a:ln>
        </p:spPr>
      </p:sp>
      <p:sp>
        <p:nvSpPr>
          <p:cNvPr id="12" name="Text 10"/>
          <p:cNvSpPr/>
          <p:nvPr/>
        </p:nvSpPr>
        <p:spPr>
          <a:xfrm>
            <a:off x="4709160" y="987552"/>
            <a:ext cx="4114800" cy="347472"/>
          </a:xfrm>
          <a:prstGeom prst="rect">
            <a:avLst/>
          </a:prstGeom>
          <a:noFill/>
          <a:ln/>
        </p:spPr>
        <p:txBody>
          <a:bodyPr wrap="square" rtlCol="0" anchor="ctr"/>
          <a:lstStyle/>
          <a:p>
            <a:pPr marL="0" indent="0">
              <a:buNone/>
            </a:pPr>
            <a:r>
              <a:rPr lang="en-US" sz="1200" b="1" dirty="0">
                <a:solidFill>
                  <a:srgbClr val="0A1628"/>
                </a:solidFill>
              </a:rPr>
              <a:t>⚖️  Ethical Considerations</a:t>
            </a:r>
            <a:endParaRPr lang="en-US" sz="1200" dirty="0"/>
          </a:p>
        </p:txBody>
      </p:sp>
      <p:sp>
        <p:nvSpPr>
          <p:cNvPr id="13" name="Shape 11"/>
          <p:cNvSpPr/>
          <p:nvPr/>
        </p:nvSpPr>
        <p:spPr>
          <a:xfrm>
            <a:off x="4754880" y="1389888"/>
            <a:ext cx="4023360" cy="548640"/>
          </a:xfrm>
          <a:prstGeom prst="rect">
            <a:avLst/>
          </a:prstGeom>
          <a:solidFill>
            <a:srgbClr val="0A1628"/>
          </a:solidFill>
          <a:ln w="12700">
            <a:solidFill>
              <a:srgbClr val="0F2041"/>
            </a:solidFill>
            <a:prstDash val="solid"/>
          </a:ln>
        </p:spPr>
      </p:sp>
      <p:sp>
        <p:nvSpPr>
          <p:cNvPr id="14" name="Text 12"/>
          <p:cNvSpPr/>
          <p:nvPr/>
        </p:nvSpPr>
        <p:spPr>
          <a:xfrm>
            <a:off x="4828032" y="1389888"/>
            <a:ext cx="1371600" cy="548640"/>
          </a:xfrm>
          <a:prstGeom prst="rect">
            <a:avLst/>
          </a:prstGeom>
          <a:noFill/>
          <a:ln/>
        </p:spPr>
        <p:txBody>
          <a:bodyPr wrap="square" rtlCol="0" anchor="ctr"/>
          <a:lstStyle/>
          <a:p>
            <a:pPr marL="0" indent="0">
              <a:buNone/>
            </a:pPr>
            <a:r>
              <a:rPr lang="en-US" sz="1000" b="1" dirty="0">
                <a:solidFill>
                  <a:srgbClr val="FFD166"/>
                </a:solidFill>
              </a:rPr>
              <a:t>Fairness</a:t>
            </a:r>
            <a:endParaRPr lang="en-US" sz="1000" dirty="0"/>
          </a:p>
        </p:txBody>
      </p:sp>
      <p:sp>
        <p:nvSpPr>
          <p:cNvPr id="15" name="Text 13"/>
          <p:cNvSpPr/>
          <p:nvPr/>
        </p:nvSpPr>
        <p:spPr>
          <a:xfrm>
            <a:off x="6272784" y="1389888"/>
            <a:ext cx="2505456" cy="548640"/>
          </a:xfrm>
          <a:prstGeom prst="rect">
            <a:avLst/>
          </a:prstGeom>
          <a:noFill/>
          <a:ln/>
        </p:spPr>
        <p:txBody>
          <a:bodyPr wrap="square" rtlCol="0" anchor="ctr"/>
          <a:lstStyle/>
          <a:p>
            <a:pPr marL="0" indent="0">
              <a:buNone/>
            </a:pPr>
            <a:r>
              <a:rPr lang="en-US" sz="1000" dirty="0">
                <a:solidFill>
                  <a:srgbClr val="E8F4FD"/>
                </a:solidFill>
              </a:rPr>
              <a:t>Regular bias audits — no protected-characteristic discrimination</a:t>
            </a:r>
            <a:endParaRPr lang="en-US" sz="1000" dirty="0"/>
          </a:p>
        </p:txBody>
      </p:sp>
      <p:sp>
        <p:nvSpPr>
          <p:cNvPr id="16" name="Shape 14"/>
          <p:cNvSpPr/>
          <p:nvPr/>
        </p:nvSpPr>
        <p:spPr>
          <a:xfrm>
            <a:off x="4754880" y="2011680"/>
            <a:ext cx="4023360" cy="548640"/>
          </a:xfrm>
          <a:prstGeom prst="rect">
            <a:avLst/>
          </a:prstGeom>
          <a:solidFill>
            <a:srgbClr val="0F2041"/>
          </a:solidFill>
          <a:ln w="12700">
            <a:solidFill>
              <a:srgbClr val="0F2041"/>
            </a:solidFill>
            <a:prstDash val="solid"/>
          </a:ln>
        </p:spPr>
      </p:sp>
      <p:sp>
        <p:nvSpPr>
          <p:cNvPr id="17" name="Text 15"/>
          <p:cNvSpPr/>
          <p:nvPr/>
        </p:nvSpPr>
        <p:spPr>
          <a:xfrm>
            <a:off x="4828032" y="2011680"/>
            <a:ext cx="1371600" cy="548640"/>
          </a:xfrm>
          <a:prstGeom prst="rect">
            <a:avLst/>
          </a:prstGeom>
          <a:noFill/>
          <a:ln/>
        </p:spPr>
        <p:txBody>
          <a:bodyPr wrap="square" rtlCol="0" anchor="ctr"/>
          <a:lstStyle/>
          <a:p>
            <a:pPr marL="0" indent="0">
              <a:buNone/>
            </a:pPr>
            <a:r>
              <a:rPr lang="en-US" sz="1000" b="1" dirty="0">
                <a:solidFill>
                  <a:srgbClr val="FFD166"/>
                </a:solidFill>
              </a:rPr>
              <a:t>Transparency</a:t>
            </a:r>
            <a:endParaRPr lang="en-US" sz="1000" dirty="0"/>
          </a:p>
        </p:txBody>
      </p:sp>
      <p:sp>
        <p:nvSpPr>
          <p:cNvPr id="18" name="Text 16"/>
          <p:cNvSpPr/>
          <p:nvPr/>
        </p:nvSpPr>
        <p:spPr>
          <a:xfrm>
            <a:off x="6272784" y="2011680"/>
            <a:ext cx="2505456" cy="548640"/>
          </a:xfrm>
          <a:prstGeom prst="rect">
            <a:avLst/>
          </a:prstGeom>
          <a:noFill/>
          <a:ln/>
        </p:spPr>
        <p:txBody>
          <a:bodyPr wrap="square" rtlCol="0" anchor="ctr"/>
          <a:lstStyle/>
          <a:p>
            <a:pPr marL="0" indent="0">
              <a:buNone/>
            </a:pPr>
            <a:r>
              <a:rPr lang="en-US" sz="1000" dirty="0">
                <a:solidFill>
                  <a:srgbClr val="E8F4FD"/>
                </a:solidFill>
              </a:rPr>
              <a:t>Document training data, limitations, known failure modes</a:t>
            </a:r>
            <a:endParaRPr lang="en-US" sz="1000" dirty="0"/>
          </a:p>
        </p:txBody>
      </p:sp>
      <p:sp>
        <p:nvSpPr>
          <p:cNvPr id="19" name="Shape 17"/>
          <p:cNvSpPr/>
          <p:nvPr/>
        </p:nvSpPr>
        <p:spPr>
          <a:xfrm>
            <a:off x="4754880" y="2633472"/>
            <a:ext cx="4023360" cy="548640"/>
          </a:xfrm>
          <a:prstGeom prst="rect">
            <a:avLst/>
          </a:prstGeom>
          <a:solidFill>
            <a:srgbClr val="0A1628"/>
          </a:solidFill>
          <a:ln w="12700">
            <a:solidFill>
              <a:srgbClr val="0F2041"/>
            </a:solidFill>
            <a:prstDash val="solid"/>
          </a:ln>
        </p:spPr>
      </p:sp>
      <p:sp>
        <p:nvSpPr>
          <p:cNvPr id="20" name="Text 18"/>
          <p:cNvSpPr/>
          <p:nvPr/>
        </p:nvSpPr>
        <p:spPr>
          <a:xfrm>
            <a:off x="4828032" y="2633472"/>
            <a:ext cx="1371600" cy="548640"/>
          </a:xfrm>
          <a:prstGeom prst="rect">
            <a:avLst/>
          </a:prstGeom>
          <a:noFill/>
          <a:ln/>
        </p:spPr>
        <p:txBody>
          <a:bodyPr wrap="square" rtlCol="0" anchor="ctr"/>
          <a:lstStyle/>
          <a:p>
            <a:pPr marL="0" indent="0">
              <a:buNone/>
            </a:pPr>
            <a:r>
              <a:rPr lang="en-US" sz="1000" b="1" dirty="0">
                <a:solidFill>
                  <a:srgbClr val="FFD166"/>
                </a:solidFill>
              </a:rPr>
              <a:t>Consent</a:t>
            </a:r>
            <a:endParaRPr lang="en-US" sz="1000" dirty="0"/>
          </a:p>
        </p:txBody>
      </p:sp>
      <p:sp>
        <p:nvSpPr>
          <p:cNvPr id="21" name="Text 19"/>
          <p:cNvSpPr/>
          <p:nvPr/>
        </p:nvSpPr>
        <p:spPr>
          <a:xfrm>
            <a:off x="6272784" y="2633472"/>
            <a:ext cx="2505456" cy="548640"/>
          </a:xfrm>
          <a:prstGeom prst="rect">
            <a:avLst/>
          </a:prstGeom>
          <a:noFill/>
          <a:ln/>
        </p:spPr>
        <p:txBody>
          <a:bodyPr wrap="square" rtlCol="0" anchor="ctr"/>
          <a:lstStyle/>
          <a:p>
            <a:pPr marL="0" indent="0">
              <a:buNone/>
            </a:pPr>
            <a:r>
              <a:rPr lang="en-US" sz="1000" dirty="0">
                <a:solidFill>
                  <a:srgbClr val="E8F4FD"/>
                </a:solidFill>
              </a:rPr>
              <a:t>Users whose data trains the model must explicitly agree</a:t>
            </a:r>
            <a:endParaRPr lang="en-US" sz="1000" dirty="0"/>
          </a:p>
        </p:txBody>
      </p:sp>
      <p:sp>
        <p:nvSpPr>
          <p:cNvPr id="22" name="Shape 20"/>
          <p:cNvSpPr/>
          <p:nvPr/>
        </p:nvSpPr>
        <p:spPr>
          <a:xfrm>
            <a:off x="4754880" y="3255264"/>
            <a:ext cx="4023360" cy="548640"/>
          </a:xfrm>
          <a:prstGeom prst="rect">
            <a:avLst/>
          </a:prstGeom>
          <a:solidFill>
            <a:srgbClr val="0F2041"/>
          </a:solidFill>
          <a:ln w="12700">
            <a:solidFill>
              <a:srgbClr val="0F2041"/>
            </a:solidFill>
            <a:prstDash val="solid"/>
          </a:ln>
        </p:spPr>
      </p:sp>
      <p:sp>
        <p:nvSpPr>
          <p:cNvPr id="23" name="Text 21"/>
          <p:cNvSpPr/>
          <p:nvPr/>
        </p:nvSpPr>
        <p:spPr>
          <a:xfrm>
            <a:off x="4828032" y="3255264"/>
            <a:ext cx="1371600" cy="548640"/>
          </a:xfrm>
          <a:prstGeom prst="rect">
            <a:avLst/>
          </a:prstGeom>
          <a:noFill/>
          <a:ln/>
        </p:spPr>
        <p:txBody>
          <a:bodyPr wrap="square" rtlCol="0" anchor="ctr"/>
          <a:lstStyle/>
          <a:p>
            <a:pPr marL="0" indent="0">
              <a:buNone/>
            </a:pPr>
            <a:r>
              <a:rPr lang="en-US" sz="1000" b="1" dirty="0">
                <a:solidFill>
                  <a:srgbClr val="FFD166"/>
                </a:solidFill>
              </a:rPr>
              <a:t>Accountability</a:t>
            </a:r>
            <a:endParaRPr lang="en-US" sz="1000" dirty="0"/>
          </a:p>
        </p:txBody>
      </p:sp>
      <p:sp>
        <p:nvSpPr>
          <p:cNvPr id="24" name="Text 22"/>
          <p:cNvSpPr/>
          <p:nvPr/>
        </p:nvSpPr>
        <p:spPr>
          <a:xfrm>
            <a:off x="6272784" y="3255264"/>
            <a:ext cx="2505456" cy="548640"/>
          </a:xfrm>
          <a:prstGeom prst="rect">
            <a:avLst/>
          </a:prstGeom>
          <a:noFill/>
          <a:ln/>
        </p:spPr>
        <p:txBody>
          <a:bodyPr wrap="square" rtlCol="0" anchor="ctr"/>
          <a:lstStyle/>
          <a:p>
            <a:pPr marL="0" indent="0">
              <a:buNone/>
            </a:pPr>
            <a:r>
              <a:rPr lang="en-US" sz="1000" dirty="0">
                <a:solidFill>
                  <a:srgbClr val="E8F4FD"/>
                </a:solidFill>
              </a:rPr>
              <a:t>Clear ownership, audit trails, incident response procedures</a:t>
            </a:r>
            <a:endParaRPr lang="en-US" sz="1000" dirty="0"/>
          </a:p>
        </p:txBody>
      </p:sp>
      <p:sp>
        <p:nvSpPr>
          <p:cNvPr id="25" name="Shape 23"/>
          <p:cNvSpPr/>
          <p:nvPr/>
        </p:nvSpPr>
        <p:spPr>
          <a:xfrm>
            <a:off x="4754880" y="3877056"/>
            <a:ext cx="4023360" cy="548640"/>
          </a:xfrm>
          <a:prstGeom prst="rect">
            <a:avLst/>
          </a:prstGeom>
          <a:solidFill>
            <a:srgbClr val="0A1628"/>
          </a:solidFill>
          <a:ln w="12700">
            <a:solidFill>
              <a:srgbClr val="0F2041"/>
            </a:solidFill>
            <a:prstDash val="solid"/>
          </a:ln>
        </p:spPr>
      </p:sp>
      <p:sp>
        <p:nvSpPr>
          <p:cNvPr id="26" name="Text 24"/>
          <p:cNvSpPr/>
          <p:nvPr/>
        </p:nvSpPr>
        <p:spPr>
          <a:xfrm>
            <a:off x="4828032" y="3877056"/>
            <a:ext cx="1371600" cy="548640"/>
          </a:xfrm>
          <a:prstGeom prst="rect">
            <a:avLst/>
          </a:prstGeom>
          <a:noFill/>
          <a:ln/>
        </p:spPr>
        <p:txBody>
          <a:bodyPr wrap="square" rtlCol="0" anchor="ctr"/>
          <a:lstStyle/>
          <a:p>
            <a:pPr marL="0" indent="0">
              <a:buNone/>
            </a:pPr>
            <a:r>
              <a:rPr lang="en-US" sz="1000" b="1" dirty="0">
                <a:solidFill>
                  <a:srgbClr val="FFD166"/>
                </a:solidFill>
              </a:rPr>
              <a:t>Harm Prevention</a:t>
            </a:r>
            <a:endParaRPr lang="en-US" sz="1000" dirty="0"/>
          </a:p>
        </p:txBody>
      </p:sp>
      <p:sp>
        <p:nvSpPr>
          <p:cNvPr id="27" name="Text 25"/>
          <p:cNvSpPr/>
          <p:nvPr/>
        </p:nvSpPr>
        <p:spPr>
          <a:xfrm>
            <a:off x="6272784" y="3877056"/>
            <a:ext cx="2505456" cy="548640"/>
          </a:xfrm>
          <a:prstGeom prst="rect">
            <a:avLst/>
          </a:prstGeom>
          <a:noFill/>
          <a:ln/>
        </p:spPr>
        <p:txBody>
          <a:bodyPr wrap="square" rtlCol="0" anchor="ctr"/>
          <a:lstStyle/>
          <a:p>
            <a:pPr marL="0" indent="0">
              <a:buNone/>
            </a:pPr>
            <a:r>
              <a:rPr lang="en-US" sz="1000" dirty="0">
                <a:solidFill>
                  <a:srgbClr val="E8F4FD"/>
                </a:solidFill>
              </a:rPr>
              <a:t>AI must never be used to defraud, discriminate, or manipulate</a:t>
            </a:r>
            <a:endParaRPr lang="en-US" sz="1000" dirty="0"/>
          </a:p>
        </p:txBody>
      </p:sp>
      <p:sp>
        <p:nvSpPr>
          <p:cNvPr id="28" name="Shape 26"/>
          <p:cNvSpPr/>
          <p:nvPr/>
        </p:nvSpPr>
        <p:spPr>
          <a:xfrm>
            <a:off x="274320" y="4919472"/>
            <a:ext cx="8595360" cy="365760"/>
          </a:xfrm>
          <a:prstGeom prst="rect">
            <a:avLst/>
          </a:prstGeom>
          <a:solidFill>
            <a:srgbClr val="0F2041"/>
          </a:solidFill>
          <a:ln w="12700">
            <a:solidFill>
              <a:srgbClr val="FF6B6B"/>
            </a:solidFill>
            <a:prstDash val="solid"/>
          </a:ln>
        </p:spPr>
      </p:sp>
      <p:sp>
        <p:nvSpPr>
          <p:cNvPr id="29" name="Text 27"/>
          <p:cNvSpPr/>
          <p:nvPr/>
        </p:nvSpPr>
        <p:spPr>
          <a:xfrm>
            <a:off x="274320" y="4919472"/>
            <a:ext cx="8595360" cy="365760"/>
          </a:xfrm>
          <a:prstGeom prst="rect">
            <a:avLst/>
          </a:prstGeom>
          <a:noFill/>
          <a:ln/>
        </p:spPr>
        <p:txBody>
          <a:bodyPr wrap="square" rtlCol="0" anchor="ctr"/>
          <a:lstStyle/>
          <a:p>
            <a:pPr marL="0" indent="0" algn="ctr">
              <a:buNone/>
            </a:pPr>
            <a:r>
              <a:rPr lang="en-US" sz="950" i="1" dirty="0">
                <a:solidFill>
                  <a:srgbClr val="FF6B6B"/>
                </a:solidFill>
              </a:rPr>
              <a:t>2024: HK finance employee transferred HK$200M after a deepfake CFO video call. What ethical failure caused this? What safeguard would have prevented it?</a:t>
            </a:r>
            <a:endParaRPr lang="en-US" sz="950" dirty="0"/>
          </a:p>
        </p:txBody>
      </p:sp>
    </p:spTree>
    <p:extLst>
      <p:ext uri="{BB962C8B-B14F-4D97-AF65-F5344CB8AC3E}">
        <p14:creationId xmlns:p14="http://schemas.microsoft.com/office/powerpoint/2010/main" val="33992273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Shape 1"/>
          <p:cNvSpPr/>
          <p:nvPr/>
        </p:nvSpPr>
        <p:spPr>
          <a:xfrm>
            <a:off x="365760" y="128016"/>
            <a:ext cx="2926080" cy="274320"/>
          </a:xfrm>
          <a:prstGeom prst="rect">
            <a:avLst/>
          </a:prstGeom>
          <a:solidFill>
            <a:srgbClr val="FF6B6B"/>
          </a:solidFill>
          <a:ln w="12700">
            <a:solidFill>
              <a:srgbClr val="FF6B6B"/>
            </a:solidFill>
            <a:prstDash val="solid"/>
          </a:ln>
        </p:spPr>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7 · CHALLENGES OVERVIEW</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Challenges in Deploying Generative AI</a:t>
            </a:r>
            <a:endParaRPr lang="en-US" sz="2200" dirty="0"/>
          </a:p>
        </p:txBody>
      </p:sp>
      <p:pic>
        <p:nvPicPr>
          <p:cNvPr id="6" name="Image 0" descr="preencoded.png"/>
          <p:cNvPicPr>
            <a:picLocks noChangeAspect="1"/>
          </p:cNvPicPr>
          <p:nvPr/>
        </p:nvPicPr>
        <p:blipFill>
          <a:blip r:embed="rId3"/>
          <a:stretch>
            <a:fillRect/>
          </a:stretch>
        </p:blipFill>
        <p:spPr>
          <a:xfrm>
            <a:off x="8138160" y="512064"/>
            <a:ext cx="566928" cy="566928"/>
          </a:xfrm>
          <a:prstGeom prst="rect">
            <a:avLst/>
          </a:prstGeom>
        </p:spPr>
      </p:pic>
      <p:sp>
        <p:nvSpPr>
          <p:cNvPr id="7" name="Shape 4"/>
          <p:cNvSpPr/>
          <p:nvPr/>
        </p:nvSpPr>
        <p:spPr>
          <a:xfrm>
            <a:off x="274320" y="841248"/>
            <a:ext cx="8595360" cy="658368"/>
          </a:xfrm>
          <a:prstGeom prst="rect">
            <a:avLst/>
          </a:prstGeom>
          <a:solidFill>
            <a:srgbClr val="0F2041"/>
          </a:solidFill>
          <a:ln w="19050">
            <a:solidFill>
              <a:srgbClr val="FF6B6B"/>
            </a:solidFill>
            <a:prstDash val="solid"/>
          </a:ln>
        </p:spPr>
      </p:sp>
      <p:sp>
        <p:nvSpPr>
          <p:cNvPr id="8" name="Text 5"/>
          <p:cNvSpPr/>
          <p:nvPr/>
        </p:nvSpPr>
        <p:spPr>
          <a:xfrm>
            <a:off x="457200" y="859536"/>
            <a:ext cx="8229600" cy="603504"/>
          </a:xfrm>
          <a:prstGeom prst="rect">
            <a:avLst/>
          </a:prstGeom>
          <a:noFill/>
          <a:ln/>
        </p:spPr>
        <p:txBody>
          <a:bodyPr wrap="square" rtlCol="0" anchor="ctr"/>
          <a:lstStyle/>
          <a:p>
            <a:pPr marL="0" indent="0">
              <a:buNone/>
            </a:pPr>
            <a:r>
              <a:rPr lang="en-US" sz="1100" b="1" dirty="0">
                <a:solidFill>
                  <a:srgbClr val="FF6B6B"/>
                </a:solidFill>
              </a:rPr>
              <a:t>Core Concept:</a:t>
            </a:r>
            <a:r>
              <a:rPr lang="en-US" sz="1100" dirty="0">
                <a:solidFill>
                  <a:srgbClr val="E8F4FD"/>
                </a:solidFill>
              </a:rPr>
              <a:t> Most Gen AI projects fail not because the model was wrong — but because the organisation was unprepared, the data was impure, or people did not trust it. Three categories cover every challenge.</a:t>
            </a:r>
            <a:endParaRPr lang="en-US" sz="1100" dirty="0"/>
          </a:p>
        </p:txBody>
      </p:sp>
      <p:sp>
        <p:nvSpPr>
          <p:cNvPr id="9" name="Shape 6"/>
          <p:cNvSpPr/>
          <p:nvPr/>
        </p:nvSpPr>
        <p:spPr>
          <a:xfrm>
            <a:off x="274320" y="1719072"/>
            <a:ext cx="2761488" cy="3127248"/>
          </a:xfrm>
          <a:prstGeom prst="rect">
            <a:avLst/>
          </a:prstGeom>
          <a:solidFill>
            <a:srgbClr val="112244"/>
          </a:solidFill>
          <a:ln w="25400">
            <a:solidFill>
              <a:srgbClr val="00C8FF"/>
            </a:solidFill>
            <a:prstDash val="solid"/>
          </a:ln>
          <a:effectLst>
            <a:outerShdw blurRad="101600" dist="38100" dir="8100000" algn="bl" rotWithShape="0">
              <a:srgbClr val="000000">
                <a:alpha val="25000"/>
              </a:srgbClr>
            </a:outerShdw>
          </a:effectLst>
        </p:spPr>
      </p:sp>
      <p:sp>
        <p:nvSpPr>
          <p:cNvPr id="10" name="Shape 7"/>
          <p:cNvSpPr/>
          <p:nvPr/>
        </p:nvSpPr>
        <p:spPr>
          <a:xfrm>
            <a:off x="274320" y="1719072"/>
            <a:ext cx="2761488" cy="365760"/>
          </a:xfrm>
          <a:prstGeom prst="rect">
            <a:avLst/>
          </a:prstGeom>
          <a:solidFill>
            <a:srgbClr val="00C8FF"/>
          </a:solidFill>
          <a:ln w="12700">
            <a:solidFill>
              <a:srgbClr val="00C8FF"/>
            </a:solidFill>
            <a:prstDash val="solid"/>
          </a:ln>
        </p:spPr>
      </p:sp>
      <p:sp>
        <p:nvSpPr>
          <p:cNvPr id="11" name="Text 8"/>
          <p:cNvSpPr/>
          <p:nvPr/>
        </p:nvSpPr>
        <p:spPr>
          <a:xfrm>
            <a:off x="274320" y="1719072"/>
            <a:ext cx="2761488" cy="365760"/>
          </a:xfrm>
          <a:prstGeom prst="rect">
            <a:avLst/>
          </a:prstGeom>
          <a:noFill/>
          <a:ln/>
        </p:spPr>
        <p:txBody>
          <a:bodyPr wrap="square" rtlCol="0" anchor="ctr"/>
          <a:lstStyle/>
          <a:p>
            <a:pPr marL="0" indent="0" algn="ctr">
              <a:buNone/>
            </a:pPr>
            <a:r>
              <a:rPr lang="en-US" sz="1100" b="1" dirty="0">
                <a:solidFill>
                  <a:srgbClr val="0A1628"/>
                </a:solidFill>
              </a:rPr>
              <a:t>⚙️  Category 1</a:t>
            </a:r>
            <a:endParaRPr lang="en-US" sz="1100" dirty="0"/>
          </a:p>
        </p:txBody>
      </p:sp>
      <p:sp>
        <p:nvSpPr>
          <p:cNvPr id="12" name="Text 9"/>
          <p:cNvSpPr/>
          <p:nvPr/>
        </p:nvSpPr>
        <p:spPr>
          <a:xfrm>
            <a:off x="365760" y="2139696"/>
            <a:ext cx="2578608" cy="384048"/>
          </a:xfrm>
          <a:prstGeom prst="rect">
            <a:avLst/>
          </a:prstGeom>
          <a:noFill/>
          <a:ln/>
        </p:spPr>
        <p:txBody>
          <a:bodyPr wrap="square" rtlCol="0" anchor="ctr"/>
          <a:lstStyle/>
          <a:p>
            <a:pPr marL="0" indent="0">
              <a:buNone/>
            </a:pPr>
            <a:r>
              <a:rPr lang="en-US" sz="1500" b="1" dirty="0">
                <a:solidFill>
                  <a:srgbClr val="00C8FF"/>
                </a:solidFill>
              </a:rPr>
              <a:t>Technical</a:t>
            </a:r>
            <a:endParaRPr lang="en-US" sz="1500" dirty="0"/>
          </a:p>
        </p:txBody>
      </p:sp>
      <p:sp>
        <p:nvSpPr>
          <p:cNvPr id="13" name="Text 10"/>
          <p:cNvSpPr/>
          <p:nvPr/>
        </p:nvSpPr>
        <p:spPr>
          <a:xfrm>
            <a:off x="365760" y="2542032"/>
            <a:ext cx="2578608" cy="256032"/>
          </a:xfrm>
          <a:prstGeom prst="rect">
            <a:avLst/>
          </a:prstGeom>
          <a:noFill/>
          <a:ln/>
        </p:spPr>
        <p:txBody>
          <a:bodyPr wrap="square" rtlCol="0" anchor="ctr"/>
          <a:lstStyle/>
          <a:p>
            <a:pPr marL="0" indent="0">
              <a:buNone/>
            </a:pPr>
            <a:r>
              <a:rPr lang="en-US" sz="950" i="1" dirty="0">
                <a:solidFill>
                  <a:srgbClr val="A0B4C8"/>
                </a:solidFill>
              </a:rPr>
              <a:t>What the AI cannot do well</a:t>
            </a:r>
            <a:endParaRPr lang="en-US" sz="950" dirty="0"/>
          </a:p>
        </p:txBody>
      </p:sp>
      <p:sp>
        <p:nvSpPr>
          <p:cNvPr id="14" name="Text 11"/>
          <p:cNvSpPr/>
          <p:nvPr/>
        </p:nvSpPr>
        <p:spPr>
          <a:xfrm>
            <a:off x="365760" y="2816352"/>
            <a:ext cx="2578608" cy="256032"/>
          </a:xfrm>
          <a:prstGeom prst="rect">
            <a:avLst/>
          </a:prstGeom>
          <a:noFill/>
          <a:ln/>
        </p:spPr>
        <p:txBody>
          <a:bodyPr wrap="square" rtlCol="0" anchor="ctr"/>
          <a:lstStyle/>
          <a:p>
            <a:pPr marL="0" indent="0">
              <a:buNone/>
            </a:pPr>
            <a:r>
              <a:rPr lang="en-US" sz="1000" b="1" dirty="0">
                <a:solidFill>
                  <a:srgbClr val="00C8FF"/>
                </a:solidFill>
              </a:rPr>
              <a:t>5 challenge types</a:t>
            </a:r>
            <a:endParaRPr lang="en-US" sz="1000" dirty="0"/>
          </a:p>
        </p:txBody>
      </p:sp>
      <p:sp>
        <p:nvSpPr>
          <p:cNvPr id="15" name="Text 12"/>
          <p:cNvSpPr/>
          <p:nvPr/>
        </p:nvSpPr>
        <p:spPr>
          <a:xfrm>
            <a:off x="365760" y="3108960"/>
            <a:ext cx="2578608" cy="1664208"/>
          </a:xfrm>
          <a:prstGeom prst="rect">
            <a:avLst/>
          </a:prstGeom>
          <a:noFill/>
          <a:ln/>
        </p:spPr>
        <p:txBody>
          <a:bodyPr wrap="square" rtlCol="0" anchor="ctr"/>
          <a:lstStyle/>
          <a:p>
            <a:pPr marL="342900" indent="-342900">
              <a:buSzPct val="100000"/>
              <a:buChar char="•"/>
            </a:pPr>
            <a:r>
              <a:rPr lang="en-US" sz="1000" dirty="0">
                <a:solidFill>
                  <a:srgbClr val="E8F4FD"/>
                </a:solidFill>
              </a:rPr>
              <a:t>Data scarcity &amp; quality</a:t>
            </a:r>
            <a:endParaRPr lang="en-US" sz="1000" dirty="0"/>
          </a:p>
          <a:p>
            <a:pPr marL="342900" indent="-342900">
              <a:buSzPct val="100000"/>
              <a:buChar char="•"/>
            </a:pPr>
            <a:r>
              <a:rPr lang="en-US" sz="1000" dirty="0">
                <a:solidFill>
                  <a:srgbClr val="E8F4FD"/>
                </a:solidFill>
              </a:rPr>
              <a:t>Black box opacity</a:t>
            </a:r>
            <a:endParaRPr lang="en-US" sz="1000" dirty="0"/>
          </a:p>
          <a:p>
            <a:pPr marL="342900" indent="-342900">
              <a:buSzPct val="100000"/>
              <a:buChar char="•"/>
            </a:pPr>
            <a:r>
              <a:rPr lang="en-US" sz="1000" dirty="0">
                <a:solidFill>
                  <a:srgbClr val="E8F4FD"/>
                </a:solidFill>
              </a:rPr>
              <a:t>Hallucinations</a:t>
            </a:r>
            <a:endParaRPr lang="en-US" sz="1000" dirty="0"/>
          </a:p>
          <a:p>
            <a:pPr marL="342900" indent="-342900">
              <a:buSzPct val="100000"/>
              <a:buChar char="•"/>
            </a:pPr>
            <a:r>
              <a:rPr lang="en-US" sz="1000" dirty="0">
                <a:solidFill>
                  <a:srgbClr val="E8F4FD"/>
                </a:solidFill>
              </a:rPr>
              <a:t>Compute infrastructure</a:t>
            </a:r>
            <a:endParaRPr lang="en-US" sz="1000" dirty="0"/>
          </a:p>
          <a:p>
            <a:pPr marL="342900" indent="-342900">
              <a:buSzPct val="100000"/>
              <a:buChar char="•"/>
            </a:pPr>
            <a:r>
              <a:rPr lang="en-US" sz="1000" dirty="0">
                <a:solidFill>
                  <a:srgbClr val="E8F4FD"/>
                </a:solidFill>
              </a:rPr>
              <a:t>No universal standards</a:t>
            </a:r>
            <a:endParaRPr lang="en-US" sz="1000" dirty="0"/>
          </a:p>
        </p:txBody>
      </p:sp>
      <p:sp>
        <p:nvSpPr>
          <p:cNvPr id="16" name="Shape 13"/>
          <p:cNvSpPr/>
          <p:nvPr/>
        </p:nvSpPr>
        <p:spPr>
          <a:xfrm>
            <a:off x="3218688" y="1719072"/>
            <a:ext cx="2761488" cy="3127248"/>
          </a:xfrm>
          <a:prstGeom prst="rect">
            <a:avLst/>
          </a:prstGeom>
          <a:solidFill>
            <a:srgbClr val="112244"/>
          </a:solidFill>
          <a:ln w="25400">
            <a:solidFill>
              <a:srgbClr val="7B5EA7"/>
            </a:solidFill>
            <a:prstDash val="solid"/>
          </a:ln>
          <a:effectLst>
            <a:outerShdw blurRad="101600" dist="38100" dir="8100000" algn="bl" rotWithShape="0">
              <a:srgbClr val="000000">
                <a:alpha val="25000"/>
              </a:srgbClr>
            </a:outerShdw>
          </a:effectLst>
        </p:spPr>
      </p:sp>
      <p:sp>
        <p:nvSpPr>
          <p:cNvPr id="17" name="Shape 14"/>
          <p:cNvSpPr/>
          <p:nvPr/>
        </p:nvSpPr>
        <p:spPr>
          <a:xfrm>
            <a:off x="3218688" y="1719072"/>
            <a:ext cx="2761488" cy="365760"/>
          </a:xfrm>
          <a:prstGeom prst="rect">
            <a:avLst/>
          </a:prstGeom>
          <a:solidFill>
            <a:srgbClr val="7B5EA7"/>
          </a:solidFill>
          <a:ln w="12700">
            <a:solidFill>
              <a:srgbClr val="7B5EA7"/>
            </a:solidFill>
            <a:prstDash val="solid"/>
          </a:ln>
        </p:spPr>
      </p:sp>
      <p:sp>
        <p:nvSpPr>
          <p:cNvPr id="18" name="Text 15"/>
          <p:cNvSpPr/>
          <p:nvPr/>
        </p:nvSpPr>
        <p:spPr>
          <a:xfrm>
            <a:off x="3218688" y="1719072"/>
            <a:ext cx="2761488" cy="365760"/>
          </a:xfrm>
          <a:prstGeom prst="rect">
            <a:avLst/>
          </a:prstGeom>
          <a:noFill/>
          <a:ln/>
        </p:spPr>
        <p:txBody>
          <a:bodyPr wrap="square" rtlCol="0" anchor="ctr"/>
          <a:lstStyle/>
          <a:p>
            <a:pPr marL="0" indent="0" algn="ctr">
              <a:buNone/>
            </a:pPr>
            <a:r>
              <a:rPr lang="en-US" sz="1100" b="1" dirty="0">
                <a:solidFill>
                  <a:srgbClr val="0A1628"/>
                </a:solidFill>
              </a:rPr>
              <a:t>🏢  Category 2</a:t>
            </a:r>
            <a:endParaRPr lang="en-US" sz="1100" dirty="0"/>
          </a:p>
        </p:txBody>
      </p:sp>
      <p:sp>
        <p:nvSpPr>
          <p:cNvPr id="19" name="Text 16"/>
          <p:cNvSpPr/>
          <p:nvPr/>
        </p:nvSpPr>
        <p:spPr>
          <a:xfrm>
            <a:off x="3310128" y="2139696"/>
            <a:ext cx="2578608" cy="384048"/>
          </a:xfrm>
          <a:prstGeom prst="rect">
            <a:avLst/>
          </a:prstGeom>
          <a:noFill/>
          <a:ln/>
        </p:spPr>
        <p:txBody>
          <a:bodyPr wrap="square" rtlCol="0" anchor="ctr"/>
          <a:lstStyle/>
          <a:p>
            <a:pPr marL="0" indent="0">
              <a:buNone/>
            </a:pPr>
            <a:r>
              <a:rPr lang="en-US" sz="1500" b="1" dirty="0">
                <a:solidFill>
                  <a:srgbClr val="7B5EA7"/>
                </a:solidFill>
              </a:rPr>
              <a:t>Organisational</a:t>
            </a:r>
            <a:endParaRPr lang="en-US" sz="1500" dirty="0"/>
          </a:p>
        </p:txBody>
      </p:sp>
      <p:sp>
        <p:nvSpPr>
          <p:cNvPr id="20" name="Text 17"/>
          <p:cNvSpPr/>
          <p:nvPr/>
        </p:nvSpPr>
        <p:spPr>
          <a:xfrm>
            <a:off x="3310128" y="2542032"/>
            <a:ext cx="2578608" cy="256032"/>
          </a:xfrm>
          <a:prstGeom prst="rect">
            <a:avLst/>
          </a:prstGeom>
          <a:noFill/>
          <a:ln/>
        </p:spPr>
        <p:txBody>
          <a:bodyPr wrap="square" rtlCol="0" anchor="ctr"/>
          <a:lstStyle/>
          <a:p>
            <a:pPr marL="0" indent="0">
              <a:buNone/>
            </a:pPr>
            <a:r>
              <a:rPr lang="en-US" sz="950" i="1" dirty="0">
                <a:solidFill>
                  <a:srgbClr val="A0B4C8"/>
                </a:solidFill>
              </a:rPr>
              <a:t>What the business isn't ready for</a:t>
            </a:r>
            <a:endParaRPr lang="en-US" sz="950" dirty="0"/>
          </a:p>
        </p:txBody>
      </p:sp>
      <p:sp>
        <p:nvSpPr>
          <p:cNvPr id="21" name="Text 18"/>
          <p:cNvSpPr/>
          <p:nvPr/>
        </p:nvSpPr>
        <p:spPr>
          <a:xfrm>
            <a:off x="3310128" y="2816352"/>
            <a:ext cx="2578608" cy="256032"/>
          </a:xfrm>
          <a:prstGeom prst="rect">
            <a:avLst/>
          </a:prstGeom>
          <a:noFill/>
          <a:ln/>
        </p:spPr>
        <p:txBody>
          <a:bodyPr wrap="square" rtlCol="0" anchor="ctr"/>
          <a:lstStyle/>
          <a:p>
            <a:pPr marL="0" indent="0">
              <a:buNone/>
            </a:pPr>
            <a:r>
              <a:rPr lang="en-US" sz="1000" b="1" dirty="0">
                <a:solidFill>
                  <a:srgbClr val="7B5EA7"/>
                </a:solidFill>
              </a:rPr>
              <a:t>5 challenge types</a:t>
            </a:r>
            <a:endParaRPr lang="en-US" sz="1000" dirty="0"/>
          </a:p>
        </p:txBody>
      </p:sp>
      <p:sp>
        <p:nvSpPr>
          <p:cNvPr id="22" name="Text 19"/>
          <p:cNvSpPr/>
          <p:nvPr/>
        </p:nvSpPr>
        <p:spPr>
          <a:xfrm>
            <a:off x="3310128" y="3108960"/>
            <a:ext cx="2578608" cy="1664208"/>
          </a:xfrm>
          <a:prstGeom prst="rect">
            <a:avLst/>
          </a:prstGeom>
          <a:noFill/>
          <a:ln/>
        </p:spPr>
        <p:txBody>
          <a:bodyPr wrap="square" rtlCol="0" anchor="ctr"/>
          <a:lstStyle/>
          <a:p>
            <a:pPr marL="342900" indent="-342900">
              <a:buSzPct val="100000"/>
              <a:buChar char="•"/>
            </a:pPr>
            <a:r>
              <a:rPr lang="en-US" sz="1000" dirty="0">
                <a:solidFill>
                  <a:srgbClr val="E8F4FD"/>
                </a:solidFill>
              </a:rPr>
              <a:t>Copyright &amp; IP risks</a:t>
            </a:r>
            <a:endParaRPr lang="en-US" sz="1000" dirty="0"/>
          </a:p>
          <a:p>
            <a:pPr marL="342900" indent="-342900">
              <a:buSzPct val="100000"/>
              <a:buChar char="•"/>
            </a:pPr>
            <a:r>
              <a:rPr lang="en-US" sz="1000" dirty="0">
                <a:solidFill>
                  <a:srgbClr val="E8F4FD"/>
                </a:solidFill>
              </a:rPr>
              <a:t>Talent shortage</a:t>
            </a:r>
            <a:endParaRPr lang="en-US" sz="1000" dirty="0"/>
          </a:p>
          <a:p>
            <a:pPr marL="342900" indent="-342900">
              <a:buSzPct val="100000"/>
              <a:buChar char="•"/>
            </a:pPr>
            <a:r>
              <a:rPr lang="en-US" sz="1000" dirty="0">
                <a:solidFill>
                  <a:srgbClr val="E8F4FD"/>
                </a:solidFill>
              </a:rPr>
              <a:t>Integration complexity</a:t>
            </a:r>
            <a:endParaRPr lang="en-US" sz="1000" dirty="0"/>
          </a:p>
          <a:p>
            <a:pPr marL="342900" indent="-342900">
              <a:buSzPct val="100000"/>
              <a:buChar char="•"/>
            </a:pPr>
            <a:r>
              <a:rPr lang="en-US" sz="1000" dirty="0">
                <a:solidFill>
                  <a:srgbClr val="E8F4FD"/>
                </a:solidFill>
              </a:rPr>
              <a:t>Change resistance</a:t>
            </a:r>
            <a:endParaRPr lang="en-US" sz="1000" dirty="0"/>
          </a:p>
          <a:p>
            <a:pPr marL="342900" indent="-342900">
              <a:buSzPct val="100000"/>
              <a:buChar char="•"/>
            </a:pPr>
            <a:r>
              <a:rPr lang="en-US" sz="1000" dirty="0">
                <a:solidFill>
                  <a:srgbClr val="E8F4FD"/>
                </a:solidFill>
              </a:rPr>
              <a:t>Unclear ROI / value</a:t>
            </a:r>
            <a:endParaRPr lang="en-US" sz="1000" dirty="0"/>
          </a:p>
        </p:txBody>
      </p:sp>
      <p:sp>
        <p:nvSpPr>
          <p:cNvPr id="23" name="Shape 20"/>
          <p:cNvSpPr/>
          <p:nvPr/>
        </p:nvSpPr>
        <p:spPr>
          <a:xfrm>
            <a:off x="6163056" y="1719072"/>
            <a:ext cx="2761488" cy="3127248"/>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sp>
      <p:sp>
        <p:nvSpPr>
          <p:cNvPr id="24" name="Shape 21"/>
          <p:cNvSpPr/>
          <p:nvPr/>
        </p:nvSpPr>
        <p:spPr>
          <a:xfrm>
            <a:off x="6163056" y="1719072"/>
            <a:ext cx="2761488" cy="365760"/>
          </a:xfrm>
          <a:prstGeom prst="rect">
            <a:avLst/>
          </a:prstGeom>
          <a:solidFill>
            <a:srgbClr val="FFD166"/>
          </a:solidFill>
          <a:ln w="12700">
            <a:solidFill>
              <a:srgbClr val="FFD166"/>
            </a:solidFill>
            <a:prstDash val="solid"/>
          </a:ln>
        </p:spPr>
      </p:sp>
      <p:sp>
        <p:nvSpPr>
          <p:cNvPr id="25" name="Text 22"/>
          <p:cNvSpPr/>
          <p:nvPr/>
        </p:nvSpPr>
        <p:spPr>
          <a:xfrm>
            <a:off x="6163056" y="1719072"/>
            <a:ext cx="2761488" cy="365760"/>
          </a:xfrm>
          <a:prstGeom prst="rect">
            <a:avLst/>
          </a:prstGeom>
          <a:noFill/>
          <a:ln/>
        </p:spPr>
        <p:txBody>
          <a:bodyPr wrap="square" rtlCol="0" anchor="ctr"/>
          <a:lstStyle/>
          <a:p>
            <a:pPr marL="0" indent="0" algn="ctr">
              <a:buNone/>
            </a:pPr>
            <a:r>
              <a:rPr lang="en-US" sz="1100" b="1" dirty="0">
                <a:solidFill>
                  <a:srgbClr val="0A1628"/>
                </a:solidFill>
              </a:rPr>
              <a:t>👥  Category 3</a:t>
            </a:r>
            <a:endParaRPr lang="en-US" sz="1100" dirty="0"/>
          </a:p>
        </p:txBody>
      </p:sp>
      <p:sp>
        <p:nvSpPr>
          <p:cNvPr id="26" name="Text 23"/>
          <p:cNvSpPr/>
          <p:nvPr/>
        </p:nvSpPr>
        <p:spPr>
          <a:xfrm>
            <a:off x="6254496" y="2139696"/>
            <a:ext cx="2578608" cy="384048"/>
          </a:xfrm>
          <a:prstGeom prst="rect">
            <a:avLst/>
          </a:prstGeom>
          <a:noFill/>
          <a:ln/>
        </p:spPr>
        <p:txBody>
          <a:bodyPr wrap="square" rtlCol="0" anchor="ctr"/>
          <a:lstStyle/>
          <a:p>
            <a:pPr marL="0" indent="0">
              <a:buNone/>
            </a:pPr>
            <a:r>
              <a:rPr lang="en-US" sz="1500" b="1" dirty="0">
                <a:solidFill>
                  <a:srgbClr val="FFD166"/>
                </a:solidFill>
              </a:rPr>
              <a:t>Cultural</a:t>
            </a:r>
            <a:endParaRPr lang="en-US" sz="1500" dirty="0"/>
          </a:p>
        </p:txBody>
      </p:sp>
      <p:sp>
        <p:nvSpPr>
          <p:cNvPr id="27" name="Text 24"/>
          <p:cNvSpPr/>
          <p:nvPr/>
        </p:nvSpPr>
        <p:spPr>
          <a:xfrm>
            <a:off x="6254496" y="2542032"/>
            <a:ext cx="2578608" cy="256032"/>
          </a:xfrm>
          <a:prstGeom prst="rect">
            <a:avLst/>
          </a:prstGeom>
          <a:noFill/>
          <a:ln/>
        </p:spPr>
        <p:txBody>
          <a:bodyPr wrap="square" rtlCol="0" anchor="ctr"/>
          <a:lstStyle/>
          <a:p>
            <a:pPr marL="0" indent="0">
              <a:buNone/>
            </a:pPr>
            <a:r>
              <a:rPr lang="en-US" sz="950" i="1" dirty="0">
                <a:solidFill>
                  <a:srgbClr val="A0B4C8"/>
                </a:solidFill>
              </a:rPr>
              <a:t>What people aren't ready for</a:t>
            </a:r>
            <a:endParaRPr lang="en-US" sz="950" dirty="0"/>
          </a:p>
        </p:txBody>
      </p:sp>
      <p:sp>
        <p:nvSpPr>
          <p:cNvPr id="28" name="Text 25"/>
          <p:cNvSpPr/>
          <p:nvPr/>
        </p:nvSpPr>
        <p:spPr>
          <a:xfrm>
            <a:off x="6254496" y="2816352"/>
            <a:ext cx="2578608" cy="256032"/>
          </a:xfrm>
          <a:prstGeom prst="rect">
            <a:avLst/>
          </a:prstGeom>
          <a:noFill/>
          <a:ln/>
        </p:spPr>
        <p:txBody>
          <a:bodyPr wrap="square" rtlCol="0" anchor="ctr"/>
          <a:lstStyle/>
          <a:p>
            <a:pPr marL="0" indent="0">
              <a:buNone/>
            </a:pPr>
            <a:r>
              <a:rPr lang="en-US" sz="1000" b="1" dirty="0">
                <a:solidFill>
                  <a:srgbClr val="FFD166"/>
                </a:solidFill>
              </a:rPr>
              <a:t>4 challenge types</a:t>
            </a:r>
            <a:endParaRPr lang="en-US" sz="1000" dirty="0"/>
          </a:p>
        </p:txBody>
      </p:sp>
      <p:sp>
        <p:nvSpPr>
          <p:cNvPr id="29" name="Text 26"/>
          <p:cNvSpPr/>
          <p:nvPr/>
        </p:nvSpPr>
        <p:spPr>
          <a:xfrm>
            <a:off x="6254496" y="3108960"/>
            <a:ext cx="2578608" cy="1664208"/>
          </a:xfrm>
          <a:prstGeom prst="rect">
            <a:avLst/>
          </a:prstGeom>
          <a:noFill/>
          <a:ln/>
        </p:spPr>
        <p:txBody>
          <a:bodyPr wrap="square" rtlCol="0" anchor="ctr"/>
          <a:lstStyle/>
          <a:p>
            <a:pPr marL="342900" indent="-342900">
              <a:buSzPct val="100000"/>
              <a:buChar char="•"/>
            </a:pPr>
            <a:r>
              <a:rPr lang="en-US" sz="1000" dirty="0">
                <a:solidFill>
                  <a:srgbClr val="E8F4FD"/>
                </a:solidFill>
              </a:rPr>
              <a:t>Fear of failure</a:t>
            </a:r>
            <a:endParaRPr lang="en-US" sz="1000" dirty="0"/>
          </a:p>
          <a:p>
            <a:pPr marL="342900" indent="-342900">
              <a:buSzPct val="100000"/>
              <a:buChar char="•"/>
            </a:pPr>
            <a:r>
              <a:rPr lang="en-US" sz="1000" dirty="0">
                <a:solidFill>
                  <a:srgbClr val="E8F4FD"/>
                </a:solidFill>
              </a:rPr>
              <a:t>Data hoarding</a:t>
            </a:r>
            <a:endParaRPr lang="en-US" sz="1000" dirty="0"/>
          </a:p>
          <a:p>
            <a:pPr marL="342900" indent="-342900">
              <a:buSzPct val="100000"/>
              <a:buChar char="•"/>
            </a:pPr>
            <a:r>
              <a:rPr lang="en-US" sz="1000" dirty="0">
                <a:solidFill>
                  <a:srgbClr val="E8F4FD"/>
                </a:solidFill>
              </a:rPr>
              <a:t>Transparency gaps</a:t>
            </a:r>
            <a:endParaRPr lang="en-US" sz="1000" dirty="0"/>
          </a:p>
          <a:p>
            <a:pPr marL="342900" indent="-342900">
              <a:buSzPct val="100000"/>
              <a:buChar char="•"/>
            </a:pPr>
            <a:r>
              <a:rPr lang="en-US" sz="1000" dirty="0">
                <a:solidFill>
                  <a:srgbClr val="E8F4FD"/>
                </a:solidFill>
              </a:rPr>
              <a:t>No continuous learning</a:t>
            </a:r>
            <a:endParaRPr lang="en-US" sz="1000" dirty="0"/>
          </a:p>
        </p:txBody>
      </p:sp>
    </p:spTree>
    <p:extLst>
      <p:ext uri="{BB962C8B-B14F-4D97-AF65-F5344CB8AC3E}">
        <p14:creationId xmlns:p14="http://schemas.microsoft.com/office/powerpoint/2010/main" val="19075560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Shape 1"/>
          <p:cNvSpPr/>
          <p:nvPr/>
        </p:nvSpPr>
        <p:spPr>
          <a:xfrm>
            <a:off x="365760" y="128016"/>
            <a:ext cx="2926080" cy="274320"/>
          </a:xfrm>
          <a:prstGeom prst="rect">
            <a:avLst/>
          </a:prstGeom>
          <a:solidFill>
            <a:srgbClr val="00C8FF"/>
          </a:solidFill>
          <a:ln w="12700">
            <a:solidFill>
              <a:srgbClr val="00C8FF"/>
            </a:solidFill>
            <a:prstDash val="solid"/>
          </a:ln>
        </p:spPr>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7 · TECHNICAL CHALLENGES</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Category 1: Technical Challenges</a:t>
            </a:r>
            <a:endParaRPr lang="en-US" sz="2200" dirty="0"/>
          </a:p>
        </p:txBody>
      </p:sp>
      <p:sp>
        <p:nvSpPr>
          <p:cNvPr id="6" name="Shape 4"/>
          <p:cNvSpPr/>
          <p:nvPr/>
        </p:nvSpPr>
        <p:spPr>
          <a:xfrm>
            <a:off x="274320" y="1024128"/>
            <a:ext cx="8595360" cy="713232"/>
          </a:xfrm>
          <a:prstGeom prst="rect">
            <a:avLst/>
          </a:prstGeom>
          <a:solidFill>
            <a:srgbClr val="112244"/>
          </a:solidFill>
          <a:ln w="19050">
            <a:solidFill>
              <a:srgbClr val="00C8FF"/>
            </a:solidFill>
            <a:prstDash val="solid"/>
          </a:ln>
          <a:effectLst>
            <a:outerShdw blurRad="101600" dist="38100" dir="8100000" algn="bl" rotWithShape="0">
              <a:srgbClr val="000000">
                <a:alpha val="25000"/>
              </a:srgbClr>
            </a:outerShdw>
          </a:effectLst>
        </p:spPr>
      </p:sp>
      <p:sp>
        <p:nvSpPr>
          <p:cNvPr id="7" name="Shape 5"/>
          <p:cNvSpPr/>
          <p:nvPr/>
        </p:nvSpPr>
        <p:spPr>
          <a:xfrm>
            <a:off x="274320" y="1024128"/>
            <a:ext cx="54864" cy="713232"/>
          </a:xfrm>
          <a:prstGeom prst="rect">
            <a:avLst/>
          </a:prstGeom>
          <a:solidFill>
            <a:srgbClr val="00C8FF"/>
          </a:solidFill>
          <a:ln w="12700">
            <a:solidFill>
              <a:srgbClr val="00C8FF"/>
            </a:solidFill>
            <a:prstDash val="solid"/>
          </a:ln>
        </p:spPr>
      </p:sp>
      <p:sp>
        <p:nvSpPr>
          <p:cNvPr id="8" name="Text 6"/>
          <p:cNvSpPr/>
          <p:nvPr/>
        </p:nvSpPr>
        <p:spPr>
          <a:xfrm>
            <a:off x="438912" y="1097280"/>
            <a:ext cx="4389120" cy="329184"/>
          </a:xfrm>
          <a:prstGeom prst="rect">
            <a:avLst/>
          </a:prstGeom>
          <a:noFill/>
          <a:ln/>
        </p:spPr>
        <p:txBody>
          <a:bodyPr wrap="square" rtlCol="0" anchor="ctr"/>
          <a:lstStyle/>
          <a:p>
            <a:pPr marL="0" indent="0">
              <a:buNone/>
            </a:pPr>
            <a:r>
              <a:rPr lang="en-US" sz="1150" b="1" dirty="0">
                <a:solidFill>
                  <a:srgbClr val="00C8FF"/>
                </a:solidFill>
              </a:rPr>
              <a:t>Data Scarcity &amp; Quality</a:t>
            </a:r>
            <a:endParaRPr lang="en-US" sz="1150" dirty="0"/>
          </a:p>
        </p:txBody>
      </p:sp>
      <p:sp>
        <p:nvSpPr>
          <p:cNvPr id="9" name="Text 7"/>
          <p:cNvSpPr/>
          <p:nvPr/>
        </p:nvSpPr>
        <p:spPr>
          <a:xfrm>
            <a:off x="438912" y="1426464"/>
            <a:ext cx="8321040" cy="256032"/>
          </a:xfrm>
          <a:prstGeom prst="rect">
            <a:avLst/>
          </a:prstGeom>
          <a:noFill/>
          <a:ln/>
        </p:spPr>
        <p:txBody>
          <a:bodyPr wrap="square" rtlCol="0" anchor="ctr"/>
          <a:lstStyle/>
          <a:p>
            <a:pPr marL="0" indent="0">
              <a:buNone/>
            </a:pPr>
            <a:r>
              <a:rPr lang="en-US" sz="1000" b="1" dirty="0">
                <a:solidFill>
                  <a:srgbClr val="00C8FF"/>
                </a:solidFill>
              </a:rPr>
              <a:t>Solutions: </a:t>
            </a:r>
            <a:r>
              <a:rPr lang="en-US" sz="1000" dirty="0">
                <a:solidFill>
                  <a:srgbClr val="E8F4FD"/>
                </a:solidFill>
              </a:rPr>
              <a:t>CTGAN / SDV synthetic data · Transfer learning · Augmentation</a:t>
            </a:r>
            <a:endParaRPr lang="en-US" sz="1000" dirty="0"/>
          </a:p>
        </p:txBody>
      </p:sp>
      <p:sp>
        <p:nvSpPr>
          <p:cNvPr id="10" name="Shape 8"/>
          <p:cNvSpPr/>
          <p:nvPr/>
        </p:nvSpPr>
        <p:spPr>
          <a:xfrm>
            <a:off x="274320" y="1828800"/>
            <a:ext cx="8595360" cy="713232"/>
          </a:xfrm>
          <a:prstGeom prst="rect">
            <a:avLst/>
          </a:prstGeom>
          <a:solidFill>
            <a:srgbClr val="112244"/>
          </a:solidFill>
          <a:ln w="19050">
            <a:solidFill>
              <a:srgbClr val="7B5EA7"/>
            </a:solidFill>
            <a:prstDash val="solid"/>
          </a:ln>
          <a:effectLst>
            <a:outerShdw blurRad="101600" dist="38100" dir="8100000" algn="bl" rotWithShape="0">
              <a:srgbClr val="000000">
                <a:alpha val="25000"/>
              </a:srgbClr>
            </a:outerShdw>
          </a:effectLst>
        </p:spPr>
      </p:sp>
      <p:sp>
        <p:nvSpPr>
          <p:cNvPr id="11" name="Shape 9"/>
          <p:cNvSpPr/>
          <p:nvPr/>
        </p:nvSpPr>
        <p:spPr>
          <a:xfrm>
            <a:off x="274320" y="1828800"/>
            <a:ext cx="54864" cy="713232"/>
          </a:xfrm>
          <a:prstGeom prst="rect">
            <a:avLst/>
          </a:prstGeom>
          <a:solidFill>
            <a:srgbClr val="7B5EA7"/>
          </a:solidFill>
          <a:ln w="12700">
            <a:solidFill>
              <a:srgbClr val="7B5EA7"/>
            </a:solidFill>
            <a:prstDash val="solid"/>
          </a:ln>
        </p:spPr>
      </p:sp>
      <p:sp>
        <p:nvSpPr>
          <p:cNvPr id="12" name="Text 10"/>
          <p:cNvSpPr/>
          <p:nvPr/>
        </p:nvSpPr>
        <p:spPr>
          <a:xfrm>
            <a:off x="438912" y="1901952"/>
            <a:ext cx="4389120" cy="329184"/>
          </a:xfrm>
          <a:prstGeom prst="rect">
            <a:avLst/>
          </a:prstGeom>
          <a:noFill/>
          <a:ln/>
        </p:spPr>
        <p:txBody>
          <a:bodyPr wrap="square" rtlCol="0" anchor="ctr"/>
          <a:lstStyle/>
          <a:p>
            <a:pPr marL="0" indent="0">
              <a:buNone/>
            </a:pPr>
            <a:r>
              <a:rPr lang="en-US" sz="1150" b="1" dirty="0">
                <a:solidFill>
                  <a:srgbClr val="7B5EA7"/>
                </a:solidFill>
              </a:rPr>
              <a:t>Black Box Opacity (Interpretability)</a:t>
            </a:r>
            <a:endParaRPr lang="en-US" sz="1150" dirty="0"/>
          </a:p>
        </p:txBody>
      </p:sp>
      <p:sp>
        <p:nvSpPr>
          <p:cNvPr id="13" name="Text 11"/>
          <p:cNvSpPr/>
          <p:nvPr/>
        </p:nvSpPr>
        <p:spPr>
          <a:xfrm>
            <a:off x="438912" y="2231136"/>
            <a:ext cx="8321040" cy="256032"/>
          </a:xfrm>
          <a:prstGeom prst="rect">
            <a:avLst/>
          </a:prstGeom>
          <a:noFill/>
          <a:ln/>
        </p:spPr>
        <p:txBody>
          <a:bodyPr wrap="square" rtlCol="0" anchor="ctr"/>
          <a:lstStyle/>
          <a:p>
            <a:pPr marL="0" indent="0">
              <a:buNone/>
            </a:pPr>
            <a:r>
              <a:rPr lang="en-US" sz="1000" b="1" dirty="0">
                <a:solidFill>
                  <a:srgbClr val="7B5EA7"/>
                </a:solidFill>
              </a:rPr>
              <a:t>Solutions: </a:t>
            </a:r>
            <a:r>
              <a:rPr lang="en-US" sz="1000" dirty="0">
                <a:solidFill>
                  <a:srgbClr val="E8F4FD"/>
                </a:solidFill>
              </a:rPr>
              <a:t>LIME · SHAP · Model distillation · Attention visualisation</a:t>
            </a:r>
            <a:endParaRPr lang="en-US" sz="1000" dirty="0"/>
          </a:p>
        </p:txBody>
      </p:sp>
      <p:sp>
        <p:nvSpPr>
          <p:cNvPr id="14" name="Shape 12"/>
          <p:cNvSpPr/>
          <p:nvPr/>
        </p:nvSpPr>
        <p:spPr>
          <a:xfrm>
            <a:off x="274320" y="2633472"/>
            <a:ext cx="8595360" cy="713232"/>
          </a:xfrm>
          <a:prstGeom prst="rect">
            <a:avLst/>
          </a:prstGeom>
          <a:solidFill>
            <a:srgbClr val="112244"/>
          </a:solidFill>
          <a:ln w="19050">
            <a:solidFill>
              <a:srgbClr val="00E5A0"/>
            </a:solidFill>
            <a:prstDash val="solid"/>
          </a:ln>
          <a:effectLst>
            <a:outerShdw blurRad="101600" dist="38100" dir="8100000" algn="bl" rotWithShape="0">
              <a:srgbClr val="000000">
                <a:alpha val="25000"/>
              </a:srgbClr>
            </a:outerShdw>
          </a:effectLst>
        </p:spPr>
      </p:sp>
      <p:sp>
        <p:nvSpPr>
          <p:cNvPr id="15" name="Shape 13"/>
          <p:cNvSpPr/>
          <p:nvPr/>
        </p:nvSpPr>
        <p:spPr>
          <a:xfrm>
            <a:off x="274320" y="2633472"/>
            <a:ext cx="54864" cy="713232"/>
          </a:xfrm>
          <a:prstGeom prst="rect">
            <a:avLst/>
          </a:prstGeom>
          <a:solidFill>
            <a:srgbClr val="00E5A0"/>
          </a:solidFill>
          <a:ln w="12700">
            <a:solidFill>
              <a:srgbClr val="00E5A0"/>
            </a:solidFill>
            <a:prstDash val="solid"/>
          </a:ln>
        </p:spPr>
      </p:sp>
      <p:sp>
        <p:nvSpPr>
          <p:cNvPr id="16" name="Text 14"/>
          <p:cNvSpPr/>
          <p:nvPr/>
        </p:nvSpPr>
        <p:spPr>
          <a:xfrm>
            <a:off x="438912" y="2706624"/>
            <a:ext cx="4389120" cy="329184"/>
          </a:xfrm>
          <a:prstGeom prst="rect">
            <a:avLst/>
          </a:prstGeom>
          <a:noFill/>
          <a:ln/>
        </p:spPr>
        <p:txBody>
          <a:bodyPr wrap="square" rtlCol="0" anchor="ctr"/>
          <a:lstStyle/>
          <a:p>
            <a:pPr marL="0" indent="0">
              <a:buNone/>
            </a:pPr>
            <a:r>
              <a:rPr lang="en-US" sz="1150" b="1" dirty="0">
                <a:solidFill>
                  <a:srgbClr val="00E5A0"/>
                </a:solidFill>
              </a:rPr>
              <a:t>Hallucination Issues</a:t>
            </a:r>
            <a:endParaRPr lang="en-US" sz="1150" dirty="0"/>
          </a:p>
        </p:txBody>
      </p:sp>
      <p:sp>
        <p:nvSpPr>
          <p:cNvPr id="17" name="Text 15"/>
          <p:cNvSpPr/>
          <p:nvPr/>
        </p:nvSpPr>
        <p:spPr>
          <a:xfrm>
            <a:off x="438912" y="3035808"/>
            <a:ext cx="8321040" cy="256032"/>
          </a:xfrm>
          <a:prstGeom prst="rect">
            <a:avLst/>
          </a:prstGeom>
          <a:noFill/>
          <a:ln/>
        </p:spPr>
        <p:txBody>
          <a:bodyPr wrap="square" rtlCol="0" anchor="ctr"/>
          <a:lstStyle/>
          <a:p>
            <a:pPr marL="0" indent="0">
              <a:buNone/>
            </a:pPr>
            <a:r>
              <a:rPr lang="en-US" sz="1000" b="1" dirty="0">
                <a:solidFill>
                  <a:srgbClr val="00E5A0"/>
                </a:solidFill>
              </a:rPr>
              <a:t>Solutions: </a:t>
            </a:r>
            <a:r>
              <a:rPr lang="en-US" sz="1000" dirty="0">
                <a:solidFill>
                  <a:srgbClr val="E8F4FD"/>
                </a:solidFill>
              </a:rPr>
              <a:t>RAG (Retrieval Augmented Generation) · Human-in-the-loop · Verified source grounding</a:t>
            </a:r>
            <a:endParaRPr lang="en-US" sz="1000" dirty="0"/>
          </a:p>
        </p:txBody>
      </p:sp>
      <p:sp>
        <p:nvSpPr>
          <p:cNvPr id="18" name="Shape 16"/>
          <p:cNvSpPr/>
          <p:nvPr/>
        </p:nvSpPr>
        <p:spPr>
          <a:xfrm>
            <a:off x="274320" y="3438144"/>
            <a:ext cx="8595360" cy="713232"/>
          </a:xfrm>
          <a:prstGeom prst="rect">
            <a:avLst/>
          </a:prstGeom>
          <a:solidFill>
            <a:srgbClr val="112244"/>
          </a:solidFill>
          <a:ln w="19050">
            <a:solidFill>
              <a:srgbClr val="FFD166"/>
            </a:solidFill>
            <a:prstDash val="solid"/>
          </a:ln>
          <a:effectLst>
            <a:outerShdw blurRad="101600" dist="38100" dir="8100000" algn="bl" rotWithShape="0">
              <a:srgbClr val="000000">
                <a:alpha val="25000"/>
              </a:srgbClr>
            </a:outerShdw>
          </a:effectLst>
        </p:spPr>
      </p:sp>
      <p:sp>
        <p:nvSpPr>
          <p:cNvPr id="19" name="Shape 17"/>
          <p:cNvSpPr/>
          <p:nvPr/>
        </p:nvSpPr>
        <p:spPr>
          <a:xfrm>
            <a:off x="274320" y="3438144"/>
            <a:ext cx="54864" cy="713232"/>
          </a:xfrm>
          <a:prstGeom prst="rect">
            <a:avLst/>
          </a:prstGeom>
          <a:solidFill>
            <a:srgbClr val="FFD166"/>
          </a:solidFill>
          <a:ln w="12700">
            <a:solidFill>
              <a:srgbClr val="FFD166"/>
            </a:solidFill>
            <a:prstDash val="solid"/>
          </a:ln>
        </p:spPr>
      </p:sp>
      <p:sp>
        <p:nvSpPr>
          <p:cNvPr id="20" name="Text 18"/>
          <p:cNvSpPr/>
          <p:nvPr/>
        </p:nvSpPr>
        <p:spPr>
          <a:xfrm>
            <a:off x="438912" y="3511296"/>
            <a:ext cx="4389120" cy="329184"/>
          </a:xfrm>
          <a:prstGeom prst="rect">
            <a:avLst/>
          </a:prstGeom>
          <a:noFill/>
          <a:ln/>
        </p:spPr>
        <p:txBody>
          <a:bodyPr wrap="square" rtlCol="0" anchor="ctr"/>
          <a:lstStyle/>
          <a:p>
            <a:pPr marL="0" indent="0">
              <a:buNone/>
            </a:pPr>
            <a:r>
              <a:rPr lang="en-US" sz="1150" b="1" dirty="0">
                <a:solidFill>
                  <a:srgbClr val="FFD166"/>
                </a:solidFill>
              </a:rPr>
              <a:t>Infrastructure Demands</a:t>
            </a:r>
            <a:endParaRPr lang="en-US" sz="1150" dirty="0"/>
          </a:p>
        </p:txBody>
      </p:sp>
      <p:sp>
        <p:nvSpPr>
          <p:cNvPr id="21" name="Text 19"/>
          <p:cNvSpPr/>
          <p:nvPr/>
        </p:nvSpPr>
        <p:spPr>
          <a:xfrm>
            <a:off x="438912" y="3840480"/>
            <a:ext cx="8321040" cy="256032"/>
          </a:xfrm>
          <a:prstGeom prst="rect">
            <a:avLst/>
          </a:prstGeom>
          <a:noFill/>
          <a:ln/>
        </p:spPr>
        <p:txBody>
          <a:bodyPr wrap="square" rtlCol="0" anchor="ctr"/>
          <a:lstStyle/>
          <a:p>
            <a:pPr marL="0" indent="0">
              <a:buNone/>
            </a:pPr>
            <a:r>
              <a:rPr lang="en-US" sz="1000" b="1" dirty="0">
                <a:solidFill>
                  <a:srgbClr val="FFD166"/>
                </a:solidFill>
              </a:rPr>
              <a:t>Solutions: </a:t>
            </a:r>
            <a:r>
              <a:rPr lang="en-US" sz="1000" dirty="0">
                <a:solidFill>
                  <a:srgbClr val="E8F4FD"/>
                </a:solidFill>
              </a:rPr>
              <a:t>Cloud APIs (watsonx.ai, OpenAI) · LoRA / PEFT fine-tuning · Model quantisation</a:t>
            </a:r>
            <a:endParaRPr lang="en-US" sz="1000" dirty="0"/>
          </a:p>
        </p:txBody>
      </p:sp>
      <p:sp>
        <p:nvSpPr>
          <p:cNvPr id="22" name="Shape 20"/>
          <p:cNvSpPr/>
          <p:nvPr/>
        </p:nvSpPr>
        <p:spPr>
          <a:xfrm>
            <a:off x="274320" y="4242816"/>
            <a:ext cx="8595360" cy="713232"/>
          </a:xfrm>
          <a:prstGeom prst="rect">
            <a:avLst/>
          </a:prstGeom>
          <a:solidFill>
            <a:srgbClr val="112244"/>
          </a:solidFill>
          <a:ln w="19050">
            <a:solidFill>
              <a:srgbClr val="FF6B6B"/>
            </a:solidFill>
            <a:prstDash val="solid"/>
          </a:ln>
          <a:effectLst>
            <a:outerShdw blurRad="101600" dist="38100" dir="8100000" algn="bl" rotWithShape="0">
              <a:srgbClr val="000000">
                <a:alpha val="25000"/>
              </a:srgbClr>
            </a:outerShdw>
          </a:effectLst>
        </p:spPr>
      </p:sp>
      <p:sp>
        <p:nvSpPr>
          <p:cNvPr id="23" name="Shape 21"/>
          <p:cNvSpPr/>
          <p:nvPr/>
        </p:nvSpPr>
        <p:spPr>
          <a:xfrm>
            <a:off x="274320" y="4242816"/>
            <a:ext cx="54864" cy="713232"/>
          </a:xfrm>
          <a:prstGeom prst="rect">
            <a:avLst/>
          </a:prstGeom>
          <a:solidFill>
            <a:srgbClr val="FF6B6B"/>
          </a:solidFill>
          <a:ln w="12700">
            <a:solidFill>
              <a:srgbClr val="FF6B6B"/>
            </a:solidFill>
            <a:prstDash val="solid"/>
          </a:ln>
        </p:spPr>
      </p:sp>
      <p:sp>
        <p:nvSpPr>
          <p:cNvPr id="24" name="Text 22"/>
          <p:cNvSpPr/>
          <p:nvPr/>
        </p:nvSpPr>
        <p:spPr>
          <a:xfrm>
            <a:off x="438912" y="4315968"/>
            <a:ext cx="4389120" cy="329184"/>
          </a:xfrm>
          <a:prstGeom prst="rect">
            <a:avLst/>
          </a:prstGeom>
          <a:noFill/>
          <a:ln/>
        </p:spPr>
        <p:txBody>
          <a:bodyPr wrap="square" rtlCol="0" anchor="ctr"/>
          <a:lstStyle/>
          <a:p>
            <a:pPr marL="0" indent="0">
              <a:buNone/>
            </a:pPr>
            <a:r>
              <a:rPr lang="en-US" sz="1150" b="1" dirty="0">
                <a:solidFill>
                  <a:srgbClr val="FF6B6B"/>
                </a:solidFill>
              </a:rPr>
              <a:t>Lack of Universal Standards</a:t>
            </a:r>
            <a:endParaRPr lang="en-US" sz="1150" dirty="0"/>
          </a:p>
        </p:txBody>
      </p:sp>
      <p:sp>
        <p:nvSpPr>
          <p:cNvPr id="25" name="Text 23"/>
          <p:cNvSpPr/>
          <p:nvPr/>
        </p:nvSpPr>
        <p:spPr>
          <a:xfrm>
            <a:off x="438912" y="4645152"/>
            <a:ext cx="8321040" cy="256032"/>
          </a:xfrm>
          <a:prstGeom prst="rect">
            <a:avLst/>
          </a:prstGeom>
          <a:noFill/>
          <a:ln/>
        </p:spPr>
        <p:txBody>
          <a:bodyPr wrap="square" rtlCol="0" anchor="ctr"/>
          <a:lstStyle/>
          <a:p>
            <a:pPr marL="0" indent="0">
              <a:buNone/>
            </a:pPr>
            <a:r>
              <a:rPr lang="en-US" sz="1000" b="1" dirty="0">
                <a:solidFill>
                  <a:srgbClr val="FF6B6B"/>
                </a:solidFill>
              </a:rPr>
              <a:t>Solutions: </a:t>
            </a:r>
            <a:r>
              <a:rPr lang="en-US" sz="1000" dirty="0">
                <a:solidFill>
                  <a:srgbClr val="E8F4FD"/>
                </a:solidFill>
              </a:rPr>
              <a:t>NIST AI RMF · EU AI Act risk categories · IBM AI Factsheets</a:t>
            </a:r>
            <a:endParaRPr lang="en-US" sz="1000" dirty="0"/>
          </a:p>
        </p:txBody>
      </p:sp>
      <p:sp>
        <p:nvSpPr>
          <p:cNvPr id="26" name="Shape 24"/>
          <p:cNvSpPr/>
          <p:nvPr/>
        </p:nvSpPr>
        <p:spPr>
          <a:xfrm>
            <a:off x="274320" y="5047488"/>
            <a:ext cx="8595360" cy="256032"/>
          </a:xfrm>
          <a:prstGeom prst="rect">
            <a:avLst/>
          </a:prstGeom>
          <a:solidFill>
            <a:srgbClr val="0F2041"/>
          </a:solidFill>
          <a:ln w="12700">
            <a:solidFill>
              <a:srgbClr val="00C8FF"/>
            </a:solidFill>
            <a:prstDash val="solid"/>
          </a:ln>
        </p:spPr>
      </p:sp>
      <p:sp>
        <p:nvSpPr>
          <p:cNvPr id="27" name="Text 25"/>
          <p:cNvSpPr/>
          <p:nvPr/>
        </p:nvSpPr>
        <p:spPr>
          <a:xfrm>
            <a:off x="274320" y="5047488"/>
            <a:ext cx="8595360" cy="256032"/>
          </a:xfrm>
          <a:prstGeom prst="rect">
            <a:avLst/>
          </a:prstGeom>
          <a:noFill/>
          <a:ln/>
        </p:spPr>
        <p:txBody>
          <a:bodyPr wrap="square" rtlCol="0" anchor="ctr"/>
          <a:lstStyle/>
          <a:p>
            <a:pPr marL="0" indent="0" algn="ctr">
              <a:buNone/>
            </a:pPr>
            <a:r>
              <a:rPr lang="en-US" sz="950" dirty="0">
                <a:solidFill>
                  <a:srgbClr val="00C8FF"/>
                </a:solidFill>
              </a:rPr>
              <a:t>GPT-4 training cost: ~$100M  ·  Fine-tune 7B param model: ~$500-$5K  ·  API inference: fractions of a cent  ·  Know the cost hierarchy</a:t>
            </a:r>
            <a:endParaRPr lang="en-US" sz="950" dirty="0"/>
          </a:p>
        </p:txBody>
      </p:sp>
    </p:spTree>
    <p:extLst>
      <p:ext uri="{BB962C8B-B14F-4D97-AF65-F5344CB8AC3E}">
        <p14:creationId xmlns:p14="http://schemas.microsoft.com/office/powerpoint/2010/main" val="11729117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Shape 1"/>
          <p:cNvSpPr/>
          <p:nvPr/>
        </p:nvSpPr>
        <p:spPr>
          <a:xfrm>
            <a:off x="365760" y="128016"/>
            <a:ext cx="2926080" cy="274320"/>
          </a:xfrm>
          <a:prstGeom prst="rect">
            <a:avLst/>
          </a:prstGeom>
          <a:solidFill>
            <a:srgbClr val="7B5EA7"/>
          </a:solidFill>
          <a:ln w="12700">
            <a:solidFill>
              <a:srgbClr val="7B5EA7"/>
            </a:solidFill>
            <a:prstDash val="solid"/>
          </a:ln>
        </p:spPr>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 7 · ORG &amp; CULTURAL CHALLENGES</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000" b="1" dirty="0">
                <a:solidFill>
                  <a:srgbClr val="FFFFFF"/>
                </a:solidFill>
              </a:rPr>
              <a:t>Categories 2 &amp; 3: Organisational &amp; Cultural Challenges</a:t>
            </a:r>
            <a:endParaRPr lang="en-US" sz="2000" dirty="0"/>
          </a:p>
        </p:txBody>
      </p:sp>
      <p:sp>
        <p:nvSpPr>
          <p:cNvPr id="6" name="Shape 4"/>
          <p:cNvSpPr/>
          <p:nvPr/>
        </p:nvSpPr>
        <p:spPr>
          <a:xfrm>
            <a:off x="274320" y="987552"/>
            <a:ext cx="4160520" cy="3977640"/>
          </a:xfrm>
          <a:prstGeom prst="rect">
            <a:avLst/>
          </a:prstGeom>
          <a:solidFill>
            <a:srgbClr val="112244"/>
          </a:solidFill>
          <a:ln w="25400">
            <a:solidFill>
              <a:srgbClr val="7B5EA7"/>
            </a:solidFill>
            <a:prstDash val="solid"/>
          </a:ln>
          <a:effectLst>
            <a:outerShdw blurRad="101600" dist="38100" dir="8100000" algn="bl" rotWithShape="0">
              <a:srgbClr val="000000">
                <a:alpha val="25000"/>
              </a:srgbClr>
            </a:outerShdw>
          </a:effectLst>
        </p:spPr>
      </p:sp>
      <p:sp>
        <p:nvSpPr>
          <p:cNvPr id="7" name="Shape 5"/>
          <p:cNvSpPr/>
          <p:nvPr/>
        </p:nvSpPr>
        <p:spPr>
          <a:xfrm>
            <a:off x="274320" y="987552"/>
            <a:ext cx="4160520" cy="347472"/>
          </a:xfrm>
          <a:prstGeom prst="rect">
            <a:avLst/>
          </a:prstGeom>
          <a:solidFill>
            <a:srgbClr val="7B5EA7"/>
          </a:solidFill>
          <a:ln w="12700">
            <a:solidFill>
              <a:srgbClr val="7B5EA7"/>
            </a:solidFill>
            <a:prstDash val="solid"/>
          </a:ln>
        </p:spPr>
      </p:sp>
      <p:sp>
        <p:nvSpPr>
          <p:cNvPr id="8" name="Text 6"/>
          <p:cNvSpPr/>
          <p:nvPr/>
        </p:nvSpPr>
        <p:spPr>
          <a:xfrm>
            <a:off x="320040" y="987552"/>
            <a:ext cx="4069080" cy="347472"/>
          </a:xfrm>
          <a:prstGeom prst="rect">
            <a:avLst/>
          </a:prstGeom>
          <a:noFill/>
          <a:ln/>
        </p:spPr>
        <p:txBody>
          <a:bodyPr wrap="square" rtlCol="0" anchor="ctr"/>
          <a:lstStyle/>
          <a:p>
            <a:pPr marL="0" indent="0">
              <a:buNone/>
            </a:pPr>
            <a:r>
              <a:rPr lang="en-US" sz="1150" b="1" dirty="0">
                <a:solidFill>
                  <a:srgbClr val="FFFFFF"/>
                </a:solidFill>
              </a:rPr>
              <a:t>🏢  Organisational (5 Challenges)</a:t>
            </a:r>
            <a:endParaRPr lang="en-US" sz="1150" dirty="0"/>
          </a:p>
        </p:txBody>
      </p:sp>
      <p:sp>
        <p:nvSpPr>
          <p:cNvPr id="9" name="Text 7"/>
          <p:cNvSpPr/>
          <p:nvPr/>
        </p:nvSpPr>
        <p:spPr>
          <a:xfrm>
            <a:off x="411480" y="1389888"/>
            <a:ext cx="3886200" cy="2194560"/>
          </a:xfrm>
          <a:prstGeom prst="rect">
            <a:avLst/>
          </a:prstGeom>
          <a:noFill/>
          <a:ln/>
        </p:spPr>
        <p:txBody>
          <a:bodyPr wrap="square" rtlCol="0" anchor="ctr"/>
          <a:lstStyle/>
          <a:p>
            <a:pPr marL="342900" indent="-342900">
              <a:buSzPct val="100000"/>
              <a:buChar char="•"/>
            </a:pPr>
            <a:r>
              <a:rPr lang="en-US" sz="1050" dirty="0">
                <a:solidFill>
                  <a:srgbClr val="E8F4FD"/>
                </a:solidFill>
              </a:rPr>
              <a:t>Copyright &amp; IP risks — ownership of AI outputs is legally unresolved</a:t>
            </a:r>
            <a:endParaRPr lang="en-US" sz="1050" dirty="0"/>
          </a:p>
          <a:p>
            <a:pPr marL="342900" indent="-342900">
              <a:buSzPct val="100000"/>
              <a:buChar char="•"/>
            </a:pPr>
            <a:r>
              <a:rPr lang="en-US" sz="1050" dirty="0">
                <a:solidFill>
                  <a:srgbClr val="E8F4FD"/>
                </a:solidFill>
              </a:rPr>
              <a:t>Talent shortage — too few professionals with domain + Gen AI skills</a:t>
            </a:r>
            <a:endParaRPr lang="en-US" sz="1050" dirty="0"/>
          </a:p>
          <a:p>
            <a:pPr marL="342900" indent="-342900">
              <a:buSzPct val="100000"/>
              <a:buChar char="•"/>
            </a:pPr>
            <a:r>
              <a:rPr lang="en-US" sz="1050" dirty="0">
                <a:solidFill>
                  <a:srgbClr val="E8F4FD"/>
                </a:solidFill>
              </a:rPr>
              <a:t>Integration complexity — legacy systems require major IT overhaul</a:t>
            </a:r>
            <a:endParaRPr lang="en-US" sz="1050" dirty="0"/>
          </a:p>
          <a:p>
            <a:pPr marL="342900" indent="-342900">
              <a:buSzPct val="100000"/>
              <a:buChar char="•"/>
            </a:pPr>
            <a:r>
              <a:rPr lang="en-US" sz="1050" dirty="0">
                <a:solidFill>
                  <a:srgbClr val="E8F4FD"/>
                </a:solidFill>
              </a:rPr>
              <a:t>Change resistance — employees fear displacement, resist adoption</a:t>
            </a:r>
            <a:endParaRPr lang="en-US" sz="1050" dirty="0"/>
          </a:p>
          <a:p>
            <a:pPr marL="342900" indent="-342900">
              <a:buSzPct val="100000"/>
              <a:buChar char="•"/>
            </a:pPr>
            <a:r>
              <a:rPr lang="en-US" sz="1050" dirty="0">
                <a:solidFill>
                  <a:srgbClr val="E8F4FD"/>
                </a:solidFill>
              </a:rPr>
              <a:t>Unclear ROI — AI value is long-term, indirect, hard to quantify</a:t>
            </a:r>
            <a:endParaRPr lang="en-US" sz="1050" dirty="0"/>
          </a:p>
        </p:txBody>
      </p:sp>
      <p:sp>
        <p:nvSpPr>
          <p:cNvPr id="10" name="Shape 8"/>
          <p:cNvSpPr/>
          <p:nvPr/>
        </p:nvSpPr>
        <p:spPr>
          <a:xfrm>
            <a:off x="347472" y="3639312"/>
            <a:ext cx="3858768" cy="1234440"/>
          </a:xfrm>
          <a:prstGeom prst="rect">
            <a:avLst/>
          </a:prstGeom>
          <a:solidFill>
            <a:srgbClr val="0F2041"/>
          </a:solidFill>
          <a:ln w="12700">
            <a:solidFill>
              <a:srgbClr val="00E5A0"/>
            </a:solidFill>
            <a:prstDash val="solid"/>
          </a:ln>
        </p:spPr>
      </p:sp>
      <p:sp>
        <p:nvSpPr>
          <p:cNvPr id="11" name="Text 9"/>
          <p:cNvSpPr/>
          <p:nvPr/>
        </p:nvSpPr>
        <p:spPr>
          <a:xfrm>
            <a:off x="438912" y="3675888"/>
            <a:ext cx="3675888" cy="256032"/>
          </a:xfrm>
          <a:prstGeom prst="rect">
            <a:avLst/>
          </a:prstGeom>
          <a:noFill/>
          <a:ln/>
        </p:spPr>
        <p:txBody>
          <a:bodyPr wrap="square" rtlCol="0" anchor="ctr"/>
          <a:lstStyle/>
          <a:p>
            <a:pPr marL="0" indent="0">
              <a:buNone/>
            </a:pPr>
            <a:r>
              <a:rPr lang="en-US" sz="1000" b="1" dirty="0">
                <a:solidFill>
                  <a:srgbClr val="00E5A0"/>
                </a:solidFill>
              </a:rPr>
              <a:t>Solutions:</a:t>
            </a:r>
            <a:endParaRPr lang="en-US" sz="1000" dirty="0"/>
          </a:p>
        </p:txBody>
      </p:sp>
      <p:sp>
        <p:nvSpPr>
          <p:cNvPr id="12" name="Text 10"/>
          <p:cNvSpPr/>
          <p:nvPr/>
        </p:nvSpPr>
        <p:spPr>
          <a:xfrm>
            <a:off x="438912" y="3931920"/>
            <a:ext cx="3675888" cy="877824"/>
          </a:xfrm>
          <a:prstGeom prst="rect">
            <a:avLst/>
          </a:prstGeom>
          <a:noFill/>
          <a:ln/>
        </p:spPr>
        <p:txBody>
          <a:bodyPr wrap="square" rtlCol="0" anchor="ctr"/>
          <a:lstStyle/>
          <a:p>
            <a:pPr marL="342900" indent="-342900">
              <a:buSzPct val="100000"/>
              <a:buChar char="•"/>
            </a:pPr>
            <a:r>
              <a:rPr lang="en-US" sz="950" dirty="0">
                <a:solidFill>
                  <a:srgbClr val="E8F4FD"/>
                </a:solidFill>
              </a:rPr>
              <a:t>Invest in upskilling + hiring</a:t>
            </a:r>
            <a:endParaRPr lang="en-US" sz="950" dirty="0"/>
          </a:p>
          <a:p>
            <a:pPr marL="342900" indent="-342900">
              <a:buSzPct val="100000"/>
              <a:buChar char="•"/>
            </a:pPr>
            <a:r>
              <a:rPr lang="en-US" sz="950" dirty="0">
                <a:solidFill>
                  <a:srgbClr val="E8F4FD"/>
                </a:solidFill>
              </a:rPr>
              <a:t>Define clear AI implementation roadmaps</a:t>
            </a:r>
            <a:endParaRPr lang="en-US" sz="950" dirty="0"/>
          </a:p>
          <a:p>
            <a:pPr marL="342900" indent="-342900">
              <a:buSzPct val="100000"/>
              <a:buChar char="•"/>
            </a:pPr>
            <a:r>
              <a:rPr lang="en-US" sz="950" dirty="0">
                <a:solidFill>
                  <a:srgbClr val="E8F4FD"/>
                </a:solidFill>
              </a:rPr>
              <a:t>Co-design tools WITH employees</a:t>
            </a:r>
            <a:endParaRPr lang="en-US" sz="950" dirty="0"/>
          </a:p>
          <a:p>
            <a:pPr marL="342900" indent="-342900">
              <a:buSzPct val="100000"/>
              <a:buChar char="•"/>
            </a:pPr>
            <a:r>
              <a:rPr lang="en-US" sz="950" dirty="0">
                <a:solidFill>
                  <a:srgbClr val="E8F4FD"/>
                </a:solidFill>
              </a:rPr>
              <a:t>Establish AI governance boards</a:t>
            </a:r>
            <a:endParaRPr lang="en-US" sz="950" dirty="0"/>
          </a:p>
          <a:p>
            <a:pPr marL="342900" indent="-342900">
              <a:buSzPct val="100000"/>
              <a:buChar char="•"/>
            </a:pPr>
            <a:r>
              <a:rPr lang="en-US" sz="950" dirty="0">
                <a:solidFill>
                  <a:srgbClr val="E8F4FD"/>
                </a:solidFill>
              </a:rPr>
              <a:t>Commit to responsible AI from day 1</a:t>
            </a:r>
            <a:endParaRPr lang="en-US" sz="950" dirty="0"/>
          </a:p>
        </p:txBody>
      </p:sp>
      <p:sp>
        <p:nvSpPr>
          <p:cNvPr id="13" name="Shape 11"/>
          <p:cNvSpPr/>
          <p:nvPr/>
        </p:nvSpPr>
        <p:spPr>
          <a:xfrm>
            <a:off x="4663440" y="987552"/>
            <a:ext cx="4206240" cy="3977640"/>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sp>
      <p:sp>
        <p:nvSpPr>
          <p:cNvPr id="14" name="Shape 12"/>
          <p:cNvSpPr/>
          <p:nvPr/>
        </p:nvSpPr>
        <p:spPr>
          <a:xfrm>
            <a:off x="4663440" y="987552"/>
            <a:ext cx="4206240" cy="347472"/>
          </a:xfrm>
          <a:prstGeom prst="rect">
            <a:avLst/>
          </a:prstGeom>
          <a:solidFill>
            <a:srgbClr val="FFD166"/>
          </a:solidFill>
          <a:ln w="12700">
            <a:solidFill>
              <a:srgbClr val="FFD166"/>
            </a:solidFill>
            <a:prstDash val="solid"/>
          </a:ln>
        </p:spPr>
      </p:sp>
      <p:sp>
        <p:nvSpPr>
          <p:cNvPr id="15" name="Text 13"/>
          <p:cNvSpPr/>
          <p:nvPr/>
        </p:nvSpPr>
        <p:spPr>
          <a:xfrm>
            <a:off x="4709160" y="987552"/>
            <a:ext cx="4114800" cy="347472"/>
          </a:xfrm>
          <a:prstGeom prst="rect">
            <a:avLst/>
          </a:prstGeom>
          <a:noFill/>
          <a:ln/>
        </p:spPr>
        <p:txBody>
          <a:bodyPr wrap="square" rtlCol="0" anchor="ctr"/>
          <a:lstStyle/>
          <a:p>
            <a:pPr marL="0" indent="0">
              <a:buNone/>
            </a:pPr>
            <a:r>
              <a:rPr lang="en-US" sz="1150" b="1" dirty="0">
                <a:solidFill>
                  <a:srgbClr val="0A1628"/>
                </a:solidFill>
              </a:rPr>
              <a:t>👥  Cultural (4 Challenges)</a:t>
            </a:r>
            <a:endParaRPr lang="en-US" sz="1150" dirty="0"/>
          </a:p>
        </p:txBody>
      </p:sp>
      <p:sp>
        <p:nvSpPr>
          <p:cNvPr id="16" name="Text 14"/>
          <p:cNvSpPr/>
          <p:nvPr/>
        </p:nvSpPr>
        <p:spPr>
          <a:xfrm>
            <a:off x="4754880" y="1389888"/>
            <a:ext cx="3977640" cy="2194560"/>
          </a:xfrm>
          <a:prstGeom prst="rect">
            <a:avLst/>
          </a:prstGeom>
          <a:noFill/>
          <a:ln/>
        </p:spPr>
        <p:txBody>
          <a:bodyPr wrap="square" rtlCol="0" anchor="ctr"/>
          <a:lstStyle/>
          <a:p>
            <a:pPr marL="342900" indent="-342900">
              <a:buSzPct val="100000"/>
              <a:buChar char="•"/>
            </a:pPr>
            <a:r>
              <a:rPr lang="en-US" sz="1050" dirty="0">
                <a:solidFill>
                  <a:srgbClr val="E8F4FD"/>
                </a:solidFill>
              </a:rPr>
              <a:t>Fear of failure — risk-averse cultures refuse to pilot AI</a:t>
            </a:r>
            <a:endParaRPr lang="en-US" sz="1050" dirty="0"/>
          </a:p>
          <a:p>
            <a:pPr marL="342900" indent="-342900">
              <a:buSzPct val="100000"/>
              <a:buChar char="•"/>
            </a:pPr>
            <a:r>
              <a:rPr lang="en-US" sz="1050" dirty="0">
                <a:solidFill>
                  <a:srgbClr val="E8F4FD"/>
                </a:solidFill>
              </a:rPr>
              <a:t>Data hoarding — privacy fears block data sharing AI needs</a:t>
            </a:r>
            <a:endParaRPr lang="en-US" sz="1050" dirty="0"/>
          </a:p>
          <a:p>
            <a:pPr marL="342900" indent="-342900">
              <a:buSzPct val="100000"/>
              <a:buChar char="•"/>
            </a:pPr>
            <a:r>
              <a:rPr lang="en-US" sz="1050" dirty="0">
                <a:solidFill>
                  <a:srgbClr val="E8F4FD"/>
                </a:solidFill>
              </a:rPr>
              <a:t>Transparency gaps — opaque AI decisions destroy stakeholder trust</a:t>
            </a:r>
            <a:endParaRPr lang="en-US" sz="1050" dirty="0"/>
          </a:p>
          <a:p>
            <a:pPr marL="342900" indent="-342900">
              <a:buSzPct val="100000"/>
              <a:buChar char="•"/>
            </a:pPr>
            <a:r>
              <a:rPr lang="en-US" sz="1050" dirty="0">
                <a:solidFill>
                  <a:srgbClr val="E8F4FD"/>
                </a:solidFill>
              </a:rPr>
              <a:t>No continuous learning — teams fall behind as AI evolves rapidly</a:t>
            </a:r>
            <a:endParaRPr lang="en-US" sz="1050" dirty="0"/>
          </a:p>
        </p:txBody>
      </p:sp>
      <p:sp>
        <p:nvSpPr>
          <p:cNvPr id="17" name="Shape 15"/>
          <p:cNvSpPr/>
          <p:nvPr/>
        </p:nvSpPr>
        <p:spPr>
          <a:xfrm>
            <a:off x="4736592" y="3639312"/>
            <a:ext cx="3858768" cy="1234440"/>
          </a:xfrm>
          <a:prstGeom prst="rect">
            <a:avLst/>
          </a:prstGeom>
          <a:solidFill>
            <a:srgbClr val="0F2041"/>
          </a:solidFill>
          <a:ln w="12700">
            <a:solidFill>
              <a:srgbClr val="00E5A0"/>
            </a:solidFill>
            <a:prstDash val="solid"/>
          </a:ln>
        </p:spPr>
      </p:sp>
      <p:sp>
        <p:nvSpPr>
          <p:cNvPr id="18" name="Text 16"/>
          <p:cNvSpPr/>
          <p:nvPr/>
        </p:nvSpPr>
        <p:spPr>
          <a:xfrm>
            <a:off x="4828032" y="3675888"/>
            <a:ext cx="3675888" cy="256032"/>
          </a:xfrm>
          <a:prstGeom prst="rect">
            <a:avLst/>
          </a:prstGeom>
          <a:noFill/>
          <a:ln/>
        </p:spPr>
        <p:txBody>
          <a:bodyPr wrap="square" rtlCol="0" anchor="ctr"/>
          <a:lstStyle/>
          <a:p>
            <a:pPr marL="0" indent="0">
              <a:buNone/>
            </a:pPr>
            <a:r>
              <a:rPr lang="en-US" sz="1000" b="1" dirty="0">
                <a:solidFill>
                  <a:srgbClr val="00E5A0"/>
                </a:solidFill>
              </a:rPr>
              <a:t>Solutions:</a:t>
            </a:r>
            <a:endParaRPr lang="en-US" sz="1000" dirty="0"/>
          </a:p>
        </p:txBody>
      </p:sp>
      <p:sp>
        <p:nvSpPr>
          <p:cNvPr id="19" name="Text 17"/>
          <p:cNvSpPr/>
          <p:nvPr/>
        </p:nvSpPr>
        <p:spPr>
          <a:xfrm>
            <a:off x="4828032" y="3931920"/>
            <a:ext cx="3675888" cy="877824"/>
          </a:xfrm>
          <a:prstGeom prst="rect">
            <a:avLst/>
          </a:prstGeom>
          <a:noFill/>
          <a:ln/>
        </p:spPr>
        <p:txBody>
          <a:bodyPr wrap="square" rtlCol="0" anchor="ctr"/>
          <a:lstStyle/>
          <a:p>
            <a:pPr marL="342900" indent="-342900">
              <a:buSzPct val="100000"/>
              <a:buChar char="•"/>
            </a:pPr>
            <a:r>
              <a:rPr lang="en-US" sz="950" dirty="0">
                <a:solidFill>
                  <a:srgbClr val="E8F4FD"/>
                </a:solidFill>
              </a:rPr>
              <a:t>Foster open dialogue + psychological safety</a:t>
            </a:r>
            <a:endParaRPr lang="en-US" sz="950" dirty="0"/>
          </a:p>
          <a:p>
            <a:pPr marL="342900" indent="-342900">
              <a:buSzPct val="100000"/>
              <a:buChar char="•"/>
            </a:pPr>
            <a:r>
              <a:rPr lang="en-US" sz="950" dirty="0">
                <a:solidFill>
                  <a:srgbClr val="E8F4FD"/>
                </a:solidFill>
              </a:rPr>
              <a:t>Deploy explainable AI (XAI) methods</a:t>
            </a:r>
            <a:endParaRPr lang="en-US" sz="950" dirty="0"/>
          </a:p>
          <a:p>
            <a:pPr marL="342900" indent="-342900">
              <a:buSzPct val="100000"/>
              <a:buChar char="•"/>
            </a:pPr>
            <a:r>
              <a:rPr lang="en-US" sz="950" dirty="0">
                <a:solidFill>
                  <a:srgbClr val="E8F4FD"/>
                </a:solidFill>
              </a:rPr>
              <a:t>Build strong AI governance frameworks</a:t>
            </a:r>
            <a:endParaRPr lang="en-US" sz="950" dirty="0"/>
          </a:p>
          <a:p>
            <a:pPr marL="342900" indent="-342900">
              <a:buSzPct val="100000"/>
              <a:buChar char="•"/>
            </a:pPr>
            <a:r>
              <a:rPr lang="en-US" sz="950" dirty="0">
                <a:solidFill>
                  <a:srgbClr val="E8F4FD"/>
                </a:solidFill>
              </a:rPr>
              <a:t>Cultivate curiosity and continuous learning culture</a:t>
            </a:r>
            <a:endParaRPr lang="en-US" sz="950" dirty="0"/>
          </a:p>
        </p:txBody>
      </p:sp>
      <p:sp>
        <p:nvSpPr>
          <p:cNvPr id="20" name="Shape 18"/>
          <p:cNvSpPr/>
          <p:nvPr/>
        </p:nvSpPr>
        <p:spPr>
          <a:xfrm>
            <a:off x="274320" y="5029200"/>
            <a:ext cx="8595360" cy="274320"/>
          </a:xfrm>
          <a:prstGeom prst="rect">
            <a:avLst/>
          </a:prstGeom>
          <a:solidFill>
            <a:srgbClr val="0F2041"/>
          </a:solidFill>
          <a:ln w="12700">
            <a:solidFill>
              <a:srgbClr val="7B5EA7"/>
            </a:solidFill>
            <a:prstDash val="solid"/>
          </a:ln>
        </p:spPr>
      </p:sp>
      <p:sp>
        <p:nvSpPr>
          <p:cNvPr id="21" name="Text 19"/>
          <p:cNvSpPr/>
          <p:nvPr/>
        </p:nvSpPr>
        <p:spPr>
          <a:xfrm>
            <a:off x="274320" y="5029200"/>
            <a:ext cx="8595360" cy="274320"/>
          </a:xfrm>
          <a:prstGeom prst="rect">
            <a:avLst/>
          </a:prstGeom>
          <a:noFill/>
          <a:ln/>
        </p:spPr>
        <p:txBody>
          <a:bodyPr wrap="square" rtlCol="0" anchor="ctr"/>
          <a:lstStyle/>
          <a:p>
            <a:pPr marL="0" indent="0" algn="ctr">
              <a:buNone/>
            </a:pPr>
            <a:r>
              <a:rPr lang="en-US" sz="950" dirty="0">
                <a:solidFill>
                  <a:srgbClr val="7B5EA7"/>
                </a:solidFill>
              </a:rPr>
              <a:t>Group Debate: Technical vs Organisational vs Cultural — which is the BIGGEST barrier to Gen AI adoption in India? (5 min prep, 3 min present, class vote)</a:t>
            </a:r>
            <a:endParaRPr lang="en-US" sz="950" dirty="0"/>
          </a:p>
        </p:txBody>
      </p:sp>
    </p:spTree>
    <p:extLst>
      <p:ext uri="{BB962C8B-B14F-4D97-AF65-F5344CB8AC3E}">
        <p14:creationId xmlns:p14="http://schemas.microsoft.com/office/powerpoint/2010/main" val="31573611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8FF"/>
          </a:solidFill>
          <a:ln w="12700">
            <a:solidFill>
              <a:srgbClr val="00C8FF"/>
            </a:solidFill>
            <a:prstDash val="solid"/>
          </a:ln>
        </p:spPr>
      </p:sp>
      <p:sp>
        <p:nvSpPr>
          <p:cNvPr id="3" name="Shape 1"/>
          <p:cNvSpPr/>
          <p:nvPr/>
        </p:nvSpPr>
        <p:spPr>
          <a:xfrm>
            <a:off x="365760" y="128016"/>
            <a:ext cx="2926080" cy="274320"/>
          </a:xfrm>
          <a:prstGeom prst="rect">
            <a:avLst/>
          </a:prstGeom>
          <a:solidFill>
            <a:srgbClr val="FFD166"/>
          </a:solidFill>
          <a:ln w="12700">
            <a:solidFill>
              <a:srgbClr val="FFD166"/>
            </a:solidFill>
            <a:prstDash val="solid"/>
          </a:ln>
        </p:spPr>
      </p:sp>
      <p:sp>
        <p:nvSpPr>
          <p:cNvPr id="4" name="Text 2"/>
          <p:cNvSpPr/>
          <p:nvPr/>
        </p:nvSpPr>
        <p:spPr>
          <a:xfrm>
            <a:off x="365760" y="128016"/>
            <a:ext cx="2926080" cy="274320"/>
          </a:xfrm>
          <a:prstGeom prst="rect">
            <a:avLst/>
          </a:prstGeom>
          <a:noFill/>
          <a:ln/>
        </p:spPr>
        <p:txBody>
          <a:bodyPr wrap="square" rtlCol="0" anchor="ctr"/>
          <a:lstStyle/>
          <a:p>
            <a:pPr marL="0" indent="0" algn="ctr">
              <a:buNone/>
            </a:pPr>
            <a:r>
              <a:rPr lang="en-US" sz="900" b="1" dirty="0">
                <a:solidFill>
                  <a:srgbClr val="FFFFFF"/>
                </a:solidFill>
              </a:rPr>
              <a:t>LESSONS 5–7 SUMMARY</a:t>
            </a:r>
            <a:endParaRPr lang="en-US" sz="900" dirty="0"/>
          </a:p>
        </p:txBody>
      </p:sp>
      <p:sp>
        <p:nvSpPr>
          <p:cNvPr id="5" name="Text 3"/>
          <p:cNvSpPr/>
          <p:nvPr/>
        </p:nvSpPr>
        <p:spPr>
          <a:xfrm>
            <a:off x="365760" y="475488"/>
            <a:ext cx="7772400" cy="420624"/>
          </a:xfrm>
          <a:prstGeom prst="rect">
            <a:avLst/>
          </a:prstGeom>
          <a:noFill/>
          <a:ln/>
        </p:spPr>
        <p:txBody>
          <a:bodyPr wrap="square" rtlCol="0" anchor="ctr"/>
          <a:lstStyle/>
          <a:p>
            <a:pPr marL="0" indent="0">
              <a:buNone/>
            </a:pPr>
            <a:r>
              <a:rPr lang="en-US" sz="2200" b="1" dirty="0">
                <a:solidFill>
                  <a:srgbClr val="FFFFFF"/>
                </a:solidFill>
              </a:rPr>
              <a:t>Module Summary &amp; Key Takeaways</a:t>
            </a:r>
            <a:endParaRPr lang="en-US" sz="2200" dirty="0"/>
          </a:p>
        </p:txBody>
      </p:sp>
      <p:pic>
        <p:nvPicPr>
          <p:cNvPr id="6" name="Image 0" descr="preencoded.png"/>
          <p:cNvPicPr>
            <a:picLocks noChangeAspect="1"/>
          </p:cNvPicPr>
          <p:nvPr/>
        </p:nvPicPr>
        <p:blipFill>
          <a:blip r:embed="rId3"/>
          <a:stretch>
            <a:fillRect/>
          </a:stretch>
        </p:blipFill>
        <p:spPr>
          <a:xfrm>
            <a:off x="8138160" y="512064"/>
            <a:ext cx="566928" cy="566928"/>
          </a:xfrm>
          <a:prstGeom prst="rect">
            <a:avLst/>
          </a:prstGeom>
        </p:spPr>
      </p:pic>
      <p:sp>
        <p:nvSpPr>
          <p:cNvPr id="7" name="Shape 4"/>
          <p:cNvSpPr/>
          <p:nvPr/>
        </p:nvSpPr>
        <p:spPr>
          <a:xfrm>
            <a:off x="274320" y="987552"/>
            <a:ext cx="4160520" cy="3547872"/>
          </a:xfrm>
          <a:prstGeom prst="rect">
            <a:avLst/>
          </a:prstGeom>
          <a:solidFill>
            <a:srgbClr val="112244"/>
          </a:solidFill>
          <a:ln w="25400">
            <a:solidFill>
              <a:srgbClr val="00C8FF"/>
            </a:solidFill>
            <a:prstDash val="solid"/>
          </a:ln>
          <a:effectLst>
            <a:outerShdw blurRad="101600" dist="38100" dir="8100000" algn="bl" rotWithShape="0">
              <a:srgbClr val="000000">
                <a:alpha val="25000"/>
              </a:srgbClr>
            </a:outerShdw>
          </a:effectLst>
        </p:spPr>
      </p:sp>
      <p:sp>
        <p:nvSpPr>
          <p:cNvPr id="8" name="Shape 5"/>
          <p:cNvSpPr/>
          <p:nvPr/>
        </p:nvSpPr>
        <p:spPr>
          <a:xfrm>
            <a:off x="274320" y="987552"/>
            <a:ext cx="4160520" cy="347472"/>
          </a:xfrm>
          <a:prstGeom prst="rect">
            <a:avLst/>
          </a:prstGeom>
          <a:solidFill>
            <a:srgbClr val="00C8FF"/>
          </a:solidFill>
          <a:ln w="12700">
            <a:solidFill>
              <a:srgbClr val="00C8FF"/>
            </a:solidFill>
            <a:prstDash val="solid"/>
          </a:ln>
        </p:spPr>
      </p:sp>
      <p:sp>
        <p:nvSpPr>
          <p:cNvPr id="9" name="Text 6"/>
          <p:cNvSpPr/>
          <p:nvPr/>
        </p:nvSpPr>
        <p:spPr>
          <a:xfrm>
            <a:off x="320040" y="987552"/>
            <a:ext cx="4069080" cy="347472"/>
          </a:xfrm>
          <a:prstGeom prst="rect">
            <a:avLst/>
          </a:prstGeom>
          <a:noFill/>
          <a:ln/>
        </p:spPr>
        <p:txBody>
          <a:bodyPr wrap="square" rtlCol="0" anchor="ctr"/>
          <a:lstStyle/>
          <a:p>
            <a:pPr marL="0" indent="0">
              <a:buNone/>
            </a:pPr>
            <a:r>
              <a:rPr lang="en-US" sz="1200" b="1" dirty="0">
                <a:solidFill>
                  <a:srgbClr val="0A1628"/>
                </a:solidFill>
              </a:rPr>
              <a:t>Key Takeaways</a:t>
            </a:r>
            <a:endParaRPr lang="en-US" sz="1200" dirty="0"/>
          </a:p>
        </p:txBody>
      </p:sp>
      <p:sp>
        <p:nvSpPr>
          <p:cNvPr id="10" name="Text 7"/>
          <p:cNvSpPr/>
          <p:nvPr/>
        </p:nvSpPr>
        <p:spPr>
          <a:xfrm>
            <a:off x="411480" y="1389888"/>
            <a:ext cx="3886200" cy="3063240"/>
          </a:xfrm>
          <a:prstGeom prst="rect">
            <a:avLst/>
          </a:prstGeom>
          <a:noFill/>
          <a:ln/>
        </p:spPr>
        <p:txBody>
          <a:bodyPr wrap="square" rtlCol="0" anchor="ctr"/>
          <a:lstStyle/>
          <a:p>
            <a:pPr marL="342900" indent="-342900">
              <a:buSzPct val="100000"/>
              <a:buChar char="•"/>
            </a:pPr>
            <a:r>
              <a:rPr lang="en-US" sz="1000" dirty="0">
                <a:solidFill>
                  <a:srgbClr val="E8F4FD"/>
                </a:solidFill>
              </a:rPr>
              <a:t>Storytelling = numbers + context + structure + call to action</a:t>
            </a:r>
            <a:endParaRPr lang="en-US" sz="1000" dirty="0"/>
          </a:p>
          <a:p>
            <a:pPr marL="342900" indent="-342900">
              <a:buSzPct val="100000"/>
              <a:buChar char="•"/>
            </a:pPr>
            <a:r>
              <a:rPr lang="en-US" sz="1000" dirty="0">
                <a:solidFill>
                  <a:srgbClr val="E8F4FD"/>
                </a:solidFill>
              </a:rPr>
              <a:t>7 Key Aspects: Visualise, Organise, Contextualise, Engage, Exemplify, Customise, CTA</a:t>
            </a:r>
            <a:endParaRPr lang="en-US" sz="1000" dirty="0"/>
          </a:p>
          <a:p>
            <a:pPr marL="342900" indent="-342900">
              <a:buSzPct val="100000"/>
              <a:buChar char="•"/>
            </a:pPr>
            <a:r>
              <a:rPr lang="en-US" sz="1000" dirty="0">
                <a:solidFill>
                  <a:srgbClr val="E8F4FD"/>
                </a:solidFill>
              </a:rPr>
              <a:t>5 AI tools: Duet AI, Accio, DesignerBot, ChatGPT, Gemini — each with distinct strengths</a:t>
            </a:r>
            <a:endParaRPr lang="en-US" sz="1000" dirty="0"/>
          </a:p>
          <a:p>
            <a:pPr marL="342900" indent="-342900">
              <a:buSzPct val="100000"/>
              <a:buChar char="•"/>
            </a:pPr>
            <a:r>
              <a:rPr lang="en-US" sz="1000" dirty="0">
                <a:solidFill>
                  <a:srgbClr val="E8F4FD"/>
                </a:solidFill>
              </a:rPr>
              <a:t>3 dimensions: Data integrity, Model explainability, Ethical responsibility</a:t>
            </a:r>
            <a:endParaRPr lang="en-US" sz="1000" dirty="0"/>
          </a:p>
          <a:p>
            <a:pPr marL="342900" indent="-342900">
              <a:buSzPct val="100000"/>
              <a:buChar char="•"/>
            </a:pPr>
            <a:r>
              <a:rPr lang="en-US" sz="1000" dirty="0">
                <a:solidFill>
                  <a:srgbClr val="E8F4FD"/>
                </a:solidFill>
              </a:rPr>
              <a:t>Technical challenges: data quality, black box, hallucination, cost, standards</a:t>
            </a:r>
            <a:endParaRPr lang="en-US" sz="1000" dirty="0"/>
          </a:p>
          <a:p>
            <a:pPr marL="342900" indent="-342900">
              <a:buSzPct val="100000"/>
              <a:buChar char="•"/>
            </a:pPr>
            <a:r>
              <a:rPr lang="en-US" sz="1000" dirty="0">
                <a:solidFill>
                  <a:srgbClr val="E8F4FD"/>
                </a:solidFill>
              </a:rPr>
              <a:t>Org challenges: talent, IP, integration, resistance, ROI</a:t>
            </a:r>
            <a:endParaRPr lang="en-US" sz="1000" dirty="0"/>
          </a:p>
          <a:p>
            <a:pPr marL="342900" indent="-342900">
              <a:buSzPct val="100000"/>
              <a:buChar char="•"/>
            </a:pPr>
            <a:r>
              <a:rPr lang="en-US" sz="1000" dirty="0">
                <a:solidFill>
                  <a:srgbClr val="E8F4FD"/>
                </a:solidFill>
              </a:rPr>
              <a:t>Cultural challenges: fear, data silos, opacity, no learning culture</a:t>
            </a:r>
            <a:endParaRPr lang="en-US" sz="1000" dirty="0"/>
          </a:p>
        </p:txBody>
      </p:sp>
      <p:sp>
        <p:nvSpPr>
          <p:cNvPr id="11" name="Shape 8"/>
          <p:cNvSpPr/>
          <p:nvPr/>
        </p:nvSpPr>
        <p:spPr>
          <a:xfrm>
            <a:off x="4663440" y="987552"/>
            <a:ext cx="4206240" cy="3547872"/>
          </a:xfrm>
          <a:prstGeom prst="rect">
            <a:avLst/>
          </a:prstGeom>
          <a:solidFill>
            <a:srgbClr val="112244"/>
          </a:solidFill>
          <a:ln w="25400">
            <a:solidFill>
              <a:srgbClr val="FFD166"/>
            </a:solidFill>
            <a:prstDash val="solid"/>
          </a:ln>
          <a:effectLst>
            <a:outerShdw blurRad="101600" dist="38100" dir="8100000" algn="bl" rotWithShape="0">
              <a:srgbClr val="000000">
                <a:alpha val="25000"/>
              </a:srgbClr>
            </a:outerShdw>
          </a:effectLst>
        </p:spPr>
      </p:sp>
      <p:sp>
        <p:nvSpPr>
          <p:cNvPr id="12" name="Shape 9"/>
          <p:cNvSpPr/>
          <p:nvPr/>
        </p:nvSpPr>
        <p:spPr>
          <a:xfrm>
            <a:off x="4663440" y="987552"/>
            <a:ext cx="4206240" cy="347472"/>
          </a:xfrm>
          <a:prstGeom prst="rect">
            <a:avLst/>
          </a:prstGeom>
          <a:solidFill>
            <a:srgbClr val="FFD166"/>
          </a:solidFill>
          <a:ln w="12700">
            <a:solidFill>
              <a:srgbClr val="FFD166"/>
            </a:solidFill>
            <a:prstDash val="solid"/>
          </a:ln>
        </p:spPr>
      </p:sp>
      <p:sp>
        <p:nvSpPr>
          <p:cNvPr id="13" name="Text 10"/>
          <p:cNvSpPr/>
          <p:nvPr/>
        </p:nvSpPr>
        <p:spPr>
          <a:xfrm>
            <a:off x="4709160" y="987552"/>
            <a:ext cx="4114800" cy="347472"/>
          </a:xfrm>
          <a:prstGeom prst="rect">
            <a:avLst/>
          </a:prstGeom>
          <a:noFill/>
          <a:ln/>
        </p:spPr>
        <p:txBody>
          <a:bodyPr wrap="square" rtlCol="0" anchor="ctr"/>
          <a:lstStyle/>
          <a:p>
            <a:pPr marL="0" indent="0">
              <a:buNone/>
            </a:pPr>
            <a:r>
              <a:rPr lang="en-US" sz="1200" b="1" dirty="0">
                <a:solidFill>
                  <a:srgbClr val="0A1628"/>
                </a:solidFill>
              </a:rPr>
              <a:t>Assessment Questions</a:t>
            </a:r>
            <a:endParaRPr lang="en-US" sz="1200" dirty="0"/>
          </a:p>
        </p:txBody>
      </p:sp>
      <p:sp>
        <p:nvSpPr>
          <p:cNvPr id="14" name="Text 11"/>
          <p:cNvSpPr/>
          <p:nvPr/>
        </p:nvSpPr>
        <p:spPr>
          <a:xfrm>
            <a:off x="4754880" y="1389888"/>
            <a:ext cx="3977640" cy="3063240"/>
          </a:xfrm>
          <a:prstGeom prst="rect">
            <a:avLst/>
          </a:prstGeom>
          <a:noFill/>
          <a:ln/>
        </p:spPr>
        <p:txBody>
          <a:bodyPr wrap="square" rtlCol="0" anchor="ctr"/>
          <a:lstStyle/>
          <a:p>
            <a:pPr marL="342900" indent="-342900">
              <a:buSzPct val="100000"/>
              <a:buFont typeface="+mj-lt"/>
              <a:buAutoNum type="arabicPeriod"/>
            </a:pPr>
            <a:r>
              <a:rPr lang="en-US" sz="1000" dirty="0">
                <a:solidFill>
                  <a:srgbClr val="E8F4FD"/>
                </a:solidFill>
              </a:rPr>
              <a:t>Explain one of the 7 aspects with an original Indian-context example</a:t>
            </a:r>
            <a:endParaRPr lang="en-US" sz="1000" dirty="0"/>
          </a:p>
          <a:p>
            <a:pPr marL="342900" indent="-342900">
              <a:buSzPct val="100000"/>
              <a:buFont typeface="+mj-lt"/>
              <a:buAutoNum type="arabicPeriod"/>
            </a:pPr>
            <a:r>
              <a:rPr lang="en-US" sz="1000" dirty="0">
                <a:solidFill>
                  <a:srgbClr val="E8F4FD"/>
                </a:solidFill>
              </a:rPr>
              <a:t>Compare any two AI storytelling tools with a specific scenario for each</a:t>
            </a:r>
            <a:endParaRPr lang="en-US" sz="1000" dirty="0"/>
          </a:p>
          <a:p>
            <a:pPr marL="342900" indent="-342900">
              <a:buSzPct val="100000"/>
              <a:buFont typeface="+mj-lt"/>
              <a:buAutoNum type="arabicPeriod"/>
            </a:pPr>
            <a:r>
              <a:rPr lang="en-US" sz="1000" dirty="0">
                <a:solidFill>
                  <a:srgbClr val="E8F4FD"/>
                </a:solidFill>
              </a:rPr>
              <a:t>A bank's credit AI denied a loan without explanation. Which ethical principle was violated?</a:t>
            </a:r>
            <a:endParaRPr lang="en-US" sz="1000" dirty="0"/>
          </a:p>
          <a:p>
            <a:pPr marL="342900" indent="-342900">
              <a:buSzPct val="100000"/>
              <a:buFont typeface="+mj-lt"/>
              <a:buAutoNum type="arabicPeriod"/>
            </a:pPr>
            <a:r>
              <a:rPr lang="en-US" sz="1000" dirty="0">
                <a:solidFill>
                  <a:srgbClr val="E8F4FD"/>
                </a:solidFill>
              </a:rPr>
              <a:t>Write a 5-point plan to overcome organisational Gen AI challenges for a mid-sized Indian retailer</a:t>
            </a:r>
            <a:endParaRPr lang="en-US" sz="1000" dirty="0"/>
          </a:p>
          <a:p>
            <a:pPr marL="342900" indent="-342900">
              <a:buSzPct val="100000"/>
              <a:buFont typeface="+mj-lt"/>
              <a:buAutoNum type="arabicPeriod"/>
            </a:pPr>
            <a:r>
              <a:rPr lang="en-US" sz="1000" dirty="0">
                <a:solidFill>
                  <a:srgbClr val="E8F4FD"/>
                </a:solidFill>
              </a:rPr>
              <a:t>What is AI hallucination? Give a real example and explain the technical mitigation</a:t>
            </a:r>
            <a:endParaRPr lang="en-US" sz="1000" dirty="0"/>
          </a:p>
        </p:txBody>
      </p:sp>
      <p:sp>
        <p:nvSpPr>
          <p:cNvPr id="15" name="Shape 12"/>
          <p:cNvSpPr/>
          <p:nvPr/>
        </p:nvSpPr>
        <p:spPr>
          <a:xfrm>
            <a:off x="274320" y="4608576"/>
            <a:ext cx="8595360" cy="621792"/>
          </a:xfrm>
          <a:prstGeom prst="rect">
            <a:avLst/>
          </a:prstGeom>
          <a:solidFill>
            <a:srgbClr val="0F2041"/>
          </a:solidFill>
          <a:ln w="19050">
            <a:solidFill>
              <a:srgbClr val="7B5EA7"/>
            </a:solidFill>
            <a:prstDash val="solid"/>
          </a:ln>
        </p:spPr>
      </p:sp>
      <p:sp>
        <p:nvSpPr>
          <p:cNvPr id="16" name="Text 13"/>
          <p:cNvSpPr/>
          <p:nvPr/>
        </p:nvSpPr>
        <p:spPr>
          <a:xfrm>
            <a:off x="411480" y="4645152"/>
            <a:ext cx="8229600" cy="274320"/>
          </a:xfrm>
          <a:prstGeom prst="rect">
            <a:avLst/>
          </a:prstGeom>
          <a:noFill/>
          <a:ln/>
        </p:spPr>
        <p:txBody>
          <a:bodyPr wrap="square" rtlCol="0" anchor="ctr"/>
          <a:lstStyle/>
          <a:p>
            <a:pPr marL="0" indent="0">
              <a:buNone/>
            </a:pPr>
            <a:r>
              <a:rPr lang="en-US" sz="1200" b="1" dirty="0">
                <a:solidFill>
                  <a:srgbClr val="7B5EA7"/>
                </a:solidFill>
              </a:rPr>
              <a:t>Module 5, Chapter 1 — Complete</a:t>
            </a:r>
            <a:endParaRPr lang="en-US" sz="1200" dirty="0"/>
          </a:p>
        </p:txBody>
      </p:sp>
      <p:sp>
        <p:nvSpPr>
          <p:cNvPr id="17" name="Text 14"/>
          <p:cNvSpPr/>
          <p:nvPr/>
        </p:nvSpPr>
        <p:spPr>
          <a:xfrm>
            <a:off x="411480" y="4919472"/>
            <a:ext cx="8229600" cy="256032"/>
          </a:xfrm>
          <a:prstGeom prst="rect">
            <a:avLst/>
          </a:prstGeom>
          <a:noFill/>
          <a:ln/>
        </p:spPr>
        <p:txBody>
          <a:bodyPr wrap="square" rtlCol="0" anchor="ctr"/>
          <a:lstStyle/>
          <a:p>
            <a:pPr marL="0" indent="0">
              <a:buNone/>
            </a:pPr>
            <a:r>
              <a:rPr lang="en-US" sz="1000" dirty="0">
                <a:solidFill>
                  <a:srgbClr val="E8F4FD"/>
                </a:solidFill>
              </a:rPr>
              <a:t>All 7 Lessons Covered  ·  NL-to-SQL · Q&amp;A Tools · Data Prep · MS Copilot · Storytelling · Considerations · Challenges</a:t>
            </a:r>
            <a:endParaRPr lang="en-US" sz="1000" dirty="0"/>
          </a:p>
        </p:txBody>
      </p:sp>
    </p:spTree>
    <p:extLst>
      <p:ext uri="{BB962C8B-B14F-4D97-AF65-F5344CB8AC3E}">
        <p14:creationId xmlns:p14="http://schemas.microsoft.com/office/powerpoint/2010/main" val="38524875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915640-831A-0CB0-0A88-58BA78451DF7}"/>
              </a:ext>
            </a:extLst>
          </p:cNvPr>
          <p:cNvSpPr txBox="1"/>
          <p:nvPr/>
        </p:nvSpPr>
        <p:spPr>
          <a:xfrm>
            <a:off x="2373489" y="1364511"/>
            <a:ext cx="7590669"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a:ea typeface="Calibri"/>
                <a:cs typeface="Calibri"/>
              </a:rPr>
              <a:t>DAY 12</a:t>
            </a:r>
            <a:endParaRPr lang="en-US" sz="9600" b="1"/>
          </a:p>
        </p:txBody>
      </p:sp>
    </p:spTree>
    <p:extLst>
      <p:ext uri="{BB962C8B-B14F-4D97-AF65-F5344CB8AC3E}">
        <p14:creationId xmlns:p14="http://schemas.microsoft.com/office/powerpoint/2010/main" val="12374135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
    <p:bg>
      <p:bgPr>
        <a:solidFill>
          <a:srgbClr val="0A1F44"/>
        </a:solidFill>
        <a:effectLst/>
      </p:bgPr>
    </p:bg>
    <p:spTree>
      <p:nvGrpSpPr>
        <p:cNvPr id="1" name=""/>
        <p:cNvGrpSpPr/>
        <p:nvPr/>
      </p:nvGrpSpPr>
      <p:grpSpPr>
        <a:xfrm>
          <a:off x="0" y="0"/>
          <a:ext cx="0" cy="0"/>
          <a:chOff x="0" y="0"/>
          <a:chExt cx="0" cy="0"/>
        </a:xfrm>
      </p:grpSpPr>
      <p:sp>
        <p:nvSpPr>
          <p:cNvPr id="2" name="Shape 0"/>
          <p:cNvSpPr/>
          <p:nvPr/>
        </p:nvSpPr>
        <p:spPr>
          <a:xfrm>
            <a:off x="6652260" y="-1234440"/>
            <a:ext cx="3429000" cy="3429000"/>
          </a:xfrm>
          <a:prstGeom prst="ellipse">
            <a:avLst/>
          </a:prstGeom>
          <a:solidFill>
            <a:srgbClr val="1A356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Shape 1"/>
          <p:cNvSpPr/>
          <p:nvPr/>
        </p:nvSpPr>
        <p:spPr>
          <a:xfrm>
            <a:off x="7886700" y="3086100"/>
            <a:ext cx="2743200" cy="2743200"/>
          </a:xfrm>
          <a:prstGeom prst="ellipse">
            <a:avLst/>
          </a:prstGeom>
          <a:solidFill>
            <a:srgbClr val="1A356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4" name="Text 2"/>
          <p:cNvSpPr/>
          <p:nvPr/>
        </p:nvSpPr>
        <p:spPr>
          <a:xfrm>
            <a:off x="480060" y="411480"/>
            <a:ext cx="68580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kern="0" spc="150" dirty="0">
                <a:solidFill>
                  <a:srgbClr val="DDEEFF"/>
                </a:solidFill>
                <a:latin typeface="Calibri" pitchFamily="34" charset="0"/>
                <a:ea typeface="Calibri" pitchFamily="34" charset="-122"/>
                <a:cs typeface="Calibri" pitchFamily="34" charset="-120"/>
              </a:rPr>
              <a:t>IBM CAREER EDUCATION  ·  VIT COLLEGE  ·  CORPORATE TRAINING</a:t>
            </a:r>
            <a:endParaRPr lang="en-US" sz="1050" dirty="0"/>
          </a:p>
        </p:txBody>
      </p:sp>
      <p:sp>
        <p:nvSpPr>
          <p:cNvPr id="5" name="Text 3"/>
          <p:cNvSpPr/>
          <p:nvPr/>
        </p:nvSpPr>
        <p:spPr>
          <a:xfrm>
            <a:off x="480060" y="1371600"/>
            <a:ext cx="7200900" cy="15087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5000"/>
              </a:lnSpc>
              <a:buNone/>
            </a:pPr>
            <a:r>
              <a:rPr lang="en-US" sz="3300" b="1" dirty="0">
                <a:solidFill>
                  <a:srgbClr val="FFFFFF"/>
                </a:solidFill>
                <a:latin typeface="Calibri" pitchFamily="34" charset="0"/>
                <a:ea typeface="Calibri" pitchFamily="34" charset="-122"/>
                <a:cs typeface="Calibri" pitchFamily="34" charset="-120"/>
              </a:rPr>
              <a:t>GenAI Across the</a:t>
            </a:r>
            <a:endParaRPr lang="en-US" sz="3300" dirty="0"/>
          </a:p>
          <a:p>
            <a:pPr marL="0" indent="0">
              <a:lnSpc>
                <a:spcPct val="105000"/>
              </a:lnSpc>
              <a:buNone/>
            </a:pPr>
            <a:r>
              <a:rPr lang="en-US" sz="3300" b="1" dirty="0">
                <a:solidFill>
                  <a:srgbClr val="FFFFFF"/>
                </a:solidFill>
                <a:latin typeface="Calibri" pitchFamily="34" charset="0"/>
                <a:ea typeface="Calibri" pitchFamily="34" charset="-122"/>
                <a:cs typeface="Calibri" pitchFamily="34" charset="-120"/>
              </a:rPr>
              <a:t>Data Engineering Lifecycle</a:t>
            </a:r>
            <a:endParaRPr lang="en-US" sz="3300" dirty="0"/>
          </a:p>
        </p:txBody>
      </p:sp>
      <p:sp>
        <p:nvSpPr>
          <p:cNvPr id="6" name="Text 4"/>
          <p:cNvSpPr/>
          <p:nvPr/>
        </p:nvSpPr>
        <p:spPr>
          <a:xfrm>
            <a:off x="480060" y="2914650"/>
            <a:ext cx="75438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350" dirty="0">
                <a:solidFill>
                  <a:srgbClr val="C7D6EE"/>
                </a:solidFill>
                <a:latin typeface="Calibri" pitchFamily="34" charset="0"/>
                <a:ea typeface="Calibri" pitchFamily="34" charset="-122"/>
                <a:cs typeface="Calibri" pitchFamily="34" charset="-120"/>
              </a:rPr>
              <a:t>Unit 3  ·  Day 12  ·  Topic 2  ·  Architecture, Schema Design &amp; Data Anonymization with GenAI</a:t>
            </a:r>
            <a:endParaRPr lang="en-US" sz="1350" dirty="0"/>
          </a:p>
        </p:txBody>
      </p:sp>
      <p:sp>
        <p:nvSpPr>
          <p:cNvPr id="7" name="Shape 5"/>
          <p:cNvSpPr/>
          <p:nvPr/>
        </p:nvSpPr>
        <p:spPr>
          <a:xfrm>
            <a:off x="480060" y="3429000"/>
            <a:ext cx="960120" cy="41148"/>
          </a:xfrm>
          <a:prstGeom prst="rect">
            <a:avLst/>
          </a:prstGeom>
          <a:solidFill>
            <a:srgbClr val="006D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Text 6"/>
          <p:cNvSpPr/>
          <p:nvPr/>
        </p:nvSpPr>
        <p:spPr>
          <a:xfrm>
            <a:off x="480060" y="3634740"/>
            <a:ext cx="75438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C7D6EE"/>
                </a:solidFill>
                <a:latin typeface="Calibri" pitchFamily="34" charset="0"/>
                <a:ea typeface="Calibri" pitchFamily="34" charset="-122"/>
                <a:cs typeface="Calibri" pitchFamily="34" charset="-120"/>
              </a:rPr>
              <a:t>Duration: </a:t>
            </a:r>
            <a:r>
              <a:rPr lang="en-US" sz="975" dirty="0">
                <a:solidFill>
                  <a:srgbClr val="FFFFFF"/>
                </a:solidFill>
                <a:latin typeface="Calibri" pitchFamily="34" charset="0"/>
                <a:ea typeface="Calibri" pitchFamily="34" charset="-122"/>
                <a:cs typeface="Calibri" pitchFamily="34" charset="-120"/>
              </a:rPr>
              <a:t>2 Hours      </a:t>
            </a:r>
            <a:r>
              <a:rPr lang="en-US" sz="975" b="1" dirty="0">
                <a:solidFill>
                  <a:srgbClr val="C7D6EE"/>
                </a:solidFill>
                <a:latin typeface="Calibri" pitchFamily="34" charset="0"/>
                <a:ea typeface="Calibri" pitchFamily="34" charset="-122"/>
                <a:cs typeface="Calibri" pitchFamily="34" charset="-120"/>
              </a:rPr>
              <a:t>Mode: </a:t>
            </a:r>
            <a:r>
              <a:rPr lang="en-US" sz="975" dirty="0">
                <a:solidFill>
                  <a:srgbClr val="FFFFFF"/>
                </a:solidFill>
                <a:latin typeface="Calibri" pitchFamily="34" charset="0"/>
                <a:ea typeface="Calibri" pitchFamily="34" charset="-122"/>
                <a:cs typeface="Calibri" pitchFamily="34" charset="-120"/>
              </a:rPr>
              <a:t>Theory + 3 Hands-on Labs</a:t>
            </a:r>
            <a:endParaRPr lang="en-US" sz="975" dirty="0"/>
          </a:p>
        </p:txBody>
      </p:sp>
    </p:spTree>
    <p:extLst>
      <p:ext uri="{BB962C8B-B14F-4D97-AF65-F5344CB8AC3E}">
        <p14:creationId xmlns:p14="http://schemas.microsoft.com/office/powerpoint/2010/main" val="36525943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TODAY'S ROADMAP</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Session Agenda</a:t>
            </a:r>
            <a:endParaRPr lang="en-US" sz="2100" dirty="0"/>
          </a:p>
        </p:txBody>
      </p:sp>
      <p:sp>
        <p:nvSpPr>
          <p:cNvPr id="5" name="Shape 3"/>
          <p:cNvSpPr/>
          <p:nvPr/>
        </p:nvSpPr>
        <p:spPr>
          <a:xfrm>
            <a:off x="411480" y="1028700"/>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48640" y="1131570"/>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01</a:t>
            </a:r>
            <a:endParaRPr lang="en-US" sz="2700" dirty="0"/>
          </a:p>
        </p:txBody>
      </p:sp>
      <p:sp>
        <p:nvSpPr>
          <p:cNvPr id="7" name="Text 5"/>
          <p:cNvSpPr/>
          <p:nvPr/>
        </p:nvSpPr>
        <p:spPr>
          <a:xfrm>
            <a:off x="1303020" y="1152144"/>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GenAI Across the Data Lifecycle</a:t>
            </a:r>
            <a:endParaRPr lang="en-US" sz="1125" dirty="0"/>
          </a:p>
        </p:txBody>
      </p:sp>
      <p:sp>
        <p:nvSpPr>
          <p:cNvPr id="8" name="Text 6"/>
          <p:cNvSpPr/>
          <p:nvPr/>
        </p:nvSpPr>
        <p:spPr>
          <a:xfrm>
            <a:off x="1303020" y="1495044"/>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How GenAI enhances all 11 stages of the data engineering pipeline</a:t>
            </a:r>
            <a:endParaRPr lang="en-US" sz="863" dirty="0"/>
          </a:p>
        </p:txBody>
      </p:sp>
      <p:sp>
        <p:nvSpPr>
          <p:cNvPr id="9" name="Shape 7"/>
          <p:cNvSpPr/>
          <p:nvPr/>
        </p:nvSpPr>
        <p:spPr>
          <a:xfrm>
            <a:off x="411480" y="2372868"/>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0" name="Text 8"/>
          <p:cNvSpPr/>
          <p:nvPr/>
        </p:nvSpPr>
        <p:spPr>
          <a:xfrm>
            <a:off x="548640" y="2475738"/>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02</a:t>
            </a:r>
            <a:endParaRPr lang="en-US" sz="2700" dirty="0"/>
          </a:p>
        </p:txBody>
      </p:sp>
      <p:sp>
        <p:nvSpPr>
          <p:cNvPr id="11" name="Text 9"/>
          <p:cNvSpPr/>
          <p:nvPr/>
        </p:nvSpPr>
        <p:spPr>
          <a:xfrm>
            <a:off x="1303020" y="2496312"/>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Future-Ready Data Architectures</a:t>
            </a:r>
            <a:endParaRPr lang="en-US" sz="1125" dirty="0"/>
          </a:p>
        </p:txBody>
      </p:sp>
      <p:sp>
        <p:nvSpPr>
          <p:cNvPr id="12" name="Text 10"/>
          <p:cNvSpPr/>
          <p:nvPr/>
        </p:nvSpPr>
        <p:spPr>
          <a:xfrm>
            <a:off x="1303020" y="2839212"/>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Dynamic, integrated, and self-optimising architectures with GenAI</a:t>
            </a:r>
            <a:endParaRPr lang="en-US" sz="863" dirty="0"/>
          </a:p>
        </p:txBody>
      </p:sp>
      <p:sp>
        <p:nvSpPr>
          <p:cNvPr id="13" name="Shape 11"/>
          <p:cNvSpPr/>
          <p:nvPr/>
        </p:nvSpPr>
        <p:spPr>
          <a:xfrm>
            <a:off x="411480" y="3717036"/>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4" name="Text 12"/>
          <p:cNvSpPr/>
          <p:nvPr/>
        </p:nvSpPr>
        <p:spPr>
          <a:xfrm>
            <a:off x="548640" y="3819906"/>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03</a:t>
            </a:r>
            <a:endParaRPr lang="en-US" sz="2700" dirty="0"/>
          </a:p>
        </p:txBody>
      </p:sp>
      <p:sp>
        <p:nvSpPr>
          <p:cNvPr id="15" name="Text 13"/>
          <p:cNvSpPr/>
          <p:nvPr/>
        </p:nvSpPr>
        <p:spPr>
          <a:xfrm>
            <a:off x="1303020" y="3840480"/>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Lab 1: Architecture Design</a:t>
            </a:r>
            <a:endParaRPr lang="en-US" sz="1125" dirty="0"/>
          </a:p>
        </p:txBody>
      </p:sp>
      <p:sp>
        <p:nvSpPr>
          <p:cNvPr id="16" name="Text 14"/>
          <p:cNvSpPr/>
          <p:nvPr/>
        </p:nvSpPr>
        <p:spPr>
          <a:xfrm>
            <a:off x="1303020" y="4183380"/>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Design EHR, CRM &amp; Trading systems using iterative AI prompting</a:t>
            </a:r>
            <a:endParaRPr lang="en-US" sz="863" dirty="0"/>
          </a:p>
        </p:txBody>
      </p:sp>
      <p:sp>
        <p:nvSpPr>
          <p:cNvPr id="17" name="Shape 15"/>
          <p:cNvSpPr/>
          <p:nvPr/>
        </p:nvSpPr>
        <p:spPr>
          <a:xfrm>
            <a:off x="4800600" y="1028700"/>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8" name="Text 16"/>
          <p:cNvSpPr/>
          <p:nvPr/>
        </p:nvSpPr>
        <p:spPr>
          <a:xfrm>
            <a:off x="4937760" y="1131570"/>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04</a:t>
            </a:r>
            <a:endParaRPr lang="en-US" sz="2700" dirty="0"/>
          </a:p>
        </p:txBody>
      </p:sp>
      <p:sp>
        <p:nvSpPr>
          <p:cNvPr id="19" name="Text 17"/>
          <p:cNvSpPr/>
          <p:nvPr/>
        </p:nvSpPr>
        <p:spPr>
          <a:xfrm>
            <a:off x="5692140" y="1152144"/>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Automating Schema Design</a:t>
            </a:r>
            <a:endParaRPr lang="en-US" sz="1125" dirty="0"/>
          </a:p>
        </p:txBody>
      </p:sp>
      <p:sp>
        <p:nvSpPr>
          <p:cNvPr id="20" name="Text 18"/>
          <p:cNvSpPr/>
          <p:nvPr/>
        </p:nvSpPr>
        <p:spPr>
          <a:xfrm>
            <a:off x="5692140" y="1495044"/>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How GenAI learns, generates &amp; optimises database schemas</a:t>
            </a:r>
            <a:endParaRPr lang="en-US" sz="863" dirty="0"/>
          </a:p>
        </p:txBody>
      </p:sp>
      <p:sp>
        <p:nvSpPr>
          <p:cNvPr id="21" name="Shape 19"/>
          <p:cNvSpPr/>
          <p:nvPr/>
        </p:nvSpPr>
        <p:spPr>
          <a:xfrm>
            <a:off x="4800600" y="2372868"/>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2" name="Text 20"/>
          <p:cNvSpPr/>
          <p:nvPr/>
        </p:nvSpPr>
        <p:spPr>
          <a:xfrm>
            <a:off x="4937760" y="2475738"/>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05</a:t>
            </a:r>
            <a:endParaRPr lang="en-US" sz="2700" dirty="0"/>
          </a:p>
        </p:txBody>
      </p:sp>
      <p:sp>
        <p:nvSpPr>
          <p:cNvPr id="23" name="Text 21"/>
          <p:cNvSpPr/>
          <p:nvPr/>
        </p:nvSpPr>
        <p:spPr>
          <a:xfrm>
            <a:off x="5692140" y="2496312"/>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Lab 2: Schema &amp; SQL Design</a:t>
            </a:r>
            <a:endParaRPr lang="en-US" sz="1125" dirty="0"/>
          </a:p>
        </p:txBody>
      </p:sp>
      <p:sp>
        <p:nvSpPr>
          <p:cNvPr id="24" name="Text 22"/>
          <p:cNvSpPr/>
          <p:nvPr/>
        </p:nvSpPr>
        <p:spPr>
          <a:xfrm>
            <a:off x="5692140" y="2839212"/>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Build a fashion retail data warehouse schema, SQL &amp; ER diagram</a:t>
            </a:r>
            <a:endParaRPr lang="en-US" sz="863" dirty="0"/>
          </a:p>
        </p:txBody>
      </p:sp>
      <p:sp>
        <p:nvSpPr>
          <p:cNvPr id="25" name="Shape 23"/>
          <p:cNvSpPr/>
          <p:nvPr/>
        </p:nvSpPr>
        <p:spPr>
          <a:xfrm>
            <a:off x="4800600" y="3717036"/>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6" name="Text 24"/>
          <p:cNvSpPr/>
          <p:nvPr/>
        </p:nvSpPr>
        <p:spPr>
          <a:xfrm>
            <a:off x="4937760" y="3819906"/>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06</a:t>
            </a:r>
            <a:endParaRPr lang="en-US" sz="2700" dirty="0"/>
          </a:p>
        </p:txBody>
      </p:sp>
      <p:sp>
        <p:nvSpPr>
          <p:cNvPr id="27" name="Text 25"/>
          <p:cNvSpPr/>
          <p:nvPr/>
        </p:nvSpPr>
        <p:spPr>
          <a:xfrm>
            <a:off x="5692140" y="3840480"/>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Lab 3: Data Anonymization</a:t>
            </a:r>
            <a:endParaRPr lang="en-US" sz="1125" dirty="0"/>
          </a:p>
        </p:txBody>
      </p:sp>
      <p:sp>
        <p:nvSpPr>
          <p:cNvPr id="28" name="Text 26"/>
          <p:cNvSpPr/>
          <p:nvPr/>
        </p:nvSpPr>
        <p:spPr>
          <a:xfrm>
            <a:off x="5692140" y="4183380"/>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Pseudonymization, redaction &amp; generalization with Python</a:t>
            </a:r>
            <a:endParaRPr lang="en-US" sz="863" dirty="0"/>
          </a:p>
        </p:txBody>
      </p:sp>
      <p:sp>
        <p:nvSpPr>
          <p:cNvPr id="29" name="Text 27"/>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GenAI Across the Data Engineering Lifecycle  ·  Day 12  ·  Topic 2</a:t>
            </a:r>
            <a:endParaRPr lang="en-US" sz="675" dirty="0"/>
          </a:p>
        </p:txBody>
      </p:sp>
      <p:sp>
        <p:nvSpPr>
          <p:cNvPr id="30" name="Text 28"/>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2</a:t>
            </a:r>
            <a:endParaRPr lang="en-US" sz="675" dirty="0"/>
          </a:p>
        </p:txBody>
      </p:sp>
    </p:spTree>
    <p:extLst>
      <p:ext uri="{BB962C8B-B14F-4D97-AF65-F5344CB8AC3E}">
        <p14:creationId xmlns:p14="http://schemas.microsoft.com/office/powerpoint/2010/main" val="39839226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CORE CONCEPT</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GenAI Across the Data Engineering Lifecycle</a:t>
            </a:r>
            <a:endParaRPr lang="en-US" sz="2100" dirty="0"/>
          </a:p>
        </p:txBody>
      </p:sp>
      <p:sp>
        <p:nvSpPr>
          <p:cNvPr id="5" name="Shape 3"/>
          <p:cNvSpPr/>
          <p:nvPr/>
        </p:nvSpPr>
        <p:spPr>
          <a:xfrm>
            <a:off x="411480" y="1028700"/>
            <a:ext cx="8298180" cy="788670"/>
          </a:xfrm>
          <a:prstGeom prst="roundRect">
            <a:avLst>
              <a:gd name="adj" fmla="val 6957"/>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48640" y="1131570"/>
            <a:ext cx="8023860"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CONCEPT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Generative AI transforms each stage of the data engineering lifecycle by automating, optimising, and enriching workflows - not just one part of the pipeline.</a:t>
            </a:r>
            <a:endParaRPr lang="en-US" sz="1050" dirty="0"/>
          </a:p>
        </p:txBody>
      </p:sp>
      <p:sp>
        <p:nvSpPr>
          <p:cNvPr id="7" name="Shape 5"/>
          <p:cNvSpPr/>
          <p:nvPr/>
        </p:nvSpPr>
        <p:spPr>
          <a:xfrm>
            <a:off x="411480" y="1954530"/>
            <a:ext cx="2016252" cy="932688"/>
          </a:xfrm>
          <a:prstGeom prst="roundRect">
            <a:avLst>
              <a:gd name="adj" fmla="val 4412"/>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Shape 6"/>
          <p:cNvSpPr/>
          <p:nvPr/>
        </p:nvSpPr>
        <p:spPr>
          <a:xfrm>
            <a:off x="411480" y="1954530"/>
            <a:ext cx="54864" cy="932688"/>
          </a:xfrm>
          <a:prstGeom prst="rect">
            <a:avLst/>
          </a:prstGeom>
          <a:solidFill>
            <a:srgbClr val="006D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9" name="Text 7"/>
          <p:cNvSpPr/>
          <p:nvPr/>
        </p:nvSpPr>
        <p:spPr>
          <a:xfrm>
            <a:off x="534924" y="2009394"/>
            <a:ext cx="1810512"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b="1" dirty="0">
                <a:solidFill>
                  <a:srgbClr val="0A1F44"/>
                </a:solidFill>
                <a:latin typeface="Calibri" pitchFamily="34" charset="0"/>
                <a:ea typeface="Calibri" pitchFamily="34" charset="-122"/>
                <a:cs typeface="Calibri" pitchFamily="34" charset="-120"/>
              </a:rPr>
              <a:t>Collection</a:t>
            </a:r>
            <a:endParaRPr lang="en-US" sz="938" dirty="0"/>
          </a:p>
        </p:txBody>
      </p:sp>
      <p:sp>
        <p:nvSpPr>
          <p:cNvPr id="10" name="Text 8"/>
          <p:cNvSpPr/>
          <p:nvPr/>
        </p:nvSpPr>
        <p:spPr>
          <a:xfrm>
            <a:off x="534924" y="2242566"/>
            <a:ext cx="1810512" cy="589788"/>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0000"/>
              </a:lnSpc>
              <a:buNone/>
            </a:pPr>
            <a:r>
              <a:rPr lang="en-US" sz="713" dirty="0">
                <a:solidFill>
                  <a:srgbClr val="5A5A6E"/>
                </a:solidFill>
                <a:latin typeface="Calibri" pitchFamily="34" charset="0"/>
                <a:ea typeface="Calibri" pitchFamily="34" charset="-122"/>
                <a:cs typeface="Calibri" pitchFamily="34" charset="-120"/>
              </a:rPr>
              <a:t>Automates discovery &amp; categorisation of data sources (APIs, DBs, sensors)</a:t>
            </a:r>
            <a:endParaRPr lang="en-US" sz="713" dirty="0"/>
          </a:p>
        </p:txBody>
      </p:sp>
      <p:sp>
        <p:nvSpPr>
          <p:cNvPr id="11" name="Shape 9"/>
          <p:cNvSpPr/>
          <p:nvPr/>
        </p:nvSpPr>
        <p:spPr>
          <a:xfrm>
            <a:off x="2496312" y="1954530"/>
            <a:ext cx="2016252" cy="932688"/>
          </a:xfrm>
          <a:prstGeom prst="roundRect">
            <a:avLst>
              <a:gd name="adj" fmla="val 4412"/>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2" name="Shape 10"/>
          <p:cNvSpPr/>
          <p:nvPr/>
        </p:nvSpPr>
        <p:spPr>
          <a:xfrm>
            <a:off x="2496312" y="1954530"/>
            <a:ext cx="54864" cy="932688"/>
          </a:xfrm>
          <a:prstGeom prst="rect">
            <a:avLst/>
          </a:prstGeom>
          <a:solidFill>
            <a:srgbClr val="5B2D8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3" name="Text 11"/>
          <p:cNvSpPr/>
          <p:nvPr/>
        </p:nvSpPr>
        <p:spPr>
          <a:xfrm>
            <a:off x="2619756" y="2009394"/>
            <a:ext cx="1810512"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b="1" dirty="0">
                <a:solidFill>
                  <a:srgbClr val="0A1F44"/>
                </a:solidFill>
                <a:latin typeface="Calibri" pitchFamily="34" charset="0"/>
                <a:ea typeface="Calibri" pitchFamily="34" charset="-122"/>
                <a:cs typeface="Calibri" pitchFamily="34" charset="-120"/>
              </a:rPr>
              <a:t>Ingestion</a:t>
            </a:r>
            <a:endParaRPr lang="en-US" sz="938" dirty="0"/>
          </a:p>
        </p:txBody>
      </p:sp>
      <p:sp>
        <p:nvSpPr>
          <p:cNvPr id="14" name="Text 12"/>
          <p:cNvSpPr/>
          <p:nvPr/>
        </p:nvSpPr>
        <p:spPr>
          <a:xfrm>
            <a:off x="2619756" y="2242566"/>
            <a:ext cx="1810512" cy="589788"/>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0000"/>
              </a:lnSpc>
              <a:buNone/>
            </a:pPr>
            <a:r>
              <a:rPr lang="en-US" sz="713" dirty="0">
                <a:solidFill>
                  <a:srgbClr val="5A5A6E"/>
                </a:solidFill>
                <a:latin typeface="Calibri" pitchFamily="34" charset="0"/>
                <a:ea typeface="Calibri" pitchFamily="34" charset="-122"/>
                <a:cs typeface="Calibri" pitchFamily="34" charset="-120"/>
              </a:rPr>
              <a:t>Generates extraction/transformation code; detects ingestion anomalies</a:t>
            </a:r>
            <a:endParaRPr lang="en-US" sz="713" dirty="0"/>
          </a:p>
        </p:txBody>
      </p:sp>
      <p:sp>
        <p:nvSpPr>
          <p:cNvPr id="15" name="Shape 13"/>
          <p:cNvSpPr/>
          <p:nvPr/>
        </p:nvSpPr>
        <p:spPr>
          <a:xfrm>
            <a:off x="4581144" y="1954530"/>
            <a:ext cx="2016252" cy="932688"/>
          </a:xfrm>
          <a:prstGeom prst="roundRect">
            <a:avLst>
              <a:gd name="adj" fmla="val 4412"/>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6" name="Shape 14"/>
          <p:cNvSpPr/>
          <p:nvPr/>
        </p:nvSpPr>
        <p:spPr>
          <a:xfrm>
            <a:off x="4581144" y="1954530"/>
            <a:ext cx="54864" cy="932688"/>
          </a:xfrm>
          <a:prstGeom prst="rect">
            <a:avLst/>
          </a:prstGeom>
          <a:solidFill>
            <a:srgbClr val="006D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7" name="Text 15"/>
          <p:cNvSpPr/>
          <p:nvPr/>
        </p:nvSpPr>
        <p:spPr>
          <a:xfrm>
            <a:off x="4704588" y="2009394"/>
            <a:ext cx="1810512"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b="1" dirty="0">
                <a:solidFill>
                  <a:srgbClr val="0A1F44"/>
                </a:solidFill>
                <a:latin typeface="Calibri" pitchFamily="34" charset="0"/>
                <a:ea typeface="Calibri" pitchFamily="34" charset="-122"/>
                <a:cs typeface="Calibri" pitchFamily="34" charset="-120"/>
              </a:rPr>
              <a:t>Storage</a:t>
            </a:r>
            <a:endParaRPr lang="en-US" sz="938" dirty="0"/>
          </a:p>
        </p:txBody>
      </p:sp>
      <p:sp>
        <p:nvSpPr>
          <p:cNvPr id="18" name="Text 16"/>
          <p:cNvSpPr/>
          <p:nvPr/>
        </p:nvSpPr>
        <p:spPr>
          <a:xfrm>
            <a:off x="4704588" y="2242566"/>
            <a:ext cx="1810512" cy="589788"/>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0000"/>
              </a:lnSpc>
              <a:buNone/>
            </a:pPr>
            <a:r>
              <a:rPr lang="en-US" sz="713" dirty="0">
                <a:solidFill>
                  <a:srgbClr val="5A5A6E"/>
                </a:solidFill>
                <a:latin typeface="Calibri" pitchFamily="34" charset="0"/>
                <a:ea typeface="Calibri" pitchFamily="34" charset="-122"/>
                <a:cs typeface="Calibri" pitchFamily="34" charset="-120"/>
              </a:rPr>
              <a:t>Predicts schema &amp; access patterns to optimise storage &amp; retrieval</a:t>
            </a:r>
            <a:endParaRPr lang="en-US" sz="713" dirty="0"/>
          </a:p>
        </p:txBody>
      </p:sp>
      <p:sp>
        <p:nvSpPr>
          <p:cNvPr id="19" name="Shape 17"/>
          <p:cNvSpPr/>
          <p:nvPr/>
        </p:nvSpPr>
        <p:spPr>
          <a:xfrm>
            <a:off x="6665976" y="1954530"/>
            <a:ext cx="2016252" cy="932688"/>
          </a:xfrm>
          <a:prstGeom prst="roundRect">
            <a:avLst>
              <a:gd name="adj" fmla="val 4412"/>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0" name="Shape 18"/>
          <p:cNvSpPr/>
          <p:nvPr/>
        </p:nvSpPr>
        <p:spPr>
          <a:xfrm>
            <a:off x="6665976" y="1954530"/>
            <a:ext cx="54864" cy="932688"/>
          </a:xfrm>
          <a:prstGeom prst="rect">
            <a:avLst/>
          </a:prstGeom>
          <a:solidFill>
            <a:srgbClr val="5B2D8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1" name="Text 19"/>
          <p:cNvSpPr/>
          <p:nvPr/>
        </p:nvSpPr>
        <p:spPr>
          <a:xfrm>
            <a:off x="6789420" y="2009394"/>
            <a:ext cx="1810512"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b="1" dirty="0">
                <a:solidFill>
                  <a:srgbClr val="0A1F44"/>
                </a:solidFill>
                <a:latin typeface="Calibri" pitchFamily="34" charset="0"/>
                <a:ea typeface="Calibri" pitchFamily="34" charset="-122"/>
                <a:cs typeface="Calibri" pitchFamily="34" charset="-120"/>
              </a:rPr>
              <a:t>Processing</a:t>
            </a:r>
            <a:endParaRPr lang="en-US" sz="938" dirty="0"/>
          </a:p>
        </p:txBody>
      </p:sp>
      <p:sp>
        <p:nvSpPr>
          <p:cNvPr id="22" name="Text 20"/>
          <p:cNvSpPr/>
          <p:nvPr/>
        </p:nvSpPr>
        <p:spPr>
          <a:xfrm>
            <a:off x="6789420" y="2242566"/>
            <a:ext cx="1810512" cy="589788"/>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0000"/>
              </a:lnSpc>
              <a:buNone/>
            </a:pPr>
            <a:r>
              <a:rPr lang="en-US" sz="713" dirty="0">
                <a:solidFill>
                  <a:srgbClr val="5A5A6E"/>
                </a:solidFill>
                <a:latin typeface="Calibri" pitchFamily="34" charset="0"/>
                <a:ea typeface="Calibri" pitchFamily="34" charset="-122"/>
                <a:cs typeface="Calibri" pitchFamily="34" charset="-120"/>
              </a:rPr>
              <a:t>Automated cleansing - corrects errors, fills missing data</a:t>
            </a:r>
            <a:endParaRPr lang="en-US" sz="713" dirty="0"/>
          </a:p>
        </p:txBody>
      </p:sp>
      <p:sp>
        <p:nvSpPr>
          <p:cNvPr id="23" name="Shape 21"/>
          <p:cNvSpPr/>
          <p:nvPr/>
        </p:nvSpPr>
        <p:spPr>
          <a:xfrm>
            <a:off x="411480" y="2955798"/>
            <a:ext cx="2016252" cy="932688"/>
          </a:xfrm>
          <a:prstGeom prst="roundRect">
            <a:avLst>
              <a:gd name="adj" fmla="val 4412"/>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4" name="Shape 22"/>
          <p:cNvSpPr/>
          <p:nvPr/>
        </p:nvSpPr>
        <p:spPr>
          <a:xfrm>
            <a:off x="411480" y="2955798"/>
            <a:ext cx="54864" cy="932688"/>
          </a:xfrm>
          <a:prstGeom prst="rect">
            <a:avLst/>
          </a:prstGeom>
          <a:solidFill>
            <a:srgbClr val="006D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5" name="Text 23"/>
          <p:cNvSpPr/>
          <p:nvPr/>
        </p:nvSpPr>
        <p:spPr>
          <a:xfrm>
            <a:off x="534924" y="3010662"/>
            <a:ext cx="1810512"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b="1" dirty="0">
                <a:solidFill>
                  <a:srgbClr val="0A1F44"/>
                </a:solidFill>
                <a:latin typeface="Calibri" pitchFamily="34" charset="0"/>
                <a:ea typeface="Calibri" pitchFamily="34" charset="-122"/>
                <a:cs typeface="Calibri" pitchFamily="34" charset="-120"/>
              </a:rPr>
              <a:t>Integration</a:t>
            </a:r>
            <a:endParaRPr lang="en-US" sz="938" dirty="0"/>
          </a:p>
        </p:txBody>
      </p:sp>
      <p:sp>
        <p:nvSpPr>
          <p:cNvPr id="26" name="Text 24"/>
          <p:cNvSpPr/>
          <p:nvPr/>
        </p:nvSpPr>
        <p:spPr>
          <a:xfrm>
            <a:off x="534924" y="3243834"/>
            <a:ext cx="1810512" cy="589788"/>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0000"/>
              </a:lnSpc>
              <a:buNone/>
            </a:pPr>
            <a:r>
              <a:rPr lang="en-US" sz="713" dirty="0">
                <a:solidFill>
                  <a:srgbClr val="5A5A6E"/>
                </a:solidFill>
                <a:latin typeface="Calibri" pitchFamily="34" charset="0"/>
                <a:ea typeface="Calibri" pitchFamily="34" charset="-122"/>
                <a:cs typeface="Calibri" pitchFamily="34" charset="-120"/>
              </a:rPr>
              <a:t>Aligns disparate schemas; generates synthetic data for privacy-safe integration</a:t>
            </a:r>
            <a:endParaRPr lang="en-US" sz="713" dirty="0"/>
          </a:p>
        </p:txBody>
      </p:sp>
      <p:sp>
        <p:nvSpPr>
          <p:cNvPr id="27" name="Shape 25"/>
          <p:cNvSpPr/>
          <p:nvPr/>
        </p:nvSpPr>
        <p:spPr>
          <a:xfrm>
            <a:off x="2496312" y="2955798"/>
            <a:ext cx="2016252" cy="932688"/>
          </a:xfrm>
          <a:prstGeom prst="roundRect">
            <a:avLst>
              <a:gd name="adj" fmla="val 4412"/>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8" name="Shape 26"/>
          <p:cNvSpPr/>
          <p:nvPr/>
        </p:nvSpPr>
        <p:spPr>
          <a:xfrm>
            <a:off x="2496312" y="2955798"/>
            <a:ext cx="54864" cy="932688"/>
          </a:xfrm>
          <a:prstGeom prst="rect">
            <a:avLst/>
          </a:prstGeom>
          <a:solidFill>
            <a:srgbClr val="5B2D8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9" name="Text 27"/>
          <p:cNvSpPr/>
          <p:nvPr/>
        </p:nvSpPr>
        <p:spPr>
          <a:xfrm>
            <a:off x="2619756" y="3010662"/>
            <a:ext cx="1810512"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b="1" dirty="0">
                <a:solidFill>
                  <a:srgbClr val="0A1F44"/>
                </a:solidFill>
                <a:latin typeface="Calibri" pitchFamily="34" charset="0"/>
                <a:ea typeface="Calibri" pitchFamily="34" charset="-122"/>
                <a:cs typeface="Calibri" pitchFamily="34" charset="-120"/>
              </a:rPr>
              <a:t>Modelling</a:t>
            </a:r>
            <a:endParaRPr lang="en-US" sz="938" dirty="0"/>
          </a:p>
        </p:txBody>
      </p:sp>
      <p:sp>
        <p:nvSpPr>
          <p:cNvPr id="30" name="Text 28"/>
          <p:cNvSpPr/>
          <p:nvPr/>
        </p:nvSpPr>
        <p:spPr>
          <a:xfrm>
            <a:off x="2619756" y="3243834"/>
            <a:ext cx="1810512" cy="589788"/>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0000"/>
              </a:lnSpc>
              <a:buNone/>
            </a:pPr>
            <a:r>
              <a:rPr lang="en-US" sz="713" dirty="0">
                <a:solidFill>
                  <a:srgbClr val="5A5A6E"/>
                </a:solidFill>
                <a:latin typeface="Calibri" pitchFamily="34" charset="0"/>
                <a:ea typeface="Calibri" pitchFamily="34" charset="-122"/>
                <a:cs typeface="Calibri" pitchFamily="34" charset="-120"/>
              </a:rPr>
              <a:t>Suggests new features &amp; transformations from data relationships</a:t>
            </a:r>
            <a:endParaRPr lang="en-US" sz="713" dirty="0"/>
          </a:p>
        </p:txBody>
      </p:sp>
      <p:sp>
        <p:nvSpPr>
          <p:cNvPr id="31" name="Shape 29"/>
          <p:cNvSpPr/>
          <p:nvPr/>
        </p:nvSpPr>
        <p:spPr>
          <a:xfrm>
            <a:off x="4581144" y="2955798"/>
            <a:ext cx="2016252" cy="932688"/>
          </a:xfrm>
          <a:prstGeom prst="roundRect">
            <a:avLst>
              <a:gd name="adj" fmla="val 4412"/>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2" name="Shape 30"/>
          <p:cNvSpPr/>
          <p:nvPr/>
        </p:nvSpPr>
        <p:spPr>
          <a:xfrm>
            <a:off x="4581144" y="2955798"/>
            <a:ext cx="54864" cy="932688"/>
          </a:xfrm>
          <a:prstGeom prst="rect">
            <a:avLst/>
          </a:prstGeom>
          <a:solidFill>
            <a:srgbClr val="006D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3" name="Text 31"/>
          <p:cNvSpPr/>
          <p:nvPr/>
        </p:nvSpPr>
        <p:spPr>
          <a:xfrm>
            <a:off x="4704588" y="3010662"/>
            <a:ext cx="1810512"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b="1" dirty="0">
                <a:solidFill>
                  <a:srgbClr val="0A1F44"/>
                </a:solidFill>
                <a:latin typeface="Calibri" pitchFamily="34" charset="0"/>
                <a:ea typeface="Calibri" pitchFamily="34" charset="-122"/>
                <a:cs typeface="Calibri" pitchFamily="34" charset="-120"/>
              </a:rPr>
              <a:t>Transformation</a:t>
            </a:r>
            <a:endParaRPr lang="en-US" sz="938" dirty="0"/>
          </a:p>
        </p:txBody>
      </p:sp>
      <p:sp>
        <p:nvSpPr>
          <p:cNvPr id="34" name="Text 32"/>
          <p:cNvSpPr/>
          <p:nvPr/>
        </p:nvSpPr>
        <p:spPr>
          <a:xfrm>
            <a:off x="4704588" y="3243834"/>
            <a:ext cx="1810512" cy="589788"/>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0000"/>
              </a:lnSpc>
              <a:buNone/>
            </a:pPr>
            <a:r>
              <a:rPr lang="en-US" sz="713" dirty="0">
                <a:solidFill>
                  <a:srgbClr val="5A5A6E"/>
                </a:solidFill>
                <a:latin typeface="Calibri" pitchFamily="34" charset="0"/>
                <a:ea typeface="Calibri" pitchFamily="34" charset="-122"/>
                <a:cs typeface="Calibri" pitchFamily="34" charset="-120"/>
              </a:rPr>
              <a:t>Produces code for normalisation, aggregation, complex rules</a:t>
            </a:r>
            <a:endParaRPr lang="en-US" sz="713" dirty="0"/>
          </a:p>
        </p:txBody>
      </p:sp>
      <p:sp>
        <p:nvSpPr>
          <p:cNvPr id="35" name="Shape 33"/>
          <p:cNvSpPr/>
          <p:nvPr/>
        </p:nvSpPr>
        <p:spPr>
          <a:xfrm>
            <a:off x="6665976" y="2955798"/>
            <a:ext cx="2016252" cy="932688"/>
          </a:xfrm>
          <a:prstGeom prst="roundRect">
            <a:avLst>
              <a:gd name="adj" fmla="val 4412"/>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6" name="Shape 34"/>
          <p:cNvSpPr/>
          <p:nvPr/>
        </p:nvSpPr>
        <p:spPr>
          <a:xfrm>
            <a:off x="6665976" y="2955798"/>
            <a:ext cx="54864" cy="932688"/>
          </a:xfrm>
          <a:prstGeom prst="rect">
            <a:avLst/>
          </a:prstGeom>
          <a:solidFill>
            <a:srgbClr val="5B2D8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7" name="Text 35"/>
          <p:cNvSpPr/>
          <p:nvPr/>
        </p:nvSpPr>
        <p:spPr>
          <a:xfrm>
            <a:off x="6789420" y="3010662"/>
            <a:ext cx="1810512"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b="1" dirty="0">
                <a:solidFill>
                  <a:srgbClr val="0A1F44"/>
                </a:solidFill>
                <a:latin typeface="Calibri" pitchFamily="34" charset="0"/>
                <a:ea typeface="Calibri" pitchFamily="34" charset="-122"/>
                <a:cs typeface="Calibri" pitchFamily="34" charset="-120"/>
              </a:rPr>
              <a:t>Analysis</a:t>
            </a:r>
            <a:endParaRPr lang="en-US" sz="938" dirty="0"/>
          </a:p>
        </p:txBody>
      </p:sp>
      <p:sp>
        <p:nvSpPr>
          <p:cNvPr id="38" name="Text 36"/>
          <p:cNvSpPr/>
          <p:nvPr/>
        </p:nvSpPr>
        <p:spPr>
          <a:xfrm>
            <a:off x="6789420" y="3243834"/>
            <a:ext cx="1810512" cy="589788"/>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0000"/>
              </a:lnSpc>
              <a:buNone/>
            </a:pPr>
            <a:r>
              <a:rPr lang="en-US" sz="713" dirty="0">
                <a:solidFill>
                  <a:srgbClr val="5A5A6E"/>
                </a:solidFill>
                <a:latin typeface="Calibri" pitchFamily="34" charset="0"/>
                <a:ea typeface="Calibri" pitchFamily="34" charset="-122"/>
                <a:cs typeface="Calibri" pitchFamily="34" charset="-120"/>
              </a:rPr>
              <a:t>Reveals hidden patterns, automates reporting &amp; exploration</a:t>
            </a:r>
            <a:endParaRPr lang="en-US" sz="713" dirty="0"/>
          </a:p>
        </p:txBody>
      </p:sp>
      <p:sp>
        <p:nvSpPr>
          <p:cNvPr id="39" name="Shape 37"/>
          <p:cNvSpPr/>
          <p:nvPr/>
        </p:nvSpPr>
        <p:spPr>
          <a:xfrm>
            <a:off x="411480" y="3957066"/>
            <a:ext cx="2016252" cy="932688"/>
          </a:xfrm>
          <a:prstGeom prst="roundRect">
            <a:avLst>
              <a:gd name="adj" fmla="val 4412"/>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40" name="Shape 38"/>
          <p:cNvSpPr/>
          <p:nvPr/>
        </p:nvSpPr>
        <p:spPr>
          <a:xfrm>
            <a:off x="411480" y="3957066"/>
            <a:ext cx="54864" cy="932688"/>
          </a:xfrm>
          <a:prstGeom prst="rect">
            <a:avLst/>
          </a:prstGeom>
          <a:solidFill>
            <a:srgbClr val="006D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41" name="Text 39"/>
          <p:cNvSpPr/>
          <p:nvPr/>
        </p:nvSpPr>
        <p:spPr>
          <a:xfrm>
            <a:off x="534924" y="4011930"/>
            <a:ext cx="1810512"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b="1" dirty="0">
                <a:solidFill>
                  <a:srgbClr val="0A1F44"/>
                </a:solidFill>
                <a:latin typeface="Calibri" pitchFamily="34" charset="0"/>
                <a:ea typeface="Calibri" pitchFamily="34" charset="-122"/>
                <a:cs typeface="Calibri" pitchFamily="34" charset="-120"/>
              </a:rPr>
              <a:t>Visualisation</a:t>
            </a:r>
            <a:endParaRPr lang="en-US" sz="938" dirty="0"/>
          </a:p>
        </p:txBody>
      </p:sp>
      <p:sp>
        <p:nvSpPr>
          <p:cNvPr id="42" name="Text 40"/>
          <p:cNvSpPr/>
          <p:nvPr/>
        </p:nvSpPr>
        <p:spPr>
          <a:xfrm>
            <a:off x="534924" y="4245102"/>
            <a:ext cx="1810512" cy="589788"/>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0000"/>
              </a:lnSpc>
              <a:buNone/>
            </a:pPr>
            <a:r>
              <a:rPr lang="en-US" sz="713" dirty="0">
                <a:solidFill>
                  <a:srgbClr val="5A5A6E"/>
                </a:solidFill>
                <a:latin typeface="Calibri" pitchFamily="34" charset="0"/>
                <a:ea typeface="Calibri" pitchFamily="34" charset="-122"/>
                <a:cs typeface="Calibri" pitchFamily="34" charset="-120"/>
              </a:rPr>
              <a:t>Recommends appropriate visual formats for stakeholders</a:t>
            </a:r>
            <a:endParaRPr lang="en-US" sz="713" dirty="0"/>
          </a:p>
        </p:txBody>
      </p:sp>
      <p:sp>
        <p:nvSpPr>
          <p:cNvPr id="43" name="Shape 41"/>
          <p:cNvSpPr/>
          <p:nvPr/>
        </p:nvSpPr>
        <p:spPr>
          <a:xfrm>
            <a:off x="2496312" y="3957066"/>
            <a:ext cx="2016252" cy="932688"/>
          </a:xfrm>
          <a:prstGeom prst="roundRect">
            <a:avLst>
              <a:gd name="adj" fmla="val 4412"/>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44" name="Shape 42"/>
          <p:cNvSpPr/>
          <p:nvPr/>
        </p:nvSpPr>
        <p:spPr>
          <a:xfrm>
            <a:off x="2496312" y="3957066"/>
            <a:ext cx="54864" cy="932688"/>
          </a:xfrm>
          <a:prstGeom prst="rect">
            <a:avLst/>
          </a:prstGeom>
          <a:solidFill>
            <a:srgbClr val="5B2D8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45" name="Text 43"/>
          <p:cNvSpPr/>
          <p:nvPr/>
        </p:nvSpPr>
        <p:spPr>
          <a:xfrm>
            <a:off x="2619756" y="4011930"/>
            <a:ext cx="1810512"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b="1" dirty="0">
                <a:solidFill>
                  <a:srgbClr val="0A1F44"/>
                </a:solidFill>
                <a:latin typeface="Calibri" pitchFamily="34" charset="0"/>
                <a:ea typeface="Calibri" pitchFamily="34" charset="-122"/>
                <a:cs typeface="Calibri" pitchFamily="34" charset="-120"/>
              </a:rPr>
              <a:t>Governance &amp; Security</a:t>
            </a:r>
            <a:endParaRPr lang="en-US" sz="938" dirty="0"/>
          </a:p>
        </p:txBody>
      </p:sp>
      <p:sp>
        <p:nvSpPr>
          <p:cNvPr id="46" name="Text 44"/>
          <p:cNvSpPr/>
          <p:nvPr/>
        </p:nvSpPr>
        <p:spPr>
          <a:xfrm>
            <a:off x="2619756" y="4245102"/>
            <a:ext cx="1810512" cy="589788"/>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0000"/>
              </a:lnSpc>
              <a:buNone/>
            </a:pPr>
            <a:r>
              <a:rPr lang="en-US" sz="713" dirty="0">
                <a:solidFill>
                  <a:srgbClr val="5A5A6E"/>
                </a:solidFill>
                <a:latin typeface="Calibri" pitchFamily="34" charset="0"/>
                <a:ea typeface="Calibri" pitchFamily="34" charset="-122"/>
                <a:cs typeface="Calibri" pitchFamily="34" charset="-120"/>
              </a:rPr>
              <a:t>Suggests access controls; generates synthetic datasets</a:t>
            </a:r>
            <a:endParaRPr lang="en-US" sz="713" dirty="0"/>
          </a:p>
        </p:txBody>
      </p:sp>
      <p:sp>
        <p:nvSpPr>
          <p:cNvPr id="47" name="Shape 45"/>
          <p:cNvSpPr/>
          <p:nvPr/>
        </p:nvSpPr>
        <p:spPr>
          <a:xfrm>
            <a:off x="4581144" y="3957066"/>
            <a:ext cx="2016252" cy="932688"/>
          </a:xfrm>
          <a:prstGeom prst="roundRect">
            <a:avLst>
              <a:gd name="adj" fmla="val 4412"/>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48" name="Shape 46"/>
          <p:cNvSpPr/>
          <p:nvPr/>
        </p:nvSpPr>
        <p:spPr>
          <a:xfrm>
            <a:off x="4581144" y="3957066"/>
            <a:ext cx="54864" cy="932688"/>
          </a:xfrm>
          <a:prstGeom prst="rect">
            <a:avLst/>
          </a:prstGeom>
          <a:solidFill>
            <a:srgbClr val="006D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49" name="Text 47"/>
          <p:cNvSpPr/>
          <p:nvPr/>
        </p:nvSpPr>
        <p:spPr>
          <a:xfrm>
            <a:off x="4704588" y="4011930"/>
            <a:ext cx="1810512"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b="1" dirty="0">
                <a:solidFill>
                  <a:srgbClr val="0A1F44"/>
                </a:solidFill>
                <a:latin typeface="Calibri" pitchFamily="34" charset="0"/>
                <a:ea typeface="Calibri" pitchFamily="34" charset="-122"/>
                <a:cs typeface="Calibri" pitchFamily="34" charset="-120"/>
              </a:rPr>
              <a:t>Monitoring &amp; Optimisation</a:t>
            </a:r>
            <a:endParaRPr lang="en-US" sz="938" dirty="0"/>
          </a:p>
        </p:txBody>
      </p:sp>
      <p:sp>
        <p:nvSpPr>
          <p:cNvPr id="50" name="Text 48"/>
          <p:cNvSpPr/>
          <p:nvPr/>
        </p:nvSpPr>
        <p:spPr>
          <a:xfrm>
            <a:off x="4704588" y="4245102"/>
            <a:ext cx="1810512" cy="589788"/>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0000"/>
              </a:lnSpc>
              <a:buNone/>
            </a:pPr>
            <a:r>
              <a:rPr lang="en-US" sz="713" dirty="0">
                <a:solidFill>
                  <a:srgbClr val="5A5A6E"/>
                </a:solidFill>
                <a:latin typeface="Calibri" pitchFamily="34" charset="0"/>
                <a:ea typeface="Calibri" pitchFamily="34" charset="-122"/>
                <a:cs typeface="Calibri" pitchFamily="34" charset="-120"/>
              </a:rPr>
              <a:t>Detects pipeline issues; recommends process improvements</a:t>
            </a:r>
            <a:endParaRPr lang="en-US" sz="713" dirty="0"/>
          </a:p>
        </p:txBody>
      </p:sp>
      <p:sp>
        <p:nvSpPr>
          <p:cNvPr id="51" name="Text 49"/>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GenAI Across the Data Engineering Lifecycle  ·  Day 12  ·  Topic 2</a:t>
            </a:r>
            <a:endParaRPr lang="en-US" sz="675" dirty="0"/>
          </a:p>
        </p:txBody>
      </p:sp>
      <p:sp>
        <p:nvSpPr>
          <p:cNvPr id="52" name="Text 50"/>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3</a:t>
            </a:r>
            <a:endParaRPr lang="en-US" sz="675" dirty="0"/>
          </a:p>
        </p:txBody>
      </p:sp>
    </p:spTree>
    <p:extLst>
      <p:ext uri="{BB962C8B-B14F-4D97-AF65-F5344CB8AC3E}">
        <p14:creationId xmlns:p14="http://schemas.microsoft.com/office/powerpoint/2010/main" val="29639413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BUILT WITH GENAI</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Designing Future-Ready Data Architectures</a:t>
            </a:r>
            <a:endParaRPr lang="en-US" sz="2100" dirty="0"/>
          </a:p>
        </p:txBody>
      </p:sp>
      <p:sp>
        <p:nvSpPr>
          <p:cNvPr id="5" name="Shape 3"/>
          <p:cNvSpPr/>
          <p:nvPr/>
        </p:nvSpPr>
        <p:spPr>
          <a:xfrm>
            <a:off x="411480" y="1028700"/>
            <a:ext cx="8298180" cy="685800"/>
          </a:xfrm>
          <a:prstGeom prst="roundRect">
            <a:avLst>
              <a:gd name="adj" fmla="val 8000"/>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48640" y="1131570"/>
            <a:ext cx="8023860" cy="48006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CONCEPT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Generative AI, supported by frameworks like TensorFlow, PyTorch, Keras, and Hugging Face, enables three key capabilities for next-generation data architectures.</a:t>
            </a:r>
            <a:endParaRPr lang="en-US" sz="1050" dirty="0"/>
          </a:p>
        </p:txBody>
      </p:sp>
      <p:sp>
        <p:nvSpPr>
          <p:cNvPr id="7" name="Shape 5"/>
          <p:cNvSpPr/>
          <p:nvPr/>
        </p:nvSpPr>
        <p:spPr>
          <a:xfrm>
            <a:off x="411480" y="1817370"/>
            <a:ext cx="2743200" cy="1165860"/>
          </a:xfrm>
          <a:prstGeom prst="roundRect">
            <a:avLst>
              <a:gd name="adj" fmla="val 4706"/>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Text 6"/>
          <p:cNvSpPr/>
          <p:nvPr/>
        </p:nvSpPr>
        <p:spPr>
          <a:xfrm>
            <a:off x="548640" y="1920240"/>
            <a:ext cx="2468880" cy="9601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Dynamic Architectures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Auto-scaling and adapting to fluctuating data volumes</a:t>
            </a:r>
            <a:endParaRPr lang="en-US" sz="1050" dirty="0"/>
          </a:p>
        </p:txBody>
      </p:sp>
      <p:sp>
        <p:nvSpPr>
          <p:cNvPr id="9" name="Shape 7"/>
          <p:cNvSpPr/>
          <p:nvPr/>
        </p:nvSpPr>
        <p:spPr>
          <a:xfrm>
            <a:off x="3339846" y="1817370"/>
            <a:ext cx="2743200" cy="1165860"/>
          </a:xfrm>
          <a:prstGeom prst="roundRect">
            <a:avLst>
              <a:gd name="adj" fmla="val 4706"/>
            </a:avLst>
          </a:prstGeom>
          <a:solidFill>
            <a:srgbClr val="DDEE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0" name="Text 8"/>
          <p:cNvSpPr/>
          <p:nvPr/>
        </p:nvSpPr>
        <p:spPr>
          <a:xfrm>
            <a:off x="3477006" y="1920240"/>
            <a:ext cx="2468880" cy="9601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006D8F"/>
                </a:solidFill>
                <a:latin typeface="Calibri" pitchFamily="34" charset="0"/>
                <a:ea typeface="Calibri" pitchFamily="34" charset="-122"/>
                <a:cs typeface="Calibri" pitchFamily="34" charset="-120"/>
              </a:rPr>
              <a:t>✨  Advanced Integration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Incorporates diverse sources and structures into one architecture</a:t>
            </a:r>
            <a:endParaRPr lang="en-US" sz="1050" dirty="0"/>
          </a:p>
        </p:txBody>
      </p:sp>
      <p:sp>
        <p:nvSpPr>
          <p:cNvPr id="11" name="Shape 9"/>
          <p:cNvSpPr/>
          <p:nvPr/>
        </p:nvSpPr>
        <p:spPr>
          <a:xfrm>
            <a:off x="6268212" y="1817370"/>
            <a:ext cx="2743200" cy="1165860"/>
          </a:xfrm>
          <a:prstGeom prst="roundRect">
            <a:avLst>
              <a:gd name="adj" fmla="val 4706"/>
            </a:avLst>
          </a:prstGeom>
          <a:solidFill>
            <a:srgbClr val="F0E8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2" name="Text 10"/>
          <p:cNvSpPr/>
          <p:nvPr/>
        </p:nvSpPr>
        <p:spPr>
          <a:xfrm>
            <a:off x="6405372" y="1920240"/>
            <a:ext cx="2468880" cy="9601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5B2D8E"/>
                </a:solidFill>
                <a:latin typeface="Calibri" pitchFamily="34" charset="0"/>
                <a:ea typeface="Calibri" pitchFamily="34" charset="-122"/>
                <a:cs typeface="Calibri" pitchFamily="34" charset="-120"/>
              </a:rPr>
              <a:t>✨  Efficient Management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Generates synthetic data and optimises schemas automatically</a:t>
            </a:r>
            <a:endParaRPr lang="en-US" sz="1050" dirty="0"/>
          </a:p>
        </p:txBody>
      </p:sp>
      <p:sp>
        <p:nvSpPr>
          <p:cNvPr id="13" name="Text 11"/>
          <p:cNvSpPr/>
          <p:nvPr/>
        </p:nvSpPr>
        <p:spPr>
          <a:xfrm>
            <a:off x="411480" y="3120390"/>
            <a:ext cx="822960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kern="0" spc="75" dirty="0">
                <a:solidFill>
                  <a:srgbClr val="0A1F44"/>
                </a:solidFill>
                <a:latin typeface="Calibri" pitchFamily="34" charset="0"/>
                <a:ea typeface="Calibri" pitchFamily="34" charset="-122"/>
                <a:cs typeface="Calibri" pitchFamily="34" charset="-120"/>
              </a:rPr>
              <a:t>REAL-WORLD USE CASES</a:t>
            </a:r>
            <a:endParaRPr lang="en-US" sz="975" dirty="0"/>
          </a:p>
        </p:txBody>
      </p:sp>
      <p:sp>
        <p:nvSpPr>
          <p:cNvPr id="14" name="Shape 12"/>
          <p:cNvSpPr/>
          <p:nvPr/>
        </p:nvSpPr>
        <p:spPr>
          <a:xfrm>
            <a:off x="411480" y="3429000"/>
            <a:ext cx="2743200" cy="1268730"/>
          </a:xfrm>
          <a:prstGeom prst="roundRect">
            <a:avLst>
              <a:gd name="adj" fmla="val 3784"/>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5" name="Text 13"/>
          <p:cNvSpPr/>
          <p:nvPr/>
        </p:nvSpPr>
        <p:spPr>
          <a:xfrm>
            <a:off x="548640" y="3531870"/>
            <a:ext cx="246888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0A1F44"/>
                </a:solidFill>
                <a:latin typeface="Calibri" pitchFamily="34" charset="0"/>
                <a:ea typeface="Calibri" pitchFamily="34" charset="-122"/>
                <a:cs typeface="Calibri" pitchFamily="34" charset="-120"/>
              </a:rPr>
              <a:t>E-commerce</a:t>
            </a:r>
            <a:endParaRPr lang="en-US" sz="1050" dirty="0"/>
          </a:p>
        </p:txBody>
      </p:sp>
      <p:sp>
        <p:nvSpPr>
          <p:cNvPr id="16" name="Text 14"/>
          <p:cNvSpPr/>
          <p:nvPr/>
        </p:nvSpPr>
        <p:spPr>
          <a:xfrm>
            <a:off x="548640" y="3840480"/>
            <a:ext cx="2468880" cy="78867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00" dirty="0">
                <a:solidFill>
                  <a:srgbClr val="1A1A2E"/>
                </a:solidFill>
                <a:latin typeface="Calibri" pitchFamily="34" charset="0"/>
                <a:ea typeface="Calibri" pitchFamily="34" charset="-122"/>
                <a:cs typeface="Calibri" pitchFamily="34" charset="-120"/>
              </a:rPr>
              <a:t>Platforms like Flipkart/Myntra auto-scale architecture during sales surges (e.g. Big Billion Days).</a:t>
            </a:r>
            <a:endParaRPr lang="en-US" sz="900" dirty="0"/>
          </a:p>
        </p:txBody>
      </p:sp>
      <p:sp>
        <p:nvSpPr>
          <p:cNvPr id="17" name="Shape 15"/>
          <p:cNvSpPr/>
          <p:nvPr/>
        </p:nvSpPr>
        <p:spPr>
          <a:xfrm>
            <a:off x="3339846" y="3429000"/>
            <a:ext cx="2743200" cy="1268730"/>
          </a:xfrm>
          <a:prstGeom prst="roundRect">
            <a:avLst>
              <a:gd name="adj" fmla="val 3784"/>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8" name="Text 16"/>
          <p:cNvSpPr/>
          <p:nvPr/>
        </p:nvSpPr>
        <p:spPr>
          <a:xfrm>
            <a:off x="3477006" y="3531870"/>
            <a:ext cx="246888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0A1F44"/>
                </a:solidFill>
                <a:latin typeface="Calibri" pitchFamily="34" charset="0"/>
                <a:ea typeface="Calibri" pitchFamily="34" charset="-122"/>
                <a:cs typeface="Calibri" pitchFamily="34" charset="-120"/>
              </a:rPr>
              <a:t>Healthcare</a:t>
            </a:r>
            <a:endParaRPr lang="en-US" sz="1050" dirty="0"/>
          </a:p>
        </p:txBody>
      </p:sp>
      <p:sp>
        <p:nvSpPr>
          <p:cNvPr id="19" name="Text 17"/>
          <p:cNvSpPr/>
          <p:nvPr/>
        </p:nvSpPr>
        <p:spPr>
          <a:xfrm>
            <a:off x="3477006" y="3840480"/>
            <a:ext cx="2468880" cy="78867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00" dirty="0">
                <a:solidFill>
                  <a:srgbClr val="1A1A2E"/>
                </a:solidFill>
                <a:latin typeface="Calibri" pitchFamily="34" charset="0"/>
                <a:ea typeface="Calibri" pitchFamily="34" charset="-122"/>
                <a:cs typeface="Calibri" pitchFamily="34" charset="-120"/>
              </a:rPr>
              <a:t>Healthcare analytics integrate trial and patient data across multiple systems.</a:t>
            </a:r>
            <a:endParaRPr lang="en-US" sz="900" dirty="0"/>
          </a:p>
        </p:txBody>
      </p:sp>
      <p:sp>
        <p:nvSpPr>
          <p:cNvPr id="20" name="Shape 18"/>
          <p:cNvSpPr/>
          <p:nvPr/>
        </p:nvSpPr>
        <p:spPr>
          <a:xfrm>
            <a:off x="6268212" y="3429000"/>
            <a:ext cx="2743200" cy="1268730"/>
          </a:xfrm>
          <a:prstGeom prst="roundRect">
            <a:avLst>
              <a:gd name="adj" fmla="val 3784"/>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1" name="Text 19"/>
          <p:cNvSpPr/>
          <p:nvPr/>
        </p:nvSpPr>
        <p:spPr>
          <a:xfrm>
            <a:off x="6405372" y="3531870"/>
            <a:ext cx="246888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0A1F44"/>
                </a:solidFill>
                <a:latin typeface="Calibri" pitchFamily="34" charset="0"/>
                <a:ea typeface="Calibri" pitchFamily="34" charset="-122"/>
                <a:cs typeface="Calibri" pitchFamily="34" charset="-120"/>
              </a:rPr>
              <a:t>Finance</a:t>
            </a:r>
            <a:endParaRPr lang="en-US" sz="1050" dirty="0"/>
          </a:p>
        </p:txBody>
      </p:sp>
      <p:sp>
        <p:nvSpPr>
          <p:cNvPr id="22" name="Text 20"/>
          <p:cNvSpPr/>
          <p:nvPr/>
        </p:nvSpPr>
        <p:spPr>
          <a:xfrm>
            <a:off x="6405372" y="3840480"/>
            <a:ext cx="2468880" cy="78867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00" dirty="0">
                <a:solidFill>
                  <a:srgbClr val="1A1A2E"/>
                </a:solidFill>
                <a:latin typeface="Calibri" pitchFamily="34" charset="0"/>
                <a:ea typeface="Calibri" pitchFamily="34" charset="-122"/>
                <a:cs typeface="Calibri" pitchFamily="34" charset="-120"/>
              </a:rPr>
              <a:t>Financial institutions enhance fraud detection using synthetic data.</a:t>
            </a:r>
            <a:endParaRPr lang="en-US" sz="900" dirty="0"/>
          </a:p>
        </p:txBody>
      </p:sp>
      <p:sp>
        <p:nvSpPr>
          <p:cNvPr id="23" name="Text 21"/>
          <p:cNvSpPr/>
          <p:nvPr/>
        </p:nvSpPr>
        <p:spPr>
          <a:xfrm>
            <a:off x="411480" y="4766310"/>
            <a:ext cx="829818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i="1" dirty="0">
                <a:solidFill>
                  <a:srgbClr val="5A5A6E"/>
                </a:solidFill>
                <a:latin typeface="Calibri" pitchFamily="34" charset="0"/>
                <a:ea typeface="Calibri" pitchFamily="34" charset="-122"/>
                <a:cs typeface="Calibri" pitchFamily="34" charset="-120"/>
              </a:rPr>
              <a:t>GenAI supports proactive planning - delivering predictive, cost-efficient, and scalable systems.</a:t>
            </a:r>
            <a:endParaRPr lang="en-US" sz="900" dirty="0"/>
          </a:p>
        </p:txBody>
      </p:sp>
      <p:sp>
        <p:nvSpPr>
          <p:cNvPr id="24" name="Text 22"/>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GenAI Across the Data Engineering Lifecycle  ·  Day 12  ·  Topic 2</a:t>
            </a:r>
            <a:endParaRPr lang="en-US" sz="675" dirty="0"/>
          </a:p>
        </p:txBody>
      </p:sp>
      <p:sp>
        <p:nvSpPr>
          <p:cNvPr id="25" name="Text 23"/>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4</a:t>
            </a:r>
            <a:endParaRPr lang="en-US" sz="675" dirty="0"/>
          </a:p>
        </p:txBody>
      </p:sp>
    </p:spTree>
    <p:extLst>
      <p:ext uri="{BB962C8B-B14F-4D97-AF65-F5344CB8AC3E}">
        <p14:creationId xmlns:p14="http://schemas.microsoft.com/office/powerpoint/2010/main" val="25360685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HANDS-ON LAB</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Lab 1: GenAI for Architecture Design</a:t>
            </a:r>
            <a:endParaRPr lang="en-US" sz="2100" dirty="0"/>
          </a:p>
        </p:txBody>
      </p:sp>
      <p:sp>
        <p:nvSpPr>
          <p:cNvPr id="5" name="Shape 3"/>
          <p:cNvSpPr/>
          <p:nvPr/>
        </p:nvSpPr>
        <p:spPr>
          <a:xfrm>
            <a:off x="411480" y="1028700"/>
            <a:ext cx="8298180" cy="1028700"/>
          </a:xfrm>
          <a:prstGeom prst="roundRect">
            <a:avLst>
              <a:gd name="adj" fmla="val 5333"/>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48640" y="1131570"/>
            <a:ext cx="8023860" cy="82296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OVERVIEW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Data architecture design plans how data flows and is organised: Data Sourcing (integrating multiple systems), Storage Solutions (scalable &amp; secure), Data Modelling (structuring data to answer business questions), and Data Governance (quality, compliance, security).</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In this lab, you'll use a generative AI tool to design data architectures for three industries - refining your prompts iteratively until each design is complete.</a:t>
            </a:r>
            <a:endParaRPr lang="en-US" sz="1050" dirty="0"/>
          </a:p>
        </p:txBody>
      </p:sp>
      <p:sp>
        <p:nvSpPr>
          <p:cNvPr id="7" name="Shape 5"/>
          <p:cNvSpPr/>
          <p:nvPr/>
        </p:nvSpPr>
        <p:spPr>
          <a:xfrm>
            <a:off x="411480" y="2194560"/>
            <a:ext cx="2743200" cy="1303020"/>
          </a:xfrm>
          <a:prstGeom prst="roundRect">
            <a:avLst>
              <a:gd name="adj" fmla="val 3684"/>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Shape 6"/>
          <p:cNvSpPr/>
          <p:nvPr/>
        </p:nvSpPr>
        <p:spPr>
          <a:xfrm>
            <a:off x="411480" y="2194560"/>
            <a:ext cx="2743200" cy="377190"/>
          </a:xfrm>
          <a:prstGeom prst="rect">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9" name="Text 7"/>
          <p:cNvSpPr/>
          <p:nvPr/>
        </p:nvSpPr>
        <p:spPr>
          <a:xfrm>
            <a:off x="548640" y="2194560"/>
            <a:ext cx="24688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5B2D8E"/>
                </a:solidFill>
                <a:latin typeface="Calibri" pitchFamily="34" charset="0"/>
                <a:ea typeface="Calibri" pitchFamily="34" charset="-122"/>
                <a:cs typeface="Calibri" pitchFamily="34" charset="-120"/>
              </a:rPr>
              <a:t>Healthcare  -  EHR System</a:t>
            </a:r>
            <a:endParaRPr lang="en-US" sz="1013" dirty="0"/>
          </a:p>
        </p:txBody>
      </p:sp>
      <p:sp>
        <p:nvSpPr>
          <p:cNvPr id="10" name="Text 8"/>
          <p:cNvSpPr/>
          <p:nvPr/>
        </p:nvSpPr>
        <p:spPr>
          <a:xfrm>
            <a:off x="548640" y="2674620"/>
            <a:ext cx="2468880" cy="75438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63" dirty="0">
                <a:solidFill>
                  <a:srgbClr val="1A1A2E"/>
                </a:solidFill>
                <a:latin typeface="Calibri" pitchFamily="34" charset="0"/>
                <a:ea typeface="Calibri" pitchFamily="34" charset="-122"/>
                <a:cs typeface="Calibri" pitchFamily="34" charset="-120"/>
              </a:rPr>
              <a:t>Create an Electronic Health Record system that centralises patient data with strict security &amp; quality standards.</a:t>
            </a:r>
            <a:endParaRPr lang="en-US" sz="863" dirty="0"/>
          </a:p>
        </p:txBody>
      </p:sp>
      <p:sp>
        <p:nvSpPr>
          <p:cNvPr id="11" name="Shape 9"/>
          <p:cNvSpPr/>
          <p:nvPr/>
        </p:nvSpPr>
        <p:spPr>
          <a:xfrm>
            <a:off x="3339846" y="2194560"/>
            <a:ext cx="2743200" cy="1303020"/>
          </a:xfrm>
          <a:prstGeom prst="roundRect">
            <a:avLst>
              <a:gd name="adj" fmla="val 3684"/>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2" name="Shape 10"/>
          <p:cNvSpPr/>
          <p:nvPr/>
        </p:nvSpPr>
        <p:spPr>
          <a:xfrm>
            <a:off x="3339846" y="2194560"/>
            <a:ext cx="2743200" cy="377190"/>
          </a:xfrm>
          <a:prstGeom prst="rect">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3" name="Text 11"/>
          <p:cNvSpPr/>
          <p:nvPr/>
        </p:nvSpPr>
        <p:spPr>
          <a:xfrm>
            <a:off x="3477006" y="2194560"/>
            <a:ext cx="24688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006D8F"/>
                </a:solidFill>
                <a:latin typeface="Calibri" pitchFamily="34" charset="0"/>
                <a:ea typeface="Calibri" pitchFamily="34" charset="-122"/>
                <a:cs typeface="Calibri" pitchFamily="34" charset="-120"/>
              </a:rPr>
              <a:t>Retail  -  CRM System</a:t>
            </a:r>
            <a:endParaRPr lang="en-US" sz="1013" dirty="0"/>
          </a:p>
        </p:txBody>
      </p:sp>
      <p:sp>
        <p:nvSpPr>
          <p:cNvPr id="14" name="Text 12"/>
          <p:cNvSpPr/>
          <p:nvPr/>
        </p:nvSpPr>
        <p:spPr>
          <a:xfrm>
            <a:off x="3477006" y="2674620"/>
            <a:ext cx="2468880" cy="75438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63" dirty="0">
                <a:solidFill>
                  <a:srgbClr val="1A1A2E"/>
                </a:solidFill>
                <a:latin typeface="Calibri" pitchFamily="34" charset="0"/>
                <a:ea typeface="Calibri" pitchFamily="34" charset="-122"/>
                <a:cs typeface="Calibri" pitchFamily="34" charset="-120"/>
              </a:rPr>
              <a:t>Build a Customer Relationship Management system that consolidates customer data for personalised engagement.</a:t>
            </a:r>
            <a:endParaRPr lang="en-US" sz="863" dirty="0"/>
          </a:p>
        </p:txBody>
      </p:sp>
      <p:sp>
        <p:nvSpPr>
          <p:cNvPr id="15" name="Shape 13"/>
          <p:cNvSpPr/>
          <p:nvPr/>
        </p:nvSpPr>
        <p:spPr>
          <a:xfrm>
            <a:off x="6268212" y="2194560"/>
            <a:ext cx="2743200" cy="1303020"/>
          </a:xfrm>
          <a:prstGeom prst="roundRect">
            <a:avLst>
              <a:gd name="adj" fmla="val 3684"/>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6" name="Shape 14"/>
          <p:cNvSpPr/>
          <p:nvPr/>
        </p:nvSpPr>
        <p:spPr>
          <a:xfrm>
            <a:off x="6268212" y="2194560"/>
            <a:ext cx="2743200" cy="377190"/>
          </a:xfrm>
          <a:prstGeom prst="rect">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7" name="Text 15"/>
          <p:cNvSpPr/>
          <p:nvPr/>
        </p:nvSpPr>
        <p:spPr>
          <a:xfrm>
            <a:off x="6405372" y="2194560"/>
            <a:ext cx="24688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1A6B3A"/>
                </a:solidFill>
                <a:latin typeface="Calibri" pitchFamily="34" charset="0"/>
                <a:ea typeface="Calibri" pitchFamily="34" charset="-122"/>
                <a:cs typeface="Calibri" pitchFamily="34" charset="-120"/>
              </a:rPr>
              <a:t>Finance  -  Trading &amp; Risk System</a:t>
            </a:r>
            <a:endParaRPr lang="en-US" sz="1013" dirty="0"/>
          </a:p>
        </p:txBody>
      </p:sp>
      <p:sp>
        <p:nvSpPr>
          <p:cNvPr id="18" name="Text 16"/>
          <p:cNvSpPr/>
          <p:nvPr/>
        </p:nvSpPr>
        <p:spPr>
          <a:xfrm>
            <a:off x="6405372" y="2674620"/>
            <a:ext cx="2468880" cy="75438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63" dirty="0">
                <a:solidFill>
                  <a:srgbClr val="1A1A2E"/>
                </a:solidFill>
                <a:latin typeface="Calibri" pitchFamily="34" charset="0"/>
                <a:ea typeface="Calibri" pitchFamily="34" charset="-122"/>
                <a:cs typeface="Calibri" pitchFamily="34" charset="-120"/>
              </a:rPr>
              <a:t>Develop a system that integrates market data feeds, handles high-volume data, and complies with regulatory demands.</a:t>
            </a:r>
            <a:endParaRPr lang="en-US" sz="863" dirty="0"/>
          </a:p>
        </p:txBody>
      </p:sp>
      <p:sp>
        <p:nvSpPr>
          <p:cNvPr id="19" name="Shape 17"/>
          <p:cNvSpPr/>
          <p:nvPr/>
        </p:nvSpPr>
        <p:spPr>
          <a:xfrm>
            <a:off x="411480" y="3634740"/>
            <a:ext cx="8298180" cy="1097280"/>
          </a:xfrm>
          <a:prstGeom prst="roundRect">
            <a:avLst>
              <a:gd name="adj" fmla="val 5000"/>
            </a:avLst>
          </a:prstGeom>
          <a:solidFill>
            <a:srgbClr val="FFFBE6"/>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0" name="Text 18"/>
          <p:cNvSpPr/>
          <p:nvPr/>
        </p:nvSpPr>
        <p:spPr>
          <a:xfrm>
            <a:off x="548640" y="3737610"/>
            <a:ext cx="8023860" cy="8915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E85D04"/>
                </a:solidFill>
                <a:latin typeface="Calibri" pitchFamily="34" charset="0"/>
                <a:ea typeface="Calibri" pitchFamily="34" charset="-122"/>
                <a:cs typeface="Calibri" pitchFamily="34" charset="-120"/>
              </a:rPr>
              <a:t>🔁  HOW IT WORKS: ITERATIVE PROMPTING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Step 1 - Initial Prompt: Ask the AI for a basic architecture design.</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Step 2 - Refinement Prompt: Ask it to add specific components (e.g. data modelling fields).</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Step 3 - Final-Touch Prompt: Ask it to add the remaining requirements (e.g. security mechanisms).</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Each round builds on the previous response - producing a complete, detailed design.</a:t>
            </a:r>
            <a:endParaRPr lang="en-US" sz="1050" dirty="0"/>
          </a:p>
        </p:txBody>
      </p:sp>
      <p:sp>
        <p:nvSpPr>
          <p:cNvPr id="21" name="Text 19"/>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GenAI Across the Data Engineering Lifecycle  ·  Day 12  ·  Topic 2</a:t>
            </a:r>
            <a:endParaRPr lang="en-US" sz="675" dirty="0"/>
          </a:p>
        </p:txBody>
      </p:sp>
      <p:sp>
        <p:nvSpPr>
          <p:cNvPr id="22" name="Text 20"/>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5</a:t>
            </a:r>
            <a:endParaRPr lang="en-US" sz="675" dirty="0"/>
          </a:p>
        </p:txBody>
      </p:sp>
    </p:spTree>
    <p:extLst>
      <p:ext uri="{BB962C8B-B14F-4D97-AF65-F5344CB8AC3E}">
        <p14:creationId xmlns:p14="http://schemas.microsoft.com/office/powerpoint/2010/main" val="4562035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SAMPLE PROMPT SEQUENCE</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Lab 1 in Action: Healthcare EHR Example</a:t>
            </a:r>
            <a:endParaRPr lang="en-US" sz="2100" dirty="0"/>
          </a:p>
        </p:txBody>
      </p:sp>
      <p:sp>
        <p:nvSpPr>
          <p:cNvPr id="5" name="Shape 3"/>
          <p:cNvSpPr/>
          <p:nvPr/>
        </p:nvSpPr>
        <p:spPr>
          <a:xfrm>
            <a:off x="411480" y="1028700"/>
            <a:ext cx="8298180" cy="891540"/>
          </a:xfrm>
          <a:prstGeom prst="roundRect">
            <a:avLst>
              <a:gd name="adj" fmla="val 6154"/>
            </a:avLst>
          </a:prstGeom>
          <a:solidFill>
            <a:srgbClr val="F0E8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48640" y="1131570"/>
            <a:ext cx="8023860" cy="6858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5B2D8E"/>
                </a:solidFill>
                <a:latin typeface="Calibri" pitchFamily="34" charset="0"/>
                <a:ea typeface="Calibri" pitchFamily="34" charset="-122"/>
                <a:cs typeface="Calibri" pitchFamily="34" charset="-120"/>
              </a:rPr>
              <a:t>📘  SCENARIO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A hospital network wants an EHR system that aggregates data from patient registration, labs, imaging &amp; medical devices; stores it securely; models patient demographics, history, diagnoses &amp; treatments; and enforces strict governance and security.</a:t>
            </a:r>
            <a:endParaRPr lang="en-US" sz="1050" dirty="0"/>
          </a:p>
        </p:txBody>
      </p:sp>
      <p:sp>
        <p:nvSpPr>
          <p:cNvPr id="7" name="Shape 5"/>
          <p:cNvSpPr/>
          <p:nvPr/>
        </p:nvSpPr>
        <p:spPr>
          <a:xfrm>
            <a:off x="411480" y="2057400"/>
            <a:ext cx="2743200" cy="2537460"/>
          </a:xfrm>
          <a:prstGeom prst="roundRect">
            <a:avLst>
              <a:gd name="adj" fmla="val 1892"/>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Shape 6"/>
          <p:cNvSpPr/>
          <p:nvPr/>
        </p:nvSpPr>
        <p:spPr>
          <a:xfrm>
            <a:off x="548640" y="2194560"/>
            <a:ext cx="377190" cy="377190"/>
          </a:xfrm>
          <a:prstGeom prst="ellipse">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9" name="Text 7"/>
          <p:cNvSpPr/>
          <p:nvPr/>
        </p:nvSpPr>
        <p:spPr>
          <a:xfrm>
            <a:off x="548640" y="2194560"/>
            <a:ext cx="37719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350" b="1" dirty="0">
                <a:solidFill>
                  <a:srgbClr val="1A6B3A"/>
                </a:solidFill>
                <a:latin typeface="Calibri" pitchFamily="34" charset="0"/>
                <a:ea typeface="Calibri" pitchFamily="34" charset="-122"/>
                <a:cs typeface="Calibri" pitchFamily="34" charset="-120"/>
              </a:rPr>
              <a:t>1</a:t>
            </a:r>
            <a:endParaRPr lang="en-US" sz="1350" dirty="0"/>
          </a:p>
        </p:txBody>
      </p:sp>
      <p:sp>
        <p:nvSpPr>
          <p:cNvPr id="10" name="Text 8"/>
          <p:cNvSpPr/>
          <p:nvPr/>
        </p:nvSpPr>
        <p:spPr>
          <a:xfrm>
            <a:off x="994410" y="2194560"/>
            <a:ext cx="205740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0A1F44"/>
                </a:solidFill>
                <a:latin typeface="Calibri" pitchFamily="34" charset="0"/>
                <a:ea typeface="Calibri" pitchFamily="34" charset="-122"/>
                <a:cs typeface="Calibri" pitchFamily="34" charset="-120"/>
              </a:rPr>
              <a:t>Initial Prompt</a:t>
            </a:r>
            <a:endParaRPr lang="en-US" sz="1050" dirty="0"/>
          </a:p>
        </p:txBody>
      </p:sp>
      <p:sp>
        <p:nvSpPr>
          <p:cNvPr id="11" name="Shape 9"/>
          <p:cNvSpPr/>
          <p:nvPr/>
        </p:nvSpPr>
        <p:spPr>
          <a:xfrm>
            <a:off x="548640" y="2708910"/>
            <a:ext cx="2468880" cy="1028700"/>
          </a:xfrm>
          <a:prstGeom prst="roundRect">
            <a:avLst>
              <a:gd name="adj" fmla="val 3333"/>
            </a:avLst>
          </a:prstGeom>
          <a:solidFill>
            <a:srgbClr val="1E1E2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2" name="Text 10"/>
          <p:cNvSpPr/>
          <p:nvPr/>
        </p:nvSpPr>
        <p:spPr>
          <a:xfrm>
            <a:off x="651510" y="2777490"/>
            <a:ext cx="2263140" cy="8915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25" dirty="0">
                <a:solidFill>
                  <a:srgbClr val="E6F4EC"/>
                </a:solidFill>
                <a:latin typeface="Consolas" pitchFamily="34" charset="0"/>
                <a:ea typeface="Consolas" pitchFamily="34" charset="-122"/>
                <a:cs typeface="Consolas" pitchFamily="34" charset="-120"/>
              </a:rPr>
              <a:t>"Create a detailed data architecture design for a hospital network."</a:t>
            </a:r>
            <a:endParaRPr lang="en-US" sz="825" dirty="0"/>
          </a:p>
        </p:txBody>
      </p:sp>
      <p:sp>
        <p:nvSpPr>
          <p:cNvPr id="13" name="Text 11"/>
          <p:cNvSpPr/>
          <p:nvPr/>
        </p:nvSpPr>
        <p:spPr>
          <a:xfrm>
            <a:off x="548640" y="3806190"/>
            <a:ext cx="2468880" cy="6858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63" b="1" dirty="0">
                <a:solidFill>
                  <a:srgbClr val="0A1F44"/>
                </a:solidFill>
                <a:latin typeface="Calibri" pitchFamily="34" charset="0"/>
                <a:ea typeface="Calibri" pitchFamily="34" charset="-122"/>
                <a:cs typeface="Calibri" pitchFamily="34" charset="-120"/>
              </a:rPr>
              <a:t>Goal: </a:t>
            </a:r>
            <a:r>
              <a:rPr lang="en-US" sz="863" dirty="0">
                <a:solidFill>
                  <a:srgbClr val="1A1A2E"/>
                </a:solidFill>
                <a:latin typeface="Calibri" pitchFamily="34" charset="0"/>
                <a:ea typeface="Calibri" pitchFamily="34" charset="-122"/>
                <a:cs typeface="Calibri" pitchFamily="34" charset="-120"/>
              </a:rPr>
              <a:t>Produces a basic design outline.</a:t>
            </a:r>
            <a:endParaRPr lang="en-US" sz="863" dirty="0"/>
          </a:p>
        </p:txBody>
      </p:sp>
      <p:sp>
        <p:nvSpPr>
          <p:cNvPr id="14" name="Shape 12"/>
          <p:cNvSpPr/>
          <p:nvPr/>
        </p:nvSpPr>
        <p:spPr>
          <a:xfrm>
            <a:off x="3339846" y="2057400"/>
            <a:ext cx="2743200" cy="2537460"/>
          </a:xfrm>
          <a:prstGeom prst="roundRect">
            <a:avLst>
              <a:gd name="adj" fmla="val 1892"/>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5" name="Shape 13"/>
          <p:cNvSpPr/>
          <p:nvPr/>
        </p:nvSpPr>
        <p:spPr>
          <a:xfrm>
            <a:off x="3477006" y="2194560"/>
            <a:ext cx="377190" cy="377190"/>
          </a:xfrm>
          <a:prstGeom prst="ellipse">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6" name="Text 14"/>
          <p:cNvSpPr/>
          <p:nvPr/>
        </p:nvSpPr>
        <p:spPr>
          <a:xfrm>
            <a:off x="3477006" y="2194560"/>
            <a:ext cx="37719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350" b="1" dirty="0">
                <a:solidFill>
                  <a:srgbClr val="006D8F"/>
                </a:solidFill>
                <a:latin typeface="Calibri" pitchFamily="34" charset="0"/>
                <a:ea typeface="Calibri" pitchFamily="34" charset="-122"/>
                <a:cs typeface="Calibri" pitchFamily="34" charset="-120"/>
              </a:rPr>
              <a:t>2</a:t>
            </a:r>
            <a:endParaRPr lang="en-US" sz="1350" dirty="0"/>
          </a:p>
        </p:txBody>
      </p:sp>
      <p:sp>
        <p:nvSpPr>
          <p:cNvPr id="17" name="Text 15"/>
          <p:cNvSpPr/>
          <p:nvPr/>
        </p:nvSpPr>
        <p:spPr>
          <a:xfrm>
            <a:off x="3922776" y="2194560"/>
            <a:ext cx="205740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0A1F44"/>
                </a:solidFill>
                <a:latin typeface="Calibri" pitchFamily="34" charset="0"/>
                <a:ea typeface="Calibri" pitchFamily="34" charset="-122"/>
                <a:cs typeface="Calibri" pitchFamily="34" charset="-120"/>
              </a:rPr>
              <a:t>Refinement Prompt</a:t>
            </a:r>
            <a:endParaRPr lang="en-US" sz="1050" dirty="0"/>
          </a:p>
        </p:txBody>
      </p:sp>
      <p:sp>
        <p:nvSpPr>
          <p:cNvPr id="18" name="Shape 16"/>
          <p:cNvSpPr/>
          <p:nvPr/>
        </p:nvSpPr>
        <p:spPr>
          <a:xfrm>
            <a:off x="3477006" y="2708910"/>
            <a:ext cx="2468880" cy="1028700"/>
          </a:xfrm>
          <a:prstGeom prst="roundRect">
            <a:avLst>
              <a:gd name="adj" fmla="val 3333"/>
            </a:avLst>
          </a:prstGeom>
          <a:solidFill>
            <a:srgbClr val="1E1E2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9" name="Text 17"/>
          <p:cNvSpPr/>
          <p:nvPr/>
        </p:nvSpPr>
        <p:spPr>
          <a:xfrm>
            <a:off x="3579876" y="2777490"/>
            <a:ext cx="2263140" cy="8915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25" dirty="0">
                <a:solidFill>
                  <a:srgbClr val="E6F4EC"/>
                </a:solidFill>
                <a:latin typeface="Consolas" pitchFamily="34" charset="0"/>
                <a:ea typeface="Consolas" pitchFamily="34" charset="-122"/>
                <a:cs typeface="Consolas" pitchFamily="34" charset="-120"/>
              </a:rPr>
              <a:t>"Add data modeling components for patient demographics, medical history, diagnosis, treatment, and quality standards."</a:t>
            </a:r>
            <a:endParaRPr lang="en-US" sz="825" dirty="0"/>
          </a:p>
        </p:txBody>
      </p:sp>
      <p:sp>
        <p:nvSpPr>
          <p:cNvPr id="20" name="Text 18"/>
          <p:cNvSpPr/>
          <p:nvPr/>
        </p:nvSpPr>
        <p:spPr>
          <a:xfrm>
            <a:off x="3477006" y="3806190"/>
            <a:ext cx="2468880" cy="6858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63" b="1" dirty="0">
                <a:solidFill>
                  <a:srgbClr val="0A1F44"/>
                </a:solidFill>
                <a:latin typeface="Calibri" pitchFamily="34" charset="0"/>
                <a:ea typeface="Calibri" pitchFamily="34" charset="-122"/>
                <a:cs typeface="Calibri" pitchFamily="34" charset="-120"/>
              </a:rPr>
              <a:t>Goal: </a:t>
            </a:r>
            <a:r>
              <a:rPr lang="en-US" sz="863" dirty="0">
                <a:solidFill>
                  <a:srgbClr val="1A1A2E"/>
                </a:solidFill>
                <a:latin typeface="Calibri" pitchFamily="34" charset="0"/>
                <a:ea typeface="Calibri" pitchFamily="34" charset="-122"/>
                <a:cs typeface="Calibri" pitchFamily="34" charset="-120"/>
              </a:rPr>
              <a:t>Expands the design with explicit data modelling components.</a:t>
            </a:r>
            <a:endParaRPr lang="en-US" sz="863" dirty="0"/>
          </a:p>
        </p:txBody>
      </p:sp>
      <p:sp>
        <p:nvSpPr>
          <p:cNvPr id="21" name="Shape 19"/>
          <p:cNvSpPr/>
          <p:nvPr/>
        </p:nvSpPr>
        <p:spPr>
          <a:xfrm>
            <a:off x="6268212" y="2057400"/>
            <a:ext cx="2743200" cy="2537460"/>
          </a:xfrm>
          <a:prstGeom prst="roundRect">
            <a:avLst>
              <a:gd name="adj" fmla="val 1892"/>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2" name="Shape 20"/>
          <p:cNvSpPr/>
          <p:nvPr/>
        </p:nvSpPr>
        <p:spPr>
          <a:xfrm>
            <a:off x="6405372" y="2194560"/>
            <a:ext cx="377190" cy="377190"/>
          </a:xfrm>
          <a:prstGeom prst="ellipse">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3" name="Text 21"/>
          <p:cNvSpPr/>
          <p:nvPr/>
        </p:nvSpPr>
        <p:spPr>
          <a:xfrm>
            <a:off x="6405372" y="2194560"/>
            <a:ext cx="37719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350" b="1" dirty="0">
                <a:solidFill>
                  <a:srgbClr val="5B2D8E"/>
                </a:solidFill>
                <a:latin typeface="Calibri" pitchFamily="34" charset="0"/>
                <a:ea typeface="Calibri" pitchFamily="34" charset="-122"/>
                <a:cs typeface="Calibri" pitchFamily="34" charset="-120"/>
              </a:rPr>
              <a:t>3</a:t>
            </a:r>
            <a:endParaRPr lang="en-US" sz="1350" dirty="0"/>
          </a:p>
        </p:txBody>
      </p:sp>
      <p:sp>
        <p:nvSpPr>
          <p:cNvPr id="24" name="Text 22"/>
          <p:cNvSpPr/>
          <p:nvPr/>
        </p:nvSpPr>
        <p:spPr>
          <a:xfrm>
            <a:off x="6851142" y="2194560"/>
            <a:ext cx="205740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0A1F44"/>
                </a:solidFill>
                <a:latin typeface="Calibri" pitchFamily="34" charset="0"/>
                <a:ea typeface="Calibri" pitchFamily="34" charset="-122"/>
                <a:cs typeface="Calibri" pitchFamily="34" charset="-120"/>
              </a:rPr>
              <a:t>Final-Touch Prompt</a:t>
            </a:r>
            <a:endParaRPr lang="en-US" sz="1050" dirty="0"/>
          </a:p>
        </p:txBody>
      </p:sp>
      <p:sp>
        <p:nvSpPr>
          <p:cNvPr id="25" name="Shape 23"/>
          <p:cNvSpPr/>
          <p:nvPr/>
        </p:nvSpPr>
        <p:spPr>
          <a:xfrm>
            <a:off x="6405372" y="2708910"/>
            <a:ext cx="2468880" cy="1028700"/>
          </a:xfrm>
          <a:prstGeom prst="roundRect">
            <a:avLst>
              <a:gd name="adj" fmla="val 3333"/>
            </a:avLst>
          </a:prstGeom>
          <a:solidFill>
            <a:srgbClr val="1E1E2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6" name="Text 24"/>
          <p:cNvSpPr/>
          <p:nvPr/>
        </p:nvSpPr>
        <p:spPr>
          <a:xfrm>
            <a:off x="6508242" y="2777490"/>
            <a:ext cx="2263140" cy="8915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25" dirty="0">
                <a:solidFill>
                  <a:srgbClr val="E6F4EC"/>
                </a:solidFill>
                <a:latin typeface="Consolas" pitchFamily="34" charset="0"/>
                <a:ea typeface="Consolas" pitchFamily="34" charset="-122"/>
                <a:cs typeface="Consolas" pitchFamily="34" charset="-120"/>
              </a:rPr>
              <a:t>"The design includes implementing robust access controls, encryption, and auditing mechanisms to protect patient data from unauthorized access or breaches."</a:t>
            </a:r>
            <a:endParaRPr lang="en-US" sz="825" dirty="0"/>
          </a:p>
        </p:txBody>
      </p:sp>
      <p:sp>
        <p:nvSpPr>
          <p:cNvPr id="27" name="Text 25"/>
          <p:cNvSpPr/>
          <p:nvPr/>
        </p:nvSpPr>
        <p:spPr>
          <a:xfrm>
            <a:off x="6405372" y="3806190"/>
            <a:ext cx="2468880" cy="6858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63" b="1" dirty="0">
                <a:solidFill>
                  <a:srgbClr val="0A1F44"/>
                </a:solidFill>
                <a:latin typeface="Calibri" pitchFamily="34" charset="0"/>
                <a:ea typeface="Calibri" pitchFamily="34" charset="-122"/>
                <a:cs typeface="Calibri" pitchFamily="34" charset="-120"/>
              </a:rPr>
              <a:t>Goal: </a:t>
            </a:r>
            <a:r>
              <a:rPr lang="en-US" sz="863" dirty="0">
                <a:solidFill>
                  <a:srgbClr val="1A1A2E"/>
                </a:solidFill>
                <a:latin typeface="Calibri" pitchFamily="34" charset="0"/>
                <a:ea typeface="Calibri" pitchFamily="34" charset="-122"/>
                <a:cs typeface="Calibri" pitchFamily="34" charset="-120"/>
              </a:rPr>
              <a:t>Ensures all required security measures are present.</a:t>
            </a:r>
            <a:endParaRPr lang="en-US" sz="863" dirty="0"/>
          </a:p>
        </p:txBody>
      </p:sp>
      <p:sp>
        <p:nvSpPr>
          <p:cNvPr id="28" name="Text 26"/>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GenAI Across the Data Engineering Lifecycle  ·  Day 12  ·  Topic 2</a:t>
            </a:r>
            <a:endParaRPr lang="en-US" sz="675" dirty="0"/>
          </a:p>
        </p:txBody>
      </p:sp>
      <p:sp>
        <p:nvSpPr>
          <p:cNvPr id="29" name="Text 27"/>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6</a:t>
            </a:r>
            <a:endParaRPr lang="en-US" sz="675" dirty="0"/>
          </a:p>
        </p:txBody>
      </p:sp>
    </p:spTree>
    <p:extLst>
      <p:ext uri="{BB962C8B-B14F-4D97-AF65-F5344CB8AC3E}">
        <p14:creationId xmlns:p14="http://schemas.microsoft.com/office/powerpoint/2010/main" val="12328989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CORE CONCEPT</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Automating Schema Design with GenAI</a:t>
            </a:r>
            <a:endParaRPr lang="en-US" sz="2100" dirty="0"/>
          </a:p>
        </p:txBody>
      </p:sp>
      <p:sp>
        <p:nvSpPr>
          <p:cNvPr id="5" name="Shape 3"/>
          <p:cNvSpPr/>
          <p:nvPr/>
        </p:nvSpPr>
        <p:spPr>
          <a:xfrm>
            <a:off x="411480" y="1028700"/>
            <a:ext cx="8298180" cy="788670"/>
          </a:xfrm>
          <a:prstGeom prst="roundRect">
            <a:avLst>
              <a:gd name="adj" fmla="val 6957"/>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48640" y="1131570"/>
            <a:ext cx="8023860"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CONCEPT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Generative AI can learn from existing schemas and data patterns, automate ingestion, training, generation &amp; optimisation of schemas, and evaluate/refine schemas using workload simulations.</a:t>
            </a:r>
            <a:endParaRPr lang="en-US" sz="1050" dirty="0"/>
          </a:p>
        </p:txBody>
      </p:sp>
      <p:sp>
        <p:nvSpPr>
          <p:cNvPr id="7" name="Shape 5"/>
          <p:cNvSpPr/>
          <p:nvPr/>
        </p:nvSpPr>
        <p:spPr>
          <a:xfrm>
            <a:off x="411480" y="1954530"/>
            <a:ext cx="4114800" cy="1783080"/>
          </a:xfrm>
          <a:prstGeom prst="roundRect">
            <a:avLst>
              <a:gd name="adj" fmla="val 3077"/>
            </a:avLst>
          </a:prstGeom>
          <a:solidFill>
            <a:srgbClr val="DDEE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Text 6"/>
          <p:cNvSpPr/>
          <p:nvPr/>
        </p:nvSpPr>
        <p:spPr>
          <a:xfrm>
            <a:off x="548640" y="2057400"/>
            <a:ext cx="3840480" cy="15773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006D8F"/>
                </a:solidFill>
                <a:latin typeface="Calibri" pitchFamily="34" charset="0"/>
                <a:ea typeface="Calibri" pitchFamily="34" charset="-122"/>
                <a:cs typeface="Calibri" pitchFamily="34" charset="-120"/>
              </a:rPr>
              <a:t>⚙️  STAGES OF AUTOMATION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1. Preprocess schemas and metadata (columns, constraints)</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2. Train models like GANs, VAEs, or Transformers</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3. Generate schemas that reduce joins or optimise queries</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4. Evaluate schema efficiency via simulation or metrics</a:t>
            </a:r>
            <a:endParaRPr lang="en-US" sz="1050" dirty="0"/>
          </a:p>
        </p:txBody>
      </p:sp>
      <p:sp>
        <p:nvSpPr>
          <p:cNvPr id="9" name="Shape 7"/>
          <p:cNvSpPr/>
          <p:nvPr/>
        </p:nvSpPr>
        <p:spPr>
          <a:xfrm>
            <a:off x="4697730" y="1954530"/>
            <a:ext cx="4011930" cy="514350"/>
          </a:xfrm>
          <a:prstGeom prst="roundRect">
            <a:avLst>
              <a:gd name="adj" fmla="val 8000"/>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0" name="Text 8"/>
          <p:cNvSpPr/>
          <p:nvPr/>
        </p:nvSpPr>
        <p:spPr>
          <a:xfrm>
            <a:off x="4834890" y="1954530"/>
            <a:ext cx="1165860" cy="5143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5B2D8E"/>
                </a:solidFill>
                <a:latin typeface="Calibri" pitchFamily="34" charset="0"/>
                <a:ea typeface="Calibri" pitchFamily="34" charset="-122"/>
                <a:cs typeface="Calibri" pitchFamily="34" charset="-120"/>
              </a:rPr>
              <a:t>Staq</a:t>
            </a:r>
            <a:endParaRPr lang="en-US" sz="975" dirty="0"/>
          </a:p>
        </p:txBody>
      </p:sp>
      <p:sp>
        <p:nvSpPr>
          <p:cNvPr id="11" name="Text 9"/>
          <p:cNvSpPr/>
          <p:nvPr/>
        </p:nvSpPr>
        <p:spPr>
          <a:xfrm>
            <a:off x="6069330" y="1954530"/>
            <a:ext cx="2503170" cy="5143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1A1A2E"/>
                </a:solidFill>
                <a:latin typeface="Calibri" pitchFamily="34" charset="0"/>
                <a:ea typeface="Calibri" pitchFamily="34" charset="-122"/>
                <a:cs typeface="Calibri" pitchFamily="34" charset="-120"/>
              </a:rPr>
              <a:t>Suggests schema fields based on sample data</a:t>
            </a:r>
            <a:endParaRPr lang="en-US" sz="863" dirty="0"/>
          </a:p>
        </p:txBody>
      </p:sp>
      <p:sp>
        <p:nvSpPr>
          <p:cNvPr id="12" name="Shape 10"/>
          <p:cNvSpPr/>
          <p:nvPr/>
        </p:nvSpPr>
        <p:spPr>
          <a:xfrm>
            <a:off x="4697730" y="2537460"/>
            <a:ext cx="4011930" cy="514350"/>
          </a:xfrm>
          <a:prstGeom prst="roundRect">
            <a:avLst>
              <a:gd name="adj" fmla="val 8000"/>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3" name="Text 11"/>
          <p:cNvSpPr/>
          <p:nvPr/>
        </p:nvSpPr>
        <p:spPr>
          <a:xfrm>
            <a:off x="4834890" y="2537460"/>
            <a:ext cx="1165860" cy="5143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5B2D8E"/>
                </a:solidFill>
                <a:latin typeface="Calibri" pitchFamily="34" charset="0"/>
                <a:ea typeface="Calibri" pitchFamily="34" charset="-122"/>
                <a:cs typeface="Calibri" pitchFamily="34" charset="-120"/>
              </a:rPr>
              <a:t>StitchData</a:t>
            </a:r>
            <a:endParaRPr lang="en-US" sz="975" dirty="0"/>
          </a:p>
        </p:txBody>
      </p:sp>
      <p:sp>
        <p:nvSpPr>
          <p:cNvPr id="14" name="Text 12"/>
          <p:cNvSpPr/>
          <p:nvPr/>
        </p:nvSpPr>
        <p:spPr>
          <a:xfrm>
            <a:off x="6069330" y="2537460"/>
            <a:ext cx="2503170" cy="5143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1A1A2E"/>
                </a:solidFill>
                <a:latin typeface="Calibri" pitchFamily="34" charset="0"/>
                <a:ea typeface="Calibri" pitchFamily="34" charset="-122"/>
                <a:cs typeface="Calibri" pitchFamily="34" charset="-120"/>
              </a:rPr>
              <a:t>Auto-detects data structure for pipelines</a:t>
            </a:r>
            <a:endParaRPr lang="en-US" sz="863" dirty="0"/>
          </a:p>
        </p:txBody>
      </p:sp>
      <p:sp>
        <p:nvSpPr>
          <p:cNvPr id="15" name="Shape 13"/>
          <p:cNvSpPr/>
          <p:nvPr/>
        </p:nvSpPr>
        <p:spPr>
          <a:xfrm>
            <a:off x="4697730" y="3120390"/>
            <a:ext cx="4011930" cy="514350"/>
          </a:xfrm>
          <a:prstGeom prst="roundRect">
            <a:avLst>
              <a:gd name="adj" fmla="val 8000"/>
            </a:avLst>
          </a:prstGeom>
          <a:solidFill>
            <a:srgbClr val="FFFFFF"/>
          </a:solidFill>
          <a:ln/>
          <a:effectLst>
            <a:outerShdw blurRad="38100" dist="127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6" name="Text 14"/>
          <p:cNvSpPr/>
          <p:nvPr/>
        </p:nvSpPr>
        <p:spPr>
          <a:xfrm>
            <a:off x="4834890" y="3120390"/>
            <a:ext cx="1165860" cy="5143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5B2D8E"/>
                </a:solidFill>
                <a:latin typeface="Calibri" pitchFamily="34" charset="0"/>
                <a:ea typeface="Calibri" pitchFamily="34" charset="-122"/>
                <a:cs typeface="Calibri" pitchFamily="34" charset="-120"/>
              </a:rPr>
              <a:t>Schemawriter</a:t>
            </a:r>
            <a:endParaRPr lang="en-US" sz="975" dirty="0"/>
          </a:p>
        </p:txBody>
      </p:sp>
      <p:sp>
        <p:nvSpPr>
          <p:cNvPr id="17" name="Text 15"/>
          <p:cNvSpPr/>
          <p:nvPr/>
        </p:nvSpPr>
        <p:spPr>
          <a:xfrm>
            <a:off x="6069330" y="3120390"/>
            <a:ext cx="2503170" cy="5143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1A1A2E"/>
                </a:solidFill>
                <a:latin typeface="Calibri" pitchFamily="34" charset="0"/>
                <a:ea typeface="Calibri" pitchFamily="34" charset="-122"/>
                <a:cs typeface="Calibri" pitchFamily="34" charset="-120"/>
              </a:rPr>
              <a:t>Generates SEO schemas based on content</a:t>
            </a:r>
            <a:endParaRPr lang="en-US" sz="863" dirty="0"/>
          </a:p>
        </p:txBody>
      </p:sp>
      <p:sp>
        <p:nvSpPr>
          <p:cNvPr id="18" name="Shape 16"/>
          <p:cNvSpPr/>
          <p:nvPr/>
        </p:nvSpPr>
        <p:spPr>
          <a:xfrm>
            <a:off x="4697730" y="3737610"/>
            <a:ext cx="4011930" cy="1062990"/>
          </a:xfrm>
          <a:prstGeom prst="roundRect">
            <a:avLst>
              <a:gd name="adj" fmla="val 5161"/>
            </a:avLst>
          </a:prstGeom>
          <a:solidFill>
            <a:srgbClr val="F0E8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9" name="Text 17"/>
          <p:cNvSpPr/>
          <p:nvPr/>
        </p:nvSpPr>
        <p:spPr>
          <a:xfrm>
            <a:off x="4834890" y="3840480"/>
            <a:ext cx="3737610" cy="85725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5B2D8E"/>
                </a:solidFill>
                <a:latin typeface="Calibri" pitchFamily="34" charset="0"/>
                <a:ea typeface="Calibri" pitchFamily="34" charset="-122"/>
                <a:cs typeface="Calibri" pitchFamily="34" charset="-120"/>
              </a:rPr>
              <a:t>🔧  NORMALISATION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Normalisation can be automated using Google AutoML, OpenAI Codex, and reinforcement learning techniques.</a:t>
            </a:r>
            <a:endParaRPr lang="en-US" sz="1050" dirty="0"/>
          </a:p>
        </p:txBody>
      </p:sp>
      <p:sp>
        <p:nvSpPr>
          <p:cNvPr id="20" name="Shape 18"/>
          <p:cNvSpPr/>
          <p:nvPr/>
        </p:nvSpPr>
        <p:spPr>
          <a:xfrm>
            <a:off x="411480" y="3840480"/>
            <a:ext cx="4114800" cy="960120"/>
          </a:xfrm>
          <a:prstGeom prst="roundRect">
            <a:avLst>
              <a:gd name="adj" fmla="val 5714"/>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1" name="Text 19"/>
          <p:cNvSpPr/>
          <p:nvPr/>
        </p:nvSpPr>
        <p:spPr>
          <a:xfrm>
            <a:off x="548640" y="3943350"/>
            <a:ext cx="3840480" cy="75438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REAL-WORLD IMPACT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An e-commerce firm optimised its product database schema, halving query time. A healthcare provider restructured patient records for faster access.</a:t>
            </a:r>
            <a:endParaRPr lang="en-US" sz="1050" dirty="0"/>
          </a:p>
        </p:txBody>
      </p:sp>
      <p:sp>
        <p:nvSpPr>
          <p:cNvPr id="22" name="Text 20"/>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GenAI Across the Data Engineering Lifecycle  ·  Day 12  ·  Topic 2</a:t>
            </a:r>
            <a:endParaRPr lang="en-US" sz="675" dirty="0"/>
          </a:p>
        </p:txBody>
      </p:sp>
      <p:sp>
        <p:nvSpPr>
          <p:cNvPr id="23" name="Text 21"/>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7</a:t>
            </a:r>
            <a:endParaRPr lang="en-US" sz="675" dirty="0"/>
          </a:p>
        </p:txBody>
      </p:sp>
    </p:spTree>
    <p:extLst>
      <p:ext uri="{BB962C8B-B14F-4D97-AF65-F5344CB8AC3E}">
        <p14:creationId xmlns:p14="http://schemas.microsoft.com/office/powerpoint/2010/main" val="22897626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HANDS-ON LAB</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Lab 2: Database &amp; Data Warehouse Schema Design</a:t>
            </a:r>
            <a:endParaRPr lang="en-US" sz="2100" dirty="0"/>
          </a:p>
        </p:txBody>
      </p:sp>
      <p:sp>
        <p:nvSpPr>
          <p:cNvPr id="5" name="Shape 3"/>
          <p:cNvSpPr/>
          <p:nvPr/>
        </p:nvSpPr>
        <p:spPr>
          <a:xfrm>
            <a:off x="411480" y="1028700"/>
            <a:ext cx="8298180" cy="1028700"/>
          </a:xfrm>
          <a:prstGeom prst="roundRect">
            <a:avLst>
              <a:gd name="adj" fmla="val 5333"/>
            </a:avLst>
          </a:prstGeom>
          <a:solidFill>
            <a:srgbClr val="F0E8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48640" y="1131570"/>
            <a:ext cx="8023860" cy="82296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5B2D8E"/>
                </a:solidFill>
                <a:latin typeface="Calibri" pitchFamily="34" charset="0"/>
                <a:ea typeface="Calibri" pitchFamily="34" charset="-122"/>
                <a:cs typeface="Calibri" pitchFamily="34" charset="-120"/>
              </a:rPr>
              <a:t>📘  INTRODUCTION &amp; SCENARIO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Designing a data warehouse schema ensures fast query performance, data accuracy, and scalability. You are hired as a data engineer to build a data warehouse for a fashion retail company that includes Employee, Inventory, Sales, Customer Profile, and Seller data - and must design a fully connected schema linking them all.</a:t>
            </a:r>
            <a:endParaRPr lang="en-US" sz="1050" dirty="0"/>
          </a:p>
        </p:txBody>
      </p:sp>
      <p:sp>
        <p:nvSpPr>
          <p:cNvPr id="7" name="Shape 5"/>
          <p:cNvSpPr/>
          <p:nvPr/>
        </p:nvSpPr>
        <p:spPr>
          <a:xfrm>
            <a:off x="411480" y="2194560"/>
            <a:ext cx="2743200" cy="1062990"/>
          </a:xfrm>
          <a:prstGeom prst="roundRect">
            <a:avLst>
              <a:gd name="adj" fmla="val 5161"/>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Text 6"/>
          <p:cNvSpPr/>
          <p:nvPr/>
        </p:nvSpPr>
        <p:spPr>
          <a:xfrm>
            <a:off x="548640" y="2297430"/>
            <a:ext cx="2468880" cy="85725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STEP 1: Design the Schema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Use GenAI to generate a schema with clear primary &amp; foreign keys for all five tables.</a:t>
            </a:r>
            <a:endParaRPr lang="en-US" sz="1050" dirty="0"/>
          </a:p>
        </p:txBody>
      </p:sp>
      <p:sp>
        <p:nvSpPr>
          <p:cNvPr id="9" name="Shape 7"/>
          <p:cNvSpPr/>
          <p:nvPr/>
        </p:nvSpPr>
        <p:spPr>
          <a:xfrm>
            <a:off x="3339846" y="2194560"/>
            <a:ext cx="2743200" cy="1062990"/>
          </a:xfrm>
          <a:prstGeom prst="roundRect">
            <a:avLst>
              <a:gd name="adj" fmla="val 5161"/>
            </a:avLst>
          </a:prstGeom>
          <a:solidFill>
            <a:srgbClr val="DDEE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0" name="Text 8"/>
          <p:cNvSpPr/>
          <p:nvPr/>
        </p:nvSpPr>
        <p:spPr>
          <a:xfrm>
            <a:off x="3477006" y="2297430"/>
            <a:ext cx="2468880" cy="85725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006D8F"/>
                </a:solidFill>
                <a:latin typeface="Calibri" pitchFamily="34" charset="0"/>
                <a:ea typeface="Calibri" pitchFamily="34" charset="-122"/>
                <a:cs typeface="Calibri" pitchFamily="34" charset="-120"/>
              </a:rPr>
              <a:t>➡️  STEP 2: Generate SQL Code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Ask GenAI for CREATE TABLE statements that implement the schema correctly.</a:t>
            </a:r>
            <a:endParaRPr lang="en-US" sz="1050" dirty="0"/>
          </a:p>
        </p:txBody>
      </p:sp>
      <p:sp>
        <p:nvSpPr>
          <p:cNvPr id="11" name="Shape 9"/>
          <p:cNvSpPr/>
          <p:nvPr/>
        </p:nvSpPr>
        <p:spPr>
          <a:xfrm>
            <a:off x="6268212" y="2194560"/>
            <a:ext cx="2743200" cy="1062990"/>
          </a:xfrm>
          <a:prstGeom prst="roundRect">
            <a:avLst>
              <a:gd name="adj" fmla="val 5161"/>
            </a:avLst>
          </a:prstGeom>
          <a:solidFill>
            <a:srgbClr val="F0E8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2" name="Text 10"/>
          <p:cNvSpPr/>
          <p:nvPr/>
        </p:nvSpPr>
        <p:spPr>
          <a:xfrm>
            <a:off x="6405372" y="2297430"/>
            <a:ext cx="2468880" cy="85725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5B2D8E"/>
                </a:solidFill>
                <a:latin typeface="Calibri" pitchFamily="34" charset="0"/>
                <a:ea typeface="Calibri" pitchFamily="34" charset="-122"/>
                <a:cs typeface="Calibri" pitchFamily="34" charset="-120"/>
              </a:rPr>
              <a:t>➡️  STEP 3: Generate the Diagram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Visualise the schema as an ER diagram using dbdiagram.io or MySQL Workbench.</a:t>
            </a:r>
            <a:endParaRPr lang="en-US" sz="1050" dirty="0"/>
          </a:p>
        </p:txBody>
      </p:sp>
      <p:sp>
        <p:nvSpPr>
          <p:cNvPr id="13" name="Text 11"/>
          <p:cNvSpPr/>
          <p:nvPr/>
        </p:nvSpPr>
        <p:spPr>
          <a:xfrm>
            <a:off x="411480" y="3394710"/>
            <a:ext cx="822960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kern="0" spc="75" dirty="0">
                <a:solidFill>
                  <a:srgbClr val="0A1F44"/>
                </a:solidFill>
                <a:latin typeface="Calibri" pitchFamily="34" charset="0"/>
                <a:ea typeface="Calibri" pitchFamily="34" charset="-122"/>
                <a:cs typeface="Calibri" pitchFamily="34" charset="-120"/>
              </a:rPr>
              <a:t>SAMPLE SCHEMA STRUCTURE</a:t>
            </a:r>
            <a:endParaRPr lang="en-US" sz="975" dirty="0"/>
          </a:p>
        </p:txBody>
      </p:sp>
      <p:graphicFrame>
        <p:nvGraphicFramePr>
          <p:cNvPr id="14" name="Table 0"/>
          <p:cNvGraphicFramePr>
            <a:graphicFrameLocks noGrp="1"/>
          </p:cNvGraphicFramePr>
          <p:nvPr/>
        </p:nvGraphicFramePr>
        <p:xfrm>
          <a:off x="411480" y="3669030"/>
          <a:ext cx="8298180" cy="1357884"/>
        </p:xfrm>
        <a:graphic>
          <a:graphicData uri="http://schemas.openxmlformats.org/drawingml/2006/table">
            <a:tbl>
              <a:tblPr/>
              <a:tblGrid>
                <a:gridCol w="1783080">
                  <a:extLst>
                    <a:ext uri="{9D8B030D-6E8A-4147-A177-3AD203B41FA5}">
                      <a16:colId xmlns:a16="http://schemas.microsoft.com/office/drawing/2014/main" val="20000"/>
                    </a:ext>
                  </a:extLst>
                </a:gridCol>
                <a:gridCol w="6515100">
                  <a:extLst>
                    <a:ext uri="{9D8B030D-6E8A-4147-A177-3AD203B41FA5}">
                      <a16:colId xmlns:a16="http://schemas.microsoft.com/office/drawing/2014/main" val="20001"/>
                    </a:ext>
                  </a:extLst>
                </a:gridCol>
              </a:tblGrid>
              <a:tr h="226314">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Table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A1F44"/>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Key Columns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226314">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Employee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employee_id (PK), employee_name, position, department</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6314">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CustomerProfiles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customer_id (PK), customer_name, email, address, phone_number</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2"/>
                  </a:ext>
                </a:extLst>
              </a:tr>
              <a:tr h="226314">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SellerInformation</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seller_id (PK), seller_name, seller_type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6314">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Inventory</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product_id (PK), price, quantity, employee_id (FK), seller_id (FK)</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4"/>
                  </a:ext>
                </a:extLst>
              </a:tr>
              <a:tr h="226314">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SalesData</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sale_id (PK), employee_id (FK), customer_id (FK), product_id (FK), sale_date, sale_amount</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Text 12"/>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GenAI Across the Data Engineering Lifecycle  ·  Day 12  ·  Topic 2</a:t>
            </a:r>
            <a:endParaRPr lang="en-US" sz="675" dirty="0"/>
          </a:p>
        </p:txBody>
      </p:sp>
      <p:sp>
        <p:nvSpPr>
          <p:cNvPr id="16" name="Text 13"/>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8</a:t>
            </a:r>
            <a:endParaRPr lang="en-US" sz="675" dirty="0"/>
          </a:p>
        </p:txBody>
      </p:sp>
    </p:spTree>
    <p:extLst>
      <p:ext uri="{BB962C8B-B14F-4D97-AF65-F5344CB8AC3E}">
        <p14:creationId xmlns:p14="http://schemas.microsoft.com/office/powerpoint/2010/main" val="16699805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96ABF58B-1EBB-1F9D-5A74-F28D627DDFC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21506F1-3DF5-6545-B8D2-FD2A9E7C92D1}"/>
              </a:ext>
            </a:extLst>
          </p:cNvPr>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a:extLst>
              <a:ext uri="{FF2B5EF4-FFF2-40B4-BE49-F238E27FC236}">
                <a16:creationId xmlns:a16="http://schemas.microsoft.com/office/drawing/2014/main" id="{036A36FA-04EA-002D-37C3-B57028D97AB9}"/>
              </a:ext>
            </a:extLst>
          </p:cNvPr>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CORE CONCEPT</a:t>
            </a:r>
            <a:endParaRPr lang="en-US" sz="900" dirty="0"/>
          </a:p>
        </p:txBody>
      </p:sp>
      <p:sp>
        <p:nvSpPr>
          <p:cNvPr id="4" name="Text 2">
            <a:extLst>
              <a:ext uri="{FF2B5EF4-FFF2-40B4-BE49-F238E27FC236}">
                <a16:creationId xmlns:a16="http://schemas.microsoft.com/office/drawing/2014/main" id="{1FE2E946-D103-9222-FF4C-2C5B69487609}"/>
              </a:ext>
            </a:extLst>
          </p:cNvPr>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GenAI Across the Database schema</a:t>
            </a:r>
            <a:endParaRPr lang="en-US" sz="2100" dirty="0"/>
          </a:p>
        </p:txBody>
      </p:sp>
      <p:pic>
        <p:nvPicPr>
          <p:cNvPr id="54" name="Picture 53">
            <a:extLst>
              <a:ext uri="{FF2B5EF4-FFF2-40B4-BE49-F238E27FC236}">
                <a16:creationId xmlns:a16="http://schemas.microsoft.com/office/drawing/2014/main" id="{59C47236-ADB1-011E-471F-1AE67BE80DEC}"/>
              </a:ext>
            </a:extLst>
          </p:cNvPr>
          <p:cNvPicPr>
            <a:picLocks noChangeAspect="1"/>
          </p:cNvPicPr>
          <p:nvPr/>
        </p:nvPicPr>
        <p:blipFill>
          <a:blip r:embed="rId3"/>
          <a:stretch>
            <a:fillRect/>
          </a:stretch>
        </p:blipFill>
        <p:spPr>
          <a:xfrm>
            <a:off x="1099269" y="905256"/>
            <a:ext cx="6361043" cy="4047013"/>
          </a:xfrm>
          <a:prstGeom prst="rect">
            <a:avLst/>
          </a:prstGeom>
        </p:spPr>
      </p:pic>
    </p:spTree>
    <p:extLst>
      <p:ext uri="{BB962C8B-B14F-4D97-AF65-F5344CB8AC3E}">
        <p14:creationId xmlns:p14="http://schemas.microsoft.com/office/powerpoint/2010/main" val="11184228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SAMPLE SQL CODE</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Lab 2 in Action: From Schema to SQL</a:t>
            </a:r>
            <a:endParaRPr lang="en-US" sz="2100" dirty="0"/>
          </a:p>
        </p:txBody>
      </p:sp>
      <p:sp>
        <p:nvSpPr>
          <p:cNvPr id="5" name="Shape 3"/>
          <p:cNvSpPr/>
          <p:nvPr/>
        </p:nvSpPr>
        <p:spPr>
          <a:xfrm>
            <a:off x="411480" y="1028700"/>
            <a:ext cx="8298180" cy="651510"/>
          </a:xfrm>
          <a:prstGeom prst="roundRect">
            <a:avLst>
              <a:gd name="adj" fmla="val 8421"/>
            </a:avLst>
          </a:prstGeom>
          <a:solidFill>
            <a:srgbClr val="FFFBE6"/>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48640" y="1131570"/>
            <a:ext cx="8023860" cy="44577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E85D04"/>
                </a:solidFill>
                <a:latin typeface="Calibri" pitchFamily="34" charset="0"/>
                <a:ea typeface="Calibri" pitchFamily="34" charset="-122"/>
                <a:cs typeface="Calibri" pitchFamily="34" charset="-120"/>
              </a:rPr>
              <a:t>💬  PROMPT TO USE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"Provide an SQL code to create the data warehouse discussed above."</a:t>
            </a:r>
            <a:endParaRPr lang="en-US" sz="1050" dirty="0"/>
          </a:p>
        </p:txBody>
      </p:sp>
      <p:sp>
        <p:nvSpPr>
          <p:cNvPr id="7" name="Shape 5"/>
          <p:cNvSpPr/>
          <p:nvPr/>
        </p:nvSpPr>
        <p:spPr>
          <a:xfrm>
            <a:off x="411480" y="1783080"/>
            <a:ext cx="4114800" cy="1508760"/>
          </a:xfrm>
          <a:prstGeom prst="roundRect">
            <a:avLst>
              <a:gd name="adj" fmla="val 2727"/>
            </a:avLst>
          </a:prstGeom>
          <a:solidFill>
            <a:srgbClr val="1E1E2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Text 6"/>
          <p:cNvSpPr/>
          <p:nvPr/>
        </p:nvSpPr>
        <p:spPr>
          <a:xfrm>
            <a:off x="548640" y="1851660"/>
            <a:ext cx="384048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dirty="0">
                <a:solidFill>
                  <a:srgbClr val="DDEEFF"/>
                </a:solidFill>
                <a:latin typeface="Calibri" pitchFamily="34" charset="0"/>
                <a:ea typeface="Calibri" pitchFamily="34" charset="-122"/>
                <a:cs typeface="Calibri" pitchFamily="34" charset="-120"/>
              </a:rPr>
              <a:t>CREATE TABLE Employee / CustomerProfiles / SellerInformation</a:t>
            </a:r>
            <a:endParaRPr lang="en-US" sz="900" dirty="0"/>
          </a:p>
        </p:txBody>
      </p:sp>
      <p:sp>
        <p:nvSpPr>
          <p:cNvPr id="9" name="Text 7"/>
          <p:cNvSpPr/>
          <p:nvPr/>
        </p:nvSpPr>
        <p:spPr>
          <a:xfrm>
            <a:off x="548640" y="2091690"/>
            <a:ext cx="3840480" cy="113157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CREATE TABLE Employee (</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employee_id INT PRIMARY KEY,</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employee_name VARCHAR(50),</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position VARCHAR(50),</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department VARCHAR(50)</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a:t>
            </a:r>
            <a:endParaRPr lang="en-US" sz="788" dirty="0"/>
          </a:p>
          <a:p>
            <a:pPr marL="0" indent="0">
              <a:lnSpc>
                <a:spcPct val="105000"/>
              </a:lnSpc>
              <a:buNone/>
            </a:pP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CREATE TABLE CustomerProfiles (</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customer_id INT PRIMARY KEY,</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customer_name VARCHAR(50),</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email VARCHAR(50), ...</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a:t>
            </a:r>
            <a:endParaRPr lang="en-US" sz="788" dirty="0"/>
          </a:p>
        </p:txBody>
      </p:sp>
      <p:sp>
        <p:nvSpPr>
          <p:cNvPr id="10" name="Shape 8"/>
          <p:cNvSpPr/>
          <p:nvPr/>
        </p:nvSpPr>
        <p:spPr>
          <a:xfrm>
            <a:off x="4697730" y="1783080"/>
            <a:ext cx="4011930" cy="1508760"/>
          </a:xfrm>
          <a:prstGeom prst="roundRect">
            <a:avLst>
              <a:gd name="adj" fmla="val 2727"/>
            </a:avLst>
          </a:prstGeom>
          <a:solidFill>
            <a:srgbClr val="1E1E2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1" name="Text 9"/>
          <p:cNvSpPr/>
          <p:nvPr/>
        </p:nvSpPr>
        <p:spPr>
          <a:xfrm>
            <a:off x="4834890" y="1851660"/>
            <a:ext cx="373761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dirty="0">
                <a:solidFill>
                  <a:srgbClr val="DDEEFF"/>
                </a:solidFill>
                <a:latin typeface="Calibri" pitchFamily="34" charset="0"/>
                <a:ea typeface="Calibri" pitchFamily="34" charset="-122"/>
                <a:cs typeface="Calibri" pitchFamily="34" charset="-120"/>
              </a:rPr>
              <a:t>CREATE TABLE Inventory (with Foreign Keys)</a:t>
            </a:r>
            <a:endParaRPr lang="en-US" sz="900" dirty="0"/>
          </a:p>
        </p:txBody>
      </p:sp>
      <p:sp>
        <p:nvSpPr>
          <p:cNvPr id="12" name="Text 10"/>
          <p:cNvSpPr/>
          <p:nvPr/>
        </p:nvSpPr>
        <p:spPr>
          <a:xfrm>
            <a:off x="4834890" y="2091690"/>
            <a:ext cx="3737610" cy="113157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CREATE TABLE Inventory (</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product_id INT PRIMARY KEY,</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product_name VARCHAR(50),</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price DECIMAL(10,2),</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quantity INT,</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employee_id INT,</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seller_id INT,</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FOREIGN KEY (employee_id)</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REFERENCES Employee(employee_id),</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FOREIGN KEY (seller_id)</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REFERENCES SellerInformation(seller_id)</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a:t>
            </a:r>
            <a:endParaRPr lang="en-US" sz="788" dirty="0"/>
          </a:p>
        </p:txBody>
      </p:sp>
      <p:sp>
        <p:nvSpPr>
          <p:cNvPr id="13" name="Shape 11"/>
          <p:cNvSpPr/>
          <p:nvPr/>
        </p:nvSpPr>
        <p:spPr>
          <a:xfrm>
            <a:off x="411480" y="3429000"/>
            <a:ext cx="8298180" cy="1303020"/>
          </a:xfrm>
          <a:prstGeom prst="roundRect">
            <a:avLst>
              <a:gd name="adj" fmla="val 3158"/>
            </a:avLst>
          </a:prstGeom>
          <a:solidFill>
            <a:srgbClr val="1E1E2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4" name="Text 12"/>
          <p:cNvSpPr/>
          <p:nvPr/>
        </p:nvSpPr>
        <p:spPr>
          <a:xfrm>
            <a:off x="548640" y="3497580"/>
            <a:ext cx="802386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dirty="0">
                <a:solidFill>
                  <a:srgbClr val="DDEEFF"/>
                </a:solidFill>
                <a:latin typeface="Calibri" pitchFamily="34" charset="0"/>
                <a:ea typeface="Calibri" pitchFamily="34" charset="-122"/>
                <a:cs typeface="Calibri" pitchFamily="34" charset="-120"/>
              </a:rPr>
              <a:t>CREATE TABLE SalesData (connects Employee, CustomerProfiles &amp; Inventory)</a:t>
            </a:r>
            <a:endParaRPr lang="en-US" sz="900" dirty="0"/>
          </a:p>
        </p:txBody>
      </p:sp>
      <p:sp>
        <p:nvSpPr>
          <p:cNvPr id="15" name="Text 13"/>
          <p:cNvSpPr/>
          <p:nvPr/>
        </p:nvSpPr>
        <p:spPr>
          <a:xfrm>
            <a:off x="548640" y="3737610"/>
            <a:ext cx="8023860" cy="9258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CREATE TABLE SalesData (</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sale_id INT PRIMARY KEY,</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sale_date DATE,</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sale_amount DECIMAL(10,2),</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employee_id INT,</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customer_id INT,</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product_id INT,</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FOREIGN KEY (employee_id) REFERENCES Employee(employee_id),</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FOREIGN KEY (customer_id) REFERENCES CustomerProfiles(customer_id),</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FOREIGN KEY (product_id) REFERENCES Inventory(product_id)</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a:t>
            </a:r>
            <a:endParaRPr lang="en-US" sz="788" dirty="0"/>
          </a:p>
        </p:txBody>
      </p:sp>
      <p:sp>
        <p:nvSpPr>
          <p:cNvPr id="16" name="Text 14"/>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GenAI Across the Data Engineering Lifecycle  ·  Day 12  ·  Topic 2</a:t>
            </a:r>
            <a:endParaRPr lang="en-US" sz="675" dirty="0"/>
          </a:p>
        </p:txBody>
      </p:sp>
      <p:sp>
        <p:nvSpPr>
          <p:cNvPr id="17" name="Text 15"/>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9</a:t>
            </a:r>
            <a:endParaRPr lang="en-US" sz="675" dirty="0"/>
          </a:p>
        </p:txBody>
      </p:sp>
    </p:spTree>
    <p:extLst>
      <p:ext uri="{BB962C8B-B14F-4D97-AF65-F5344CB8AC3E}">
        <p14:creationId xmlns:p14="http://schemas.microsoft.com/office/powerpoint/2010/main" val="35913798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CORE CONCEPT</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Generative AI for Data Anonymization</a:t>
            </a:r>
            <a:endParaRPr lang="en-US" sz="2100" dirty="0"/>
          </a:p>
        </p:txBody>
      </p:sp>
      <p:sp>
        <p:nvSpPr>
          <p:cNvPr id="5" name="Shape 3"/>
          <p:cNvSpPr/>
          <p:nvPr/>
        </p:nvSpPr>
        <p:spPr>
          <a:xfrm>
            <a:off x="411480" y="1028700"/>
            <a:ext cx="8298180" cy="788670"/>
          </a:xfrm>
          <a:prstGeom prst="roundRect">
            <a:avLst>
              <a:gd name="adj" fmla="val 6957"/>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48640" y="1131570"/>
            <a:ext cx="8023860"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CONCEPT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Generative AI anonymises data by creating synthetic data that mimics the structure and statistical properties of the original dataset - without exposing personal or sensitive information. It supports compliance with global privacy standards such as GDPR and HIPAA.</a:t>
            </a:r>
            <a:endParaRPr lang="en-US" sz="1050" dirty="0"/>
          </a:p>
        </p:txBody>
      </p:sp>
      <p:sp>
        <p:nvSpPr>
          <p:cNvPr id="7" name="Shape 5"/>
          <p:cNvSpPr/>
          <p:nvPr/>
        </p:nvSpPr>
        <p:spPr>
          <a:xfrm>
            <a:off x="411480" y="1954530"/>
            <a:ext cx="2016252" cy="2057400"/>
          </a:xfrm>
          <a:prstGeom prst="roundRect">
            <a:avLst>
              <a:gd name="adj" fmla="val 2721"/>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Text 6"/>
          <p:cNvSpPr/>
          <p:nvPr/>
        </p:nvSpPr>
        <p:spPr>
          <a:xfrm>
            <a:off x="548640" y="2057400"/>
            <a:ext cx="1741932" cy="185166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Suppression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Removing sensitive identifiers from datasets</a:t>
            </a:r>
            <a:endParaRPr lang="en-US" sz="1050" dirty="0"/>
          </a:p>
        </p:txBody>
      </p:sp>
      <p:sp>
        <p:nvSpPr>
          <p:cNvPr id="9" name="Shape 7"/>
          <p:cNvSpPr/>
          <p:nvPr/>
        </p:nvSpPr>
        <p:spPr>
          <a:xfrm>
            <a:off x="2496312" y="1954530"/>
            <a:ext cx="2016252" cy="2057400"/>
          </a:xfrm>
          <a:prstGeom prst="roundRect">
            <a:avLst>
              <a:gd name="adj" fmla="val 2721"/>
            </a:avLst>
          </a:prstGeom>
          <a:solidFill>
            <a:srgbClr val="DDEE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0" name="Text 8"/>
          <p:cNvSpPr/>
          <p:nvPr/>
        </p:nvSpPr>
        <p:spPr>
          <a:xfrm>
            <a:off x="2633472" y="2057400"/>
            <a:ext cx="1741932" cy="185166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006D8F"/>
                </a:solidFill>
                <a:latin typeface="Calibri" pitchFamily="34" charset="0"/>
                <a:ea typeface="Calibri" pitchFamily="34" charset="-122"/>
                <a:cs typeface="Calibri" pitchFamily="34" charset="-120"/>
              </a:rPr>
              <a:t>🔒  Generalization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Replacing specific values with broader categories</a:t>
            </a:r>
            <a:endParaRPr lang="en-US" sz="1050" dirty="0"/>
          </a:p>
        </p:txBody>
      </p:sp>
      <p:sp>
        <p:nvSpPr>
          <p:cNvPr id="11" name="Shape 9"/>
          <p:cNvSpPr/>
          <p:nvPr/>
        </p:nvSpPr>
        <p:spPr>
          <a:xfrm>
            <a:off x="4581144" y="1954530"/>
            <a:ext cx="2016252" cy="2057400"/>
          </a:xfrm>
          <a:prstGeom prst="roundRect">
            <a:avLst>
              <a:gd name="adj" fmla="val 2721"/>
            </a:avLst>
          </a:prstGeom>
          <a:solidFill>
            <a:srgbClr val="F0E8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2" name="Text 10"/>
          <p:cNvSpPr/>
          <p:nvPr/>
        </p:nvSpPr>
        <p:spPr>
          <a:xfrm>
            <a:off x="4718304" y="2057400"/>
            <a:ext cx="1741932" cy="185166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5B2D8E"/>
                </a:solidFill>
                <a:latin typeface="Calibri" pitchFamily="34" charset="0"/>
                <a:ea typeface="Calibri" pitchFamily="34" charset="-122"/>
                <a:cs typeface="Calibri" pitchFamily="34" charset="-120"/>
              </a:rPr>
              <a:t>🔒  Perturbation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Introducing noise to obscure sensitive attributes</a:t>
            </a:r>
            <a:endParaRPr lang="en-US" sz="1050" dirty="0"/>
          </a:p>
        </p:txBody>
      </p:sp>
      <p:sp>
        <p:nvSpPr>
          <p:cNvPr id="13" name="Shape 11"/>
          <p:cNvSpPr/>
          <p:nvPr/>
        </p:nvSpPr>
        <p:spPr>
          <a:xfrm>
            <a:off x="6665976" y="1954530"/>
            <a:ext cx="2016252" cy="2057400"/>
          </a:xfrm>
          <a:prstGeom prst="roundRect">
            <a:avLst>
              <a:gd name="adj" fmla="val 2721"/>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4" name="Text 12"/>
          <p:cNvSpPr/>
          <p:nvPr/>
        </p:nvSpPr>
        <p:spPr>
          <a:xfrm>
            <a:off x="6803136" y="2057400"/>
            <a:ext cx="1741932" cy="185166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Synthetic Data Generation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Creating entirely new records with a similar distribution to the original</a:t>
            </a:r>
            <a:endParaRPr lang="en-US" sz="1050" dirty="0"/>
          </a:p>
        </p:txBody>
      </p:sp>
      <p:sp>
        <p:nvSpPr>
          <p:cNvPr id="15" name="Shape 13"/>
          <p:cNvSpPr/>
          <p:nvPr/>
        </p:nvSpPr>
        <p:spPr>
          <a:xfrm>
            <a:off x="411480" y="4114800"/>
            <a:ext cx="8298180" cy="651510"/>
          </a:xfrm>
          <a:prstGeom prst="roundRect">
            <a:avLst>
              <a:gd name="adj" fmla="val 8421"/>
            </a:avLst>
          </a:prstGeom>
          <a:solidFill>
            <a:srgbClr val="FFFBE6"/>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6" name="Text 14"/>
          <p:cNvSpPr/>
          <p:nvPr/>
        </p:nvSpPr>
        <p:spPr>
          <a:xfrm>
            <a:off x="548640" y="4217670"/>
            <a:ext cx="8023860" cy="44577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E85D04"/>
                </a:solidFill>
                <a:latin typeface="Calibri" pitchFamily="34" charset="0"/>
                <a:ea typeface="Calibri" pitchFamily="34" charset="-122"/>
                <a:cs typeface="Calibri" pitchFamily="34" charset="-120"/>
              </a:rPr>
              <a:t>✨  WHY IT MATTERS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Anonymization techniques let organisations analyse and share data confidently, without putting individuals' privacy at risk.</a:t>
            </a:r>
            <a:endParaRPr lang="en-US" sz="1050" dirty="0"/>
          </a:p>
        </p:txBody>
      </p:sp>
      <p:sp>
        <p:nvSpPr>
          <p:cNvPr id="17" name="Text 15"/>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GenAI Across the Data Engineering Lifecycle  ·  Day 12  ·  Topic 2</a:t>
            </a:r>
            <a:endParaRPr lang="en-US" sz="675" dirty="0"/>
          </a:p>
        </p:txBody>
      </p:sp>
      <p:sp>
        <p:nvSpPr>
          <p:cNvPr id="18" name="Text 16"/>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10</a:t>
            </a:r>
            <a:endParaRPr lang="en-US" sz="675" dirty="0"/>
          </a:p>
        </p:txBody>
      </p:sp>
    </p:spTree>
    <p:extLst>
      <p:ext uri="{BB962C8B-B14F-4D97-AF65-F5344CB8AC3E}">
        <p14:creationId xmlns:p14="http://schemas.microsoft.com/office/powerpoint/2010/main" val="20050870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HANDS-ON LAB</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Lab 3: Data Anonymization with Python</a:t>
            </a:r>
            <a:endParaRPr lang="en-US" sz="2100" dirty="0"/>
          </a:p>
        </p:txBody>
      </p:sp>
      <p:sp>
        <p:nvSpPr>
          <p:cNvPr id="5" name="Shape 3"/>
          <p:cNvSpPr/>
          <p:nvPr/>
        </p:nvSpPr>
        <p:spPr>
          <a:xfrm>
            <a:off x="411480" y="1028700"/>
            <a:ext cx="8298180" cy="788670"/>
          </a:xfrm>
          <a:prstGeom prst="roundRect">
            <a:avLst>
              <a:gd name="adj" fmla="val 6957"/>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48640" y="1131570"/>
            <a:ext cx="8023860"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INTRODUCTION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While synthetic data inherently handles anonymisation, GenAI tools can also help create scripts that anonymise personally identifiable information (PII) in existing datasets. In this lab, you'll apply three anonymisation techniques to a synthetic dataset (Name, Email, Age, Contact Number) using Python.</a:t>
            </a:r>
            <a:endParaRPr lang="en-US" sz="1050" dirty="0"/>
          </a:p>
        </p:txBody>
      </p:sp>
      <p:sp>
        <p:nvSpPr>
          <p:cNvPr id="7" name="Shape 5"/>
          <p:cNvSpPr/>
          <p:nvPr/>
        </p:nvSpPr>
        <p:spPr>
          <a:xfrm>
            <a:off x="411480" y="1954530"/>
            <a:ext cx="2743200" cy="1371600"/>
          </a:xfrm>
          <a:prstGeom prst="roundRect">
            <a:avLst>
              <a:gd name="adj" fmla="val 3000"/>
            </a:avLst>
          </a:prstGeom>
          <a:solidFill>
            <a:srgbClr val="1E1E2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Text 6"/>
          <p:cNvSpPr/>
          <p:nvPr/>
        </p:nvSpPr>
        <p:spPr>
          <a:xfrm>
            <a:off x="548640" y="2023110"/>
            <a:ext cx="246888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dirty="0">
                <a:solidFill>
                  <a:srgbClr val="DDEEFF"/>
                </a:solidFill>
                <a:latin typeface="Calibri" pitchFamily="34" charset="0"/>
                <a:ea typeface="Calibri" pitchFamily="34" charset="-122"/>
                <a:cs typeface="Calibri" pitchFamily="34" charset="-120"/>
              </a:rPr>
              <a:t>1. Pseudonymization - replace names</a:t>
            </a:r>
            <a:endParaRPr lang="en-US" sz="900" dirty="0"/>
          </a:p>
        </p:txBody>
      </p:sp>
      <p:sp>
        <p:nvSpPr>
          <p:cNvPr id="9" name="Text 7"/>
          <p:cNvSpPr/>
          <p:nvPr/>
        </p:nvSpPr>
        <p:spPr>
          <a:xfrm>
            <a:off x="548640" y="2263140"/>
            <a:ext cx="2468880" cy="9944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df['Name'] = [</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'User_' + str(i)</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for i in range(1, len(df)+1)</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a:t>
            </a:r>
            <a:endParaRPr lang="en-US" sz="788" dirty="0"/>
          </a:p>
          <a:p>
            <a:pPr marL="0" indent="0">
              <a:lnSpc>
                <a:spcPct val="105000"/>
              </a:lnSpc>
              <a:buNone/>
            </a:pP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John Smith -&gt; User_1</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Asha Rao   -&gt; User_2</a:t>
            </a:r>
            <a:endParaRPr lang="en-US" sz="788" dirty="0"/>
          </a:p>
        </p:txBody>
      </p:sp>
      <p:sp>
        <p:nvSpPr>
          <p:cNvPr id="10" name="Shape 8"/>
          <p:cNvSpPr/>
          <p:nvPr/>
        </p:nvSpPr>
        <p:spPr>
          <a:xfrm>
            <a:off x="3257550" y="1954530"/>
            <a:ext cx="2743200" cy="1371600"/>
          </a:xfrm>
          <a:prstGeom prst="roundRect">
            <a:avLst>
              <a:gd name="adj" fmla="val 3000"/>
            </a:avLst>
          </a:prstGeom>
          <a:solidFill>
            <a:srgbClr val="1E1E2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1" name="Text 9"/>
          <p:cNvSpPr/>
          <p:nvPr/>
        </p:nvSpPr>
        <p:spPr>
          <a:xfrm>
            <a:off x="3394710" y="2023110"/>
            <a:ext cx="246888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dirty="0">
                <a:solidFill>
                  <a:srgbClr val="DDEEFF"/>
                </a:solidFill>
                <a:latin typeface="Calibri" pitchFamily="34" charset="0"/>
                <a:ea typeface="Calibri" pitchFamily="34" charset="-122"/>
                <a:cs typeface="Calibri" pitchFamily="34" charset="-120"/>
              </a:rPr>
              <a:t>2. Redaction - mask emails</a:t>
            </a:r>
            <a:endParaRPr lang="en-US" sz="900" dirty="0"/>
          </a:p>
        </p:txBody>
      </p:sp>
      <p:sp>
        <p:nvSpPr>
          <p:cNvPr id="12" name="Text 10"/>
          <p:cNvSpPr/>
          <p:nvPr/>
        </p:nvSpPr>
        <p:spPr>
          <a:xfrm>
            <a:off x="3394710" y="2263140"/>
            <a:ext cx="2468880" cy="9944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def redact_email(email):</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u, d = email.split('@')</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ru = u[0]+'*'*(len(u)-2)+u[-1]</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rd = d[0]+'*'*(len(d)-2)+d[-1]</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return ru + '@' + rd</a:t>
            </a:r>
            <a:endParaRPr lang="en-US" sz="788" dirty="0"/>
          </a:p>
          <a:p>
            <a:pPr marL="0" indent="0">
              <a:lnSpc>
                <a:spcPct val="105000"/>
              </a:lnSpc>
              <a:buNone/>
            </a:pP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asha@gmail.com -&gt; a**a@g****l.com</a:t>
            </a:r>
            <a:endParaRPr lang="en-US" sz="788" dirty="0"/>
          </a:p>
        </p:txBody>
      </p:sp>
      <p:sp>
        <p:nvSpPr>
          <p:cNvPr id="13" name="Shape 11"/>
          <p:cNvSpPr/>
          <p:nvPr/>
        </p:nvSpPr>
        <p:spPr>
          <a:xfrm>
            <a:off x="6103620" y="1954530"/>
            <a:ext cx="2606040" cy="1371600"/>
          </a:xfrm>
          <a:prstGeom prst="roundRect">
            <a:avLst>
              <a:gd name="adj" fmla="val 3000"/>
            </a:avLst>
          </a:prstGeom>
          <a:solidFill>
            <a:srgbClr val="1E1E2E"/>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4" name="Text 12"/>
          <p:cNvSpPr/>
          <p:nvPr/>
        </p:nvSpPr>
        <p:spPr>
          <a:xfrm>
            <a:off x="6240780" y="2023110"/>
            <a:ext cx="233172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dirty="0">
                <a:solidFill>
                  <a:srgbClr val="DDEEFF"/>
                </a:solidFill>
                <a:latin typeface="Calibri" pitchFamily="34" charset="0"/>
                <a:ea typeface="Calibri" pitchFamily="34" charset="-122"/>
                <a:cs typeface="Calibri" pitchFamily="34" charset="-120"/>
              </a:rPr>
              <a:t>3. Generalization - age brackets</a:t>
            </a:r>
            <a:endParaRPr lang="en-US" sz="900" dirty="0"/>
          </a:p>
        </p:txBody>
      </p:sp>
      <p:sp>
        <p:nvSpPr>
          <p:cNvPr id="15" name="Text 13"/>
          <p:cNvSpPr/>
          <p:nvPr/>
        </p:nvSpPr>
        <p:spPr>
          <a:xfrm>
            <a:off x="6240780" y="2263140"/>
            <a:ext cx="2331720" cy="9944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def generalize_age(age):</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return str(age)[0] + '0s'</a:t>
            </a:r>
            <a:endParaRPr lang="en-US" sz="788" dirty="0"/>
          </a:p>
          <a:p>
            <a:pPr marL="0" indent="0">
              <a:lnSpc>
                <a:spcPct val="105000"/>
              </a:lnSpc>
              <a:buNone/>
            </a:pP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df['Age'] = df['Age'].apply(</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generalize_age</a:t>
            </a: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a:t>
            </a:r>
            <a:endParaRPr lang="en-US" sz="788" dirty="0"/>
          </a:p>
          <a:p>
            <a:pPr marL="0" indent="0">
              <a:lnSpc>
                <a:spcPct val="105000"/>
              </a:lnSpc>
              <a:buNone/>
            </a:pPr>
            <a:endParaRPr lang="en-US" sz="788" dirty="0"/>
          </a:p>
          <a:p>
            <a:pPr marL="0" indent="0">
              <a:lnSpc>
                <a:spcPct val="105000"/>
              </a:lnSpc>
              <a:buNone/>
            </a:pPr>
            <a:r>
              <a:rPr lang="en-US" sz="788" dirty="0">
                <a:solidFill>
                  <a:srgbClr val="E6F4EC"/>
                </a:solidFill>
                <a:latin typeface="Consolas" pitchFamily="34" charset="0"/>
                <a:ea typeface="Consolas" pitchFamily="34" charset="-122"/>
                <a:cs typeface="Consolas" pitchFamily="34" charset="-120"/>
              </a:rPr>
              <a:t># 27 -&gt; "20s"   34 -&gt; "30s"</a:t>
            </a:r>
            <a:endParaRPr lang="en-US" sz="788" dirty="0"/>
          </a:p>
        </p:txBody>
      </p:sp>
      <p:sp>
        <p:nvSpPr>
          <p:cNvPr id="16" name="Shape 14"/>
          <p:cNvSpPr/>
          <p:nvPr/>
        </p:nvSpPr>
        <p:spPr>
          <a:xfrm>
            <a:off x="411480" y="3463290"/>
            <a:ext cx="4114800" cy="1268730"/>
          </a:xfrm>
          <a:prstGeom prst="roundRect">
            <a:avLst>
              <a:gd name="adj" fmla="val 4324"/>
            </a:avLst>
          </a:prstGeom>
          <a:solidFill>
            <a:srgbClr val="F0E8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7" name="Text 15"/>
          <p:cNvSpPr/>
          <p:nvPr/>
        </p:nvSpPr>
        <p:spPr>
          <a:xfrm>
            <a:off x="548640" y="3566160"/>
            <a:ext cx="3840480" cy="106299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5B2D8E"/>
                </a:solidFill>
                <a:latin typeface="Calibri" pitchFamily="34" charset="0"/>
                <a:ea typeface="Calibri" pitchFamily="34" charset="-122"/>
                <a:cs typeface="Calibri" pitchFamily="34" charset="-120"/>
              </a:rPr>
              <a:t>📂  DATASET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Synthetically created using the Faker Python library. Contains: Name, Email, Age, and Contact Number for each candidate. Loaded via pandas from a CSV file.</a:t>
            </a:r>
            <a:endParaRPr lang="en-US" sz="1050" dirty="0"/>
          </a:p>
        </p:txBody>
      </p:sp>
      <p:sp>
        <p:nvSpPr>
          <p:cNvPr id="18" name="Shape 16"/>
          <p:cNvSpPr/>
          <p:nvPr/>
        </p:nvSpPr>
        <p:spPr>
          <a:xfrm>
            <a:off x="4697730" y="3463290"/>
            <a:ext cx="4011930" cy="1268730"/>
          </a:xfrm>
          <a:prstGeom prst="roundRect">
            <a:avLst>
              <a:gd name="adj" fmla="val 4324"/>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9" name="Text 17"/>
          <p:cNvSpPr/>
          <p:nvPr/>
        </p:nvSpPr>
        <p:spPr>
          <a:xfrm>
            <a:off x="4834890" y="3566160"/>
            <a:ext cx="3737610" cy="106299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OUTCOME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By the end of this lab: real names are replaced with pseudonyms, sensitive email details are masked, and ages are grouped into anonymised categories - all using simple Python functions.</a:t>
            </a:r>
            <a:endParaRPr lang="en-US" sz="1050" dirty="0"/>
          </a:p>
        </p:txBody>
      </p:sp>
      <p:sp>
        <p:nvSpPr>
          <p:cNvPr id="20" name="Text 18"/>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GenAI Across the Data Engineering Lifecycle  ·  Day 12  ·  Topic 2</a:t>
            </a:r>
            <a:endParaRPr lang="en-US" sz="675" dirty="0"/>
          </a:p>
        </p:txBody>
      </p:sp>
      <p:sp>
        <p:nvSpPr>
          <p:cNvPr id="21" name="Text 19"/>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11</a:t>
            </a:r>
            <a:endParaRPr lang="en-US" sz="675" dirty="0"/>
          </a:p>
        </p:txBody>
      </p:sp>
    </p:spTree>
    <p:extLst>
      <p:ext uri="{BB962C8B-B14F-4D97-AF65-F5344CB8AC3E}">
        <p14:creationId xmlns:p14="http://schemas.microsoft.com/office/powerpoint/2010/main" val="12817115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GLOSSARY</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Quick Reference: Key Terms</a:t>
            </a:r>
            <a:endParaRPr lang="en-US" sz="2100" dirty="0"/>
          </a:p>
        </p:txBody>
      </p:sp>
      <p:graphicFrame>
        <p:nvGraphicFramePr>
          <p:cNvPr id="13" name="Table 0"/>
          <p:cNvGraphicFramePr>
            <a:graphicFrameLocks noGrp="1"/>
          </p:cNvGraphicFramePr>
          <p:nvPr/>
        </p:nvGraphicFramePr>
        <p:xfrm>
          <a:off x="411480" y="1028700"/>
          <a:ext cx="8298180" cy="4251960"/>
        </p:xfrm>
        <a:graphic>
          <a:graphicData uri="http://schemas.openxmlformats.org/drawingml/2006/table">
            <a:tbl>
              <a:tblPr/>
              <a:tblGrid>
                <a:gridCol w="1920240">
                  <a:extLst>
                    <a:ext uri="{9D8B030D-6E8A-4147-A177-3AD203B41FA5}">
                      <a16:colId xmlns:a16="http://schemas.microsoft.com/office/drawing/2014/main" val="20000"/>
                    </a:ext>
                  </a:extLst>
                </a:gridCol>
                <a:gridCol w="6377940">
                  <a:extLst>
                    <a:ext uri="{9D8B030D-6E8A-4147-A177-3AD203B41FA5}">
                      <a16:colId xmlns:a16="http://schemas.microsoft.com/office/drawing/2014/main" val="20001"/>
                    </a:ext>
                  </a:extLst>
                </a:gridCol>
              </a:tblGrid>
              <a:tr h="42519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Term</a:t>
                      </a:r>
                      <a:endParaRPr lang="en-US" sz="10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A1F44"/>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Definition</a:t>
                      </a:r>
                      <a:endParaRPr lang="en-US" sz="10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425196">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Data Engineering Lifecycle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The stages from data collection through monitoring &amp; optimisation that GenAI can enhance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1"/>
                  </a:ext>
                </a:extLst>
              </a:tr>
              <a:tr h="425196">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Future-Ready Architecture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A data architecture that auto-scales, integrates diverse sources, and self-optimises using GenAI</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5196">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Iterative Prompting</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Refining an AI prompt step by step to progressively build a complete output</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3"/>
                  </a:ext>
                </a:extLst>
              </a:tr>
              <a:tr h="425196">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Primary Key (PK)</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A column that uniquely identifies each row in a table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5196">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Foreign Key (FK)</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A column that references the primary key of another table, creating a relationship</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5"/>
                  </a:ext>
                </a:extLst>
              </a:tr>
              <a:tr h="425196">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ER Diagram</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Entity-Relationship diagram showing tables as boxes and relationships as connecting lines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5196">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Pseudonymization</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Replacing identifying fields (e.g. names) with artificial identifiers like User_1, User_2</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7"/>
                  </a:ext>
                </a:extLst>
              </a:tr>
              <a:tr h="425196">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Redaction</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Masking part of a sensitive value (e.g. an email) while keeping it recognisable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25196">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Generalization</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Replacing a specific value with a broader category (e.g. age 27 -&gt; '20s')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9"/>
                  </a:ext>
                </a:extLst>
              </a:tr>
            </a:tbl>
          </a:graphicData>
        </a:graphic>
      </p:graphicFrame>
      <p:sp>
        <p:nvSpPr>
          <p:cNvPr id="6" name="Text 3"/>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GenAI Across the Data Engineering Lifecycle  ·  Day 12  ·  Topic 2</a:t>
            </a:r>
            <a:endParaRPr lang="en-US" sz="675" dirty="0"/>
          </a:p>
        </p:txBody>
      </p:sp>
      <p:sp>
        <p:nvSpPr>
          <p:cNvPr id="7" name="Text 4"/>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12</a:t>
            </a:r>
            <a:endParaRPr lang="en-US" sz="675" dirty="0"/>
          </a:p>
        </p:txBody>
      </p:sp>
    </p:spTree>
    <p:extLst>
      <p:ext uri="{BB962C8B-B14F-4D97-AF65-F5344CB8AC3E}">
        <p14:creationId xmlns:p14="http://schemas.microsoft.com/office/powerpoint/2010/main" val="3825629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13">
    <p:bg>
      <p:bgPr>
        <a:solidFill>
          <a:srgbClr val="0A1F44"/>
        </a:solidFill>
        <a:effectLst/>
      </p:bgPr>
    </p:bg>
    <p:spTree>
      <p:nvGrpSpPr>
        <p:cNvPr id="1" name=""/>
        <p:cNvGrpSpPr/>
        <p:nvPr/>
      </p:nvGrpSpPr>
      <p:grpSpPr>
        <a:xfrm>
          <a:off x="0" y="0"/>
          <a:ext cx="0" cy="0"/>
          <a:chOff x="0" y="0"/>
          <a:chExt cx="0" cy="0"/>
        </a:xfrm>
      </p:grpSpPr>
      <p:sp>
        <p:nvSpPr>
          <p:cNvPr id="2" name="Shape 0"/>
          <p:cNvSpPr/>
          <p:nvPr/>
        </p:nvSpPr>
        <p:spPr>
          <a:xfrm>
            <a:off x="-1028700" y="3086100"/>
            <a:ext cx="3429000" cy="3429000"/>
          </a:xfrm>
          <a:prstGeom prst="ellipse">
            <a:avLst/>
          </a:prstGeom>
          <a:solidFill>
            <a:srgbClr val="1A356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80060" y="480060"/>
            <a:ext cx="75438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kern="0" spc="150" dirty="0">
                <a:solidFill>
                  <a:srgbClr val="DDEEFF"/>
                </a:solidFill>
                <a:latin typeface="Calibri" pitchFamily="34" charset="0"/>
                <a:ea typeface="Calibri" pitchFamily="34" charset="-122"/>
                <a:cs typeface="Calibri" pitchFamily="34" charset="-120"/>
              </a:rPr>
              <a:t>RECAP</a:t>
            </a:r>
            <a:endParaRPr lang="en-US" sz="1050" dirty="0"/>
          </a:p>
        </p:txBody>
      </p:sp>
      <p:sp>
        <p:nvSpPr>
          <p:cNvPr id="4" name="Text 2"/>
          <p:cNvSpPr/>
          <p:nvPr/>
        </p:nvSpPr>
        <p:spPr>
          <a:xfrm>
            <a:off x="480060" y="960120"/>
            <a:ext cx="7886700" cy="24003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60000"/>
              </a:lnSpc>
              <a:buNone/>
            </a:pPr>
            <a:r>
              <a:rPr lang="en-US" sz="1275" dirty="0">
                <a:solidFill>
                  <a:srgbClr val="FFFFFF"/>
                </a:solidFill>
                <a:latin typeface="Calibri" pitchFamily="34" charset="0"/>
                <a:ea typeface="Calibri" pitchFamily="34" charset="-122"/>
                <a:cs typeface="Calibri" pitchFamily="34" charset="-120"/>
              </a:rPr>
              <a:t>1.  GenAI enhances every stage of the data engineering lifecycle - from collection to monitoring.</a:t>
            </a:r>
            <a:endParaRPr lang="en-US" sz="1275" dirty="0"/>
          </a:p>
          <a:p>
            <a:pPr marL="0" indent="0">
              <a:lnSpc>
                <a:spcPct val="160000"/>
              </a:lnSpc>
              <a:buNone/>
            </a:pPr>
            <a:r>
              <a:rPr lang="en-US" sz="1275" dirty="0">
                <a:solidFill>
                  <a:srgbClr val="FFFFFF"/>
                </a:solidFill>
                <a:latin typeface="Calibri" pitchFamily="34" charset="0"/>
                <a:ea typeface="Calibri" pitchFamily="34" charset="-122"/>
                <a:cs typeface="Calibri" pitchFamily="34" charset="-120"/>
              </a:rPr>
              <a:t>2.  Future-ready architectures use GenAI to auto-scale, integrate, and self-optimise.</a:t>
            </a:r>
            <a:endParaRPr lang="en-US" sz="1275" dirty="0"/>
          </a:p>
          <a:p>
            <a:pPr marL="0" indent="0">
              <a:lnSpc>
                <a:spcPct val="160000"/>
              </a:lnSpc>
              <a:buNone/>
            </a:pPr>
            <a:r>
              <a:rPr lang="en-US" sz="1275" dirty="0">
                <a:solidFill>
                  <a:srgbClr val="FFFFFF"/>
                </a:solidFill>
                <a:latin typeface="Calibri" pitchFamily="34" charset="0"/>
                <a:ea typeface="Calibri" pitchFamily="34" charset="-122"/>
                <a:cs typeface="Calibri" pitchFamily="34" charset="-120"/>
              </a:rPr>
              <a:t>3.  Iterative prompting helps you build complete architecture &amp; schema designs step by step.</a:t>
            </a:r>
            <a:endParaRPr lang="en-US" sz="1275" dirty="0"/>
          </a:p>
          <a:p>
            <a:pPr marL="0" indent="0">
              <a:lnSpc>
                <a:spcPct val="160000"/>
              </a:lnSpc>
              <a:buNone/>
            </a:pPr>
            <a:r>
              <a:rPr lang="en-US" sz="1275" dirty="0">
                <a:solidFill>
                  <a:srgbClr val="FFFFFF"/>
                </a:solidFill>
                <a:latin typeface="Calibri" pitchFamily="34" charset="0"/>
                <a:ea typeface="Calibri" pitchFamily="34" charset="-122"/>
                <a:cs typeface="Calibri" pitchFamily="34" charset="-120"/>
              </a:rPr>
              <a:t>4.  Anonymization techniques (pseudonymization, redaction, generalization) protect privacy while keeping data useful.</a:t>
            </a:r>
            <a:endParaRPr lang="en-US" sz="1275" dirty="0"/>
          </a:p>
        </p:txBody>
      </p:sp>
      <p:sp>
        <p:nvSpPr>
          <p:cNvPr id="5" name="Shape 3"/>
          <p:cNvSpPr/>
          <p:nvPr/>
        </p:nvSpPr>
        <p:spPr>
          <a:xfrm>
            <a:off x="480060" y="3840480"/>
            <a:ext cx="960120" cy="41148"/>
          </a:xfrm>
          <a:prstGeom prst="rect">
            <a:avLst/>
          </a:prstGeom>
          <a:solidFill>
            <a:srgbClr val="006D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480060" y="3977640"/>
            <a:ext cx="5486400" cy="5486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400" b="1" dirty="0">
                <a:solidFill>
                  <a:srgbClr val="FFFFFF"/>
                </a:solidFill>
                <a:latin typeface="Calibri" pitchFamily="34" charset="0"/>
                <a:ea typeface="Calibri" pitchFamily="34" charset="-122"/>
                <a:cs typeface="Calibri" pitchFamily="34" charset="-120"/>
              </a:rPr>
              <a:t>Thank You</a:t>
            </a:r>
            <a:endParaRPr lang="en-US" sz="2400" dirty="0"/>
          </a:p>
        </p:txBody>
      </p:sp>
      <p:sp>
        <p:nvSpPr>
          <p:cNvPr id="7" name="Text 5"/>
          <p:cNvSpPr/>
          <p:nvPr/>
        </p:nvSpPr>
        <p:spPr>
          <a:xfrm>
            <a:off x="480060" y="4526280"/>
            <a:ext cx="75438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dirty="0">
                <a:solidFill>
                  <a:srgbClr val="AFC4E0"/>
                </a:solidFill>
                <a:latin typeface="Calibri" pitchFamily="34" charset="0"/>
                <a:ea typeface="Calibri" pitchFamily="34" charset="-122"/>
                <a:cs typeface="Calibri" pitchFamily="34" charset="-120"/>
              </a:rPr>
              <a:t>Unit 3  ·  Day 12  ·  Topic 2  ·  GenAI Across the Data Engineering Lifecycle  ·  Adroit ACE</a:t>
            </a:r>
            <a:endParaRPr lang="en-US" sz="900" dirty="0"/>
          </a:p>
        </p:txBody>
      </p:sp>
    </p:spTree>
    <p:extLst>
      <p:ext uri="{BB962C8B-B14F-4D97-AF65-F5344CB8AC3E}">
        <p14:creationId xmlns:p14="http://schemas.microsoft.com/office/powerpoint/2010/main" val="40437078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640C3C-877C-9935-8EED-858DB1F8D6E8}"/>
              </a:ext>
            </a:extLst>
          </p:cNvPr>
          <p:cNvSpPr txBox="1"/>
          <p:nvPr/>
        </p:nvSpPr>
        <p:spPr>
          <a:xfrm>
            <a:off x="2091485" y="1754372"/>
            <a:ext cx="788258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a:ea typeface="Calibri"/>
                <a:cs typeface="Calibri"/>
              </a:rPr>
              <a:t>DAY 12 </a:t>
            </a:r>
            <a:r>
              <a:rPr lang="en-US" sz="2000" b="1">
                <a:ea typeface="Calibri"/>
                <a:cs typeface="Calibri"/>
              </a:rPr>
              <a:t>CONTINUATION</a:t>
            </a:r>
            <a:r>
              <a:rPr lang="en-US" sz="9600" b="1" dirty="0">
                <a:ea typeface="Calibri"/>
                <a:cs typeface="Calibri"/>
              </a:rPr>
              <a:t> </a:t>
            </a:r>
            <a:endParaRPr lang="en-US" sz="9600" b="1" dirty="0"/>
          </a:p>
        </p:txBody>
      </p:sp>
    </p:spTree>
    <p:extLst>
      <p:ext uri="{BB962C8B-B14F-4D97-AF65-F5344CB8AC3E}">
        <p14:creationId xmlns:p14="http://schemas.microsoft.com/office/powerpoint/2010/main" val="31315847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1">
    <p:bg>
      <p:bgPr>
        <a:solidFill>
          <a:srgbClr val="0A1F44"/>
        </a:solidFill>
        <a:effectLst/>
      </p:bgPr>
    </p:bg>
    <p:spTree>
      <p:nvGrpSpPr>
        <p:cNvPr id="1" name=""/>
        <p:cNvGrpSpPr/>
        <p:nvPr/>
      </p:nvGrpSpPr>
      <p:grpSpPr>
        <a:xfrm>
          <a:off x="0" y="0"/>
          <a:ext cx="0" cy="0"/>
          <a:chOff x="0" y="0"/>
          <a:chExt cx="0" cy="0"/>
        </a:xfrm>
      </p:grpSpPr>
      <p:sp>
        <p:nvSpPr>
          <p:cNvPr id="2" name="Shape 0"/>
          <p:cNvSpPr/>
          <p:nvPr/>
        </p:nvSpPr>
        <p:spPr>
          <a:xfrm>
            <a:off x="6652260" y="-1234440"/>
            <a:ext cx="3429000" cy="3429000"/>
          </a:xfrm>
          <a:prstGeom prst="ellipse">
            <a:avLst/>
          </a:prstGeom>
          <a:solidFill>
            <a:srgbClr val="1A3560"/>
          </a:solidFill>
          <a:ln/>
        </p:spPr>
      </p:sp>
      <p:sp>
        <p:nvSpPr>
          <p:cNvPr id="3" name="Shape 1"/>
          <p:cNvSpPr/>
          <p:nvPr/>
        </p:nvSpPr>
        <p:spPr>
          <a:xfrm>
            <a:off x="7886700" y="3086100"/>
            <a:ext cx="2743200" cy="2743200"/>
          </a:xfrm>
          <a:prstGeom prst="ellipse">
            <a:avLst/>
          </a:prstGeom>
          <a:solidFill>
            <a:srgbClr val="1A3560"/>
          </a:solidFill>
          <a:ln/>
        </p:spPr>
      </p:sp>
      <p:sp>
        <p:nvSpPr>
          <p:cNvPr id="4" name="Text 2"/>
          <p:cNvSpPr/>
          <p:nvPr/>
        </p:nvSpPr>
        <p:spPr>
          <a:xfrm>
            <a:off x="480060" y="411480"/>
            <a:ext cx="68580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kern="0" spc="150" dirty="0">
                <a:solidFill>
                  <a:srgbClr val="DDEEFF"/>
                </a:solidFill>
                <a:latin typeface="Calibri" pitchFamily="34" charset="0"/>
                <a:ea typeface="Calibri" pitchFamily="34" charset="-122"/>
                <a:cs typeface="Calibri" pitchFamily="34" charset="-120"/>
              </a:rPr>
              <a:t>IBM CAREER EDUCATION  ·  VIT COLLEGE  ·  CORPORATE TRAINING</a:t>
            </a:r>
            <a:endParaRPr lang="en-US" sz="1050" dirty="0"/>
          </a:p>
        </p:txBody>
      </p:sp>
      <p:sp>
        <p:nvSpPr>
          <p:cNvPr id="5" name="Text 3"/>
          <p:cNvSpPr/>
          <p:nvPr/>
        </p:nvSpPr>
        <p:spPr>
          <a:xfrm>
            <a:off x="480060" y="1371600"/>
            <a:ext cx="6858000" cy="15087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5000"/>
              </a:lnSpc>
              <a:buNone/>
            </a:pPr>
            <a:r>
              <a:rPr lang="en-US" sz="3600" b="1" dirty="0">
                <a:solidFill>
                  <a:srgbClr val="FFFFFF"/>
                </a:solidFill>
                <a:latin typeface="Calibri" pitchFamily="34" charset="0"/>
                <a:ea typeface="Calibri" pitchFamily="34" charset="-122"/>
                <a:cs typeface="Calibri" pitchFamily="34" charset="-120"/>
              </a:rPr>
              <a:t>Generative AI for</a:t>
            </a:r>
            <a:endParaRPr lang="en-US" sz="3600" dirty="0"/>
          </a:p>
          <a:p>
            <a:pPr marL="0" indent="0">
              <a:lnSpc>
                <a:spcPct val="105000"/>
              </a:lnSpc>
              <a:buNone/>
            </a:pPr>
            <a:r>
              <a:rPr lang="en-US" sz="3600" b="1" dirty="0">
                <a:solidFill>
                  <a:srgbClr val="FFFFFF"/>
                </a:solidFill>
                <a:latin typeface="Calibri" pitchFamily="34" charset="0"/>
                <a:ea typeface="Calibri" pitchFamily="34" charset="-122"/>
                <a:cs typeface="Calibri" pitchFamily="34" charset="-120"/>
              </a:rPr>
              <a:t>Data Engineering</a:t>
            </a:r>
            <a:endParaRPr lang="en-US" sz="3600" dirty="0"/>
          </a:p>
        </p:txBody>
      </p:sp>
      <p:sp>
        <p:nvSpPr>
          <p:cNvPr id="6" name="Text 4"/>
          <p:cNvSpPr/>
          <p:nvPr/>
        </p:nvSpPr>
        <p:spPr>
          <a:xfrm>
            <a:off x="480060" y="2914650"/>
            <a:ext cx="68580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350" dirty="0">
                <a:solidFill>
                  <a:srgbClr val="C7D6EE"/>
                </a:solidFill>
                <a:latin typeface="Calibri" pitchFamily="34" charset="0"/>
                <a:ea typeface="Calibri" pitchFamily="34" charset="-122"/>
                <a:cs typeface="Calibri" pitchFamily="34" charset="-120"/>
              </a:rPr>
              <a:t>Unit 3  ·  Day 12  ·  Building Smarter, Privacy-Safe Data Pipelines with GenAI</a:t>
            </a:r>
            <a:endParaRPr lang="en-US" sz="1350" dirty="0"/>
          </a:p>
        </p:txBody>
      </p:sp>
      <p:sp>
        <p:nvSpPr>
          <p:cNvPr id="7" name="Shape 5"/>
          <p:cNvSpPr/>
          <p:nvPr/>
        </p:nvSpPr>
        <p:spPr>
          <a:xfrm>
            <a:off x="480060" y="3429000"/>
            <a:ext cx="960120" cy="41148"/>
          </a:xfrm>
          <a:prstGeom prst="rect">
            <a:avLst/>
          </a:prstGeom>
          <a:solidFill>
            <a:srgbClr val="006D8F"/>
          </a:solidFill>
          <a:ln/>
        </p:spPr>
      </p:sp>
      <p:sp>
        <p:nvSpPr>
          <p:cNvPr id="8" name="Text 6"/>
          <p:cNvSpPr/>
          <p:nvPr/>
        </p:nvSpPr>
        <p:spPr>
          <a:xfrm>
            <a:off x="480060" y="3634740"/>
            <a:ext cx="75438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C7D6EE"/>
                </a:solidFill>
                <a:latin typeface="Calibri" pitchFamily="34" charset="0"/>
                <a:ea typeface="Calibri" pitchFamily="34" charset="-122"/>
                <a:cs typeface="Calibri" pitchFamily="34" charset="-120"/>
              </a:rPr>
              <a:t>Duration: </a:t>
            </a:r>
            <a:r>
              <a:rPr lang="en-US" sz="975" dirty="0">
                <a:solidFill>
                  <a:srgbClr val="FFFFFF"/>
                </a:solidFill>
                <a:latin typeface="Calibri" pitchFamily="34" charset="0"/>
                <a:ea typeface="Calibri" pitchFamily="34" charset="-122"/>
                <a:cs typeface="Calibri" pitchFamily="34" charset="-120"/>
              </a:rPr>
              <a:t>2 Hours      </a:t>
            </a:r>
            <a:r>
              <a:rPr lang="en-US" sz="975" b="1" dirty="0">
                <a:solidFill>
                  <a:srgbClr val="C7D6EE"/>
                </a:solidFill>
                <a:latin typeface="Calibri" pitchFamily="34" charset="0"/>
                <a:ea typeface="Calibri" pitchFamily="34" charset="-122"/>
                <a:cs typeface="Calibri" pitchFamily="34" charset="-120"/>
              </a:rPr>
              <a:t>Mode: </a:t>
            </a:r>
            <a:r>
              <a:rPr lang="en-US" sz="975" dirty="0">
                <a:solidFill>
                  <a:srgbClr val="FFFFFF"/>
                </a:solidFill>
                <a:latin typeface="Calibri" pitchFamily="34" charset="0"/>
                <a:ea typeface="Calibri" pitchFamily="34" charset="-122"/>
                <a:cs typeface="Calibri" pitchFamily="34" charset="-120"/>
              </a:rPr>
              <a:t>Theory + Live Demos + Hands-on Lab</a:t>
            </a:r>
            <a:endParaRPr lang="en-US" sz="975" dirty="0"/>
          </a:p>
        </p:txBody>
      </p:sp>
    </p:spTree>
    <p:extLst>
      <p:ext uri="{BB962C8B-B14F-4D97-AF65-F5344CB8AC3E}">
        <p14:creationId xmlns:p14="http://schemas.microsoft.com/office/powerpoint/2010/main" val="2662000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TODAY'S ROADMAP</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Session Agenda</a:t>
            </a:r>
            <a:endParaRPr lang="en-US" sz="2100" dirty="0"/>
          </a:p>
        </p:txBody>
      </p:sp>
      <p:sp>
        <p:nvSpPr>
          <p:cNvPr id="5" name="Shape 3"/>
          <p:cNvSpPr/>
          <p:nvPr/>
        </p:nvSpPr>
        <p:spPr>
          <a:xfrm>
            <a:off x="411480" y="1028700"/>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sp>
      <p:sp>
        <p:nvSpPr>
          <p:cNvPr id="6" name="Text 4"/>
          <p:cNvSpPr/>
          <p:nvPr/>
        </p:nvSpPr>
        <p:spPr>
          <a:xfrm>
            <a:off x="548640" y="1131570"/>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B7D4F0"/>
                </a:solidFill>
                <a:latin typeface="Calibri" pitchFamily="34" charset="0"/>
                <a:ea typeface="Calibri" pitchFamily="34" charset="-122"/>
                <a:cs typeface="Calibri" pitchFamily="34" charset="-120"/>
              </a:rPr>
              <a:t>01</a:t>
            </a:r>
            <a:endParaRPr lang="en-US" sz="2700" dirty="0"/>
          </a:p>
        </p:txBody>
      </p:sp>
      <p:sp>
        <p:nvSpPr>
          <p:cNvPr id="7" name="Text 5"/>
          <p:cNvSpPr/>
          <p:nvPr/>
        </p:nvSpPr>
        <p:spPr>
          <a:xfrm>
            <a:off x="548640" y="1131570"/>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01</a:t>
            </a:r>
            <a:endParaRPr lang="en-US" sz="2700" dirty="0"/>
          </a:p>
        </p:txBody>
      </p:sp>
      <p:sp>
        <p:nvSpPr>
          <p:cNvPr id="8" name="Text 6"/>
          <p:cNvSpPr/>
          <p:nvPr/>
        </p:nvSpPr>
        <p:spPr>
          <a:xfrm>
            <a:off x="1303020" y="1152144"/>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What is Generative AI?</a:t>
            </a:r>
            <a:endParaRPr lang="en-US" sz="1125" dirty="0"/>
          </a:p>
        </p:txBody>
      </p:sp>
      <p:sp>
        <p:nvSpPr>
          <p:cNvPr id="9" name="Text 7"/>
          <p:cNvSpPr/>
          <p:nvPr/>
        </p:nvSpPr>
        <p:spPr>
          <a:xfrm>
            <a:off x="1303020" y="1495044"/>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Core concept &amp; why it matters for data engineering</a:t>
            </a:r>
            <a:endParaRPr lang="en-US" sz="863" dirty="0"/>
          </a:p>
        </p:txBody>
      </p:sp>
      <p:sp>
        <p:nvSpPr>
          <p:cNvPr id="10" name="Shape 8"/>
          <p:cNvSpPr/>
          <p:nvPr/>
        </p:nvSpPr>
        <p:spPr>
          <a:xfrm>
            <a:off x="411480" y="2372868"/>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sp>
      <p:sp>
        <p:nvSpPr>
          <p:cNvPr id="11" name="Text 9"/>
          <p:cNvSpPr/>
          <p:nvPr/>
        </p:nvSpPr>
        <p:spPr>
          <a:xfrm>
            <a:off x="548640" y="2475738"/>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B7D4F0"/>
                </a:solidFill>
                <a:latin typeface="Calibri" pitchFamily="34" charset="0"/>
                <a:ea typeface="Calibri" pitchFamily="34" charset="-122"/>
                <a:cs typeface="Calibri" pitchFamily="34" charset="-120"/>
              </a:rPr>
              <a:t>02</a:t>
            </a:r>
            <a:endParaRPr lang="en-US" sz="2700" dirty="0"/>
          </a:p>
        </p:txBody>
      </p:sp>
      <p:sp>
        <p:nvSpPr>
          <p:cNvPr id="12" name="Text 10"/>
          <p:cNvSpPr/>
          <p:nvPr/>
        </p:nvSpPr>
        <p:spPr>
          <a:xfrm>
            <a:off x="548640" y="2475738"/>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02</a:t>
            </a:r>
            <a:endParaRPr lang="en-US" sz="2700" dirty="0"/>
          </a:p>
        </p:txBody>
      </p:sp>
      <p:sp>
        <p:nvSpPr>
          <p:cNvPr id="13" name="Text 11"/>
          <p:cNvSpPr/>
          <p:nvPr/>
        </p:nvSpPr>
        <p:spPr>
          <a:xfrm>
            <a:off x="1303020" y="2496312"/>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Engines Behind GenAI</a:t>
            </a:r>
            <a:endParaRPr lang="en-US" sz="1125" dirty="0"/>
          </a:p>
        </p:txBody>
      </p:sp>
      <p:sp>
        <p:nvSpPr>
          <p:cNvPr id="14" name="Text 12"/>
          <p:cNvSpPr/>
          <p:nvPr/>
        </p:nvSpPr>
        <p:spPr>
          <a:xfrm>
            <a:off x="1303020" y="2839212"/>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GANs, VAEs &amp; Transformer architectures explained simply</a:t>
            </a:r>
            <a:endParaRPr lang="en-US" sz="863" dirty="0"/>
          </a:p>
        </p:txBody>
      </p:sp>
      <p:sp>
        <p:nvSpPr>
          <p:cNvPr id="15" name="Shape 13"/>
          <p:cNvSpPr/>
          <p:nvPr/>
        </p:nvSpPr>
        <p:spPr>
          <a:xfrm>
            <a:off x="411480" y="3717036"/>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sp>
      <p:sp>
        <p:nvSpPr>
          <p:cNvPr id="16" name="Text 14"/>
          <p:cNvSpPr/>
          <p:nvPr/>
        </p:nvSpPr>
        <p:spPr>
          <a:xfrm>
            <a:off x="548640" y="3819906"/>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B7D4F0"/>
                </a:solidFill>
                <a:latin typeface="Calibri" pitchFamily="34" charset="0"/>
                <a:ea typeface="Calibri" pitchFamily="34" charset="-122"/>
                <a:cs typeface="Calibri" pitchFamily="34" charset="-120"/>
              </a:rPr>
              <a:t>03</a:t>
            </a:r>
            <a:endParaRPr lang="en-US" sz="2700" dirty="0"/>
          </a:p>
        </p:txBody>
      </p:sp>
      <p:sp>
        <p:nvSpPr>
          <p:cNvPr id="17" name="Text 15"/>
          <p:cNvSpPr/>
          <p:nvPr/>
        </p:nvSpPr>
        <p:spPr>
          <a:xfrm>
            <a:off x="548640" y="3819906"/>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03</a:t>
            </a:r>
            <a:endParaRPr lang="en-US" sz="2700" dirty="0"/>
          </a:p>
        </p:txBody>
      </p:sp>
      <p:sp>
        <p:nvSpPr>
          <p:cNvPr id="18" name="Text 16"/>
          <p:cNvSpPr/>
          <p:nvPr/>
        </p:nvSpPr>
        <p:spPr>
          <a:xfrm>
            <a:off x="1303020" y="3840480"/>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GenAI Tools for Data Engineering</a:t>
            </a:r>
            <a:endParaRPr lang="en-US" sz="1125" dirty="0"/>
          </a:p>
        </p:txBody>
      </p:sp>
      <p:sp>
        <p:nvSpPr>
          <p:cNvPr id="19" name="Text 17"/>
          <p:cNvSpPr/>
          <p:nvPr/>
        </p:nvSpPr>
        <p:spPr>
          <a:xfrm>
            <a:off x="1303020" y="4183380"/>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Tonic.ai, DataRobot, Hazy, Featuretools &amp; more</a:t>
            </a:r>
            <a:endParaRPr lang="en-US" sz="863" dirty="0"/>
          </a:p>
        </p:txBody>
      </p:sp>
      <p:sp>
        <p:nvSpPr>
          <p:cNvPr id="20" name="Shape 18"/>
          <p:cNvSpPr/>
          <p:nvPr/>
        </p:nvSpPr>
        <p:spPr>
          <a:xfrm>
            <a:off x="4800600" y="1028700"/>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sp>
      <p:sp>
        <p:nvSpPr>
          <p:cNvPr id="21" name="Text 19"/>
          <p:cNvSpPr/>
          <p:nvPr/>
        </p:nvSpPr>
        <p:spPr>
          <a:xfrm>
            <a:off x="4937760" y="1131570"/>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B7D4F0"/>
                </a:solidFill>
                <a:latin typeface="Calibri" pitchFamily="34" charset="0"/>
                <a:ea typeface="Calibri" pitchFamily="34" charset="-122"/>
                <a:cs typeface="Calibri" pitchFamily="34" charset="-120"/>
              </a:rPr>
              <a:t>04</a:t>
            </a:r>
            <a:endParaRPr lang="en-US" sz="2700" dirty="0"/>
          </a:p>
        </p:txBody>
      </p:sp>
      <p:sp>
        <p:nvSpPr>
          <p:cNvPr id="22" name="Text 20"/>
          <p:cNvSpPr/>
          <p:nvPr/>
        </p:nvSpPr>
        <p:spPr>
          <a:xfrm>
            <a:off x="4937760" y="1131570"/>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04</a:t>
            </a:r>
            <a:endParaRPr lang="en-US" sz="2700" dirty="0"/>
          </a:p>
        </p:txBody>
      </p:sp>
      <p:sp>
        <p:nvSpPr>
          <p:cNvPr id="23" name="Text 21"/>
          <p:cNvSpPr/>
          <p:nvPr/>
        </p:nvSpPr>
        <p:spPr>
          <a:xfrm>
            <a:off x="5692140" y="1152144"/>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How Data Engineers Use GenAI</a:t>
            </a:r>
            <a:endParaRPr lang="en-US" sz="1125" dirty="0"/>
          </a:p>
        </p:txBody>
      </p:sp>
      <p:sp>
        <p:nvSpPr>
          <p:cNvPr id="24" name="Text 22"/>
          <p:cNvSpPr/>
          <p:nvPr/>
        </p:nvSpPr>
        <p:spPr>
          <a:xfrm>
            <a:off x="5692140" y="1495044"/>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Synthesis, automation, anomaly detection, schema design</a:t>
            </a:r>
            <a:endParaRPr lang="en-US" sz="863" dirty="0"/>
          </a:p>
        </p:txBody>
      </p:sp>
      <p:sp>
        <p:nvSpPr>
          <p:cNvPr id="25" name="Shape 23"/>
          <p:cNvSpPr/>
          <p:nvPr/>
        </p:nvSpPr>
        <p:spPr>
          <a:xfrm>
            <a:off x="4800600" y="2372868"/>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sp>
      <p:sp>
        <p:nvSpPr>
          <p:cNvPr id="26" name="Text 24"/>
          <p:cNvSpPr/>
          <p:nvPr/>
        </p:nvSpPr>
        <p:spPr>
          <a:xfrm>
            <a:off x="4937760" y="2475738"/>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B7D4F0"/>
                </a:solidFill>
                <a:latin typeface="Calibri" pitchFamily="34" charset="0"/>
                <a:ea typeface="Calibri" pitchFamily="34" charset="-122"/>
                <a:cs typeface="Calibri" pitchFamily="34" charset="-120"/>
              </a:rPr>
              <a:t>05</a:t>
            </a:r>
            <a:endParaRPr lang="en-US" sz="2700" dirty="0"/>
          </a:p>
        </p:txBody>
      </p:sp>
      <p:sp>
        <p:nvSpPr>
          <p:cNvPr id="27" name="Text 25"/>
          <p:cNvSpPr/>
          <p:nvPr/>
        </p:nvSpPr>
        <p:spPr>
          <a:xfrm>
            <a:off x="4937760" y="2475738"/>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05</a:t>
            </a:r>
            <a:endParaRPr lang="en-US" sz="2700" dirty="0"/>
          </a:p>
        </p:txBody>
      </p:sp>
      <p:sp>
        <p:nvSpPr>
          <p:cNvPr id="28" name="Text 26"/>
          <p:cNvSpPr/>
          <p:nvPr/>
        </p:nvSpPr>
        <p:spPr>
          <a:xfrm>
            <a:off x="5692140" y="2496312"/>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Tool Deep-Dive &amp; Use Cases</a:t>
            </a:r>
            <a:endParaRPr lang="en-US" sz="1125" dirty="0"/>
          </a:p>
        </p:txBody>
      </p:sp>
      <p:sp>
        <p:nvSpPr>
          <p:cNvPr id="29" name="Text 27"/>
          <p:cNvSpPr/>
          <p:nvPr/>
        </p:nvSpPr>
        <p:spPr>
          <a:xfrm>
            <a:off x="5692140" y="2839212"/>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Real applications mapped to engineering tasks</a:t>
            </a:r>
            <a:endParaRPr lang="en-US" sz="863" dirty="0"/>
          </a:p>
        </p:txBody>
      </p:sp>
      <p:sp>
        <p:nvSpPr>
          <p:cNvPr id="30" name="Shape 28"/>
          <p:cNvSpPr/>
          <p:nvPr/>
        </p:nvSpPr>
        <p:spPr>
          <a:xfrm>
            <a:off x="4800600" y="3717036"/>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sp>
      <p:sp>
        <p:nvSpPr>
          <p:cNvPr id="31" name="Text 29"/>
          <p:cNvSpPr/>
          <p:nvPr/>
        </p:nvSpPr>
        <p:spPr>
          <a:xfrm>
            <a:off x="4937760" y="3819906"/>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B7D4F0"/>
                </a:solidFill>
                <a:latin typeface="Calibri" pitchFamily="34" charset="0"/>
                <a:ea typeface="Calibri" pitchFamily="34" charset="-122"/>
                <a:cs typeface="Calibri" pitchFamily="34" charset="-120"/>
              </a:rPr>
              <a:t>06</a:t>
            </a:r>
            <a:endParaRPr lang="en-US" sz="2700" dirty="0"/>
          </a:p>
        </p:txBody>
      </p:sp>
      <p:sp>
        <p:nvSpPr>
          <p:cNvPr id="32" name="Text 30"/>
          <p:cNvSpPr/>
          <p:nvPr/>
        </p:nvSpPr>
        <p:spPr>
          <a:xfrm>
            <a:off x="4937760" y="3819906"/>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06</a:t>
            </a:r>
            <a:endParaRPr lang="en-US" sz="2700" dirty="0"/>
          </a:p>
        </p:txBody>
      </p:sp>
      <p:sp>
        <p:nvSpPr>
          <p:cNvPr id="33" name="Text 31"/>
          <p:cNvSpPr/>
          <p:nvPr/>
        </p:nvSpPr>
        <p:spPr>
          <a:xfrm>
            <a:off x="5692140" y="3840480"/>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Case Study: Unified Data Platform</a:t>
            </a:r>
            <a:endParaRPr lang="en-US" sz="1125" dirty="0"/>
          </a:p>
        </p:txBody>
      </p:sp>
      <p:sp>
        <p:nvSpPr>
          <p:cNvPr id="34" name="Text 32"/>
          <p:cNvSpPr/>
          <p:nvPr/>
        </p:nvSpPr>
        <p:spPr>
          <a:xfrm>
            <a:off x="5692140" y="4183380"/>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End-to-end GenAI-powered pipeline transformation</a:t>
            </a:r>
            <a:endParaRPr lang="en-US" sz="863" dirty="0"/>
          </a:p>
        </p:txBody>
      </p:sp>
      <p:sp>
        <p:nvSpPr>
          <p:cNvPr id="35" name="Text 33"/>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Engineering  ·  Day 12</a:t>
            </a:r>
            <a:endParaRPr lang="en-US" sz="675" dirty="0"/>
          </a:p>
        </p:txBody>
      </p:sp>
      <p:sp>
        <p:nvSpPr>
          <p:cNvPr id="36" name="Text 34"/>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2</a:t>
            </a:r>
            <a:endParaRPr lang="en-US" sz="675" dirty="0"/>
          </a:p>
        </p:txBody>
      </p:sp>
    </p:spTree>
    <p:extLst>
      <p:ext uri="{BB962C8B-B14F-4D97-AF65-F5344CB8AC3E}">
        <p14:creationId xmlns:p14="http://schemas.microsoft.com/office/powerpoint/2010/main" val="7572848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CORE CONCEPT</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What is Generative AI?</a:t>
            </a:r>
            <a:endParaRPr lang="en-US" sz="2100" dirty="0"/>
          </a:p>
        </p:txBody>
      </p:sp>
      <p:sp>
        <p:nvSpPr>
          <p:cNvPr id="5" name="Shape 3"/>
          <p:cNvSpPr/>
          <p:nvPr/>
        </p:nvSpPr>
        <p:spPr>
          <a:xfrm>
            <a:off x="411480" y="1028700"/>
            <a:ext cx="5212080" cy="1371600"/>
          </a:xfrm>
          <a:prstGeom prst="roundRect">
            <a:avLst>
              <a:gd name="adj" fmla="val 4000"/>
            </a:avLst>
          </a:prstGeom>
          <a:solidFill>
            <a:srgbClr val="E6F4EC"/>
          </a:solidFill>
          <a:ln/>
          <a:effectLst>
            <a:outerShdw blurRad="50800" dist="25400" dir="5400000" algn="bl" rotWithShape="0">
              <a:srgbClr val="000000">
                <a:alpha val="8000"/>
              </a:srgbClr>
            </a:outerShdw>
          </a:effectLst>
        </p:spPr>
      </p:sp>
      <p:sp>
        <p:nvSpPr>
          <p:cNvPr id="6" name="Text 4"/>
          <p:cNvSpPr/>
          <p:nvPr/>
        </p:nvSpPr>
        <p:spPr>
          <a:xfrm>
            <a:off x="548640" y="1131570"/>
            <a:ext cx="4937760" cy="116586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CONCEPT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Generative AI is a subset of artificial intelligence that focuses on producing new data rather than just analysing existing data. It allows machines to create content - images, music, language, computer code, and more - mimicking creations by people.</a:t>
            </a:r>
            <a:endParaRPr lang="en-US" sz="1050" dirty="0"/>
          </a:p>
        </p:txBody>
      </p:sp>
      <p:sp>
        <p:nvSpPr>
          <p:cNvPr id="7" name="Shape 5"/>
          <p:cNvSpPr/>
          <p:nvPr/>
        </p:nvSpPr>
        <p:spPr>
          <a:xfrm>
            <a:off x="411480" y="2537460"/>
            <a:ext cx="5212080" cy="2125980"/>
          </a:xfrm>
          <a:prstGeom prst="roundRect">
            <a:avLst>
              <a:gd name="adj" fmla="val 2581"/>
            </a:avLst>
          </a:prstGeom>
          <a:solidFill>
            <a:srgbClr val="DDEEFF"/>
          </a:solidFill>
          <a:ln/>
          <a:effectLst>
            <a:outerShdw blurRad="50800" dist="25400" dir="5400000" algn="bl" rotWithShape="0">
              <a:srgbClr val="000000">
                <a:alpha val="8000"/>
              </a:srgbClr>
            </a:outerShdw>
          </a:effectLst>
        </p:spPr>
      </p:sp>
      <p:sp>
        <p:nvSpPr>
          <p:cNvPr id="8" name="Text 6"/>
          <p:cNvSpPr/>
          <p:nvPr/>
        </p:nvSpPr>
        <p:spPr>
          <a:xfrm>
            <a:off x="548640" y="2640330"/>
            <a:ext cx="4937760" cy="19202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006D8F"/>
                </a:solidFill>
                <a:latin typeface="Calibri" pitchFamily="34" charset="0"/>
                <a:ea typeface="Calibri" pitchFamily="34" charset="-122"/>
                <a:cs typeface="Calibri" pitchFamily="34" charset="-120"/>
              </a:rPr>
              <a:t>✨  WHY IT MATTERS FOR DATA ENGINEERING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GenAI is revolutionising data engineering by going beyond traditional data handling:</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 Creates synthetic data for testing &amp; training</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 Automates stages of data processing (cleaning, transformation, augmentation)</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 Strengthens data privacy with realistic-but-safe datasets</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 Powered by GANs, VAEs &amp; Transformer-based architectures</a:t>
            </a:r>
            <a:endParaRPr lang="en-US" sz="1050" dirty="0"/>
          </a:p>
        </p:txBody>
      </p:sp>
      <p:sp>
        <p:nvSpPr>
          <p:cNvPr id="9" name="Shape 7"/>
          <p:cNvSpPr/>
          <p:nvPr/>
        </p:nvSpPr>
        <p:spPr>
          <a:xfrm>
            <a:off x="5829300" y="1028700"/>
            <a:ext cx="2880360" cy="1138428"/>
          </a:xfrm>
          <a:prstGeom prst="roundRect">
            <a:avLst>
              <a:gd name="adj" fmla="val 4819"/>
            </a:avLst>
          </a:prstGeom>
          <a:solidFill>
            <a:srgbClr val="0A1F44"/>
          </a:solidFill>
          <a:ln/>
        </p:spPr>
      </p:sp>
      <p:sp>
        <p:nvSpPr>
          <p:cNvPr id="10" name="Text 8"/>
          <p:cNvSpPr/>
          <p:nvPr/>
        </p:nvSpPr>
        <p:spPr>
          <a:xfrm>
            <a:off x="6000750" y="1110996"/>
            <a:ext cx="25374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550" b="1" dirty="0">
                <a:solidFill>
                  <a:srgbClr val="DDEEFF"/>
                </a:solidFill>
                <a:latin typeface="Calibri" pitchFamily="34" charset="0"/>
                <a:ea typeface="Calibri" pitchFamily="34" charset="-122"/>
                <a:cs typeface="Calibri" pitchFamily="34" charset="-120"/>
              </a:rPr>
              <a:t>3</a:t>
            </a:r>
            <a:endParaRPr lang="en-US" sz="2550" dirty="0"/>
          </a:p>
        </p:txBody>
      </p:sp>
      <p:sp>
        <p:nvSpPr>
          <p:cNvPr id="11" name="Text 9"/>
          <p:cNvSpPr/>
          <p:nvPr/>
        </p:nvSpPr>
        <p:spPr>
          <a:xfrm>
            <a:off x="6000750" y="1611630"/>
            <a:ext cx="253746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FFFFFF"/>
                </a:solidFill>
                <a:latin typeface="Calibri" pitchFamily="34" charset="0"/>
                <a:ea typeface="Calibri" pitchFamily="34" charset="-122"/>
                <a:cs typeface="Calibri" pitchFamily="34" charset="-120"/>
              </a:rPr>
              <a:t>Core Model Families</a:t>
            </a:r>
            <a:endParaRPr lang="en-US" sz="975" dirty="0"/>
          </a:p>
        </p:txBody>
      </p:sp>
      <p:sp>
        <p:nvSpPr>
          <p:cNvPr id="12" name="Text 10"/>
          <p:cNvSpPr/>
          <p:nvPr/>
        </p:nvSpPr>
        <p:spPr>
          <a:xfrm>
            <a:off x="6000750" y="1851660"/>
            <a:ext cx="253746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88" dirty="0">
                <a:solidFill>
                  <a:srgbClr val="AFC4E0"/>
                </a:solidFill>
                <a:latin typeface="Calibri" pitchFamily="34" charset="0"/>
                <a:ea typeface="Calibri" pitchFamily="34" charset="-122"/>
                <a:cs typeface="Calibri" pitchFamily="34" charset="-120"/>
              </a:rPr>
              <a:t>GANs · VAEs · Transformers</a:t>
            </a:r>
            <a:endParaRPr lang="en-US" sz="788" dirty="0"/>
          </a:p>
        </p:txBody>
      </p:sp>
      <p:sp>
        <p:nvSpPr>
          <p:cNvPr id="13" name="Shape 11"/>
          <p:cNvSpPr/>
          <p:nvPr/>
        </p:nvSpPr>
        <p:spPr>
          <a:xfrm>
            <a:off x="5829300" y="2276856"/>
            <a:ext cx="2880360" cy="1138428"/>
          </a:xfrm>
          <a:prstGeom prst="roundRect">
            <a:avLst>
              <a:gd name="adj" fmla="val 4819"/>
            </a:avLst>
          </a:prstGeom>
          <a:solidFill>
            <a:srgbClr val="0A1F44"/>
          </a:solidFill>
          <a:ln/>
        </p:spPr>
      </p:sp>
      <p:sp>
        <p:nvSpPr>
          <p:cNvPr id="14" name="Text 12"/>
          <p:cNvSpPr/>
          <p:nvPr/>
        </p:nvSpPr>
        <p:spPr>
          <a:xfrm>
            <a:off x="6000750" y="2359152"/>
            <a:ext cx="25374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550" b="1" dirty="0">
                <a:solidFill>
                  <a:srgbClr val="DDEEFF"/>
                </a:solidFill>
                <a:latin typeface="Calibri" pitchFamily="34" charset="0"/>
                <a:ea typeface="Calibri" pitchFamily="34" charset="-122"/>
                <a:cs typeface="Calibri" pitchFamily="34" charset="-120"/>
              </a:rPr>
              <a:t>7+</a:t>
            </a:r>
            <a:endParaRPr lang="en-US" sz="2550" dirty="0"/>
          </a:p>
        </p:txBody>
      </p:sp>
      <p:sp>
        <p:nvSpPr>
          <p:cNvPr id="15" name="Text 13"/>
          <p:cNvSpPr/>
          <p:nvPr/>
        </p:nvSpPr>
        <p:spPr>
          <a:xfrm>
            <a:off x="6000750" y="2859786"/>
            <a:ext cx="253746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FFFFFF"/>
                </a:solidFill>
                <a:latin typeface="Calibri" pitchFamily="34" charset="0"/>
                <a:ea typeface="Calibri" pitchFamily="34" charset="-122"/>
                <a:cs typeface="Calibri" pitchFamily="34" charset="-120"/>
              </a:rPr>
              <a:t>Specialised GenAI Tools</a:t>
            </a:r>
            <a:endParaRPr lang="en-US" sz="975" dirty="0"/>
          </a:p>
        </p:txBody>
      </p:sp>
      <p:sp>
        <p:nvSpPr>
          <p:cNvPr id="16" name="Text 14"/>
          <p:cNvSpPr/>
          <p:nvPr/>
        </p:nvSpPr>
        <p:spPr>
          <a:xfrm>
            <a:off x="6000750" y="3099816"/>
            <a:ext cx="253746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88" dirty="0">
                <a:solidFill>
                  <a:srgbClr val="AFC4E0"/>
                </a:solidFill>
                <a:latin typeface="Calibri" pitchFamily="34" charset="0"/>
                <a:ea typeface="Calibri" pitchFamily="34" charset="-122"/>
                <a:cs typeface="Calibri" pitchFamily="34" charset="-120"/>
              </a:rPr>
              <a:t>Used across the data pipeline</a:t>
            </a:r>
            <a:endParaRPr lang="en-US" sz="788" dirty="0"/>
          </a:p>
        </p:txBody>
      </p:sp>
      <p:sp>
        <p:nvSpPr>
          <p:cNvPr id="17" name="Shape 15"/>
          <p:cNvSpPr/>
          <p:nvPr/>
        </p:nvSpPr>
        <p:spPr>
          <a:xfrm>
            <a:off x="5829300" y="3525012"/>
            <a:ext cx="2880360" cy="1138428"/>
          </a:xfrm>
          <a:prstGeom prst="roundRect">
            <a:avLst>
              <a:gd name="adj" fmla="val 4819"/>
            </a:avLst>
          </a:prstGeom>
          <a:solidFill>
            <a:srgbClr val="0A1F44"/>
          </a:solidFill>
          <a:ln/>
        </p:spPr>
      </p:sp>
      <p:sp>
        <p:nvSpPr>
          <p:cNvPr id="18" name="Text 16"/>
          <p:cNvSpPr/>
          <p:nvPr/>
        </p:nvSpPr>
        <p:spPr>
          <a:xfrm>
            <a:off x="6000750" y="3607308"/>
            <a:ext cx="25374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550" b="1" dirty="0">
                <a:solidFill>
                  <a:srgbClr val="DDEEFF"/>
                </a:solidFill>
                <a:latin typeface="Calibri" pitchFamily="34" charset="0"/>
                <a:ea typeface="Calibri" pitchFamily="34" charset="-122"/>
                <a:cs typeface="Calibri" pitchFamily="34" charset="-120"/>
              </a:rPr>
              <a:t>100%</a:t>
            </a:r>
            <a:endParaRPr lang="en-US" sz="2550" dirty="0"/>
          </a:p>
        </p:txBody>
      </p:sp>
      <p:sp>
        <p:nvSpPr>
          <p:cNvPr id="19" name="Text 17"/>
          <p:cNvSpPr/>
          <p:nvPr/>
        </p:nvSpPr>
        <p:spPr>
          <a:xfrm>
            <a:off x="6000750" y="4107942"/>
            <a:ext cx="253746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FFFFFF"/>
                </a:solidFill>
                <a:latin typeface="Calibri" pitchFamily="34" charset="0"/>
                <a:ea typeface="Calibri" pitchFamily="34" charset="-122"/>
                <a:cs typeface="Calibri" pitchFamily="34" charset="-120"/>
              </a:rPr>
              <a:t>Privacy-Safe Testing</a:t>
            </a:r>
            <a:endParaRPr lang="en-US" sz="975" dirty="0"/>
          </a:p>
        </p:txBody>
      </p:sp>
      <p:sp>
        <p:nvSpPr>
          <p:cNvPr id="20" name="Text 18"/>
          <p:cNvSpPr/>
          <p:nvPr/>
        </p:nvSpPr>
        <p:spPr>
          <a:xfrm>
            <a:off x="6000750" y="4347972"/>
            <a:ext cx="253746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88" dirty="0">
                <a:solidFill>
                  <a:srgbClr val="AFC4E0"/>
                </a:solidFill>
                <a:latin typeface="Calibri" pitchFamily="34" charset="0"/>
                <a:ea typeface="Calibri" pitchFamily="34" charset="-122"/>
                <a:cs typeface="Calibri" pitchFamily="34" charset="-120"/>
              </a:rPr>
              <a:t>Via synthetic data generation</a:t>
            </a:r>
            <a:endParaRPr lang="en-US" sz="788" dirty="0"/>
          </a:p>
        </p:txBody>
      </p:sp>
      <p:sp>
        <p:nvSpPr>
          <p:cNvPr id="21" name="Text 19"/>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Engineering  ·  Day 12</a:t>
            </a:r>
            <a:endParaRPr lang="en-US" sz="675" dirty="0"/>
          </a:p>
        </p:txBody>
      </p:sp>
      <p:sp>
        <p:nvSpPr>
          <p:cNvPr id="22" name="Text 20"/>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3</a:t>
            </a:r>
            <a:endParaRPr lang="en-US" sz="675" dirty="0"/>
          </a:p>
        </p:txBody>
      </p:sp>
    </p:spTree>
    <p:extLst>
      <p:ext uri="{BB962C8B-B14F-4D97-AF65-F5344CB8AC3E}">
        <p14:creationId xmlns:p14="http://schemas.microsoft.com/office/powerpoint/2010/main" val="25308949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CORE ARCHITECTURES</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The Engines Behind GenAI</a:t>
            </a:r>
            <a:endParaRPr lang="en-US" sz="2100" dirty="0"/>
          </a:p>
        </p:txBody>
      </p:sp>
      <p:sp>
        <p:nvSpPr>
          <p:cNvPr id="5" name="Shape 3"/>
          <p:cNvSpPr/>
          <p:nvPr/>
        </p:nvSpPr>
        <p:spPr>
          <a:xfrm>
            <a:off x="411480" y="1062990"/>
            <a:ext cx="2743200" cy="3634740"/>
          </a:xfrm>
          <a:prstGeom prst="roundRect">
            <a:avLst>
              <a:gd name="adj" fmla="val 2000"/>
            </a:avLst>
          </a:prstGeom>
          <a:solidFill>
            <a:srgbClr val="FFFFFF"/>
          </a:solidFill>
          <a:ln/>
          <a:effectLst>
            <a:outerShdw blurRad="63500" dist="25400" dir="5400000" algn="bl" rotWithShape="0">
              <a:srgbClr val="000000">
                <a:alpha val="10000"/>
              </a:srgbClr>
            </a:outerShdw>
          </a:effectLst>
        </p:spPr>
      </p:sp>
      <p:sp>
        <p:nvSpPr>
          <p:cNvPr id="6" name="Shape 4"/>
          <p:cNvSpPr/>
          <p:nvPr/>
        </p:nvSpPr>
        <p:spPr>
          <a:xfrm>
            <a:off x="582930" y="1234440"/>
            <a:ext cx="2400300" cy="651510"/>
          </a:xfrm>
          <a:prstGeom prst="roundRect">
            <a:avLst>
              <a:gd name="adj" fmla="val 6316"/>
            </a:avLst>
          </a:prstGeom>
          <a:solidFill>
            <a:srgbClr val="F0E8FF"/>
          </a:solidFill>
          <a:ln/>
        </p:spPr>
      </p:sp>
      <p:sp>
        <p:nvSpPr>
          <p:cNvPr id="7" name="Text 5"/>
          <p:cNvSpPr/>
          <p:nvPr/>
        </p:nvSpPr>
        <p:spPr>
          <a:xfrm>
            <a:off x="582930" y="1255014"/>
            <a:ext cx="24003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800" b="1" dirty="0">
                <a:solidFill>
                  <a:srgbClr val="5B2D8E"/>
                </a:solidFill>
                <a:latin typeface="Calibri" pitchFamily="34" charset="0"/>
                <a:ea typeface="Calibri" pitchFamily="34" charset="-122"/>
                <a:cs typeface="Calibri" pitchFamily="34" charset="-120"/>
              </a:rPr>
              <a:t>GANs</a:t>
            </a:r>
            <a:endParaRPr lang="en-US" sz="1800" dirty="0"/>
          </a:p>
        </p:txBody>
      </p:sp>
      <p:sp>
        <p:nvSpPr>
          <p:cNvPr id="8" name="Text 6"/>
          <p:cNvSpPr/>
          <p:nvPr/>
        </p:nvSpPr>
        <p:spPr>
          <a:xfrm>
            <a:off x="582930" y="1577340"/>
            <a:ext cx="24003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b="1" dirty="0">
                <a:solidFill>
                  <a:srgbClr val="5B2D8E"/>
                </a:solidFill>
                <a:latin typeface="Calibri" pitchFamily="34" charset="0"/>
                <a:ea typeface="Calibri" pitchFamily="34" charset="-122"/>
                <a:cs typeface="Calibri" pitchFamily="34" charset="-120"/>
              </a:rPr>
              <a:t>Generative Adversarial Networks</a:t>
            </a:r>
            <a:endParaRPr lang="en-US" sz="863" dirty="0"/>
          </a:p>
        </p:txBody>
      </p:sp>
      <p:sp>
        <p:nvSpPr>
          <p:cNvPr id="9" name="Text 7"/>
          <p:cNvSpPr/>
          <p:nvPr/>
        </p:nvSpPr>
        <p:spPr>
          <a:xfrm>
            <a:off x="582930" y="2023110"/>
            <a:ext cx="2400300" cy="17145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Two networks compete: a Generator creates fake data, a Discriminator judges it real vs fake. Over many rounds, the generator gets so good the discriminator can't tell the difference.</a:t>
            </a:r>
            <a:endParaRPr lang="en-US" sz="938" dirty="0"/>
          </a:p>
        </p:txBody>
      </p:sp>
      <p:sp>
        <p:nvSpPr>
          <p:cNvPr id="10" name="Shape 8"/>
          <p:cNvSpPr/>
          <p:nvPr/>
        </p:nvSpPr>
        <p:spPr>
          <a:xfrm>
            <a:off x="582930" y="3806190"/>
            <a:ext cx="2400300" cy="6858"/>
          </a:xfrm>
          <a:prstGeom prst="rect">
            <a:avLst/>
          </a:prstGeom>
          <a:solidFill>
            <a:srgbClr val="E0E0E0"/>
          </a:solidFill>
          <a:ln/>
        </p:spPr>
      </p:sp>
      <p:sp>
        <p:nvSpPr>
          <p:cNvPr id="11" name="Text 9"/>
          <p:cNvSpPr/>
          <p:nvPr/>
        </p:nvSpPr>
        <p:spPr>
          <a:xfrm>
            <a:off x="582930" y="3909060"/>
            <a:ext cx="2400300" cy="75438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25" b="1" dirty="0">
                <a:solidFill>
                  <a:srgbClr val="5B2D8E"/>
                </a:solidFill>
                <a:latin typeface="Calibri" pitchFamily="34" charset="0"/>
                <a:ea typeface="Calibri" pitchFamily="34" charset="-122"/>
                <a:cs typeface="Calibri" pitchFamily="34" charset="-120"/>
              </a:rPr>
              <a:t>🔍 Analogy:  </a:t>
            </a:r>
            <a:r>
              <a:rPr lang="en-US" sz="825" i="1" dirty="0">
                <a:solidFill>
                  <a:srgbClr val="5A5A6E"/>
                </a:solidFill>
                <a:latin typeface="Calibri" pitchFamily="34" charset="0"/>
                <a:ea typeface="Calibri" pitchFamily="34" charset="-122"/>
                <a:cs typeface="Calibri" pitchFamily="34" charset="-120"/>
              </a:rPr>
              <a:t>Think: a forger vs an art detective - both improve until the forgery is flawless.</a:t>
            </a:r>
            <a:endParaRPr lang="en-US" sz="825" dirty="0"/>
          </a:p>
        </p:txBody>
      </p:sp>
      <p:sp>
        <p:nvSpPr>
          <p:cNvPr id="12" name="Shape 10"/>
          <p:cNvSpPr/>
          <p:nvPr/>
        </p:nvSpPr>
        <p:spPr>
          <a:xfrm>
            <a:off x="3339846" y="1062990"/>
            <a:ext cx="2743200" cy="3634740"/>
          </a:xfrm>
          <a:prstGeom prst="roundRect">
            <a:avLst>
              <a:gd name="adj" fmla="val 2000"/>
            </a:avLst>
          </a:prstGeom>
          <a:solidFill>
            <a:srgbClr val="FFFFFF"/>
          </a:solidFill>
          <a:ln/>
          <a:effectLst>
            <a:outerShdw blurRad="63500" dist="25400" dir="5400000" algn="bl" rotWithShape="0">
              <a:srgbClr val="000000">
                <a:alpha val="10000"/>
              </a:srgbClr>
            </a:outerShdw>
          </a:effectLst>
        </p:spPr>
      </p:sp>
      <p:sp>
        <p:nvSpPr>
          <p:cNvPr id="13" name="Shape 11"/>
          <p:cNvSpPr/>
          <p:nvPr/>
        </p:nvSpPr>
        <p:spPr>
          <a:xfrm>
            <a:off x="3511296" y="1234440"/>
            <a:ext cx="2400300" cy="651510"/>
          </a:xfrm>
          <a:prstGeom prst="roundRect">
            <a:avLst>
              <a:gd name="adj" fmla="val 6316"/>
            </a:avLst>
          </a:prstGeom>
          <a:solidFill>
            <a:srgbClr val="E6F4EC"/>
          </a:solidFill>
          <a:ln/>
        </p:spPr>
      </p:sp>
      <p:sp>
        <p:nvSpPr>
          <p:cNvPr id="14" name="Text 12"/>
          <p:cNvSpPr/>
          <p:nvPr/>
        </p:nvSpPr>
        <p:spPr>
          <a:xfrm>
            <a:off x="3511296" y="1255014"/>
            <a:ext cx="24003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800" b="1" dirty="0">
                <a:solidFill>
                  <a:srgbClr val="1A6B3A"/>
                </a:solidFill>
                <a:latin typeface="Calibri" pitchFamily="34" charset="0"/>
                <a:ea typeface="Calibri" pitchFamily="34" charset="-122"/>
                <a:cs typeface="Calibri" pitchFamily="34" charset="-120"/>
              </a:rPr>
              <a:t>VAEs</a:t>
            </a:r>
            <a:endParaRPr lang="en-US" sz="1800" dirty="0"/>
          </a:p>
        </p:txBody>
      </p:sp>
      <p:sp>
        <p:nvSpPr>
          <p:cNvPr id="15" name="Text 13"/>
          <p:cNvSpPr/>
          <p:nvPr/>
        </p:nvSpPr>
        <p:spPr>
          <a:xfrm>
            <a:off x="3511296" y="1577340"/>
            <a:ext cx="24003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b="1" dirty="0">
                <a:solidFill>
                  <a:srgbClr val="1A6B3A"/>
                </a:solidFill>
                <a:latin typeface="Calibri" pitchFamily="34" charset="0"/>
                <a:ea typeface="Calibri" pitchFamily="34" charset="-122"/>
                <a:cs typeface="Calibri" pitchFamily="34" charset="-120"/>
              </a:rPr>
              <a:t>Variational Autoencoders</a:t>
            </a:r>
            <a:endParaRPr lang="en-US" sz="863" dirty="0"/>
          </a:p>
        </p:txBody>
      </p:sp>
      <p:sp>
        <p:nvSpPr>
          <p:cNvPr id="16" name="Text 14"/>
          <p:cNvSpPr/>
          <p:nvPr/>
        </p:nvSpPr>
        <p:spPr>
          <a:xfrm>
            <a:off x="3511296" y="2023110"/>
            <a:ext cx="2400300" cy="17145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Compress data into a compact 'latent space' representation, then reconstruct new variations from it - useful for generating realistic but novel samples.</a:t>
            </a:r>
            <a:endParaRPr lang="en-US" sz="938" dirty="0"/>
          </a:p>
        </p:txBody>
      </p:sp>
      <p:sp>
        <p:nvSpPr>
          <p:cNvPr id="17" name="Shape 15"/>
          <p:cNvSpPr/>
          <p:nvPr/>
        </p:nvSpPr>
        <p:spPr>
          <a:xfrm>
            <a:off x="3511296" y="3806190"/>
            <a:ext cx="2400300" cy="6858"/>
          </a:xfrm>
          <a:prstGeom prst="rect">
            <a:avLst/>
          </a:prstGeom>
          <a:solidFill>
            <a:srgbClr val="E0E0E0"/>
          </a:solidFill>
          <a:ln/>
        </p:spPr>
      </p:sp>
      <p:sp>
        <p:nvSpPr>
          <p:cNvPr id="18" name="Text 16"/>
          <p:cNvSpPr/>
          <p:nvPr/>
        </p:nvSpPr>
        <p:spPr>
          <a:xfrm>
            <a:off x="3511296" y="3909060"/>
            <a:ext cx="2400300" cy="75438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25" b="1" dirty="0">
                <a:solidFill>
                  <a:srgbClr val="1A6B3A"/>
                </a:solidFill>
                <a:latin typeface="Calibri" pitchFamily="34" charset="0"/>
                <a:ea typeface="Calibri" pitchFamily="34" charset="-122"/>
                <a:cs typeface="Calibri" pitchFamily="34" charset="-120"/>
              </a:rPr>
              <a:t>🔍 Analogy:  </a:t>
            </a:r>
            <a:r>
              <a:rPr lang="en-US" sz="825" i="1" dirty="0">
                <a:solidFill>
                  <a:srgbClr val="5A5A6E"/>
                </a:solidFill>
                <a:latin typeface="Calibri" pitchFamily="34" charset="0"/>
                <a:ea typeface="Calibri" pitchFamily="34" charset="-122"/>
                <a:cs typeface="Calibri" pitchFamily="34" charset="-120"/>
              </a:rPr>
              <a:t>Think: learning the 'recipe' behind a dish so you can cook new variations of it.</a:t>
            </a:r>
            <a:endParaRPr lang="en-US" sz="825" dirty="0"/>
          </a:p>
        </p:txBody>
      </p:sp>
      <p:sp>
        <p:nvSpPr>
          <p:cNvPr id="19" name="Shape 17"/>
          <p:cNvSpPr/>
          <p:nvPr/>
        </p:nvSpPr>
        <p:spPr>
          <a:xfrm>
            <a:off x="6268212" y="1062990"/>
            <a:ext cx="2743200" cy="3634740"/>
          </a:xfrm>
          <a:prstGeom prst="roundRect">
            <a:avLst>
              <a:gd name="adj" fmla="val 2000"/>
            </a:avLst>
          </a:prstGeom>
          <a:solidFill>
            <a:srgbClr val="FFFFFF"/>
          </a:solidFill>
          <a:ln/>
          <a:effectLst>
            <a:outerShdw blurRad="63500" dist="25400" dir="5400000" algn="bl" rotWithShape="0">
              <a:srgbClr val="000000">
                <a:alpha val="10000"/>
              </a:srgbClr>
            </a:outerShdw>
          </a:effectLst>
        </p:spPr>
      </p:sp>
      <p:sp>
        <p:nvSpPr>
          <p:cNvPr id="20" name="Shape 18"/>
          <p:cNvSpPr/>
          <p:nvPr/>
        </p:nvSpPr>
        <p:spPr>
          <a:xfrm>
            <a:off x="6439662" y="1234440"/>
            <a:ext cx="2400300" cy="651510"/>
          </a:xfrm>
          <a:prstGeom prst="roundRect">
            <a:avLst>
              <a:gd name="adj" fmla="val 6316"/>
            </a:avLst>
          </a:prstGeom>
          <a:solidFill>
            <a:srgbClr val="DDEEFF"/>
          </a:solidFill>
          <a:ln/>
        </p:spPr>
      </p:sp>
      <p:sp>
        <p:nvSpPr>
          <p:cNvPr id="21" name="Text 19"/>
          <p:cNvSpPr/>
          <p:nvPr/>
        </p:nvSpPr>
        <p:spPr>
          <a:xfrm>
            <a:off x="6439662" y="1255014"/>
            <a:ext cx="24003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800" b="1" dirty="0">
                <a:solidFill>
                  <a:srgbClr val="006D8F"/>
                </a:solidFill>
                <a:latin typeface="Calibri" pitchFamily="34" charset="0"/>
                <a:ea typeface="Calibri" pitchFamily="34" charset="-122"/>
                <a:cs typeface="Calibri" pitchFamily="34" charset="-120"/>
              </a:rPr>
              <a:t>Transformers</a:t>
            </a:r>
            <a:endParaRPr lang="en-US" sz="1800" dirty="0"/>
          </a:p>
        </p:txBody>
      </p:sp>
      <p:sp>
        <p:nvSpPr>
          <p:cNvPr id="22" name="Text 20"/>
          <p:cNvSpPr/>
          <p:nvPr/>
        </p:nvSpPr>
        <p:spPr>
          <a:xfrm>
            <a:off x="6439662" y="1577340"/>
            <a:ext cx="24003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b="1" dirty="0">
                <a:solidFill>
                  <a:srgbClr val="006D8F"/>
                </a:solidFill>
                <a:latin typeface="Calibri" pitchFamily="34" charset="0"/>
                <a:ea typeface="Calibri" pitchFamily="34" charset="-122"/>
                <a:cs typeface="Calibri" pitchFamily="34" charset="-120"/>
              </a:rPr>
              <a:t>Transformer-based Architectures</a:t>
            </a:r>
            <a:endParaRPr lang="en-US" sz="863" dirty="0"/>
          </a:p>
        </p:txBody>
      </p:sp>
      <p:sp>
        <p:nvSpPr>
          <p:cNvPr id="23" name="Text 21"/>
          <p:cNvSpPr/>
          <p:nvPr/>
        </p:nvSpPr>
        <p:spPr>
          <a:xfrm>
            <a:off x="6439662" y="2023110"/>
            <a:ext cx="2400300" cy="17145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Use attention mechanisms to understand context and relationships across data (text, tables, code) - the backbone of GPT-3, GPT-4 and similar models.</a:t>
            </a:r>
            <a:endParaRPr lang="en-US" sz="938" dirty="0"/>
          </a:p>
        </p:txBody>
      </p:sp>
      <p:sp>
        <p:nvSpPr>
          <p:cNvPr id="24" name="Shape 22"/>
          <p:cNvSpPr/>
          <p:nvPr/>
        </p:nvSpPr>
        <p:spPr>
          <a:xfrm>
            <a:off x="6439662" y="3806190"/>
            <a:ext cx="2400300" cy="6858"/>
          </a:xfrm>
          <a:prstGeom prst="rect">
            <a:avLst/>
          </a:prstGeom>
          <a:solidFill>
            <a:srgbClr val="E0E0E0"/>
          </a:solidFill>
          <a:ln/>
        </p:spPr>
      </p:sp>
      <p:sp>
        <p:nvSpPr>
          <p:cNvPr id="25" name="Text 23"/>
          <p:cNvSpPr/>
          <p:nvPr/>
        </p:nvSpPr>
        <p:spPr>
          <a:xfrm>
            <a:off x="6439662" y="3909060"/>
            <a:ext cx="2400300" cy="75438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25" b="1" dirty="0">
                <a:solidFill>
                  <a:srgbClr val="006D8F"/>
                </a:solidFill>
                <a:latin typeface="Calibri" pitchFamily="34" charset="0"/>
                <a:ea typeface="Calibri" pitchFamily="34" charset="-122"/>
                <a:cs typeface="Calibri" pitchFamily="34" charset="-120"/>
              </a:rPr>
              <a:t>🔍 Analogy:  </a:t>
            </a:r>
            <a:r>
              <a:rPr lang="en-US" sz="825" i="1" dirty="0">
                <a:solidFill>
                  <a:srgbClr val="5A5A6E"/>
                </a:solidFill>
                <a:latin typeface="Calibri" pitchFamily="34" charset="0"/>
                <a:ea typeface="Calibri" pitchFamily="34" charset="-122"/>
                <a:cs typeface="Calibri" pitchFamily="34" charset="-120"/>
              </a:rPr>
              <a:t>Think: reading a whole paragraph at once to understand meaning, not word by word.</a:t>
            </a:r>
            <a:endParaRPr lang="en-US" sz="825" dirty="0"/>
          </a:p>
        </p:txBody>
      </p:sp>
      <p:sp>
        <p:nvSpPr>
          <p:cNvPr id="26" name="Text 24"/>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Engineering  ·  Day 12</a:t>
            </a:r>
            <a:endParaRPr lang="en-US" sz="675" dirty="0"/>
          </a:p>
        </p:txBody>
      </p:sp>
      <p:sp>
        <p:nvSpPr>
          <p:cNvPr id="27" name="Text 25"/>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4</a:t>
            </a:r>
            <a:endParaRPr lang="en-US" sz="675" dirty="0"/>
          </a:p>
        </p:txBody>
      </p:sp>
    </p:spTree>
    <p:extLst>
      <p:ext uri="{BB962C8B-B14F-4D97-AF65-F5344CB8AC3E}">
        <p14:creationId xmlns:p14="http://schemas.microsoft.com/office/powerpoint/2010/main" val="20896801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TOOL LANDSCAPE</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GenAI Tools for Data Engineering</a:t>
            </a:r>
            <a:endParaRPr lang="en-US" sz="2100" dirty="0"/>
          </a:p>
        </p:txBody>
      </p:sp>
      <p:graphicFrame>
        <p:nvGraphicFramePr>
          <p:cNvPr id="6" name="Table 0"/>
          <p:cNvGraphicFramePr>
            <a:graphicFrameLocks noGrp="1"/>
          </p:cNvGraphicFramePr>
          <p:nvPr/>
        </p:nvGraphicFramePr>
        <p:xfrm>
          <a:off x="411480" y="994410"/>
          <a:ext cx="5897880" cy="3621024"/>
        </p:xfrm>
        <a:graphic>
          <a:graphicData uri="http://schemas.openxmlformats.org/drawingml/2006/table">
            <a:tbl>
              <a:tblPr/>
              <a:tblGrid>
                <a:gridCol w="178308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5262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Tool</a:t>
                      </a:r>
                      <a:endParaRPr lang="en-US" sz="10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A1F44"/>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452628">
                <a:tc>
                  <a:txBody>
                    <a:bodyPr/>
                    <a:lstStyle/>
                    <a:p>
                      <a:pPr marL="0" indent="0">
                        <a:buNone/>
                      </a:pPr>
                      <a:r>
                        <a:rPr lang="en-US" sz="900" b="1" dirty="0">
                          <a:solidFill>
                            <a:srgbClr val="1A3560"/>
                          </a:solidFill>
                          <a:latin typeface="Calibri" pitchFamily="34" charset="0"/>
                          <a:ea typeface="Calibri" pitchFamily="34" charset="-122"/>
                          <a:cs typeface="Calibri" pitchFamily="34" charset="-120"/>
                        </a:rPr>
                        <a:t>Tonic.ai</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Generates synthetic datasets for development and testing</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1"/>
                  </a:ext>
                </a:extLst>
              </a:tr>
              <a:tr h="452628">
                <a:tc>
                  <a:txBody>
                    <a:bodyPr/>
                    <a:lstStyle/>
                    <a:p>
                      <a:pPr marL="0" indent="0">
                        <a:buNone/>
                      </a:pPr>
                      <a:r>
                        <a:rPr lang="en-US" sz="900" b="1" dirty="0">
                          <a:solidFill>
                            <a:srgbClr val="1A3560"/>
                          </a:solidFill>
                          <a:latin typeface="Calibri" pitchFamily="34" charset="0"/>
                          <a:ea typeface="Calibri" pitchFamily="34" charset="-122"/>
                          <a:cs typeface="Calibri" pitchFamily="34" charset="-120"/>
                        </a:rPr>
                        <a:t>DataRobot</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Automates data cleaning, missing-value handling &amp; feature engineering</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2628">
                <a:tc>
                  <a:txBody>
                    <a:bodyPr/>
                    <a:lstStyle/>
                    <a:p>
                      <a:pPr marL="0" indent="0">
                        <a:buNone/>
                      </a:pPr>
                      <a:r>
                        <a:rPr lang="en-US" sz="900" b="1" dirty="0">
                          <a:solidFill>
                            <a:srgbClr val="1A3560"/>
                          </a:solidFill>
                          <a:latin typeface="Calibri" pitchFamily="34" charset="0"/>
                          <a:ea typeface="Calibri" pitchFamily="34" charset="-122"/>
                          <a:cs typeface="Calibri" pitchFamily="34" charset="-120"/>
                        </a:rPr>
                        <a:t>Hazy</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Creates structured, anonymised synthetic data for privacy-preserving analytics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3"/>
                  </a:ext>
                </a:extLst>
              </a:tr>
              <a:tr h="452628">
                <a:tc>
                  <a:txBody>
                    <a:bodyPr/>
                    <a:lstStyle/>
                    <a:p>
                      <a:pPr marL="0" indent="0">
                        <a:buNone/>
                      </a:pPr>
                      <a:r>
                        <a:rPr lang="en-US" sz="900" b="1" dirty="0">
                          <a:solidFill>
                            <a:srgbClr val="1A3560"/>
                          </a:solidFill>
                          <a:latin typeface="Calibri" pitchFamily="34" charset="0"/>
                          <a:ea typeface="Calibri" pitchFamily="34" charset="-122"/>
                          <a:cs typeface="Calibri" pitchFamily="34" charset="-120"/>
                        </a:rPr>
                        <a:t>SyntheticGuru</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Augments datasets to improve machine learning model training</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2628">
                <a:tc>
                  <a:txBody>
                    <a:bodyPr/>
                    <a:lstStyle/>
                    <a:p>
                      <a:pPr marL="0" indent="0">
                        <a:buNone/>
                      </a:pPr>
                      <a:r>
                        <a:rPr lang="en-US" sz="900" b="1" dirty="0">
                          <a:solidFill>
                            <a:srgbClr val="1A3560"/>
                          </a:solidFill>
                          <a:latin typeface="Calibri" pitchFamily="34" charset="0"/>
                          <a:ea typeface="Calibri" pitchFamily="34" charset="-122"/>
                          <a:cs typeface="Calibri" pitchFamily="34" charset="-120"/>
                        </a:rPr>
                        <a:t>GPT-3</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Used for forecasting and scenario simulation</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5"/>
                  </a:ext>
                </a:extLst>
              </a:tr>
              <a:tr h="452628">
                <a:tc>
                  <a:txBody>
                    <a:bodyPr/>
                    <a:lstStyle/>
                    <a:p>
                      <a:pPr marL="0" indent="0">
                        <a:buNone/>
                      </a:pPr>
                      <a:r>
                        <a:rPr lang="en-US" sz="900" b="1" dirty="0">
                          <a:solidFill>
                            <a:srgbClr val="1A3560"/>
                          </a:solidFill>
                          <a:latin typeface="Calibri" pitchFamily="34" charset="0"/>
                          <a:ea typeface="Calibri" pitchFamily="34" charset="-122"/>
                          <a:cs typeface="Calibri" pitchFamily="34" charset="-120"/>
                        </a:rPr>
                        <a:t>Databricks AutoML</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Automates raw data transformation for analysis and modelling</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2628">
                <a:tc>
                  <a:txBody>
                    <a:bodyPr/>
                    <a:lstStyle/>
                    <a:p>
                      <a:pPr marL="0" indent="0">
                        <a:buNone/>
                      </a:pPr>
                      <a:r>
                        <a:rPr lang="en-US" sz="900" b="1" dirty="0">
                          <a:solidFill>
                            <a:srgbClr val="1A3560"/>
                          </a:solidFill>
                          <a:latin typeface="Calibri" pitchFamily="34" charset="0"/>
                          <a:ea typeface="Calibri" pitchFamily="34" charset="-122"/>
                          <a:cs typeface="Calibri" pitchFamily="34" charset="-120"/>
                        </a:rPr>
                        <a:t>Featuretools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Facilitates deep feature synthesis to build advanced ML features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7"/>
                  </a:ext>
                </a:extLst>
              </a:tr>
            </a:tbl>
          </a:graphicData>
        </a:graphic>
      </p:graphicFrame>
      <p:sp>
        <p:nvSpPr>
          <p:cNvPr id="5" name="Shape 3"/>
          <p:cNvSpPr/>
          <p:nvPr/>
        </p:nvSpPr>
        <p:spPr>
          <a:xfrm>
            <a:off x="6515100" y="994410"/>
            <a:ext cx="2194560" cy="1783080"/>
          </a:xfrm>
          <a:prstGeom prst="roundRect">
            <a:avLst>
              <a:gd name="adj" fmla="val 3077"/>
            </a:avLst>
          </a:prstGeom>
          <a:solidFill>
            <a:srgbClr val="DDEEFF"/>
          </a:solidFill>
          <a:ln/>
          <a:effectLst>
            <a:outerShdw blurRad="50800" dist="25400" dir="5400000" algn="bl" rotWithShape="0">
              <a:srgbClr val="000000">
                <a:alpha val="8000"/>
              </a:srgbClr>
            </a:outerShdw>
          </a:effectLst>
        </p:spPr>
      </p:sp>
      <p:sp>
        <p:nvSpPr>
          <p:cNvPr id="7" name="Text 4"/>
          <p:cNvSpPr/>
          <p:nvPr/>
        </p:nvSpPr>
        <p:spPr>
          <a:xfrm>
            <a:off x="6652260" y="1097280"/>
            <a:ext cx="1920240" cy="15773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006D8F"/>
                </a:solidFill>
                <a:latin typeface="Calibri" pitchFamily="34" charset="0"/>
                <a:ea typeface="Calibri" pitchFamily="34" charset="-122"/>
                <a:cs typeface="Calibri" pitchFamily="34" charset="-120"/>
              </a:rPr>
              <a:t>💡  DID YOU KNOW?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Tools like Tonic.ai and Hazy let companies test new applications using realistic data - without ever exposing a single real customer record.</a:t>
            </a:r>
            <a:endParaRPr lang="en-US" sz="1050" dirty="0"/>
          </a:p>
        </p:txBody>
      </p:sp>
      <p:sp>
        <p:nvSpPr>
          <p:cNvPr id="8" name="Shape 5"/>
          <p:cNvSpPr/>
          <p:nvPr/>
        </p:nvSpPr>
        <p:spPr>
          <a:xfrm>
            <a:off x="6515100" y="2914650"/>
            <a:ext cx="2194560" cy="1714500"/>
          </a:xfrm>
          <a:prstGeom prst="roundRect">
            <a:avLst>
              <a:gd name="adj" fmla="val 3200"/>
            </a:avLst>
          </a:prstGeom>
          <a:solidFill>
            <a:srgbClr val="E6F4EC"/>
          </a:solidFill>
          <a:ln/>
          <a:effectLst>
            <a:outerShdw blurRad="50800" dist="25400" dir="5400000" algn="bl" rotWithShape="0">
              <a:srgbClr val="000000">
                <a:alpha val="8000"/>
              </a:srgbClr>
            </a:outerShdw>
          </a:effectLst>
        </p:spPr>
      </p:sp>
      <p:sp>
        <p:nvSpPr>
          <p:cNvPr id="9" name="Text 6"/>
          <p:cNvSpPr/>
          <p:nvPr/>
        </p:nvSpPr>
        <p:spPr>
          <a:xfrm>
            <a:off x="6652260" y="3017520"/>
            <a:ext cx="1920240" cy="150876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WHY THIS MATTERS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These tools collectively minimise manual effort, reduce human errors, and let data engineers focus on strategic architecture &amp; insights.</a:t>
            </a:r>
            <a:endParaRPr lang="en-US" sz="1050" dirty="0"/>
          </a:p>
        </p:txBody>
      </p:sp>
      <p:sp>
        <p:nvSpPr>
          <p:cNvPr id="10" name="Text 7"/>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Engineering  ·  Day 12</a:t>
            </a:r>
            <a:endParaRPr lang="en-US" sz="675" dirty="0"/>
          </a:p>
        </p:txBody>
      </p:sp>
      <p:sp>
        <p:nvSpPr>
          <p:cNvPr id="11" name="Text 8"/>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5</a:t>
            </a:r>
            <a:endParaRPr lang="en-US" sz="675" dirty="0"/>
          </a:p>
        </p:txBody>
      </p:sp>
    </p:spTree>
    <p:extLst>
      <p:ext uri="{BB962C8B-B14F-4D97-AF65-F5344CB8AC3E}">
        <p14:creationId xmlns:p14="http://schemas.microsoft.com/office/powerpoint/2010/main" val="19901114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FIVE CORE APPLICATIONS</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How Data Engineers Leverage GenAI</a:t>
            </a:r>
            <a:endParaRPr lang="en-US" sz="2100" dirty="0"/>
          </a:p>
        </p:txBody>
      </p:sp>
      <p:sp>
        <p:nvSpPr>
          <p:cNvPr id="5" name="Shape 3"/>
          <p:cNvSpPr/>
          <p:nvPr/>
        </p:nvSpPr>
        <p:spPr>
          <a:xfrm>
            <a:off x="411480" y="1028700"/>
            <a:ext cx="8298180" cy="713232"/>
          </a:xfrm>
          <a:prstGeom prst="roundRect">
            <a:avLst>
              <a:gd name="adj" fmla="val 5769"/>
            </a:avLst>
          </a:prstGeom>
          <a:solidFill>
            <a:srgbClr val="FFFFFF"/>
          </a:solidFill>
          <a:ln/>
          <a:effectLst>
            <a:outerShdw blurRad="50800" dist="12700" dir="5400000" algn="bl" rotWithShape="0">
              <a:srgbClr val="000000">
                <a:alpha val="8000"/>
              </a:srgbClr>
            </a:outerShdw>
          </a:effectLst>
        </p:spPr>
      </p:sp>
      <p:sp>
        <p:nvSpPr>
          <p:cNvPr id="6" name="Shape 4"/>
          <p:cNvSpPr/>
          <p:nvPr/>
        </p:nvSpPr>
        <p:spPr>
          <a:xfrm>
            <a:off x="534924" y="1152144"/>
            <a:ext cx="466344" cy="466344"/>
          </a:xfrm>
          <a:prstGeom prst="ellipse">
            <a:avLst/>
          </a:prstGeom>
          <a:solidFill>
            <a:srgbClr val="E6F4EC"/>
          </a:solidFill>
          <a:ln/>
        </p:spPr>
      </p:sp>
      <p:sp>
        <p:nvSpPr>
          <p:cNvPr id="7" name="Text 5"/>
          <p:cNvSpPr/>
          <p:nvPr/>
        </p:nvSpPr>
        <p:spPr>
          <a:xfrm>
            <a:off x="534924" y="1152144"/>
            <a:ext cx="466344" cy="46634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650" b="1" dirty="0">
                <a:solidFill>
                  <a:srgbClr val="1A6B3A"/>
                </a:solidFill>
                <a:latin typeface="Calibri" pitchFamily="34" charset="0"/>
                <a:ea typeface="Calibri" pitchFamily="34" charset="-122"/>
                <a:cs typeface="Calibri" pitchFamily="34" charset="-120"/>
              </a:rPr>
              <a:t>1</a:t>
            </a:r>
            <a:endParaRPr lang="en-US" sz="1650" dirty="0"/>
          </a:p>
        </p:txBody>
      </p:sp>
      <p:sp>
        <p:nvSpPr>
          <p:cNvPr id="8" name="Text 6"/>
          <p:cNvSpPr/>
          <p:nvPr/>
        </p:nvSpPr>
        <p:spPr>
          <a:xfrm>
            <a:off x="1131570" y="1083564"/>
            <a:ext cx="2743200" cy="60350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0A1F44"/>
                </a:solidFill>
                <a:latin typeface="Calibri" pitchFamily="34" charset="0"/>
                <a:ea typeface="Calibri" pitchFamily="34" charset="-122"/>
                <a:cs typeface="Calibri" pitchFamily="34" charset="-120"/>
              </a:rPr>
              <a:t>Data Synthesis</a:t>
            </a:r>
            <a:endParaRPr lang="en-US" sz="1050" dirty="0"/>
          </a:p>
        </p:txBody>
      </p:sp>
      <p:sp>
        <p:nvSpPr>
          <p:cNvPr id="9" name="Text 7"/>
          <p:cNvSpPr/>
          <p:nvPr/>
        </p:nvSpPr>
        <p:spPr>
          <a:xfrm>
            <a:off x="3977640" y="1083564"/>
            <a:ext cx="4594860" cy="60350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dirty="0">
                <a:solidFill>
                  <a:srgbClr val="1A1A2E"/>
                </a:solidFill>
                <a:latin typeface="Calibri" pitchFamily="34" charset="0"/>
                <a:ea typeface="Calibri" pitchFamily="34" charset="-122"/>
                <a:cs typeface="Calibri" pitchFamily="34" charset="-120"/>
              </a:rPr>
              <a:t>When real data access is limited, GenAI-generated synthetic data fills the gap for testing or training.</a:t>
            </a:r>
            <a:endParaRPr lang="en-US" sz="900" dirty="0"/>
          </a:p>
        </p:txBody>
      </p:sp>
      <p:sp>
        <p:nvSpPr>
          <p:cNvPr id="10" name="Shape 8"/>
          <p:cNvSpPr/>
          <p:nvPr/>
        </p:nvSpPr>
        <p:spPr>
          <a:xfrm>
            <a:off x="411480" y="1831086"/>
            <a:ext cx="8298180" cy="713232"/>
          </a:xfrm>
          <a:prstGeom prst="roundRect">
            <a:avLst>
              <a:gd name="adj" fmla="val 5769"/>
            </a:avLst>
          </a:prstGeom>
          <a:solidFill>
            <a:srgbClr val="FFFFFF"/>
          </a:solidFill>
          <a:ln/>
          <a:effectLst>
            <a:outerShdw blurRad="50800" dist="12700" dir="5400000" algn="bl" rotWithShape="0">
              <a:srgbClr val="000000">
                <a:alpha val="8000"/>
              </a:srgbClr>
            </a:outerShdw>
          </a:effectLst>
        </p:spPr>
      </p:sp>
      <p:sp>
        <p:nvSpPr>
          <p:cNvPr id="11" name="Shape 9"/>
          <p:cNvSpPr/>
          <p:nvPr/>
        </p:nvSpPr>
        <p:spPr>
          <a:xfrm>
            <a:off x="534924" y="1954530"/>
            <a:ext cx="466344" cy="466344"/>
          </a:xfrm>
          <a:prstGeom prst="ellipse">
            <a:avLst/>
          </a:prstGeom>
          <a:solidFill>
            <a:srgbClr val="DDEEFF"/>
          </a:solidFill>
          <a:ln/>
        </p:spPr>
      </p:sp>
      <p:sp>
        <p:nvSpPr>
          <p:cNvPr id="12" name="Text 10"/>
          <p:cNvSpPr/>
          <p:nvPr/>
        </p:nvSpPr>
        <p:spPr>
          <a:xfrm>
            <a:off x="534924" y="1954530"/>
            <a:ext cx="466344" cy="46634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650" b="1" dirty="0">
                <a:solidFill>
                  <a:srgbClr val="006D8F"/>
                </a:solidFill>
                <a:latin typeface="Calibri" pitchFamily="34" charset="0"/>
                <a:ea typeface="Calibri" pitchFamily="34" charset="-122"/>
                <a:cs typeface="Calibri" pitchFamily="34" charset="-120"/>
              </a:rPr>
              <a:t>2</a:t>
            </a:r>
            <a:endParaRPr lang="en-US" sz="1650" dirty="0"/>
          </a:p>
        </p:txBody>
      </p:sp>
      <p:sp>
        <p:nvSpPr>
          <p:cNvPr id="13" name="Text 11"/>
          <p:cNvSpPr/>
          <p:nvPr/>
        </p:nvSpPr>
        <p:spPr>
          <a:xfrm>
            <a:off x="1131570" y="1885950"/>
            <a:ext cx="2743200" cy="60350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0A1F44"/>
                </a:solidFill>
                <a:latin typeface="Calibri" pitchFamily="34" charset="0"/>
                <a:ea typeface="Calibri" pitchFamily="34" charset="-122"/>
                <a:cs typeface="Calibri" pitchFamily="34" charset="-120"/>
              </a:rPr>
              <a:t>Anomaly Detection</a:t>
            </a:r>
            <a:endParaRPr lang="en-US" sz="1050" dirty="0"/>
          </a:p>
        </p:txBody>
      </p:sp>
      <p:sp>
        <p:nvSpPr>
          <p:cNvPr id="14" name="Text 12"/>
          <p:cNvSpPr/>
          <p:nvPr/>
        </p:nvSpPr>
        <p:spPr>
          <a:xfrm>
            <a:off x="3977640" y="1885950"/>
            <a:ext cx="4594860" cy="60350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dirty="0">
                <a:solidFill>
                  <a:srgbClr val="1A1A2E"/>
                </a:solidFill>
                <a:latin typeface="Calibri" pitchFamily="34" charset="0"/>
                <a:ea typeface="Calibri" pitchFamily="34" charset="-122"/>
                <a:cs typeface="Calibri" pitchFamily="34" charset="-120"/>
              </a:rPr>
              <a:t>Models trained on clean data detect inconsistencies in real-time data streams.</a:t>
            </a:r>
            <a:endParaRPr lang="en-US" sz="900" dirty="0"/>
          </a:p>
        </p:txBody>
      </p:sp>
      <p:sp>
        <p:nvSpPr>
          <p:cNvPr id="15" name="Shape 13"/>
          <p:cNvSpPr/>
          <p:nvPr/>
        </p:nvSpPr>
        <p:spPr>
          <a:xfrm>
            <a:off x="411480" y="2633472"/>
            <a:ext cx="8298180" cy="713232"/>
          </a:xfrm>
          <a:prstGeom prst="roundRect">
            <a:avLst>
              <a:gd name="adj" fmla="val 5769"/>
            </a:avLst>
          </a:prstGeom>
          <a:solidFill>
            <a:srgbClr val="FFFFFF"/>
          </a:solidFill>
          <a:ln/>
          <a:effectLst>
            <a:outerShdw blurRad="50800" dist="12700" dir="5400000" algn="bl" rotWithShape="0">
              <a:srgbClr val="000000">
                <a:alpha val="8000"/>
              </a:srgbClr>
            </a:outerShdw>
          </a:effectLst>
        </p:spPr>
      </p:sp>
      <p:sp>
        <p:nvSpPr>
          <p:cNvPr id="16" name="Shape 14"/>
          <p:cNvSpPr/>
          <p:nvPr/>
        </p:nvSpPr>
        <p:spPr>
          <a:xfrm>
            <a:off x="534924" y="2756916"/>
            <a:ext cx="466344" cy="466344"/>
          </a:xfrm>
          <a:prstGeom prst="ellipse">
            <a:avLst/>
          </a:prstGeom>
          <a:solidFill>
            <a:srgbClr val="F0E8FF"/>
          </a:solidFill>
          <a:ln/>
        </p:spPr>
      </p:sp>
      <p:sp>
        <p:nvSpPr>
          <p:cNvPr id="17" name="Text 15"/>
          <p:cNvSpPr/>
          <p:nvPr/>
        </p:nvSpPr>
        <p:spPr>
          <a:xfrm>
            <a:off x="534924" y="2756916"/>
            <a:ext cx="466344" cy="46634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650" b="1" dirty="0">
                <a:solidFill>
                  <a:srgbClr val="5B2D8E"/>
                </a:solidFill>
                <a:latin typeface="Calibri" pitchFamily="34" charset="0"/>
                <a:ea typeface="Calibri" pitchFamily="34" charset="-122"/>
                <a:cs typeface="Calibri" pitchFamily="34" charset="-120"/>
              </a:rPr>
              <a:t>3</a:t>
            </a:r>
            <a:endParaRPr lang="en-US" sz="1650" dirty="0"/>
          </a:p>
        </p:txBody>
      </p:sp>
      <p:sp>
        <p:nvSpPr>
          <p:cNvPr id="18" name="Text 16"/>
          <p:cNvSpPr/>
          <p:nvPr/>
        </p:nvSpPr>
        <p:spPr>
          <a:xfrm>
            <a:off x="1131570" y="2688336"/>
            <a:ext cx="2743200" cy="60350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0A1F44"/>
                </a:solidFill>
                <a:latin typeface="Calibri" pitchFamily="34" charset="0"/>
                <a:ea typeface="Calibri" pitchFamily="34" charset="-122"/>
                <a:cs typeface="Calibri" pitchFamily="34" charset="-120"/>
              </a:rPr>
              <a:t>Pipeline Automation</a:t>
            </a:r>
            <a:endParaRPr lang="en-US" sz="1050" dirty="0"/>
          </a:p>
        </p:txBody>
      </p:sp>
      <p:sp>
        <p:nvSpPr>
          <p:cNvPr id="19" name="Text 17"/>
          <p:cNvSpPr/>
          <p:nvPr/>
        </p:nvSpPr>
        <p:spPr>
          <a:xfrm>
            <a:off x="3977640" y="2688336"/>
            <a:ext cx="4594860" cy="60350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dirty="0">
                <a:solidFill>
                  <a:srgbClr val="1A1A2E"/>
                </a:solidFill>
                <a:latin typeface="Calibri" pitchFamily="34" charset="0"/>
                <a:ea typeface="Calibri" pitchFamily="34" charset="-122"/>
                <a:cs typeface="Calibri" pitchFamily="34" charset="-120"/>
              </a:rPr>
              <a:t>GenAI generates ETL/ELT pipeline scripts from metadata or natural-language input.</a:t>
            </a:r>
            <a:endParaRPr lang="en-US" sz="900" dirty="0"/>
          </a:p>
        </p:txBody>
      </p:sp>
      <p:sp>
        <p:nvSpPr>
          <p:cNvPr id="20" name="Shape 18"/>
          <p:cNvSpPr/>
          <p:nvPr/>
        </p:nvSpPr>
        <p:spPr>
          <a:xfrm>
            <a:off x="411480" y="3435858"/>
            <a:ext cx="8298180" cy="713232"/>
          </a:xfrm>
          <a:prstGeom prst="roundRect">
            <a:avLst>
              <a:gd name="adj" fmla="val 5769"/>
            </a:avLst>
          </a:prstGeom>
          <a:solidFill>
            <a:srgbClr val="FFFFFF"/>
          </a:solidFill>
          <a:ln/>
          <a:effectLst>
            <a:outerShdw blurRad="50800" dist="12700" dir="5400000" algn="bl" rotWithShape="0">
              <a:srgbClr val="000000">
                <a:alpha val="8000"/>
              </a:srgbClr>
            </a:outerShdw>
          </a:effectLst>
        </p:spPr>
      </p:sp>
      <p:sp>
        <p:nvSpPr>
          <p:cNvPr id="21" name="Shape 19"/>
          <p:cNvSpPr/>
          <p:nvPr/>
        </p:nvSpPr>
        <p:spPr>
          <a:xfrm>
            <a:off x="534924" y="3559302"/>
            <a:ext cx="466344" cy="466344"/>
          </a:xfrm>
          <a:prstGeom prst="ellipse">
            <a:avLst/>
          </a:prstGeom>
          <a:solidFill>
            <a:srgbClr val="E6F4EC"/>
          </a:solidFill>
          <a:ln/>
        </p:spPr>
      </p:sp>
      <p:sp>
        <p:nvSpPr>
          <p:cNvPr id="22" name="Text 20"/>
          <p:cNvSpPr/>
          <p:nvPr/>
        </p:nvSpPr>
        <p:spPr>
          <a:xfrm>
            <a:off x="534924" y="3559302"/>
            <a:ext cx="466344" cy="46634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650" b="1" dirty="0">
                <a:solidFill>
                  <a:srgbClr val="1A6B3A"/>
                </a:solidFill>
                <a:latin typeface="Calibri" pitchFamily="34" charset="0"/>
                <a:ea typeface="Calibri" pitchFamily="34" charset="-122"/>
                <a:cs typeface="Calibri" pitchFamily="34" charset="-120"/>
              </a:rPr>
              <a:t>4</a:t>
            </a:r>
            <a:endParaRPr lang="en-US" sz="1650" dirty="0"/>
          </a:p>
        </p:txBody>
      </p:sp>
      <p:sp>
        <p:nvSpPr>
          <p:cNvPr id="23" name="Text 21"/>
          <p:cNvSpPr/>
          <p:nvPr/>
        </p:nvSpPr>
        <p:spPr>
          <a:xfrm>
            <a:off x="1131570" y="3490722"/>
            <a:ext cx="2743200" cy="60350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0A1F44"/>
                </a:solidFill>
                <a:latin typeface="Calibri" pitchFamily="34" charset="0"/>
                <a:ea typeface="Calibri" pitchFamily="34" charset="-122"/>
                <a:cs typeface="Calibri" pitchFamily="34" charset="-120"/>
              </a:rPr>
              <a:t>Schema Prediction &amp; Optimisation</a:t>
            </a:r>
            <a:endParaRPr lang="en-US" sz="1050" dirty="0"/>
          </a:p>
        </p:txBody>
      </p:sp>
      <p:sp>
        <p:nvSpPr>
          <p:cNvPr id="24" name="Text 22"/>
          <p:cNvSpPr/>
          <p:nvPr/>
        </p:nvSpPr>
        <p:spPr>
          <a:xfrm>
            <a:off x="3977640" y="3490722"/>
            <a:ext cx="4594860" cy="60350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dirty="0">
                <a:solidFill>
                  <a:srgbClr val="1A1A2E"/>
                </a:solidFill>
                <a:latin typeface="Calibri" pitchFamily="34" charset="0"/>
                <a:ea typeface="Calibri" pitchFamily="34" charset="-122"/>
                <a:cs typeface="Calibri" pitchFamily="34" charset="-120"/>
              </a:rPr>
              <a:t>AI-driven schema design based on usage patterns and access logs.</a:t>
            </a:r>
            <a:endParaRPr lang="en-US" sz="900" dirty="0"/>
          </a:p>
        </p:txBody>
      </p:sp>
      <p:sp>
        <p:nvSpPr>
          <p:cNvPr id="25" name="Shape 23"/>
          <p:cNvSpPr/>
          <p:nvPr/>
        </p:nvSpPr>
        <p:spPr>
          <a:xfrm>
            <a:off x="411480" y="4238244"/>
            <a:ext cx="8298180" cy="713232"/>
          </a:xfrm>
          <a:prstGeom prst="roundRect">
            <a:avLst>
              <a:gd name="adj" fmla="val 5769"/>
            </a:avLst>
          </a:prstGeom>
          <a:solidFill>
            <a:srgbClr val="FFFFFF"/>
          </a:solidFill>
          <a:ln/>
          <a:effectLst>
            <a:outerShdw blurRad="50800" dist="12700" dir="5400000" algn="bl" rotWithShape="0">
              <a:srgbClr val="000000">
                <a:alpha val="8000"/>
              </a:srgbClr>
            </a:outerShdw>
          </a:effectLst>
        </p:spPr>
      </p:sp>
      <p:sp>
        <p:nvSpPr>
          <p:cNvPr id="26" name="Shape 24"/>
          <p:cNvSpPr/>
          <p:nvPr/>
        </p:nvSpPr>
        <p:spPr>
          <a:xfrm>
            <a:off x="534924" y="4361688"/>
            <a:ext cx="466344" cy="466344"/>
          </a:xfrm>
          <a:prstGeom prst="ellipse">
            <a:avLst/>
          </a:prstGeom>
          <a:solidFill>
            <a:srgbClr val="DDEEFF"/>
          </a:solidFill>
          <a:ln/>
        </p:spPr>
      </p:sp>
      <p:sp>
        <p:nvSpPr>
          <p:cNvPr id="27" name="Text 25"/>
          <p:cNvSpPr/>
          <p:nvPr/>
        </p:nvSpPr>
        <p:spPr>
          <a:xfrm>
            <a:off x="534924" y="4361688"/>
            <a:ext cx="466344" cy="46634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650" b="1" dirty="0">
                <a:solidFill>
                  <a:srgbClr val="006D8F"/>
                </a:solidFill>
                <a:latin typeface="Calibri" pitchFamily="34" charset="0"/>
                <a:ea typeface="Calibri" pitchFamily="34" charset="-122"/>
                <a:cs typeface="Calibri" pitchFamily="34" charset="-120"/>
              </a:rPr>
              <a:t>5</a:t>
            </a:r>
            <a:endParaRPr lang="en-US" sz="1650" dirty="0"/>
          </a:p>
        </p:txBody>
      </p:sp>
      <p:sp>
        <p:nvSpPr>
          <p:cNvPr id="28" name="Text 26"/>
          <p:cNvSpPr/>
          <p:nvPr/>
        </p:nvSpPr>
        <p:spPr>
          <a:xfrm>
            <a:off x="1131570" y="4293108"/>
            <a:ext cx="2743200" cy="60350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0A1F44"/>
                </a:solidFill>
                <a:latin typeface="Calibri" pitchFamily="34" charset="0"/>
                <a:ea typeface="Calibri" pitchFamily="34" charset="-122"/>
                <a:cs typeface="Calibri" pitchFamily="34" charset="-120"/>
              </a:rPr>
              <a:t>Secure Access via Synthetic Data</a:t>
            </a:r>
            <a:endParaRPr lang="en-US" sz="1050" dirty="0"/>
          </a:p>
        </p:txBody>
      </p:sp>
      <p:sp>
        <p:nvSpPr>
          <p:cNvPr id="29" name="Text 27"/>
          <p:cNvSpPr/>
          <p:nvPr/>
        </p:nvSpPr>
        <p:spPr>
          <a:xfrm>
            <a:off x="3977640" y="4293108"/>
            <a:ext cx="4594860" cy="60350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dirty="0">
                <a:solidFill>
                  <a:srgbClr val="1A1A2E"/>
                </a:solidFill>
                <a:latin typeface="Calibri" pitchFamily="34" charset="0"/>
                <a:ea typeface="Calibri" pitchFamily="34" charset="-122"/>
                <a:cs typeface="Calibri" pitchFamily="34" charset="-120"/>
              </a:rPr>
              <a:t>Generates data that mimics real datasets while removing sensitive information - enabling privacy compliance.</a:t>
            </a:r>
            <a:endParaRPr lang="en-US" sz="900" dirty="0"/>
          </a:p>
        </p:txBody>
      </p:sp>
      <p:sp>
        <p:nvSpPr>
          <p:cNvPr id="30" name="Text 28"/>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Engineering  ·  Day 12</a:t>
            </a:r>
            <a:endParaRPr lang="en-US" sz="675" dirty="0"/>
          </a:p>
        </p:txBody>
      </p:sp>
      <p:sp>
        <p:nvSpPr>
          <p:cNvPr id="31" name="Text 29"/>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6</a:t>
            </a:r>
            <a:endParaRPr lang="en-US" sz="675" dirty="0"/>
          </a:p>
        </p:txBody>
      </p:sp>
    </p:spTree>
    <p:extLst>
      <p:ext uri="{BB962C8B-B14F-4D97-AF65-F5344CB8AC3E}">
        <p14:creationId xmlns:p14="http://schemas.microsoft.com/office/powerpoint/2010/main" val="2649729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APPLICATION &amp; BENEFIT</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Tool Deep-Dive: Use Cases (Part 1)</a:t>
            </a:r>
            <a:endParaRPr lang="en-US" sz="2100" dirty="0"/>
          </a:p>
        </p:txBody>
      </p:sp>
      <p:sp>
        <p:nvSpPr>
          <p:cNvPr id="5" name="Shape 3"/>
          <p:cNvSpPr/>
          <p:nvPr/>
        </p:nvSpPr>
        <p:spPr>
          <a:xfrm>
            <a:off x="411480" y="1028700"/>
            <a:ext cx="4114800" cy="1906524"/>
          </a:xfrm>
          <a:prstGeom prst="roundRect">
            <a:avLst>
              <a:gd name="adj" fmla="val 2518"/>
            </a:avLst>
          </a:prstGeom>
          <a:solidFill>
            <a:srgbClr val="FFFFFF"/>
          </a:solidFill>
          <a:ln/>
          <a:effectLst>
            <a:outerShdw blurRad="50800" dist="25400" dir="5400000" algn="bl" rotWithShape="0">
              <a:srgbClr val="000000">
                <a:alpha val="9000"/>
              </a:srgbClr>
            </a:outerShdw>
          </a:effectLst>
        </p:spPr>
      </p:sp>
      <p:sp>
        <p:nvSpPr>
          <p:cNvPr id="6" name="Shape 4"/>
          <p:cNvSpPr/>
          <p:nvPr/>
        </p:nvSpPr>
        <p:spPr>
          <a:xfrm>
            <a:off x="411480" y="1028700"/>
            <a:ext cx="4114800" cy="377190"/>
          </a:xfrm>
          <a:prstGeom prst="rect">
            <a:avLst/>
          </a:prstGeom>
          <a:solidFill>
            <a:srgbClr val="F0E8FF"/>
          </a:solidFill>
          <a:ln/>
        </p:spPr>
      </p:sp>
      <p:sp>
        <p:nvSpPr>
          <p:cNvPr id="7" name="Text 5"/>
          <p:cNvSpPr/>
          <p:nvPr/>
        </p:nvSpPr>
        <p:spPr>
          <a:xfrm>
            <a:off x="548640" y="1028700"/>
            <a:ext cx="38404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00" b="1" dirty="0">
                <a:solidFill>
                  <a:srgbClr val="5B2D8E"/>
                </a:solidFill>
                <a:latin typeface="Calibri" pitchFamily="34" charset="0"/>
                <a:ea typeface="Calibri" pitchFamily="34" charset="-122"/>
                <a:cs typeface="Calibri" pitchFamily="34" charset="-120"/>
              </a:rPr>
              <a:t>Tonic.ai</a:t>
            </a:r>
            <a:endParaRPr lang="en-US" sz="1200" dirty="0"/>
          </a:p>
        </p:txBody>
      </p:sp>
      <p:sp>
        <p:nvSpPr>
          <p:cNvPr id="8" name="Text 6"/>
          <p:cNvSpPr/>
          <p:nvPr/>
        </p:nvSpPr>
        <p:spPr>
          <a:xfrm>
            <a:off x="548640" y="1474470"/>
            <a:ext cx="3840480" cy="1392174"/>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5000"/>
              </a:lnSpc>
              <a:buNone/>
            </a:pPr>
            <a:r>
              <a:rPr lang="en-US" sz="900" b="1" dirty="0">
                <a:solidFill>
                  <a:srgbClr val="0A1F44"/>
                </a:solidFill>
                <a:latin typeface="Calibri" pitchFamily="34" charset="0"/>
                <a:ea typeface="Calibri" pitchFamily="34" charset="-122"/>
                <a:cs typeface="Calibri" pitchFamily="34" charset="-120"/>
              </a:rPr>
              <a:t>Purpose:  </a:t>
            </a:r>
            <a:r>
              <a:rPr lang="en-US" sz="900" dirty="0">
                <a:solidFill>
                  <a:srgbClr val="1A1A2E"/>
                </a:solidFill>
                <a:latin typeface="Calibri" pitchFamily="34" charset="0"/>
                <a:ea typeface="Calibri" pitchFamily="34" charset="-122"/>
                <a:cs typeface="Calibri" pitchFamily="34" charset="-120"/>
              </a:rPr>
              <a:t>Creates synthetic datasets for secure development
</a:t>
            </a:r>
            <a:endParaRPr lang="en-US" sz="900" dirty="0"/>
          </a:p>
          <a:p>
            <a:pPr marL="0" indent="0">
              <a:lnSpc>
                <a:spcPct val="125000"/>
              </a:lnSpc>
              <a:buNone/>
            </a:pPr>
            <a:r>
              <a:rPr lang="en-US" sz="900" b="1" dirty="0">
                <a:solidFill>
                  <a:srgbClr val="0A1F44"/>
                </a:solidFill>
                <a:latin typeface="Calibri" pitchFamily="34" charset="0"/>
                <a:ea typeface="Calibri" pitchFamily="34" charset="-122"/>
                <a:cs typeface="Calibri" pitchFamily="34" charset="-120"/>
              </a:rPr>
              <a:t>Application:  </a:t>
            </a:r>
            <a:r>
              <a:rPr lang="en-US" sz="900" dirty="0">
                <a:solidFill>
                  <a:srgbClr val="1A1A2E"/>
                </a:solidFill>
                <a:latin typeface="Calibri" pitchFamily="34" charset="0"/>
                <a:ea typeface="Calibri" pitchFamily="34" charset="-122"/>
                <a:cs typeface="Calibri" pitchFamily="34" charset="-120"/>
              </a:rPr>
              <a:t>Generates financial data preserving original distributions
</a:t>
            </a:r>
            <a:endParaRPr lang="en-US" sz="900" dirty="0"/>
          </a:p>
          <a:p>
            <a:pPr marL="0" indent="0">
              <a:lnSpc>
                <a:spcPct val="125000"/>
              </a:lnSpc>
              <a:buNone/>
            </a:pPr>
            <a:r>
              <a:rPr lang="en-US" sz="900" b="1" dirty="0">
                <a:solidFill>
                  <a:srgbClr val="0A1F44"/>
                </a:solidFill>
                <a:latin typeface="Calibri" pitchFamily="34" charset="0"/>
                <a:ea typeface="Calibri" pitchFamily="34" charset="-122"/>
                <a:cs typeface="Calibri" pitchFamily="34" charset="-120"/>
              </a:rPr>
              <a:t>Benefit:  </a:t>
            </a:r>
            <a:r>
              <a:rPr lang="en-US" sz="900" dirty="0">
                <a:solidFill>
                  <a:srgbClr val="1A1A2E"/>
                </a:solidFill>
                <a:latin typeface="Calibri" pitchFamily="34" charset="0"/>
                <a:ea typeface="Calibri" pitchFamily="34" charset="-122"/>
                <a:cs typeface="Calibri" pitchFamily="34" charset="-120"/>
              </a:rPr>
              <a:t>Enables testing without exposing real data</a:t>
            </a:r>
            <a:endParaRPr lang="en-US" sz="900" dirty="0"/>
          </a:p>
        </p:txBody>
      </p:sp>
      <p:sp>
        <p:nvSpPr>
          <p:cNvPr id="9" name="Shape 7"/>
          <p:cNvSpPr/>
          <p:nvPr/>
        </p:nvSpPr>
        <p:spPr>
          <a:xfrm>
            <a:off x="4732020" y="1028700"/>
            <a:ext cx="4114800" cy="1906524"/>
          </a:xfrm>
          <a:prstGeom prst="roundRect">
            <a:avLst>
              <a:gd name="adj" fmla="val 2518"/>
            </a:avLst>
          </a:prstGeom>
          <a:solidFill>
            <a:srgbClr val="FFFFFF"/>
          </a:solidFill>
          <a:ln/>
          <a:effectLst>
            <a:outerShdw blurRad="50800" dist="25400" dir="5400000" algn="bl" rotWithShape="0">
              <a:srgbClr val="000000">
                <a:alpha val="9000"/>
              </a:srgbClr>
            </a:outerShdw>
          </a:effectLst>
        </p:spPr>
      </p:sp>
      <p:sp>
        <p:nvSpPr>
          <p:cNvPr id="10" name="Shape 8"/>
          <p:cNvSpPr/>
          <p:nvPr/>
        </p:nvSpPr>
        <p:spPr>
          <a:xfrm>
            <a:off x="4732020" y="1028700"/>
            <a:ext cx="4114800" cy="377190"/>
          </a:xfrm>
          <a:prstGeom prst="rect">
            <a:avLst/>
          </a:prstGeom>
          <a:solidFill>
            <a:srgbClr val="E6F4EC"/>
          </a:solidFill>
          <a:ln/>
        </p:spPr>
      </p:sp>
      <p:sp>
        <p:nvSpPr>
          <p:cNvPr id="11" name="Text 9"/>
          <p:cNvSpPr/>
          <p:nvPr/>
        </p:nvSpPr>
        <p:spPr>
          <a:xfrm>
            <a:off x="4869180" y="1028700"/>
            <a:ext cx="38404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00" b="1" dirty="0">
                <a:solidFill>
                  <a:srgbClr val="1A6B3A"/>
                </a:solidFill>
                <a:latin typeface="Calibri" pitchFamily="34" charset="0"/>
                <a:ea typeface="Calibri" pitchFamily="34" charset="-122"/>
                <a:cs typeface="Calibri" pitchFamily="34" charset="-120"/>
              </a:rPr>
              <a:t>DataRobot</a:t>
            </a:r>
            <a:endParaRPr lang="en-US" sz="1200" dirty="0"/>
          </a:p>
        </p:txBody>
      </p:sp>
      <p:sp>
        <p:nvSpPr>
          <p:cNvPr id="12" name="Text 10"/>
          <p:cNvSpPr/>
          <p:nvPr/>
        </p:nvSpPr>
        <p:spPr>
          <a:xfrm>
            <a:off x="4869180" y="1474470"/>
            <a:ext cx="3840480" cy="1392174"/>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5000"/>
              </a:lnSpc>
              <a:buNone/>
            </a:pPr>
            <a:r>
              <a:rPr lang="en-US" sz="900" b="1" dirty="0">
                <a:solidFill>
                  <a:srgbClr val="0A1F44"/>
                </a:solidFill>
                <a:latin typeface="Calibri" pitchFamily="34" charset="0"/>
                <a:ea typeface="Calibri" pitchFamily="34" charset="-122"/>
                <a:cs typeface="Calibri" pitchFamily="34" charset="-120"/>
              </a:rPr>
              <a:t>Purpose:  </a:t>
            </a:r>
            <a:r>
              <a:rPr lang="en-US" sz="900" dirty="0">
                <a:solidFill>
                  <a:srgbClr val="1A1A2E"/>
                </a:solidFill>
                <a:latin typeface="Calibri" pitchFamily="34" charset="0"/>
                <a:ea typeface="Calibri" pitchFamily="34" charset="-122"/>
                <a:cs typeface="Calibri" pitchFamily="34" charset="-120"/>
              </a:rPr>
              <a:t>Automates data preparation
</a:t>
            </a:r>
            <a:endParaRPr lang="en-US" sz="900" dirty="0"/>
          </a:p>
          <a:p>
            <a:pPr marL="0" indent="0">
              <a:lnSpc>
                <a:spcPct val="125000"/>
              </a:lnSpc>
              <a:buNone/>
            </a:pPr>
            <a:r>
              <a:rPr lang="en-US" sz="900" b="1" dirty="0">
                <a:solidFill>
                  <a:srgbClr val="0A1F44"/>
                </a:solidFill>
                <a:latin typeface="Calibri" pitchFamily="34" charset="0"/>
                <a:ea typeface="Calibri" pitchFamily="34" charset="-122"/>
                <a:cs typeface="Calibri" pitchFamily="34" charset="-120"/>
              </a:rPr>
              <a:t>Application:  </a:t>
            </a:r>
            <a:r>
              <a:rPr lang="en-US" sz="900" dirty="0">
                <a:solidFill>
                  <a:srgbClr val="1A1A2E"/>
                </a:solidFill>
                <a:latin typeface="Calibri" pitchFamily="34" charset="0"/>
                <a:ea typeface="Calibri" pitchFamily="34" charset="-122"/>
                <a:cs typeface="Calibri" pitchFamily="34" charset="-120"/>
              </a:rPr>
              <a:t>Cleans data and handles missing values
</a:t>
            </a:r>
            <a:endParaRPr lang="en-US" sz="900" dirty="0"/>
          </a:p>
          <a:p>
            <a:pPr marL="0" indent="0">
              <a:lnSpc>
                <a:spcPct val="125000"/>
              </a:lnSpc>
              <a:buNone/>
            </a:pPr>
            <a:r>
              <a:rPr lang="en-US" sz="900" b="1" dirty="0">
                <a:solidFill>
                  <a:srgbClr val="0A1F44"/>
                </a:solidFill>
                <a:latin typeface="Calibri" pitchFamily="34" charset="0"/>
                <a:ea typeface="Calibri" pitchFamily="34" charset="-122"/>
                <a:cs typeface="Calibri" pitchFamily="34" charset="-120"/>
              </a:rPr>
              <a:t>Benefit:  </a:t>
            </a:r>
            <a:r>
              <a:rPr lang="en-US" sz="900" dirty="0">
                <a:solidFill>
                  <a:srgbClr val="1A1A2E"/>
                </a:solidFill>
                <a:latin typeface="Calibri" pitchFamily="34" charset="0"/>
                <a:ea typeface="Calibri" pitchFamily="34" charset="-122"/>
                <a:cs typeface="Calibri" pitchFamily="34" charset="-120"/>
              </a:rPr>
              <a:t>Speeds up preparation and ensures accuracy</a:t>
            </a:r>
            <a:endParaRPr lang="en-US" sz="900" dirty="0"/>
          </a:p>
        </p:txBody>
      </p:sp>
      <p:sp>
        <p:nvSpPr>
          <p:cNvPr id="13" name="Shape 11"/>
          <p:cNvSpPr/>
          <p:nvPr/>
        </p:nvSpPr>
        <p:spPr>
          <a:xfrm>
            <a:off x="411480" y="3072384"/>
            <a:ext cx="4114800" cy="1906524"/>
          </a:xfrm>
          <a:prstGeom prst="roundRect">
            <a:avLst>
              <a:gd name="adj" fmla="val 2518"/>
            </a:avLst>
          </a:prstGeom>
          <a:solidFill>
            <a:srgbClr val="FFFFFF"/>
          </a:solidFill>
          <a:ln/>
          <a:effectLst>
            <a:outerShdw blurRad="50800" dist="25400" dir="5400000" algn="bl" rotWithShape="0">
              <a:srgbClr val="000000">
                <a:alpha val="9000"/>
              </a:srgbClr>
            </a:outerShdw>
          </a:effectLst>
        </p:spPr>
      </p:sp>
      <p:sp>
        <p:nvSpPr>
          <p:cNvPr id="14" name="Shape 12"/>
          <p:cNvSpPr/>
          <p:nvPr/>
        </p:nvSpPr>
        <p:spPr>
          <a:xfrm>
            <a:off x="411480" y="3072384"/>
            <a:ext cx="4114800" cy="377190"/>
          </a:xfrm>
          <a:prstGeom prst="rect">
            <a:avLst/>
          </a:prstGeom>
          <a:solidFill>
            <a:srgbClr val="DDEEFF"/>
          </a:solidFill>
          <a:ln/>
        </p:spPr>
      </p:sp>
      <p:sp>
        <p:nvSpPr>
          <p:cNvPr id="15" name="Text 13"/>
          <p:cNvSpPr/>
          <p:nvPr/>
        </p:nvSpPr>
        <p:spPr>
          <a:xfrm>
            <a:off x="548640" y="3072384"/>
            <a:ext cx="38404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00" b="1" dirty="0">
                <a:solidFill>
                  <a:srgbClr val="006D8F"/>
                </a:solidFill>
                <a:latin typeface="Calibri" pitchFamily="34" charset="0"/>
                <a:ea typeface="Calibri" pitchFamily="34" charset="-122"/>
                <a:cs typeface="Calibri" pitchFamily="34" charset="-120"/>
              </a:rPr>
              <a:t>Hazy</a:t>
            </a:r>
            <a:endParaRPr lang="en-US" sz="1200" dirty="0"/>
          </a:p>
        </p:txBody>
      </p:sp>
      <p:sp>
        <p:nvSpPr>
          <p:cNvPr id="16" name="Text 14"/>
          <p:cNvSpPr/>
          <p:nvPr/>
        </p:nvSpPr>
        <p:spPr>
          <a:xfrm>
            <a:off x="548640" y="3518154"/>
            <a:ext cx="3840480" cy="1392174"/>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5000"/>
              </a:lnSpc>
              <a:buNone/>
            </a:pPr>
            <a:r>
              <a:rPr lang="en-US" sz="900" b="1" dirty="0">
                <a:solidFill>
                  <a:srgbClr val="0A1F44"/>
                </a:solidFill>
                <a:latin typeface="Calibri" pitchFamily="34" charset="0"/>
                <a:ea typeface="Calibri" pitchFamily="34" charset="-122"/>
                <a:cs typeface="Calibri" pitchFamily="34" charset="-120"/>
              </a:rPr>
              <a:t>Purpose:  </a:t>
            </a:r>
            <a:r>
              <a:rPr lang="en-US" sz="900" dirty="0">
                <a:solidFill>
                  <a:srgbClr val="1A1A2E"/>
                </a:solidFill>
                <a:latin typeface="Calibri" pitchFamily="34" charset="0"/>
                <a:ea typeface="Calibri" pitchFamily="34" charset="-122"/>
                <a:cs typeface="Calibri" pitchFamily="34" charset="-120"/>
              </a:rPr>
              <a:t>Synthetic data for privacy
</a:t>
            </a:r>
            <a:endParaRPr lang="en-US" sz="900" dirty="0"/>
          </a:p>
          <a:p>
            <a:pPr marL="0" indent="0">
              <a:lnSpc>
                <a:spcPct val="125000"/>
              </a:lnSpc>
              <a:buNone/>
            </a:pPr>
            <a:r>
              <a:rPr lang="en-US" sz="900" b="1" dirty="0">
                <a:solidFill>
                  <a:srgbClr val="0A1F44"/>
                </a:solidFill>
                <a:latin typeface="Calibri" pitchFamily="34" charset="0"/>
                <a:ea typeface="Calibri" pitchFamily="34" charset="-122"/>
                <a:cs typeface="Calibri" pitchFamily="34" charset="-120"/>
              </a:rPr>
              <a:t>Application:  </a:t>
            </a:r>
            <a:r>
              <a:rPr lang="en-US" sz="900" dirty="0">
                <a:solidFill>
                  <a:srgbClr val="1A1A2E"/>
                </a:solidFill>
                <a:latin typeface="Calibri" pitchFamily="34" charset="0"/>
                <a:ea typeface="Calibri" pitchFamily="34" charset="-122"/>
                <a:cs typeface="Calibri" pitchFamily="34" charset="-120"/>
              </a:rPr>
              <a:t>Structured data mimicking patient records
</a:t>
            </a:r>
            <a:endParaRPr lang="en-US" sz="900" dirty="0"/>
          </a:p>
          <a:p>
            <a:pPr marL="0" indent="0">
              <a:lnSpc>
                <a:spcPct val="125000"/>
              </a:lnSpc>
              <a:buNone/>
            </a:pPr>
            <a:r>
              <a:rPr lang="en-US" sz="900" b="1" dirty="0">
                <a:solidFill>
                  <a:srgbClr val="0A1F44"/>
                </a:solidFill>
                <a:latin typeface="Calibri" pitchFamily="34" charset="0"/>
                <a:ea typeface="Calibri" pitchFamily="34" charset="-122"/>
                <a:cs typeface="Calibri" pitchFamily="34" charset="-120"/>
              </a:rPr>
              <a:t>Benefit:  </a:t>
            </a:r>
            <a:r>
              <a:rPr lang="en-US" sz="900" dirty="0">
                <a:solidFill>
                  <a:srgbClr val="1A1A2E"/>
                </a:solidFill>
                <a:latin typeface="Calibri" pitchFamily="34" charset="0"/>
                <a:ea typeface="Calibri" pitchFamily="34" charset="-122"/>
                <a:cs typeface="Calibri" pitchFamily="34" charset="-120"/>
              </a:rPr>
              <a:t>Maintains confidentiality while supporting analysis</a:t>
            </a:r>
            <a:endParaRPr lang="en-US" sz="900" dirty="0"/>
          </a:p>
        </p:txBody>
      </p:sp>
      <p:sp>
        <p:nvSpPr>
          <p:cNvPr id="17" name="Shape 15"/>
          <p:cNvSpPr/>
          <p:nvPr/>
        </p:nvSpPr>
        <p:spPr>
          <a:xfrm>
            <a:off x="4732020" y="3072384"/>
            <a:ext cx="4114800" cy="1906524"/>
          </a:xfrm>
          <a:prstGeom prst="roundRect">
            <a:avLst>
              <a:gd name="adj" fmla="val 2518"/>
            </a:avLst>
          </a:prstGeom>
          <a:solidFill>
            <a:srgbClr val="FFFFFF"/>
          </a:solidFill>
          <a:ln/>
          <a:effectLst>
            <a:outerShdw blurRad="50800" dist="25400" dir="5400000" algn="bl" rotWithShape="0">
              <a:srgbClr val="000000">
                <a:alpha val="9000"/>
              </a:srgbClr>
            </a:outerShdw>
          </a:effectLst>
        </p:spPr>
      </p:sp>
      <p:sp>
        <p:nvSpPr>
          <p:cNvPr id="18" name="Shape 16"/>
          <p:cNvSpPr/>
          <p:nvPr/>
        </p:nvSpPr>
        <p:spPr>
          <a:xfrm>
            <a:off x="4732020" y="3072384"/>
            <a:ext cx="4114800" cy="377190"/>
          </a:xfrm>
          <a:prstGeom prst="rect">
            <a:avLst/>
          </a:prstGeom>
          <a:solidFill>
            <a:srgbClr val="F0E8FF"/>
          </a:solidFill>
          <a:ln/>
        </p:spPr>
      </p:sp>
      <p:sp>
        <p:nvSpPr>
          <p:cNvPr id="19" name="Text 17"/>
          <p:cNvSpPr/>
          <p:nvPr/>
        </p:nvSpPr>
        <p:spPr>
          <a:xfrm>
            <a:off x="4869180" y="3072384"/>
            <a:ext cx="38404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00" b="1" dirty="0">
                <a:solidFill>
                  <a:srgbClr val="5B2D8E"/>
                </a:solidFill>
                <a:latin typeface="Calibri" pitchFamily="34" charset="0"/>
                <a:ea typeface="Calibri" pitchFamily="34" charset="-122"/>
                <a:cs typeface="Calibri" pitchFamily="34" charset="-120"/>
              </a:rPr>
              <a:t>SyntheticGuru</a:t>
            </a:r>
            <a:endParaRPr lang="en-US" sz="1200" dirty="0"/>
          </a:p>
        </p:txBody>
      </p:sp>
      <p:sp>
        <p:nvSpPr>
          <p:cNvPr id="20" name="Text 18"/>
          <p:cNvSpPr/>
          <p:nvPr/>
        </p:nvSpPr>
        <p:spPr>
          <a:xfrm>
            <a:off x="4869180" y="3518154"/>
            <a:ext cx="3840480" cy="1392174"/>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5000"/>
              </a:lnSpc>
              <a:buNone/>
            </a:pPr>
            <a:r>
              <a:rPr lang="en-US" sz="900" b="1" dirty="0">
                <a:solidFill>
                  <a:srgbClr val="0A1F44"/>
                </a:solidFill>
                <a:latin typeface="Calibri" pitchFamily="34" charset="0"/>
                <a:ea typeface="Calibri" pitchFamily="34" charset="-122"/>
                <a:cs typeface="Calibri" pitchFamily="34" charset="-120"/>
              </a:rPr>
              <a:t>Purpose:  </a:t>
            </a:r>
            <a:r>
              <a:rPr lang="en-US" sz="900" dirty="0">
                <a:solidFill>
                  <a:srgbClr val="1A1A2E"/>
                </a:solidFill>
                <a:latin typeface="Calibri" pitchFamily="34" charset="0"/>
                <a:ea typeface="Calibri" pitchFamily="34" charset="-122"/>
                <a:cs typeface="Calibri" pitchFamily="34" charset="-120"/>
              </a:rPr>
              <a:t>Data augmentation
</a:t>
            </a:r>
            <a:endParaRPr lang="en-US" sz="900" dirty="0"/>
          </a:p>
          <a:p>
            <a:pPr marL="0" indent="0">
              <a:lnSpc>
                <a:spcPct val="125000"/>
              </a:lnSpc>
              <a:buNone/>
            </a:pPr>
            <a:r>
              <a:rPr lang="en-US" sz="900" b="1" dirty="0">
                <a:solidFill>
                  <a:srgbClr val="0A1F44"/>
                </a:solidFill>
                <a:latin typeface="Calibri" pitchFamily="34" charset="0"/>
                <a:ea typeface="Calibri" pitchFamily="34" charset="-122"/>
                <a:cs typeface="Calibri" pitchFamily="34" charset="-120"/>
              </a:rPr>
              <a:t>Application:  </a:t>
            </a:r>
            <a:r>
              <a:rPr lang="en-US" sz="900" dirty="0">
                <a:solidFill>
                  <a:srgbClr val="1A1A2E"/>
                </a:solidFill>
                <a:latin typeface="Calibri" pitchFamily="34" charset="0"/>
                <a:ea typeface="Calibri" pitchFamily="34" charset="-122"/>
                <a:cs typeface="Calibri" pitchFamily="34" charset="-120"/>
              </a:rPr>
              <a:t>Generates realistic training data for fraud detection
</a:t>
            </a:r>
            <a:endParaRPr lang="en-US" sz="900" dirty="0"/>
          </a:p>
          <a:p>
            <a:pPr marL="0" indent="0">
              <a:lnSpc>
                <a:spcPct val="125000"/>
              </a:lnSpc>
              <a:buNone/>
            </a:pPr>
            <a:r>
              <a:rPr lang="en-US" sz="900" b="1" dirty="0">
                <a:solidFill>
                  <a:srgbClr val="0A1F44"/>
                </a:solidFill>
                <a:latin typeface="Calibri" pitchFamily="34" charset="0"/>
                <a:ea typeface="Calibri" pitchFamily="34" charset="-122"/>
                <a:cs typeface="Calibri" pitchFamily="34" charset="-120"/>
              </a:rPr>
              <a:t>Benefit:  </a:t>
            </a:r>
            <a:r>
              <a:rPr lang="en-US" sz="900" dirty="0">
                <a:solidFill>
                  <a:srgbClr val="1A1A2E"/>
                </a:solidFill>
                <a:latin typeface="Calibri" pitchFamily="34" charset="0"/>
                <a:ea typeface="Calibri" pitchFamily="34" charset="-122"/>
                <a:cs typeface="Calibri" pitchFamily="34" charset="-120"/>
              </a:rPr>
              <a:t>Enhances ML model robustness</a:t>
            </a:r>
            <a:endParaRPr lang="en-US" sz="900" dirty="0"/>
          </a:p>
        </p:txBody>
      </p:sp>
      <p:sp>
        <p:nvSpPr>
          <p:cNvPr id="21" name="Text 19"/>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Engineering  ·  Day 12</a:t>
            </a:r>
            <a:endParaRPr lang="en-US" sz="675" dirty="0"/>
          </a:p>
        </p:txBody>
      </p:sp>
      <p:sp>
        <p:nvSpPr>
          <p:cNvPr id="22" name="Text 20"/>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7</a:t>
            </a:r>
            <a:endParaRPr lang="en-US" sz="675" dirty="0"/>
          </a:p>
        </p:txBody>
      </p:sp>
    </p:spTree>
    <p:extLst>
      <p:ext uri="{BB962C8B-B14F-4D97-AF65-F5344CB8AC3E}">
        <p14:creationId xmlns:p14="http://schemas.microsoft.com/office/powerpoint/2010/main" val="23488540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APPLICATION &amp; BENEFIT</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Tool Deep-Dive: Use Cases (Part 2)</a:t>
            </a:r>
            <a:endParaRPr lang="en-US" sz="2100" dirty="0"/>
          </a:p>
        </p:txBody>
      </p:sp>
      <p:sp>
        <p:nvSpPr>
          <p:cNvPr id="5" name="Shape 3"/>
          <p:cNvSpPr/>
          <p:nvPr/>
        </p:nvSpPr>
        <p:spPr>
          <a:xfrm>
            <a:off x="411480" y="1028700"/>
            <a:ext cx="2743200" cy="3017520"/>
          </a:xfrm>
          <a:prstGeom prst="roundRect">
            <a:avLst>
              <a:gd name="adj" fmla="val 1750"/>
            </a:avLst>
          </a:prstGeom>
          <a:solidFill>
            <a:srgbClr val="FFFFFF"/>
          </a:solidFill>
          <a:ln/>
          <a:effectLst>
            <a:outerShdw blurRad="50800" dist="25400" dir="5400000" algn="bl" rotWithShape="0">
              <a:srgbClr val="000000">
                <a:alpha val="9000"/>
              </a:srgbClr>
            </a:outerShdw>
          </a:effectLst>
        </p:spPr>
      </p:sp>
      <p:sp>
        <p:nvSpPr>
          <p:cNvPr id="6" name="Shape 4"/>
          <p:cNvSpPr/>
          <p:nvPr/>
        </p:nvSpPr>
        <p:spPr>
          <a:xfrm>
            <a:off x="411480" y="1028700"/>
            <a:ext cx="2743200" cy="411480"/>
          </a:xfrm>
          <a:prstGeom prst="rect">
            <a:avLst/>
          </a:prstGeom>
          <a:solidFill>
            <a:srgbClr val="E6F4EC"/>
          </a:solidFill>
          <a:ln/>
        </p:spPr>
      </p:sp>
      <p:sp>
        <p:nvSpPr>
          <p:cNvPr id="7" name="Text 5"/>
          <p:cNvSpPr/>
          <p:nvPr/>
        </p:nvSpPr>
        <p:spPr>
          <a:xfrm>
            <a:off x="548640" y="1028700"/>
            <a:ext cx="246888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75" b="1" dirty="0">
                <a:solidFill>
                  <a:srgbClr val="1A6B3A"/>
                </a:solidFill>
                <a:latin typeface="Calibri" pitchFamily="34" charset="0"/>
                <a:ea typeface="Calibri" pitchFamily="34" charset="-122"/>
                <a:cs typeface="Calibri" pitchFamily="34" charset="-120"/>
              </a:rPr>
              <a:t>GPT-3</a:t>
            </a:r>
            <a:endParaRPr lang="en-US" sz="1275" dirty="0"/>
          </a:p>
        </p:txBody>
      </p:sp>
      <p:sp>
        <p:nvSpPr>
          <p:cNvPr id="8" name="Text 6"/>
          <p:cNvSpPr/>
          <p:nvPr/>
        </p:nvSpPr>
        <p:spPr>
          <a:xfrm>
            <a:off x="548640" y="1543050"/>
            <a:ext cx="2468880" cy="24003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25" b="1" dirty="0">
                <a:solidFill>
                  <a:srgbClr val="0A1F44"/>
                </a:solidFill>
                <a:latin typeface="Calibri" pitchFamily="34" charset="0"/>
                <a:ea typeface="Calibri" pitchFamily="34" charset="-122"/>
                <a:cs typeface="Calibri" pitchFamily="34" charset="-120"/>
              </a:rPr>
              <a:t>Purpose
</a:t>
            </a:r>
            <a:endParaRPr lang="en-US" sz="825" dirty="0"/>
          </a:p>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Forecasting via predictive text
</a:t>
            </a:r>
            <a:endParaRPr lang="en-US" sz="825" dirty="0"/>
          </a:p>
          <a:p>
            <a:pPr marL="0" indent="0">
              <a:lnSpc>
                <a:spcPct val="115000"/>
              </a:lnSpc>
              <a:buNone/>
            </a:pPr>
            <a:r>
              <a:rPr lang="en-US" sz="825" b="1" dirty="0">
                <a:solidFill>
                  <a:srgbClr val="0A1F44"/>
                </a:solidFill>
                <a:latin typeface="Calibri" pitchFamily="34" charset="0"/>
                <a:ea typeface="Calibri" pitchFamily="34" charset="-122"/>
                <a:cs typeface="Calibri" pitchFamily="34" charset="-120"/>
              </a:rPr>
              <a:t>Application
</a:t>
            </a:r>
            <a:endParaRPr lang="en-US" sz="825" dirty="0"/>
          </a:p>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Simulates market behaviour based on historical data
</a:t>
            </a:r>
            <a:endParaRPr lang="en-US" sz="825" dirty="0"/>
          </a:p>
          <a:p>
            <a:pPr marL="0" indent="0">
              <a:lnSpc>
                <a:spcPct val="115000"/>
              </a:lnSpc>
              <a:buNone/>
            </a:pPr>
            <a:r>
              <a:rPr lang="en-US" sz="825" b="1" dirty="0">
                <a:solidFill>
                  <a:srgbClr val="0A1F44"/>
                </a:solidFill>
                <a:latin typeface="Calibri" pitchFamily="34" charset="0"/>
                <a:ea typeface="Calibri" pitchFamily="34" charset="-122"/>
                <a:cs typeface="Calibri" pitchFamily="34" charset="-120"/>
              </a:rPr>
              <a:t>Benefit
</a:t>
            </a:r>
            <a:endParaRPr lang="en-US" sz="825" dirty="0"/>
          </a:p>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Aids decision-making</a:t>
            </a:r>
            <a:endParaRPr lang="en-US" sz="825" dirty="0"/>
          </a:p>
        </p:txBody>
      </p:sp>
      <p:sp>
        <p:nvSpPr>
          <p:cNvPr id="9" name="Shape 7"/>
          <p:cNvSpPr/>
          <p:nvPr/>
        </p:nvSpPr>
        <p:spPr>
          <a:xfrm>
            <a:off x="3339846" y="1028700"/>
            <a:ext cx="2743200" cy="3017520"/>
          </a:xfrm>
          <a:prstGeom prst="roundRect">
            <a:avLst>
              <a:gd name="adj" fmla="val 1750"/>
            </a:avLst>
          </a:prstGeom>
          <a:solidFill>
            <a:srgbClr val="FFFFFF"/>
          </a:solidFill>
          <a:ln/>
          <a:effectLst>
            <a:outerShdw blurRad="50800" dist="25400" dir="5400000" algn="bl" rotWithShape="0">
              <a:srgbClr val="000000">
                <a:alpha val="9000"/>
              </a:srgbClr>
            </a:outerShdw>
          </a:effectLst>
        </p:spPr>
      </p:sp>
      <p:sp>
        <p:nvSpPr>
          <p:cNvPr id="10" name="Shape 8"/>
          <p:cNvSpPr/>
          <p:nvPr/>
        </p:nvSpPr>
        <p:spPr>
          <a:xfrm>
            <a:off x="3339846" y="1028700"/>
            <a:ext cx="2743200" cy="411480"/>
          </a:xfrm>
          <a:prstGeom prst="rect">
            <a:avLst/>
          </a:prstGeom>
          <a:solidFill>
            <a:srgbClr val="DDEEFF"/>
          </a:solidFill>
          <a:ln/>
        </p:spPr>
      </p:sp>
      <p:sp>
        <p:nvSpPr>
          <p:cNvPr id="11" name="Text 9"/>
          <p:cNvSpPr/>
          <p:nvPr/>
        </p:nvSpPr>
        <p:spPr>
          <a:xfrm>
            <a:off x="3477006" y="1028700"/>
            <a:ext cx="246888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75" b="1" dirty="0">
                <a:solidFill>
                  <a:srgbClr val="006D8F"/>
                </a:solidFill>
                <a:latin typeface="Calibri" pitchFamily="34" charset="0"/>
                <a:ea typeface="Calibri" pitchFamily="34" charset="-122"/>
                <a:cs typeface="Calibri" pitchFamily="34" charset="-120"/>
              </a:rPr>
              <a:t>Databricks AutoML</a:t>
            </a:r>
            <a:endParaRPr lang="en-US" sz="1275" dirty="0"/>
          </a:p>
        </p:txBody>
      </p:sp>
      <p:sp>
        <p:nvSpPr>
          <p:cNvPr id="12" name="Text 10"/>
          <p:cNvSpPr/>
          <p:nvPr/>
        </p:nvSpPr>
        <p:spPr>
          <a:xfrm>
            <a:off x="3477006" y="1543050"/>
            <a:ext cx="2468880" cy="24003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25" b="1" dirty="0">
                <a:solidFill>
                  <a:srgbClr val="0A1F44"/>
                </a:solidFill>
                <a:latin typeface="Calibri" pitchFamily="34" charset="0"/>
                <a:ea typeface="Calibri" pitchFamily="34" charset="-122"/>
                <a:cs typeface="Calibri" pitchFamily="34" charset="-120"/>
              </a:rPr>
              <a:t>Purpose
</a:t>
            </a:r>
            <a:endParaRPr lang="en-US" sz="825" dirty="0"/>
          </a:p>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Automated data transformation
</a:t>
            </a:r>
            <a:endParaRPr lang="en-US" sz="825" dirty="0"/>
          </a:p>
          <a:p>
            <a:pPr marL="0" indent="0">
              <a:lnSpc>
                <a:spcPct val="115000"/>
              </a:lnSpc>
              <a:buNone/>
            </a:pPr>
            <a:r>
              <a:rPr lang="en-US" sz="825" b="1" dirty="0">
                <a:solidFill>
                  <a:srgbClr val="0A1F44"/>
                </a:solidFill>
                <a:latin typeface="Calibri" pitchFamily="34" charset="0"/>
                <a:ea typeface="Calibri" pitchFamily="34" charset="-122"/>
                <a:cs typeface="Calibri" pitchFamily="34" charset="-120"/>
              </a:rPr>
              <a:t>Application
</a:t>
            </a:r>
            <a:endParaRPr lang="en-US" sz="825" dirty="0"/>
          </a:p>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Prepares weblog data for anomaly detection
</a:t>
            </a:r>
            <a:endParaRPr lang="en-US" sz="825" dirty="0"/>
          </a:p>
          <a:p>
            <a:pPr marL="0" indent="0">
              <a:lnSpc>
                <a:spcPct val="115000"/>
              </a:lnSpc>
              <a:buNone/>
            </a:pPr>
            <a:r>
              <a:rPr lang="en-US" sz="825" b="1" dirty="0">
                <a:solidFill>
                  <a:srgbClr val="0A1F44"/>
                </a:solidFill>
                <a:latin typeface="Calibri" pitchFamily="34" charset="0"/>
                <a:ea typeface="Calibri" pitchFamily="34" charset="-122"/>
                <a:cs typeface="Calibri" pitchFamily="34" charset="-120"/>
              </a:rPr>
              <a:t>Benefit
</a:t>
            </a:r>
            <a:endParaRPr lang="en-US" sz="825" dirty="0"/>
          </a:p>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Saves time and improves accuracy</a:t>
            </a:r>
            <a:endParaRPr lang="en-US" sz="825" dirty="0"/>
          </a:p>
        </p:txBody>
      </p:sp>
      <p:sp>
        <p:nvSpPr>
          <p:cNvPr id="13" name="Shape 11"/>
          <p:cNvSpPr/>
          <p:nvPr/>
        </p:nvSpPr>
        <p:spPr>
          <a:xfrm>
            <a:off x="6268212" y="1028700"/>
            <a:ext cx="2743200" cy="3017520"/>
          </a:xfrm>
          <a:prstGeom prst="roundRect">
            <a:avLst>
              <a:gd name="adj" fmla="val 1750"/>
            </a:avLst>
          </a:prstGeom>
          <a:solidFill>
            <a:srgbClr val="FFFFFF"/>
          </a:solidFill>
          <a:ln/>
          <a:effectLst>
            <a:outerShdw blurRad="50800" dist="25400" dir="5400000" algn="bl" rotWithShape="0">
              <a:srgbClr val="000000">
                <a:alpha val="9000"/>
              </a:srgbClr>
            </a:outerShdw>
          </a:effectLst>
        </p:spPr>
      </p:sp>
      <p:sp>
        <p:nvSpPr>
          <p:cNvPr id="14" name="Shape 12"/>
          <p:cNvSpPr/>
          <p:nvPr/>
        </p:nvSpPr>
        <p:spPr>
          <a:xfrm>
            <a:off x="6268212" y="1028700"/>
            <a:ext cx="2743200" cy="411480"/>
          </a:xfrm>
          <a:prstGeom prst="rect">
            <a:avLst/>
          </a:prstGeom>
          <a:solidFill>
            <a:srgbClr val="F0E8FF"/>
          </a:solidFill>
          <a:ln/>
        </p:spPr>
      </p:sp>
      <p:sp>
        <p:nvSpPr>
          <p:cNvPr id="15" name="Text 13"/>
          <p:cNvSpPr/>
          <p:nvPr/>
        </p:nvSpPr>
        <p:spPr>
          <a:xfrm>
            <a:off x="6405372" y="1028700"/>
            <a:ext cx="246888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75" b="1" dirty="0">
                <a:solidFill>
                  <a:srgbClr val="5B2D8E"/>
                </a:solidFill>
                <a:latin typeface="Calibri" pitchFamily="34" charset="0"/>
                <a:ea typeface="Calibri" pitchFamily="34" charset="-122"/>
                <a:cs typeface="Calibri" pitchFamily="34" charset="-120"/>
              </a:rPr>
              <a:t>Featuretools</a:t>
            </a:r>
            <a:endParaRPr lang="en-US" sz="1275" dirty="0"/>
          </a:p>
        </p:txBody>
      </p:sp>
      <p:sp>
        <p:nvSpPr>
          <p:cNvPr id="16" name="Text 14"/>
          <p:cNvSpPr/>
          <p:nvPr/>
        </p:nvSpPr>
        <p:spPr>
          <a:xfrm>
            <a:off x="6405372" y="1543050"/>
            <a:ext cx="2468880" cy="24003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25" b="1" dirty="0">
                <a:solidFill>
                  <a:srgbClr val="0A1F44"/>
                </a:solidFill>
                <a:latin typeface="Calibri" pitchFamily="34" charset="0"/>
                <a:ea typeface="Calibri" pitchFamily="34" charset="-122"/>
                <a:cs typeface="Calibri" pitchFamily="34" charset="-120"/>
              </a:rPr>
              <a:t>Purpose
</a:t>
            </a:r>
            <a:endParaRPr lang="en-US" sz="825" dirty="0"/>
          </a:p>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Feature engineering automation
</a:t>
            </a:r>
            <a:endParaRPr lang="en-US" sz="825" dirty="0"/>
          </a:p>
          <a:p>
            <a:pPr marL="0" indent="0">
              <a:lnSpc>
                <a:spcPct val="115000"/>
              </a:lnSpc>
              <a:buNone/>
            </a:pPr>
            <a:r>
              <a:rPr lang="en-US" sz="825" b="1" dirty="0">
                <a:solidFill>
                  <a:srgbClr val="0A1F44"/>
                </a:solidFill>
                <a:latin typeface="Calibri" pitchFamily="34" charset="0"/>
                <a:ea typeface="Calibri" pitchFamily="34" charset="-122"/>
                <a:cs typeface="Calibri" pitchFamily="34" charset="-120"/>
              </a:rPr>
              <a:t>Application
</a:t>
            </a:r>
            <a:endParaRPr lang="en-US" sz="825" dirty="0"/>
          </a:p>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Uses deep feature synthesis on transaction data
</a:t>
            </a:r>
            <a:endParaRPr lang="en-US" sz="825" dirty="0"/>
          </a:p>
          <a:p>
            <a:pPr marL="0" indent="0">
              <a:lnSpc>
                <a:spcPct val="115000"/>
              </a:lnSpc>
              <a:buNone/>
            </a:pPr>
            <a:r>
              <a:rPr lang="en-US" sz="825" b="1" dirty="0">
                <a:solidFill>
                  <a:srgbClr val="0A1F44"/>
                </a:solidFill>
                <a:latin typeface="Calibri" pitchFamily="34" charset="0"/>
                <a:ea typeface="Calibri" pitchFamily="34" charset="-122"/>
                <a:cs typeface="Calibri" pitchFamily="34" charset="-120"/>
              </a:rPr>
              <a:t>Benefit
</a:t>
            </a:r>
            <a:endParaRPr lang="en-US" sz="825" dirty="0"/>
          </a:p>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Quickly generates relevant features for ML</a:t>
            </a:r>
            <a:endParaRPr lang="en-US" sz="825" dirty="0"/>
          </a:p>
        </p:txBody>
      </p:sp>
      <p:sp>
        <p:nvSpPr>
          <p:cNvPr id="17" name="Shape 15"/>
          <p:cNvSpPr/>
          <p:nvPr/>
        </p:nvSpPr>
        <p:spPr>
          <a:xfrm>
            <a:off x="6220206" y="1028700"/>
            <a:ext cx="2510028" cy="3017520"/>
          </a:xfrm>
          <a:prstGeom prst="roundRect">
            <a:avLst>
              <a:gd name="adj" fmla="val 2186"/>
            </a:avLst>
          </a:prstGeom>
          <a:solidFill>
            <a:srgbClr val="FFFBE6"/>
          </a:solidFill>
          <a:ln/>
          <a:effectLst>
            <a:outerShdw blurRad="50800" dist="25400" dir="5400000" algn="bl" rotWithShape="0">
              <a:srgbClr val="000000">
                <a:alpha val="8000"/>
              </a:srgbClr>
            </a:outerShdw>
          </a:effectLst>
        </p:spPr>
      </p:sp>
      <p:sp>
        <p:nvSpPr>
          <p:cNvPr id="18" name="Text 16"/>
          <p:cNvSpPr/>
          <p:nvPr/>
        </p:nvSpPr>
        <p:spPr>
          <a:xfrm>
            <a:off x="6357366" y="1131570"/>
            <a:ext cx="2235708" cy="281178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E85D04"/>
                </a:solidFill>
                <a:latin typeface="Calibri" pitchFamily="34" charset="0"/>
                <a:ea typeface="Calibri" pitchFamily="34" charset="-122"/>
                <a:cs typeface="Calibri" pitchFamily="34" charset="-120"/>
              </a:rPr>
              <a:t>⚠️  KEEP IN MIND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GPT-3 doesn't 'predict the future' like magic. It identifies patterns in historical data and projects plausible scenarios - it does not guarantee outcomes. Always pair AI forecasts with expert review.</a:t>
            </a:r>
            <a:endParaRPr lang="en-US" sz="1050" dirty="0"/>
          </a:p>
        </p:txBody>
      </p:sp>
      <p:sp>
        <p:nvSpPr>
          <p:cNvPr id="19" name="Text 17"/>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Engineering  ·  Day 12</a:t>
            </a:r>
            <a:endParaRPr lang="en-US" sz="675" dirty="0"/>
          </a:p>
        </p:txBody>
      </p:sp>
      <p:sp>
        <p:nvSpPr>
          <p:cNvPr id="20" name="Text 18"/>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8</a:t>
            </a:r>
            <a:endParaRPr lang="en-US" sz="675" dirty="0"/>
          </a:p>
        </p:txBody>
      </p:sp>
    </p:spTree>
    <p:extLst>
      <p:ext uri="{BB962C8B-B14F-4D97-AF65-F5344CB8AC3E}">
        <p14:creationId xmlns:p14="http://schemas.microsoft.com/office/powerpoint/2010/main" val="9499099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REAL-WORLD IMPLEMENTATION</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Case Study: Unified Data Platform (UDP)</a:t>
            </a:r>
            <a:endParaRPr lang="en-US" sz="2100" dirty="0"/>
          </a:p>
        </p:txBody>
      </p:sp>
      <p:sp>
        <p:nvSpPr>
          <p:cNvPr id="5" name="Shape 3"/>
          <p:cNvSpPr/>
          <p:nvPr/>
        </p:nvSpPr>
        <p:spPr>
          <a:xfrm>
            <a:off x="411480" y="1028700"/>
            <a:ext cx="4114800" cy="1851660"/>
          </a:xfrm>
          <a:prstGeom prst="roundRect">
            <a:avLst>
              <a:gd name="adj" fmla="val 2963"/>
            </a:avLst>
          </a:prstGeom>
          <a:solidFill>
            <a:srgbClr val="FFFBE6"/>
          </a:solidFill>
          <a:ln/>
          <a:effectLst>
            <a:outerShdw blurRad="50800" dist="25400" dir="5400000" algn="bl" rotWithShape="0">
              <a:srgbClr val="000000">
                <a:alpha val="8000"/>
              </a:srgbClr>
            </a:outerShdw>
          </a:effectLst>
        </p:spPr>
      </p:sp>
      <p:sp>
        <p:nvSpPr>
          <p:cNvPr id="6" name="Text 4"/>
          <p:cNvSpPr/>
          <p:nvPr/>
        </p:nvSpPr>
        <p:spPr>
          <a:xfrm>
            <a:off x="548640" y="1131570"/>
            <a:ext cx="3840480" cy="16459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E85D04"/>
                </a:solidFill>
                <a:latin typeface="Calibri" pitchFamily="34" charset="0"/>
                <a:ea typeface="Calibri" pitchFamily="34" charset="-122"/>
                <a:cs typeface="Calibri" pitchFamily="34" charset="-120"/>
              </a:rPr>
              <a:t>⚠️  CHALLENGES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 Disconnected data storage across departments</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 Inconsistent data formats</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 Inability to personalise content</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 Difficulty accessing actionable insights</a:t>
            </a:r>
            <a:endParaRPr lang="en-US" sz="1050" dirty="0"/>
          </a:p>
        </p:txBody>
      </p:sp>
      <p:sp>
        <p:nvSpPr>
          <p:cNvPr id="7" name="Shape 5"/>
          <p:cNvSpPr/>
          <p:nvPr/>
        </p:nvSpPr>
        <p:spPr>
          <a:xfrm>
            <a:off x="4697730" y="1028700"/>
            <a:ext cx="4011930" cy="1851660"/>
          </a:xfrm>
          <a:prstGeom prst="roundRect">
            <a:avLst>
              <a:gd name="adj" fmla="val 2963"/>
            </a:avLst>
          </a:prstGeom>
          <a:solidFill>
            <a:srgbClr val="E6F4EC"/>
          </a:solidFill>
          <a:ln/>
          <a:effectLst>
            <a:outerShdw blurRad="50800" dist="25400" dir="5400000" algn="bl" rotWithShape="0">
              <a:srgbClr val="000000">
                <a:alpha val="8000"/>
              </a:srgbClr>
            </a:outerShdw>
          </a:effectLst>
        </p:spPr>
      </p:sp>
      <p:sp>
        <p:nvSpPr>
          <p:cNvPr id="8" name="Text 6"/>
          <p:cNvSpPr/>
          <p:nvPr/>
        </p:nvSpPr>
        <p:spPr>
          <a:xfrm>
            <a:off x="4834890" y="1131570"/>
            <a:ext cx="3737610" cy="16459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PROJECT GOAL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Implement a Unified Data Platform (UDP) to consolidate and standardise data sources from CRM, web traffic, and social platforms into one accessible, governed system.</a:t>
            </a:r>
            <a:endParaRPr lang="en-US" sz="1050" dirty="0"/>
          </a:p>
        </p:txBody>
      </p:sp>
      <p:sp>
        <p:nvSpPr>
          <p:cNvPr id="9" name="Shape 7"/>
          <p:cNvSpPr/>
          <p:nvPr/>
        </p:nvSpPr>
        <p:spPr>
          <a:xfrm>
            <a:off x="411480" y="3017520"/>
            <a:ext cx="8298180" cy="1645920"/>
          </a:xfrm>
          <a:prstGeom prst="roundRect">
            <a:avLst>
              <a:gd name="adj" fmla="val 2917"/>
            </a:avLst>
          </a:prstGeom>
          <a:solidFill>
            <a:srgbClr val="FFFFFF"/>
          </a:solidFill>
          <a:ln/>
          <a:effectLst>
            <a:outerShdw blurRad="50800" dist="25400" dir="5400000" algn="bl" rotWithShape="0">
              <a:srgbClr val="000000">
                <a:alpha val="9000"/>
              </a:srgbClr>
            </a:outerShdw>
          </a:effectLst>
        </p:spPr>
      </p:sp>
      <p:sp>
        <p:nvSpPr>
          <p:cNvPr id="10" name="Text 8"/>
          <p:cNvSpPr/>
          <p:nvPr/>
        </p:nvSpPr>
        <p:spPr>
          <a:xfrm>
            <a:off x="582930" y="3120390"/>
            <a:ext cx="754380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kern="0" spc="75" dirty="0">
                <a:solidFill>
                  <a:srgbClr val="0A1F44"/>
                </a:solidFill>
                <a:latin typeface="Calibri" pitchFamily="34" charset="0"/>
                <a:ea typeface="Calibri" pitchFamily="34" charset="-122"/>
                <a:cs typeface="Calibri" pitchFamily="34" charset="-120"/>
              </a:rPr>
              <a:t>DATA ENGINEER RESPONSIBILITIES</a:t>
            </a:r>
            <a:endParaRPr lang="en-US" sz="975" dirty="0"/>
          </a:p>
        </p:txBody>
      </p:sp>
      <p:sp>
        <p:nvSpPr>
          <p:cNvPr id="11" name="Text 9"/>
          <p:cNvSpPr/>
          <p:nvPr/>
        </p:nvSpPr>
        <p:spPr>
          <a:xfrm>
            <a:off x="582930" y="3394710"/>
            <a:ext cx="7955280" cy="120015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1. Identify Data Sources - across CRM, web traffic &amp; social platforms</a:t>
            </a:r>
            <a:endParaRPr lang="en-US" sz="938" dirty="0"/>
          </a:p>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2. Build ETL Pipelines - extract, transform, load into standardised UDP format</a:t>
            </a:r>
            <a:endParaRPr lang="en-US" sz="938" dirty="0"/>
          </a:p>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3. Quality Assurance - clean and validate incoming data</a:t>
            </a:r>
            <a:endParaRPr lang="en-US" sz="938" dirty="0"/>
          </a:p>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4. Warehouse Design - optimise for efficient access and future scaling</a:t>
            </a:r>
            <a:endParaRPr lang="en-US" sz="938" dirty="0"/>
          </a:p>
          <a:p>
            <a:pPr marL="0" indent="0">
              <a:lnSpc>
                <a:spcPct val="115000"/>
              </a:lnSpc>
              <a:buNone/>
            </a:pPr>
            <a:r>
              <a:rPr lang="en-US" sz="938" dirty="0">
                <a:solidFill>
                  <a:srgbClr val="1A1A2E"/>
                </a:solidFill>
                <a:latin typeface="Calibri" pitchFamily="34" charset="0"/>
                <a:ea typeface="Calibri" pitchFamily="34" charset="-122"/>
                <a:cs typeface="Calibri" pitchFamily="34" charset="-120"/>
              </a:rPr>
              <a:t>5. Security Controls - privacy-compliant access with synthetic data for external use</a:t>
            </a:r>
            <a:endParaRPr lang="en-US" sz="938" dirty="0"/>
          </a:p>
        </p:txBody>
      </p:sp>
      <p:sp>
        <p:nvSpPr>
          <p:cNvPr id="12" name="Text 10"/>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Engineering  ·  Day 12</a:t>
            </a:r>
            <a:endParaRPr lang="en-US" sz="675" dirty="0"/>
          </a:p>
        </p:txBody>
      </p:sp>
      <p:sp>
        <p:nvSpPr>
          <p:cNvPr id="13" name="Text 11"/>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9</a:t>
            </a:r>
            <a:endParaRPr lang="en-US" sz="675" dirty="0"/>
          </a:p>
        </p:txBody>
      </p:sp>
    </p:spTree>
    <p:extLst>
      <p:ext uri="{BB962C8B-B14F-4D97-AF65-F5344CB8AC3E}">
        <p14:creationId xmlns:p14="http://schemas.microsoft.com/office/powerpoint/2010/main" val="15115043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FROM PROBLEM TO IMPACT</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Case Study: GenAI Integration &amp; Outcomes</a:t>
            </a:r>
            <a:endParaRPr lang="en-US" sz="2100" dirty="0"/>
          </a:p>
        </p:txBody>
      </p:sp>
      <p:graphicFrame>
        <p:nvGraphicFramePr>
          <p:cNvPr id="11" name="Table 0"/>
          <p:cNvGraphicFramePr>
            <a:graphicFrameLocks noGrp="1"/>
          </p:cNvGraphicFramePr>
          <p:nvPr/>
        </p:nvGraphicFramePr>
        <p:xfrm>
          <a:off x="411480" y="1028700"/>
          <a:ext cx="5212080" cy="3120390"/>
        </p:xfrm>
        <a:graphic>
          <a:graphicData uri="http://schemas.openxmlformats.org/drawingml/2006/table">
            <a:tbl>
              <a:tblPr/>
              <a:tblGrid>
                <a:gridCol w="205740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tblGrid>
              <a:tr h="44577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GenAI Capability</a:t>
                      </a:r>
                      <a:endParaRPr lang="en-US" sz="10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A1F44"/>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Role in the UDP Project</a:t>
                      </a:r>
                      <a:endParaRPr lang="en-US" sz="10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445770">
                <a:tc>
                  <a:txBody>
                    <a:bodyPr/>
                    <a:lstStyle/>
                    <a:p>
                      <a:pPr marL="0" indent="0">
                        <a:buNone/>
                      </a:pPr>
                      <a:r>
                        <a:rPr lang="en-US" sz="900" b="1" dirty="0">
                          <a:solidFill>
                            <a:srgbClr val="1A3560"/>
                          </a:solidFill>
                          <a:latin typeface="Calibri" pitchFamily="34" charset="0"/>
                          <a:ea typeface="Calibri" pitchFamily="34" charset="-122"/>
                          <a:cs typeface="Calibri" pitchFamily="34" charset="-120"/>
                        </a:rPr>
                        <a:t>Discovery</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DDEE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Scanned documents to detect new data sources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DDEEFF"/>
                    </a:solidFill>
                  </a:tcPr>
                </a:tc>
                <a:extLst>
                  <a:ext uri="{0D108BD9-81ED-4DB2-BD59-A6C34878D82A}">
                    <a16:rowId xmlns:a16="http://schemas.microsoft.com/office/drawing/2014/main" val="10001"/>
                  </a:ext>
                </a:extLst>
              </a:tr>
              <a:tr h="445770">
                <a:tc>
                  <a:txBody>
                    <a:bodyPr/>
                    <a:lstStyle/>
                    <a:p>
                      <a:pPr marL="0" indent="0">
                        <a:buNone/>
                      </a:pPr>
                      <a:r>
                        <a:rPr lang="en-US" sz="900" b="1" dirty="0">
                          <a:solidFill>
                            <a:srgbClr val="1A3560"/>
                          </a:solidFill>
                          <a:latin typeface="Calibri" pitchFamily="34" charset="0"/>
                          <a:ea typeface="Calibri" pitchFamily="34" charset="-122"/>
                          <a:cs typeface="Calibri" pitchFamily="34" charset="-120"/>
                        </a:rPr>
                        <a:t>ETL Code Generation</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Generated scripts for data ingestion</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770">
                <a:tc>
                  <a:txBody>
                    <a:bodyPr/>
                    <a:lstStyle/>
                    <a:p>
                      <a:pPr marL="0" indent="0">
                        <a:buNone/>
                      </a:pPr>
                      <a:r>
                        <a:rPr lang="en-US" sz="900" b="1" dirty="0">
                          <a:solidFill>
                            <a:srgbClr val="1A3560"/>
                          </a:solidFill>
                          <a:latin typeface="Calibri" pitchFamily="34" charset="0"/>
                          <a:ea typeface="Calibri" pitchFamily="34" charset="-122"/>
                          <a:cs typeface="Calibri" pitchFamily="34" charset="-120"/>
                        </a:rPr>
                        <a:t>Anomaly Detection</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DDEE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Automatically flagged and corrected data issues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DDEEFF"/>
                    </a:solidFill>
                  </a:tcPr>
                </a:tc>
                <a:extLst>
                  <a:ext uri="{0D108BD9-81ED-4DB2-BD59-A6C34878D82A}">
                    <a16:rowId xmlns:a16="http://schemas.microsoft.com/office/drawing/2014/main" val="10003"/>
                  </a:ext>
                </a:extLst>
              </a:tr>
              <a:tr h="445770">
                <a:tc>
                  <a:txBody>
                    <a:bodyPr/>
                    <a:lstStyle/>
                    <a:p>
                      <a:pPr marL="0" indent="0">
                        <a:buNone/>
                      </a:pPr>
                      <a:r>
                        <a:rPr lang="en-US" sz="900" b="1" dirty="0">
                          <a:solidFill>
                            <a:srgbClr val="1A3560"/>
                          </a:solidFill>
                          <a:latin typeface="Calibri" pitchFamily="34" charset="0"/>
                          <a:ea typeface="Calibri" pitchFamily="34" charset="-122"/>
                          <a:cs typeface="Calibri" pitchFamily="34" charset="-120"/>
                        </a:rPr>
                        <a:t>Schema Optimisation</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Suggested formats based on access trends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770">
                <a:tc>
                  <a:txBody>
                    <a:bodyPr/>
                    <a:lstStyle/>
                    <a:p>
                      <a:pPr marL="0" indent="0">
                        <a:buNone/>
                      </a:pPr>
                      <a:r>
                        <a:rPr lang="en-US" sz="900" b="1" dirty="0">
                          <a:solidFill>
                            <a:srgbClr val="1A3560"/>
                          </a:solidFill>
                          <a:latin typeface="Calibri" pitchFamily="34" charset="0"/>
                          <a:ea typeface="Calibri" pitchFamily="34" charset="-122"/>
                          <a:cs typeface="Calibri" pitchFamily="34" charset="-120"/>
                        </a:rPr>
                        <a:t>Synthetic Data</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DDEE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Provided privacy-compliant versions of real data</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DDEEFF"/>
                    </a:solidFill>
                  </a:tcPr>
                </a:tc>
                <a:extLst>
                  <a:ext uri="{0D108BD9-81ED-4DB2-BD59-A6C34878D82A}">
                    <a16:rowId xmlns:a16="http://schemas.microsoft.com/office/drawing/2014/main" val="10005"/>
                  </a:ext>
                </a:extLst>
              </a:tr>
              <a:tr h="445770">
                <a:tc>
                  <a:txBody>
                    <a:bodyPr/>
                    <a:lstStyle/>
                    <a:p>
                      <a:pPr marL="0" indent="0">
                        <a:buNone/>
                      </a:pPr>
                      <a:r>
                        <a:rPr lang="en-US" sz="900" b="1" dirty="0">
                          <a:solidFill>
                            <a:srgbClr val="1A3560"/>
                          </a:solidFill>
                          <a:latin typeface="Calibri" pitchFamily="34" charset="0"/>
                          <a:ea typeface="Calibri" pitchFamily="34" charset="-122"/>
                          <a:cs typeface="Calibri" pitchFamily="34" charset="-120"/>
                        </a:rPr>
                        <a:t>Access Management</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Role-based restrictions with GenAI-generated rules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5795010" y="1028700"/>
            <a:ext cx="2928366" cy="3154680"/>
          </a:xfrm>
          <a:prstGeom prst="roundRect">
            <a:avLst>
              <a:gd name="adj" fmla="val 1874"/>
            </a:avLst>
          </a:prstGeom>
          <a:solidFill>
            <a:srgbClr val="E6F4EC"/>
          </a:solidFill>
          <a:ln/>
          <a:effectLst>
            <a:outerShdw blurRad="50800" dist="25400" dir="5400000" algn="bl" rotWithShape="0">
              <a:srgbClr val="000000">
                <a:alpha val="8000"/>
              </a:srgbClr>
            </a:outerShdw>
          </a:effectLst>
        </p:spPr>
      </p:sp>
      <p:sp>
        <p:nvSpPr>
          <p:cNvPr id="7" name="Text 4"/>
          <p:cNvSpPr/>
          <p:nvPr/>
        </p:nvSpPr>
        <p:spPr>
          <a:xfrm>
            <a:off x="5932170" y="1131570"/>
            <a:ext cx="2654046" cy="29489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1050" b="1" dirty="0">
                <a:solidFill>
                  <a:srgbClr val="1A6B3A"/>
                </a:solidFill>
                <a:latin typeface="Calibri" pitchFamily="34" charset="0"/>
                <a:ea typeface="Calibri" pitchFamily="34" charset="-122"/>
                <a:cs typeface="Calibri" pitchFamily="34" charset="-120"/>
              </a:rPr>
              <a:t>✅  OUTCOMES
</a:t>
            </a: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 Faster development cycles</a:t>
            </a:r>
            <a:endParaRPr lang="en-US" sz="1050" dirty="0"/>
          </a:p>
          <a:p>
            <a:pPr marL="0" indent="0">
              <a:lnSpc>
                <a:spcPct val="110000"/>
              </a:lnSpc>
              <a:buNone/>
            </a:pP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 Higher data quality</a:t>
            </a:r>
            <a:endParaRPr lang="en-US" sz="1050" dirty="0"/>
          </a:p>
          <a:p>
            <a:pPr marL="0" indent="0">
              <a:lnSpc>
                <a:spcPct val="110000"/>
              </a:lnSpc>
              <a:buNone/>
            </a:pP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 Personalised, real-time analytics</a:t>
            </a:r>
            <a:endParaRPr lang="en-US" sz="1050" dirty="0"/>
          </a:p>
          <a:p>
            <a:pPr marL="0" indent="0">
              <a:lnSpc>
                <a:spcPct val="110000"/>
              </a:lnSpc>
              <a:buNone/>
            </a:pPr>
            <a:endParaRPr lang="en-US" sz="1050" dirty="0"/>
          </a:p>
          <a:p>
            <a:pPr marL="0" indent="0">
              <a:lnSpc>
                <a:spcPct val="110000"/>
              </a:lnSpc>
              <a:buNone/>
            </a:pPr>
            <a:r>
              <a:rPr lang="en-US" sz="900" dirty="0">
                <a:solidFill>
                  <a:srgbClr val="1A1A2E"/>
                </a:solidFill>
                <a:latin typeface="Calibri" pitchFamily="34" charset="0"/>
                <a:ea typeface="Calibri" pitchFamily="34" charset="-122"/>
                <a:cs typeface="Calibri" pitchFamily="34" charset="-120"/>
              </a:rPr>
              <a:t>• Informed decision-making from unified data views</a:t>
            </a:r>
            <a:endParaRPr lang="en-US" sz="1050" dirty="0"/>
          </a:p>
        </p:txBody>
      </p:sp>
      <p:sp>
        <p:nvSpPr>
          <p:cNvPr id="8" name="Text 5"/>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Engineering  ·  Day 12</a:t>
            </a:r>
            <a:endParaRPr lang="en-US" sz="675" dirty="0"/>
          </a:p>
        </p:txBody>
      </p:sp>
      <p:sp>
        <p:nvSpPr>
          <p:cNvPr id="9" name="Text 6"/>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10</a:t>
            </a:r>
            <a:endParaRPr lang="en-US" sz="675" dirty="0"/>
          </a:p>
        </p:txBody>
      </p:sp>
    </p:spTree>
    <p:extLst>
      <p:ext uri="{BB962C8B-B14F-4D97-AF65-F5344CB8AC3E}">
        <p14:creationId xmlns:p14="http://schemas.microsoft.com/office/powerpoint/2010/main" val="20506316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GLOSSARY</a:t>
            </a:r>
            <a:endParaRPr lang="en-US" sz="900" dirty="0"/>
          </a:p>
        </p:txBody>
      </p:sp>
      <p:sp>
        <p:nvSpPr>
          <p:cNvPr id="4" name="Text 2"/>
          <p:cNvSpPr/>
          <p:nvPr/>
        </p:nvSpPr>
        <p:spPr>
          <a:xfrm>
            <a:off x="411480" y="308610"/>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100" b="1" dirty="0">
                <a:solidFill>
                  <a:srgbClr val="FFFFFF"/>
                </a:solidFill>
                <a:latin typeface="Calibri" pitchFamily="34" charset="0"/>
                <a:ea typeface="Calibri" pitchFamily="34" charset="-122"/>
                <a:cs typeface="Calibri" pitchFamily="34" charset="-120"/>
              </a:rPr>
              <a:t>Quick Reference: Key Terms</a:t>
            </a:r>
            <a:endParaRPr lang="en-US" sz="2100" dirty="0"/>
          </a:p>
        </p:txBody>
      </p:sp>
      <p:graphicFrame>
        <p:nvGraphicFramePr>
          <p:cNvPr id="12" name="Table 0"/>
          <p:cNvGraphicFramePr>
            <a:graphicFrameLocks noGrp="1"/>
          </p:cNvGraphicFramePr>
          <p:nvPr/>
        </p:nvGraphicFramePr>
        <p:xfrm>
          <a:off x="411480" y="1028700"/>
          <a:ext cx="8298180" cy="4080510"/>
        </p:xfrm>
        <a:graphic>
          <a:graphicData uri="http://schemas.openxmlformats.org/drawingml/2006/table">
            <a:tbl>
              <a:tblPr/>
              <a:tblGrid>
                <a:gridCol w="1920240">
                  <a:extLst>
                    <a:ext uri="{9D8B030D-6E8A-4147-A177-3AD203B41FA5}">
                      <a16:colId xmlns:a16="http://schemas.microsoft.com/office/drawing/2014/main" val="20000"/>
                    </a:ext>
                  </a:extLst>
                </a:gridCol>
                <a:gridCol w="6377940">
                  <a:extLst>
                    <a:ext uri="{9D8B030D-6E8A-4147-A177-3AD203B41FA5}">
                      <a16:colId xmlns:a16="http://schemas.microsoft.com/office/drawing/2014/main" val="20001"/>
                    </a:ext>
                  </a:extLst>
                </a:gridCol>
              </a:tblGrid>
              <a:tr h="58293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Term</a:t>
                      </a:r>
                      <a:endParaRPr lang="en-US" sz="10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A1F44"/>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Definition</a:t>
                      </a:r>
                      <a:endParaRPr lang="en-US" sz="10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582930">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Generative AI</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AI that creates new content (text, images, code, data) rather than just analysing it</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1"/>
                  </a:ext>
                </a:extLst>
              </a:tr>
              <a:tr h="582930">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GAN</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Generative Adversarial Network - generator vs discriminator competing to create realistic data</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2930">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VAE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Variational Autoencoder - compresses &amp; reconstructs data to generate new variations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3"/>
                  </a:ext>
                </a:extLst>
              </a:tr>
              <a:tr h="582930">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Synthetic Data</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Artificially generated data that preserves statistical properties of real data</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82930">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ETL/ELT Pipeline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Process to Extract, Transform/Load data between systems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5"/>
                  </a:ext>
                </a:extLst>
              </a:tr>
              <a:tr h="582930">
                <a:tc>
                  <a:txBody>
                    <a:bodyPr/>
                    <a:lstStyle/>
                    <a:p>
                      <a:pPr marL="0" indent="0">
                        <a:buNone/>
                      </a:pPr>
                      <a:r>
                        <a:rPr lang="en-US" sz="900" b="1" dirty="0">
                          <a:solidFill>
                            <a:srgbClr val="5B2D8E"/>
                          </a:solidFill>
                          <a:latin typeface="Calibri" pitchFamily="34" charset="0"/>
                          <a:ea typeface="Calibri" pitchFamily="34" charset="-122"/>
                          <a:cs typeface="Calibri" pitchFamily="34" charset="-120"/>
                        </a:rPr>
                        <a:t>Schema Optimisation</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AI-driven design of database structure based on usage patterns</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Engineering  ·  Day 12</a:t>
            </a:r>
            <a:endParaRPr lang="en-US" sz="675" dirty="0"/>
          </a:p>
        </p:txBody>
      </p:sp>
      <p:sp>
        <p:nvSpPr>
          <p:cNvPr id="7" name="Text 4"/>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11</a:t>
            </a:r>
            <a:endParaRPr lang="en-US" sz="675" dirty="0"/>
          </a:p>
        </p:txBody>
      </p:sp>
    </p:spTree>
    <p:extLst>
      <p:ext uri="{BB962C8B-B14F-4D97-AF65-F5344CB8AC3E}">
        <p14:creationId xmlns:p14="http://schemas.microsoft.com/office/powerpoint/2010/main" val="12525191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12">
    <p:bg>
      <p:bgPr>
        <a:solidFill>
          <a:srgbClr val="0A1F44"/>
        </a:solidFill>
        <a:effectLst/>
      </p:bgPr>
    </p:bg>
    <p:spTree>
      <p:nvGrpSpPr>
        <p:cNvPr id="1" name=""/>
        <p:cNvGrpSpPr/>
        <p:nvPr/>
      </p:nvGrpSpPr>
      <p:grpSpPr>
        <a:xfrm>
          <a:off x="0" y="0"/>
          <a:ext cx="0" cy="0"/>
          <a:chOff x="0" y="0"/>
          <a:chExt cx="0" cy="0"/>
        </a:xfrm>
      </p:grpSpPr>
      <p:sp>
        <p:nvSpPr>
          <p:cNvPr id="2" name="Shape 0"/>
          <p:cNvSpPr/>
          <p:nvPr/>
        </p:nvSpPr>
        <p:spPr>
          <a:xfrm>
            <a:off x="-1028700" y="3086100"/>
            <a:ext cx="3429000" cy="3429000"/>
          </a:xfrm>
          <a:prstGeom prst="ellipse">
            <a:avLst/>
          </a:prstGeom>
          <a:solidFill>
            <a:srgbClr val="1A3560"/>
          </a:solidFill>
          <a:ln/>
        </p:spPr>
      </p:sp>
      <p:sp>
        <p:nvSpPr>
          <p:cNvPr id="3" name="Text 1"/>
          <p:cNvSpPr/>
          <p:nvPr/>
        </p:nvSpPr>
        <p:spPr>
          <a:xfrm>
            <a:off x="480060" y="480060"/>
            <a:ext cx="75438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kern="0" spc="150" dirty="0">
                <a:solidFill>
                  <a:srgbClr val="DDEEFF"/>
                </a:solidFill>
                <a:latin typeface="Calibri" pitchFamily="34" charset="0"/>
                <a:ea typeface="Calibri" pitchFamily="34" charset="-122"/>
                <a:cs typeface="Calibri" pitchFamily="34" charset="-120"/>
              </a:rPr>
              <a:t>DISCUSSION QUESTIONS</a:t>
            </a:r>
            <a:endParaRPr lang="en-US" sz="1050" dirty="0"/>
          </a:p>
        </p:txBody>
      </p:sp>
      <p:sp>
        <p:nvSpPr>
          <p:cNvPr id="4" name="Text 2"/>
          <p:cNvSpPr/>
          <p:nvPr/>
        </p:nvSpPr>
        <p:spPr>
          <a:xfrm>
            <a:off x="480060" y="960120"/>
            <a:ext cx="7886700" cy="24003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60000"/>
              </a:lnSpc>
              <a:buNone/>
            </a:pPr>
            <a:r>
              <a:rPr lang="en-US" sz="1275" dirty="0">
                <a:solidFill>
                  <a:srgbClr val="FFFFFF"/>
                </a:solidFill>
                <a:latin typeface="Calibri" pitchFamily="34" charset="0"/>
                <a:ea typeface="Calibri" pitchFamily="34" charset="-122"/>
                <a:cs typeface="Calibri" pitchFamily="34" charset="-120"/>
              </a:rPr>
              <a:t>1.  If your company couldn't share real customer data with an external vendor, which GenAI tool would you use, and why?</a:t>
            </a:r>
            <a:endParaRPr lang="en-US" sz="1275" dirty="0"/>
          </a:p>
          <a:p>
            <a:pPr marL="0" indent="0">
              <a:lnSpc>
                <a:spcPct val="160000"/>
              </a:lnSpc>
              <a:buNone/>
            </a:pPr>
            <a:r>
              <a:rPr lang="en-US" sz="1275" dirty="0">
                <a:solidFill>
                  <a:srgbClr val="FFFFFF"/>
                </a:solidFill>
                <a:latin typeface="Calibri" pitchFamily="34" charset="0"/>
                <a:ea typeface="Calibri" pitchFamily="34" charset="-122"/>
                <a:cs typeface="Calibri" pitchFamily="34" charset="-120"/>
              </a:rPr>
              <a:t>2.  How could GenAI-generated ETL scripts change the day-to-day role of a data engineer?</a:t>
            </a:r>
            <a:endParaRPr lang="en-US" sz="1275" dirty="0"/>
          </a:p>
          <a:p>
            <a:pPr marL="0" indent="0">
              <a:lnSpc>
                <a:spcPct val="160000"/>
              </a:lnSpc>
              <a:buNone/>
            </a:pPr>
            <a:r>
              <a:rPr lang="en-US" sz="1275" dirty="0">
                <a:solidFill>
                  <a:srgbClr val="FFFFFF"/>
                </a:solidFill>
                <a:latin typeface="Calibri" pitchFamily="34" charset="0"/>
                <a:ea typeface="Calibri" pitchFamily="34" charset="-122"/>
                <a:cs typeface="Calibri" pitchFamily="34" charset="-120"/>
              </a:rPr>
              <a:t>3.  In the UDP case study, which GenAI capability do you think delivered the biggest business impact - and why?</a:t>
            </a:r>
            <a:endParaRPr lang="en-US" sz="1275" dirty="0"/>
          </a:p>
        </p:txBody>
      </p:sp>
      <p:sp>
        <p:nvSpPr>
          <p:cNvPr id="5" name="Shape 3"/>
          <p:cNvSpPr/>
          <p:nvPr/>
        </p:nvSpPr>
        <p:spPr>
          <a:xfrm>
            <a:off x="480060" y="3840480"/>
            <a:ext cx="960120" cy="41148"/>
          </a:xfrm>
          <a:prstGeom prst="rect">
            <a:avLst/>
          </a:prstGeom>
          <a:solidFill>
            <a:srgbClr val="006D8F"/>
          </a:solidFill>
          <a:ln/>
        </p:spPr>
      </p:sp>
      <p:sp>
        <p:nvSpPr>
          <p:cNvPr id="6" name="Text 4"/>
          <p:cNvSpPr/>
          <p:nvPr/>
        </p:nvSpPr>
        <p:spPr>
          <a:xfrm>
            <a:off x="480060" y="3977640"/>
            <a:ext cx="5486400" cy="5486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400" b="1" dirty="0">
                <a:solidFill>
                  <a:srgbClr val="FFFFFF"/>
                </a:solidFill>
                <a:latin typeface="Calibri" pitchFamily="34" charset="0"/>
                <a:ea typeface="Calibri" pitchFamily="34" charset="-122"/>
                <a:cs typeface="Calibri" pitchFamily="34" charset="-120"/>
              </a:rPr>
              <a:t>Thank You</a:t>
            </a:r>
            <a:endParaRPr lang="en-US" sz="2400" dirty="0"/>
          </a:p>
        </p:txBody>
      </p:sp>
      <p:sp>
        <p:nvSpPr>
          <p:cNvPr id="7" name="Text 5"/>
          <p:cNvSpPr/>
          <p:nvPr/>
        </p:nvSpPr>
        <p:spPr>
          <a:xfrm>
            <a:off x="480060" y="4526280"/>
            <a:ext cx="75438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dirty="0">
                <a:solidFill>
                  <a:srgbClr val="AFC4E0"/>
                </a:solidFill>
                <a:latin typeface="Calibri" pitchFamily="34" charset="0"/>
                <a:ea typeface="Calibri" pitchFamily="34" charset="-122"/>
                <a:cs typeface="Calibri" pitchFamily="34" charset="-120"/>
              </a:rPr>
              <a:t>Unit 3  ·  Day 12  ·  Generative AI for Data Engineering  ·  Adroit ACE</a:t>
            </a:r>
            <a:endParaRPr lang="en-US" sz="900" dirty="0"/>
          </a:p>
        </p:txBody>
      </p:sp>
    </p:spTree>
    <p:extLst>
      <p:ext uri="{BB962C8B-B14F-4D97-AF65-F5344CB8AC3E}">
        <p14:creationId xmlns:p14="http://schemas.microsoft.com/office/powerpoint/2010/main" val="28617706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943B3E-CAB4-233B-B5BB-7D9033B8729C}"/>
              </a:ext>
            </a:extLst>
          </p:cNvPr>
          <p:cNvSpPr txBox="1"/>
          <p:nvPr/>
        </p:nvSpPr>
        <p:spPr>
          <a:xfrm>
            <a:off x="2479528" y="1905000"/>
            <a:ext cx="749199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a:ea typeface="Calibri"/>
                <a:cs typeface="Calibri"/>
              </a:rPr>
              <a:t>DAY 13</a:t>
            </a:r>
            <a:endParaRPr lang="en-US" sz="9600" b="1"/>
          </a:p>
        </p:txBody>
      </p:sp>
    </p:spTree>
    <p:extLst>
      <p:ext uri="{BB962C8B-B14F-4D97-AF65-F5344CB8AC3E}">
        <p14:creationId xmlns:p14="http://schemas.microsoft.com/office/powerpoint/2010/main" val="12727135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1">
    <p:bg>
      <p:bgPr>
        <a:solidFill>
          <a:srgbClr val="0A1F44"/>
        </a:solidFill>
        <a:effectLst/>
      </p:bgPr>
    </p:bg>
    <p:spTree>
      <p:nvGrpSpPr>
        <p:cNvPr id="1" name=""/>
        <p:cNvGrpSpPr/>
        <p:nvPr/>
      </p:nvGrpSpPr>
      <p:grpSpPr>
        <a:xfrm>
          <a:off x="0" y="0"/>
          <a:ext cx="0" cy="0"/>
          <a:chOff x="0" y="0"/>
          <a:chExt cx="0" cy="0"/>
        </a:xfrm>
      </p:grpSpPr>
      <p:sp>
        <p:nvSpPr>
          <p:cNvPr id="2" name="Shape 0"/>
          <p:cNvSpPr/>
          <p:nvPr/>
        </p:nvSpPr>
        <p:spPr>
          <a:xfrm>
            <a:off x="6515100" y="-1371600"/>
            <a:ext cx="4114800" cy="4114800"/>
          </a:xfrm>
          <a:prstGeom prst="ellipse">
            <a:avLst/>
          </a:prstGeom>
          <a:solidFill>
            <a:srgbClr val="1A356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Shape 1"/>
          <p:cNvSpPr/>
          <p:nvPr/>
        </p:nvSpPr>
        <p:spPr>
          <a:xfrm>
            <a:off x="7543800" y="3291840"/>
            <a:ext cx="3086100" cy="3086100"/>
          </a:xfrm>
          <a:prstGeom prst="ellipse">
            <a:avLst/>
          </a:prstGeom>
          <a:solidFill>
            <a:srgbClr val="1A356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4" name="Text 2"/>
          <p:cNvSpPr/>
          <p:nvPr/>
        </p:nvSpPr>
        <p:spPr>
          <a:xfrm>
            <a:off x="480060" y="411480"/>
            <a:ext cx="68580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kern="0" spc="150" dirty="0">
                <a:solidFill>
                  <a:srgbClr val="DDEEFF"/>
                </a:solidFill>
                <a:latin typeface="Calibri" pitchFamily="34" charset="0"/>
                <a:ea typeface="Calibri" pitchFamily="34" charset="-122"/>
                <a:cs typeface="Calibri" pitchFamily="34" charset="-120"/>
              </a:rPr>
              <a:t>IBM CAREER EDUCATION  ·  VIT COLLEGE</a:t>
            </a:r>
            <a:endParaRPr lang="en-US" sz="975" dirty="0"/>
          </a:p>
        </p:txBody>
      </p:sp>
      <p:sp>
        <p:nvSpPr>
          <p:cNvPr id="5" name="Text 3"/>
          <p:cNvSpPr/>
          <p:nvPr/>
        </p:nvSpPr>
        <p:spPr>
          <a:xfrm>
            <a:off x="480060" y="1234440"/>
            <a:ext cx="7200900" cy="15773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05000"/>
              </a:lnSpc>
              <a:buNone/>
            </a:pPr>
            <a:r>
              <a:rPr lang="en-US" sz="3450" b="1" dirty="0">
                <a:solidFill>
                  <a:srgbClr val="FFFFFF"/>
                </a:solidFill>
                <a:latin typeface="Calibri" pitchFamily="34" charset="0"/>
                <a:ea typeface="Calibri" pitchFamily="34" charset="-122"/>
                <a:cs typeface="Calibri" pitchFamily="34" charset="-120"/>
              </a:rPr>
              <a:t>Generative AI for</a:t>
            </a:r>
            <a:endParaRPr lang="en-US" sz="3450" dirty="0"/>
          </a:p>
          <a:p>
            <a:pPr marL="0" indent="0">
              <a:lnSpc>
                <a:spcPct val="105000"/>
              </a:lnSpc>
              <a:buNone/>
            </a:pPr>
            <a:r>
              <a:rPr lang="en-US" sz="3450" b="1" dirty="0">
                <a:solidFill>
                  <a:srgbClr val="FFFFFF"/>
                </a:solidFill>
                <a:latin typeface="Calibri" pitchFamily="34" charset="0"/>
                <a:ea typeface="Calibri" pitchFamily="34" charset="-122"/>
                <a:cs typeface="Calibri" pitchFamily="34" charset="-120"/>
              </a:rPr>
              <a:t>Data Analytics</a:t>
            </a:r>
            <a:endParaRPr lang="en-US" sz="3450" dirty="0"/>
          </a:p>
        </p:txBody>
      </p:sp>
      <p:sp>
        <p:nvSpPr>
          <p:cNvPr id="6" name="Text 4"/>
          <p:cNvSpPr/>
          <p:nvPr/>
        </p:nvSpPr>
        <p:spPr>
          <a:xfrm>
            <a:off x="480060" y="2880360"/>
            <a:ext cx="75438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75" dirty="0">
                <a:solidFill>
                  <a:srgbClr val="C7D6EE"/>
                </a:solidFill>
                <a:latin typeface="Calibri" pitchFamily="34" charset="0"/>
                <a:ea typeface="Calibri" pitchFamily="34" charset="-122"/>
                <a:cs typeface="Calibri" pitchFamily="34" charset="-120"/>
              </a:rPr>
              <a:t>Day 13  ·  Repository Management  ·  Outliers  ·  Data Mining  ·  Lakehouse  ·  Responsible AI</a:t>
            </a:r>
            <a:endParaRPr lang="en-US" sz="1275" dirty="0"/>
          </a:p>
        </p:txBody>
      </p:sp>
      <p:sp>
        <p:nvSpPr>
          <p:cNvPr id="7" name="Shape 5"/>
          <p:cNvSpPr/>
          <p:nvPr/>
        </p:nvSpPr>
        <p:spPr>
          <a:xfrm>
            <a:off x="480060" y="3429000"/>
            <a:ext cx="960120" cy="41148"/>
          </a:xfrm>
          <a:prstGeom prst="rect">
            <a:avLst/>
          </a:prstGeom>
          <a:solidFill>
            <a:srgbClr val="006D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Text 6"/>
          <p:cNvSpPr/>
          <p:nvPr/>
        </p:nvSpPr>
        <p:spPr>
          <a:xfrm>
            <a:off x="480060" y="3634740"/>
            <a:ext cx="75438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C7D6EE"/>
                </a:solidFill>
                <a:latin typeface="Calibri" pitchFamily="34" charset="0"/>
                <a:ea typeface="Calibri" pitchFamily="34" charset="-122"/>
                <a:cs typeface="Calibri" pitchFamily="34" charset="-120"/>
              </a:rPr>
              <a:t>Duration: </a:t>
            </a:r>
            <a:r>
              <a:rPr lang="en-US" sz="975" dirty="0">
                <a:solidFill>
                  <a:srgbClr val="FFFFFF"/>
                </a:solidFill>
                <a:latin typeface="Calibri" pitchFamily="34" charset="0"/>
                <a:ea typeface="Calibri" pitchFamily="34" charset="-122"/>
                <a:cs typeface="Calibri" pitchFamily="34" charset="-120"/>
              </a:rPr>
              <a:t>2–3 Hours      </a:t>
            </a:r>
            <a:r>
              <a:rPr lang="en-US" sz="975" b="1" dirty="0">
                <a:solidFill>
                  <a:srgbClr val="C7D6EE"/>
                </a:solidFill>
                <a:latin typeface="Calibri" pitchFamily="34" charset="0"/>
                <a:ea typeface="Calibri" pitchFamily="34" charset="-122"/>
                <a:cs typeface="Calibri" pitchFamily="34" charset="-120"/>
              </a:rPr>
              <a:t>Mode: </a:t>
            </a:r>
            <a:r>
              <a:rPr lang="en-US" sz="975" dirty="0">
                <a:solidFill>
                  <a:srgbClr val="FFFFFF"/>
                </a:solidFill>
                <a:latin typeface="Calibri" pitchFamily="34" charset="0"/>
                <a:ea typeface="Calibri" pitchFamily="34" charset="-122"/>
                <a:cs typeface="Calibri" pitchFamily="34" charset="-120"/>
              </a:rPr>
              <a:t>Theory + Live Demo + Hands-on Lab</a:t>
            </a:r>
            <a:endParaRPr lang="en-US" sz="975" dirty="0"/>
          </a:p>
        </p:txBody>
      </p:sp>
    </p:spTree>
    <p:extLst>
      <p:ext uri="{BB962C8B-B14F-4D97-AF65-F5344CB8AC3E}">
        <p14:creationId xmlns:p14="http://schemas.microsoft.com/office/powerpoint/2010/main" val="5153101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TODAY'S ROADMAP</a:t>
            </a:r>
            <a:endParaRPr lang="en-US" sz="900" dirty="0"/>
          </a:p>
        </p:txBody>
      </p:sp>
      <p:sp>
        <p:nvSpPr>
          <p:cNvPr id="4" name="Text 2"/>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Session Agenda</a:t>
            </a:r>
            <a:endParaRPr lang="en-US" sz="2025" dirty="0"/>
          </a:p>
        </p:txBody>
      </p:sp>
      <p:sp>
        <p:nvSpPr>
          <p:cNvPr id="5" name="Shape 3"/>
          <p:cNvSpPr/>
          <p:nvPr/>
        </p:nvSpPr>
        <p:spPr>
          <a:xfrm>
            <a:off x="411480" y="994410"/>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48640" y="1097280"/>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01</a:t>
            </a:r>
            <a:endParaRPr lang="en-US" sz="2700" dirty="0"/>
          </a:p>
        </p:txBody>
      </p:sp>
      <p:sp>
        <p:nvSpPr>
          <p:cNvPr id="7" name="Text 5"/>
          <p:cNvSpPr/>
          <p:nvPr/>
        </p:nvSpPr>
        <p:spPr>
          <a:xfrm>
            <a:off x="1303020" y="1117854"/>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88" b="1" dirty="0">
                <a:solidFill>
                  <a:srgbClr val="0A1F44"/>
                </a:solidFill>
                <a:latin typeface="Calibri" pitchFamily="34" charset="0"/>
                <a:ea typeface="Calibri" pitchFamily="34" charset="-122"/>
                <a:cs typeface="Calibri" pitchFamily="34" charset="-120"/>
              </a:rPr>
              <a:t>Data Repository Management</a:t>
            </a:r>
            <a:endParaRPr lang="en-US" sz="1088" dirty="0"/>
          </a:p>
        </p:txBody>
      </p:sp>
      <p:sp>
        <p:nvSpPr>
          <p:cNvPr id="8" name="Text 6"/>
          <p:cNvSpPr/>
          <p:nvPr/>
        </p:nvSpPr>
        <p:spPr>
          <a:xfrm>
            <a:off x="1303020" y="1460754"/>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4 Gen AI applications — metadata, docs, quality checks, access control</a:t>
            </a:r>
            <a:endParaRPr lang="en-US" sz="863" dirty="0"/>
          </a:p>
        </p:txBody>
      </p:sp>
      <p:sp>
        <p:nvSpPr>
          <p:cNvPr id="9" name="Shape 7"/>
          <p:cNvSpPr/>
          <p:nvPr/>
        </p:nvSpPr>
        <p:spPr>
          <a:xfrm>
            <a:off x="411480" y="2338578"/>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0" name="Text 8"/>
          <p:cNvSpPr/>
          <p:nvPr/>
        </p:nvSpPr>
        <p:spPr>
          <a:xfrm>
            <a:off x="548640" y="2441448"/>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02</a:t>
            </a:r>
            <a:endParaRPr lang="en-US" sz="2700" dirty="0"/>
          </a:p>
        </p:txBody>
      </p:sp>
      <p:sp>
        <p:nvSpPr>
          <p:cNvPr id="11" name="Text 9"/>
          <p:cNvSpPr/>
          <p:nvPr/>
        </p:nvSpPr>
        <p:spPr>
          <a:xfrm>
            <a:off x="1303020" y="2462022"/>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88" b="1" dirty="0">
                <a:solidFill>
                  <a:srgbClr val="0A1F44"/>
                </a:solidFill>
                <a:latin typeface="Calibri" pitchFamily="34" charset="0"/>
                <a:ea typeface="Calibri" pitchFamily="34" charset="-122"/>
                <a:cs typeface="Calibri" pitchFamily="34" charset="-120"/>
              </a:rPr>
              <a:t>Outlier Identification</a:t>
            </a:r>
            <a:endParaRPr lang="en-US" sz="1088" dirty="0"/>
          </a:p>
        </p:txBody>
      </p:sp>
      <p:sp>
        <p:nvSpPr>
          <p:cNvPr id="12" name="Text 10"/>
          <p:cNvSpPr/>
          <p:nvPr/>
        </p:nvSpPr>
        <p:spPr>
          <a:xfrm>
            <a:off x="1303020" y="2804922"/>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3-step pipeline: missing values → duplicates → price outliers</a:t>
            </a:r>
            <a:endParaRPr lang="en-US" sz="863" dirty="0"/>
          </a:p>
        </p:txBody>
      </p:sp>
      <p:sp>
        <p:nvSpPr>
          <p:cNvPr id="13" name="Shape 11"/>
          <p:cNvSpPr/>
          <p:nvPr/>
        </p:nvSpPr>
        <p:spPr>
          <a:xfrm>
            <a:off x="411480" y="3682746"/>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4" name="Text 12"/>
          <p:cNvSpPr/>
          <p:nvPr/>
        </p:nvSpPr>
        <p:spPr>
          <a:xfrm>
            <a:off x="548640" y="3785616"/>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03</a:t>
            </a:r>
            <a:endParaRPr lang="en-US" sz="2700" dirty="0"/>
          </a:p>
        </p:txBody>
      </p:sp>
      <p:sp>
        <p:nvSpPr>
          <p:cNvPr id="15" name="Text 13"/>
          <p:cNvSpPr/>
          <p:nvPr/>
        </p:nvSpPr>
        <p:spPr>
          <a:xfrm>
            <a:off x="1303020" y="3806190"/>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88" b="1" dirty="0">
                <a:solidFill>
                  <a:srgbClr val="0A1F44"/>
                </a:solidFill>
                <a:latin typeface="Calibri" pitchFamily="34" charset="0"/>
                <a:ea typeface="Calibri" pitchFamily="34" charset="-122"/>
                <a:cs typeface="Calibri" pitchFamily="34" charset="-120"/>
              </a:rPr>
              <a:t>Data Mining vs Data Analysis</a:t>
            </a:r>
            <a:endParaRPr lang="en-US" sz="1088" dirty="0"/>
          </a:p>
        </p:txBody>
      </p:sp>
      <p:sp>
        <p:nvSpPr>
          <p:cNvPr id="16" name="Text 14"/>
          <p:cNvSpPr/>
          <p:nvPr/>
        </p:nvSpPr>
        <p:spPr>
          <a:xfrm>
            <a:off x="1303020" y="4149090"/>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The difference, detective analogy + correlation analysis</a:t>
            </a:r>
            <a:endParaRPr lang="en-US" sz="863" dirty="0"/>
          </a:p>
        </p:txBody>
      </p:sp>
      <p:sp>
        <p:nvSpPr>
          <p:cNvPr id="17" name="Shape 15"/>
          <p:cNvSpPr/>
          <p:nvPr/>
        </p:nvSpPr>
        <p:spPr>
          <a:xfrm>
            <a:off x="4800600" y="994410"/>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8" name="Text 16"/>
          <p:cNvSpPr/>
          <p:nvPr/>
        </p:nvSpPr>
        <p:spPr>
          <a:xfrm>
            <a:off x="4937760" y="1097280"/>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04</a:t>
            </a:r>
            <a:endParaRPr lang="en-US" sz="2700" dirty="0"/>
          </a:p>
        </p:txBody>
      </p:sp>
      <p:sp>
        <p:nvSpPr>
          <p:cNvPr id="19" name="Text 17"/>
          <p:cNvSpPr/>
          <p:nvPr/>
        </p:nvSpPr>
        <p:spPr>
          <a:xfrm>
            <a:off x="5692140" y="1117854"/>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88" b="1" dirty="0">
                <a:solidFill>
                  <a:srgbClr val="0A1F44"/>
                </a:solidFill>
                <a:latin typeface="Calibri" pitchFamily="34" charset="0"/>
                <a:ea typeface="Calibri" pitchFamily="34" charset="-122"/>
                <a:cs typeface="Calibri" pitchFamily="34" charset="-120"/>
              </a:rPr>
              <a:t>6-Classifier Comparison</a:t>
            </a:r>
            <a:endParaRPr lang="en-US" sz="1088" dirty="0"/>
          </a:p>
        </p:txBody>
      </p:sp>
      <p:sp>
        <p:nvSpPr>
          <p:cNvPr id="20" name="Text 18"/>
          <p:cNvSpPr/>
          <p:nvPr/>
        </p:nvSpPr>
        <p:spPr>
          <a:xfrm>
            <a:off x="5692140" y="1460754"/>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Gen AI for liver disease prediction — correlation, scaling, 6 algorithms</a:t>
            </a:r>
            <a:endParaRPr lang="en-US" sz="863" dirty="0"/>
          </a:p>
        </p:txBody>
      </p:sp>
      <p:sp>
        <p:nvSpPr>
          <p:cNvPr id="21" name="Shape 19"/>
          <p:cNvSpPr/>
          <p:nvPr/>
        </p:nvSpPr>
        <p:spPr>
          <a:xfrm>
            <a:off x="4800600" y="2338578"/>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2" name="Text 20"/>
          <p:cNvSpPr/>
          <p:nvPr/>
        </p:nvSpPr>
        <p:spPr>
          <a:xfrm>
            <a:off x="4937760" y="2441448"/>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05</a:t>
            </a:r>
            <a:endParaRPr lang="en-US" sz="2700" dirty="0"/>
          </a:p>
        </p:txBody>
      </p:sp>
      <p:sp>
        <p:nvSpPr>
          <p:cNvPr id="23" name="Text 21"/>
          <p:cNvSpPr/>
          <p:nvPr/>
        </p:nvSpPr>
        <p:spPr>
          <a:xfrm>
            <a:off x="5692140" y="2462022"/>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88" b="1" dirty="0">
                <a:solidFill>
                  <a:srgbClr val="0A1F44"/>
                </a:solidFill>
                <a:latin typeface="Calibri" pitchFamily="34" charset="0"/>
                <a:ea typeface="Calibri" pitchFamily="34" charset="-122"/>
                <a:cs typeface="Calibri" pitchFamily="34" charset="-120"/>
              </a:rPr>
              <a:t>Gen AI for Data Lakehouse</a:t>
            </a:r>
            <a:endParaRPr lang="en-US" sz="1088" dirty="0"/>
          </a:p>
        </p:txBody>
      </p:sp>
      <p:sp>
        <p:nvSpPr>
          <p:cNvPr id="24" name="Text 22"/>
          <p:cNvSpPr/>
          <p:nvPr/>
        </p:nvSpPr>
        <p:spPr>
          <a:xfrm>
            <a:off x="5692140" y="2804922"/>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Architecture, ACID, and Gen AI's 4 roles</a:t>
            </a:r>
            <a:endParaRPr lang="en-US" sz="863" dirty="0"/>
          </a:p>
        </p:txBody>
      </p:sp>
      <p:sp>
        <p:nvSpPr>
          <p:cNvPr id="25" name="Shape 23"/>
          <p:cNvSpPr/>
          <p:nvPr/>
        </p:nvSpPr>
        <p:spPr>
          <a:xfrm>
            <a:off x="4800600" y="3682746"/>
            <a:ext cx="4114800" cy="1220724"/>
          </a:xfrm>
          <a:prstGeom prst="roundRect">
            <a:avLst>
              <a:gd name="adj" fmla="val 3371"/>
            </a:avLst>
          </a:prstGeom>
          <a:solidFill>
            <a:srgbClr val="FFFFFF"/>
          </a:solidFill>
          <a:ln/>
          <a:effectLst>
            <a:outerShdw blurRad="63500" dist="25400" dir="5400000" algn="bl" rotWithShape="0">
              <a:srgbClr val="000000">
                <a:alpha val="10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6" name="Text 24"/>
          <p:cNvSpPr/>
          <p:nvPr/>
        </p:nvSpPr>
        <p:spPr>
          <a:xfrm>
            <a:off x="4937760" y="3785616"/>
            <a:ext cx="822960" cy="6858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700" b="1" dirty="0">
                <a:solidFill>
                  <a:srgbClr val="CFE3F7"/>
                </a:solidFill>
                <a:latin typeface="Calibri" pitchFamily="34" charset="0"/>
                <a:ea typeface="Calibri" pitchFamily="34" charset="-122"/>
                <a:cs typeface="Calibri" pitchFamily="34" charset="-120"/>
              </a:rPr>
              <a:t>06</a:t>
            </a:r>
            <a:endParaRPr lang="en-US" sz="2700" dirty="0"/>
          </a:p>
        </p:txBody>
      </p:sp>
      <p:sp>
        <p:nvSpPr>
          <p:cNvPr id="27" name="Text 25"/>
          <p:cNvSpPr/>
          <p:nvPr/>
        </p:nvSpPr>
        <p:spPr>
          <a:xfrm>
            <a:off x="5692140" y="3806190"/>
            <a:ext cx="30861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88" b="1" dirty="0">
                <a:solidFill>
                  <a:srgbClr val="0A1F44"/>
                </a:solidFill>
                <a:latin typeface="Calibri" pitchFamily="34" charset="0"/>
                <a:ea typeface="Calibri" pitchFamily="34" charset="-122"/>
                <a:cs typeface="Calibri" pitchFamily="34" charset="-120"/>
              </a:rPr>
              <a:t>Responsible AI &amp; Challenges</a:t>
            </a:r>
            <a:endParaRPr lang="en-US" sz="1088" dirty="0"/>
          </a:p>
        </p:txBody>
      </p:sp>
      <p:sp>
        <p:nvSpPr>
          <p:cNvPr id="28" name="Text 26"/>
          <p:cNvSpPr/>
          <p:nvPr/>
        </p:nvSpPr>
        <p:spPr>
          <a:xfrm>
            <a:off x="5692140" y="4149090"/>
            <a:ext cx="3086100" cy="6515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A5A6E"/>
                </a:solidFill>
                <a:latin typeface="Calibri" pitchFamily="34" charset="0"/>
                <a:ea typeface="Calibri" pitchFamily="34" charset="-122"/>
                <a:cs typeface="Calibri" pitchFamily="34" charset="-120"/>
              </a:rPr>
              <a:t>Industry considerations, 3 challenge categories, IBM's 5 pillars</a:t>
            </a:r>
            <a:endParaRPr lang="en-US" sz="863" dirty="0"/>
          </a:p>
        </p:txBody>
      </p:sp>
      <p:sp>
        <p:nvSpPr>
          <p:cNvPr id="29" name="Text 27"/>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30" name="Text 28"/>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2</a:t>
            </a:r>
            <a:endParaRPr lang="en-US" sz="675" dirty="0"/>
          </a:p>
        </p:txBody>
      </p:sp>
    </p:spTree>
    <p:extLst>
      <p:ext uri="{BB962C8B-B14F-4D97-AF65-F5344CB8AC3E}">
        <p14:creationId xmlns:p14="http://schemas.microsoft.com/office/powerpoint/2010/main" val="8826422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1</a:t>
            </a:r>
            <a:endParaRPr lang="en-US" sz="900" dirty="0"/>
          </a:p>
        </p:txBody>
      </p:sp>
      <p:sp>
        <p:nvSpPr>
          <p:cNvPr id="4" name="Text 2"/>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Gen AI for Data Repository Management</a:t>
            </a:r>
            <a:endParaRPr lang="en-US" sz="2025" dirty="0"/>
          </a:p>
        </p:txBody>
      </p:sp>
      <p:sp>
        <p:nvSpPr>
          <p:cNvPr id="5" name="Shape 3"/>
          <p:cNvSpPr/>
          <p:nvPr/>
        </p:nvSpPr>
        <p:spPr>
          <a:xfrm>
            <a:off x="411480" y="994410"/>
            <a:ext cx="8298180" cy="1062990"/>
          </a:xfrm>
          <a:prstGeom prst="roundRect">
            <a:avLst>
              <a:gd name="adj" fmla="val 5161"/>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48640" y="1062990"/>
            <a:ext cx="8023860" cy="9258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i="1" dirty="0">
                <a:solidFill>
                  <a:srgbClr val="5B2D8E"/>
                </a:solidFill>
                <a:latin typeface="Calibri" pitchFamily="34" charset="0"/>
                <a:ea typeface="Calibri" pitchFamily="34" charset="-122"/>
                <a:cs typeface="Calibri" pitchFamily="34" charset="-120"/>
              </a:rPr>
              <a:t>💬  "Think about your own laptop — how many files named 'final.docx', 'final2.docx', 'final_FINAL.docx'? Now imagine that at a hospital with 10 million patient files. Someone has to organise it, document it, check it, and control who can access what. Gen AI does most of it today."</a:t>
            </a:r>
            <a:endParaRPr lang="en-US" sz="975" dirty="0"/>
          </a:p>
        </p:txBody>
      </p:sp>
      <p:sp>
        <p:nvSpPr>
          <p:cNvPr id="7" name="Shape 5"/>
          <p:cNvSpPr/>
          <p:nvPr/>
        </p:nvSpPr>
        <p:spPr>
          <a:xfrm>
            <a:off x="411480" y="2194560"/>
            <a:ext cx="2023110" cy="2503170"/>
          </a:xfrm>
          <a:prstGeom prst="roundRect">
            <a:avLst>
              <a:gd name="adj" fmla="val 2373"/>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Shape 6"/>
          <p:cNvSpPr/>
          <p:nvPr/>
        </p:nvSpPr>
        <p:spPr>
          <a:xfrm>
            <a:off x="411480" y="2194560"/>
            <a:ext cx="2023110" cy="377190"/>
          </a:xfrm>
          <a:prstGeom prst="rect">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9" name="Text 7"/>
          <p:cNvSpPr/>
          <p:nvPr/>
        </p:nvSpPr>
        <p:spPr>
          <a:xfrm>
            <a:off x="514350" y="2194560"/>
            <a:ext cx="4114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650" b="1" dirty="0">
                <a:solidFill>
                  <a:srgbClr val="1A6B3A"/>
                </a:solidFill>
                <a:latin typeface="Calibri" pitchFamily="34" charset="0"/>
                <a:ea typeface="Calibri" pitchFamily="34" charset="-122"/>
                <a:cs typeface="Calibri" pitchFamily="34" charset="-120"/>
              </a:rPr>
              <a:t>1</a:t>
            </a:r>
            <a:endParaRPr lang="en-US" sz="1650" dirty="0"/>
          </a:p>
        </p:txBody>
      </p:sp>
      <p:sp>
        <p:nvSpPr>
          <p:cNvPr id="10" name="Text 8"/>
          <p:cNvSpPr/>
          <p:nvPr/>
        </p:nvSpPr>
        <p:spPr>
          <a:xfrm>
            <a:off x="891540" y="2194560"/>
            <a:ext cx="14401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1A6B3A"/>
                </a:solidFill>
                <a:latin typeface="Calibri" pitchFamily="34" charset="0"/>
                <a:ea typeface="Calibri" pitchFamily="34" charset="-122"/>
                <a:cs typeface="Calibri" pitchFamily="34" charset="-120"/>
              </a:rPr>
              <a:t>Metadata Extraction</a:t>
            </a:r>
            <a:endParaRPr lang="en-US" sz="1013" dirty="0"/>
          </a:p>
        </p:txBody>
      </p:sp>
      <p:sp>
        <p:nvSpPr>
          <p:cNvPr id="11" name="Text 9"/>
          <p:cNvSpPr/>
          <p:nvPr/>
        </p:nvSpPr>
        <p:spPr>
          <a:xfrm>
            <a:off x="534924" y="2674620"/>
            <a:ext cx="1776222" cy="19202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938" dirty="0">
                <a:solidFill>
                  <a:srgbClr val="1A1A2E"/>
                </a:solidFill>
                <a:latin typeface="Calibri" pitchFamily="34" charset="0"/>
                <a:ea typeface="Calibri" pitchFamily="34" charset="-122"/>
                <a:cs typeface="Calibri" pitchFamily="34" charset="-120"/>
              </a:rPr>
              <a:t>Reads files and extracts: file name, size, row count, column names, data types, timestamps</a:t>
            </a:r>
            <a:endParaRPr lang="en-US" sz="938" dirty="0"/>
          </a:p>
        </p:txBody>
      </p:sp>
      <p:sp>
        <p:nvSpPr>
          <p:cNvPr id="12" name="Shape 10"/>
          <p:cNvSpPr/>
          <p:nvPr/>
        </p:nvSpPr>
        <p:spPr>
          <a:xfrm>
            <a:off x="2503170" y="2194560"/>
            <a:ext cx="2023110" cy="2503170"/>
          </a:xfrm>
          <a:prstGeom prst="roundRect">
            <a:avLst>
              <a:gd name="adj" fmla="val 2373"/>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3" name="Shape 11"/>
          <p:cNvSpPr/>
          <p:nvPr/>
        </p:nvSpPr>
        <p:spPr>
          <a:xfrm>
            <a:off x="2503170" y="2194560"/>
            <a:ext cx="2023110" cy="377190"/>
          </a:xfrm>
          <a:prstGeom prst="rect">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4" name="Text 12"/>
          <p:cNvSpPr/>
          <p:nvPr/>
        </p:nvSpPr>
        <p:spPr>
          <a:xfrm>
            <a:off x="2606040" y="2194560"/>
            <a:ext cx="4114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650" b="1" dirty="0">
                <a:solidFill>
                  <a:srgbClr val="006D8F"/>
                </a:solidFill>
                <a:latin typeface="Calibri" pitchFamily="34" charset="0"/>
                <a:ea typeface="Calibri" pitchFamily="34" charset="-122"/>
                <a:cs typeface="Calibri" pitchFamily="34" charset="-120"/>
              </a:rPr>
              <a:t>2</a:t>
            </a:r>
            <a:endParaRPr lang="en-US" sz="1650" dirty="0"/>
          </a:p>
        </p:txBody>
      </p:sp>
      <p:sp>
        <p:nvSpPr>
          <p:cNvPr id="15" name="Text 13"/>
          <p:cNvSpPr/>
          <p:nvPr/>
        </p:nvSpPr>
        <p:spPr>
          <a:xfrm>
            <a:off x="2983230" y="2194560"/>
            <a:ext cx="14401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006D8F"/>
                </a:solidFill>
                <a:latin typeface="Calibri" pitchFamily="34" charset="0"/>
                <a:ea typeface="Calibri" pitchFamily="34" charset="-122"/>
                <a:cs typeface="Calibri" pitchFamily="34" charset="-120"/>
              </a:rPr>
              <a:t>Auto Documentation</a:t>
            </a:r>
            <a:endParaRPr lang="en-US" sz="1013" dirty="0"/>
          </a:p>
        </p:txBody>
      </p:sp>
      <p:sp>
        <p:nvSpPr>
          <p:cNvPr id="16" name="Text 14"/>
          <p:cNvSpPr/>
          <p:nvPr/>
        </p:nvSpPr>
        <p:spPr>
          <a:xfrm>
            <a:off x="2626614" y="2674620"/>
            <a:ext cx="1776222" cy="19202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938" dirty="0">
                <a:solidFill>
                  <a:srgbClr val="1A1A2E"/>
                </a:solidFill>
                <a:latin typeface="Calibri" pitchFamily="34" charset="0"/>
                <a:ea typeface="Calibri" pitchFamily="34" charset="-122"/>
                <a:cs typeface="Calibri" pitchFamily="34" charset="-120"/>
              </a:rPr>
              <a:t>Writes a human-readable summary — column descriptions, data lineage, last updated timestamp</a:t>
            </a:r>
            <a:endParaRPr lang="en-US" sz="938" dirty="0"/>
          </a:p>
        </p:txBody>
      </p:sp>
      <p:sp>
        <p:nvSpPr>
          <p:cNvPr id="17" name="Shape 15"/>
          <p:cNvSpPr/>
          <p:nvPr/>
        </p:nvSpPr>
        <p:spPr>
          <a:xfrm>
            <a:off x="4594860" y="2194560"/>
            <a:ext cx="2023110" cy="2503170"/>
          </a:xfrm>
          <a:prstGeom prst="roundRect">
            <a:avLst>
              <a:gd name="adj" fmla="val 2373"/>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8" name="Shape 16"/>
          <p:cNvSpPr/>
          <p:nvPr/>
        </p:nvSpPr>
        <p:spPr>
          <a:xfrm>
            <a:off x="4594860" y="2194560"/>
            <a:ext cx="2023110" cy="377190"/>
          </a:xfrm>
          <a:prstGeom prst="rect">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9" name="Text 17"/>
          <p:cNvSpPr/>
          <p:nvPr/>
        </p:nvSpPr>
        <p:spPr>
          <a:xfrm>
            <a:off x="4697730" y="2194560"/>
            <a:ext cx="4114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650" b="1" dirty="0">
                <a:solidFill>
                  <a:srgbClr val="5B2D8E"/>
                </a:solidFill>
                <a:latin typeface="Calibri" pitchFamily="34" charset="0"/>
                <a:ea typeface="Calibri" pitchFamily="34" charset="-122"/>
                <a:cs typeface="Calibri" pitchFamily="34" charset="-120"/>
              </a:rPr>
              <a:t>3</a:t>
            </a:r>
            <a:endParaRPr lang="en-US" sz="1650" dirty="0"/>
          </a:p>
        </p:txBody>
      </p:sp>
      <p:sp>
        <p:nvSpPr>
          <p:cNvPr id="20" name="Text 18"/>
          <p:cNvSpPr/>
          <p:nvPr/>
        </p:nvSpPr>
        <p:spPr>
          <a:xfrm>
            <a:off x="5074920" y="2194560"/>
            <a:ext cx="14401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5B2D8E"/>
                </a:solidFill>
                <a:latin typeface="Calibri" pitchFamily="34" charset="0"/>
                <a:ea typeface="Calibri" pitchFamily="34" charset="-122"/>
                <a:cs typeface="Calibri" pitchFamily="34" charset="-120"/>
              </a:rPr>
              <a:t>Data Quality Checks</a:t>
            </a:r>
            <a:endParaRPr lang="en-US" sz="1013" dirty="0"/>
          </a:p>
        </p:txBody>
      </p:sp>
      <p:sp>
        <p:nvSpPr>
          <p:cNvPr id="21" name="Text 19"/>
          <p:cNvSpPr/>
          <p:nvPr/>
        </p:nvSpPr>
        <p:spPr>
          <a:xfrm>
            <a:off x="4718304" y="2674620"/>
            <a:ext cx="1776222" cy="19202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938" dirty="0">
                <a:solidFill>
                  <a:srgbClr val="1A1A2E"/>
                </a:solidFill>
                <a:latin typeface="Calibri" pitchFamily="34" charset="0"/>
                <a:ea typeface="Calibri" pitchFamily="34" charset="-122"/>
                <a:cs typeface="Calibri" pitchFamily="34" charset="-120"/>
              </a:rPr>
              <a:t>Scans for missing values, invalid entries (negative quantities, zero prices), duplicate records</a:t>
            </a:r>
            <a:endParaRPr lang="en-US" sz="938" dirty="0"/>
          </a:p>
        </p:txBody>
      </p:sp>
      <p:sp>
        <p:nvSpPr>
          <p:cNvPr id="22" name="Shape 20"/>
          <p:cNvSpPr/>
          <p:nvPr/>
        </p:nvSpPr>
        <p:spPr>
          <a:xfrm>
            <a:off x="6686550" y="2194560"/>
            <a:ext cx="2023110" cy="2503170"/>
          </a:xfrm>
          <a:prstGeom prst="roundRect">
            <a:avLst>
              <a:gd name="adj" fmla="val 2373"/>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3" name="Shape 21"/>
          <p:cNvSpPr/>
          <p:nvPr/>
        </p:nvSpPr>
        <p:spPr>
          <a:xfrm>
            <a:off x="6686550" y="2194560"/>
            <a:ext cx="2023110" cy="377190"/>
          </a:xfrm>
          <a:prstGeom prst="rect">
            <a:avLst/>
          </a:prstGeom>
          <a:solidFill>
            <a:srgbClr val="FFFBE6"/>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4" name="Text 22"/>
          <p:cNvSpPr/>
          <p:nvPr/>
        </p:nvSpPr>
        <p:spPr>
          <a:xfrm>
            <a:off x="6789420" y="2194560"/>
            <a:ext cx="4114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650" b="1" dirty="0">
                <a:solidFill>
                  <a:srgbClr val="E85D04"/>
                </a:solidFill>
                <a:latin typeface="Calibri" pitchFamily="34" charset="0"/>
                <a:ea typeface="Calibri" pitchFamily="34" charset="-122"/>
                <a:cs typeface="Calibri" pitchFamily="34" charset="-120"/>
              </a:rPr>
              <a:t>4</a:t>
            </a:r>
            <a:endParaRPr lang="en-US" sz="1650" dirty="0"/>
          </a:p>
        </p:txBody>
      </p:sp>
      <p:sp>
        <p:nvSpPr>
          <p:cNvPr id="25" name="Text 23"/>
          <p:cNvSpPr/>
          <p:nvPr/>
        </p:nvSpPr>
        <p:spPr>
          <a:xfrm>
            <a:off x="7166610" y="2194560"/>
            <a:ext cx="14401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E85D04"/>
                </a:solidFill>
                <a:latin typeface="Calibri" pitchFamily="34" charset="0"/>
                <a:ea typeface="Calibri" pitchFamily="34" charset="-122"/>
                <a:cs typeface="Calibri" pitchFamily="34" charset="-120"/>
              </a:rPr>
              <a:t>Access Control</a:t>
            </a:r>
            <a:endParaRPr lang="en-US" sz="1013" dirty="0"/>
          </a:p>
        </p:txBody>
      </p:sp>
      <p:sp>
        <p:nvSpPr>
          <p:cNvPr id="26" name="Text 24"/>
          <p:cNvSpPr/>
          <p:nvPr/>
        </p:nvSpPr>
        <p:spPr>
          <a:xfrm>
            <a:off x="6809994" y="2674620"/>
            <a:ext cx="1776222" cy="19202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938" dirty="0">
                <a:solidFill>
                  <a:srgbClr val="1A1A2E"/>
                </a:solidFill>
                <a:latin typeface="Calibri" pitchFamily="34" charset="0"/>
                <a:ea typeface="Calibri" pitchFamily="34" charset="-122"/>
                <a:cs typeface="Calibri" pitchFamily="34" charset="-120"/>
              </a:rPr>
              <a:t>Labels columns as PUBLIC or RESTRICTED; generates masked public-safe exports</a:t>
            </a:r>
            <a:endParaRPr lang="en-US" sz="938" dirty="0"/>
          </a:p>
        </p:txBody>
      </p:sp>
      <p:sp>
        <p:nvSpPr>
          <p:cNvPr id="27" name="Text 25"/>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28" name="Text 26"/>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3</a:t>
            </a:r>
            <a:endParaRPr lang="en-US" sz="675" dirty="0"/>
          </a:p>
        </p:txBody>
      </p:sp>
    </p:spTree>
    <p:extLst>
      <p:ext uri="{BB962C8B-B14F-4D97-AF65-F5344CB8AC3E}">
        <p14:creationId xmlns:p14="http://schemas.microsoft.com/office/powerpoint/2010/main" val="15937024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1</a:t>
            </a:r>
            <a:endParaRPr lang="en-US" sz="900" dirty="0"/>
          </a:p>
        </p:txBody>
      </p:sp>
      <p:sp>
        <p:nvSpPr>
          <p:cNvPr id="4" name="Text 2"/>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Data Quality Checks — What Gen AI Finds</a:t>
            </a:r>
            <a:endParaRPr lang="en-US" sz="2025" dirty="0"/>
          </a:p>
        </p:txBody>
      </p:sp>
      <p:sp>
        <p:nvSpPr>
          <p:cNvPr id="5" name="Shape 3"/>
          <p:cNvSpPr/>
          <p:nvPr/>
        </p:nvSpPr>
        <p:spPr>
          <a:xfrm>
            <a:off x="411480" y="994410"/>
            <a:ext cx="8298180" cy="960120"/>
          </a:xfrm>
          <a:prstGeom prst="roundRect">
            <a:avLst>
              <a:gd name="adj" fmla="val 5000"/>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34924" y="1090422"/>
            <a:ext cx="8051292" cy="76809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1A6B3A"/>
                </a:solidFill>
                <a:latin typeface="Calibri" pitchFamily="34" charset="0"/>
                <a:ea typeface="Calibri" pitchFamily="34" charset="-122"/>
                <a:cs typeface="Calibri" pitchFamily="34" charset="-120"/>
              </a:rPr>
              <a:t>📚  THE LIBRARY ANALOGY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A library without a librarian doing these 4 jobs becomes useless within a year — books everywhere, no way to find anything, damaged books nobody noticed, restricted books accessible to anyone. A data repository has exactly the same problem — except with millions of files.</a:t>
            </a:r>
            <a:endParaRPr lang="en-US" sz="975" dirty="0"/>
          </a:p>
        </p:txBody>
      </p:sp>
      <p:sp>
        <p:nvSpPr>
          <p:cNvPr id="7" name="Shape 5"/>
          <p:cNvSpPr/>
          <p:nvPr/>
        </p:nvSpPr>
        <p:spPr>
          <a:xfrm>
            <a:off x="411480" y="2125980"/>
            <a:ext cx="2023110" cy="2537460"/>
          </a:xfrm>
          <a:prstGeom prst="roundRect">
            <a:avLst>
              <a:gd name="adj" fmla="val 2373"/>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Shape 6"/>
          <p:cNvSpPr/>
          <p:nvPr/>
        </p:nvSpPr>
        <p:spPr>
          <a:xfrm>
            <a:off x="411480" y="2125980"/>
            <a:ext cx="2023110" cy="34290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9" name="Text 7"/>
          <p:cNvSpPr/>
          <p:nvPr/>
        </p:nvSpPr>
        <p:spPr>
          <a:xfrm>
            <a:off x="514350" y="2125980"/>
            <a:ext cx="181737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FFFFFF"/>
                </a:solidFill>
                <a:latin typeface="Calibri" pitchFamily="34" charset="0"/>
                <a:ea typeface="Calibri" pitchFamily="34" charset="-122"/>
                <a:cs typeface="Calibri" pitchFamily="34" charset="-120"/>
              </a:rPr>
              <a:t>Missing Values</a:t>
            </a:r>
            <a:endParaRPr lang="en-US" sz="1013" dirty="0"/>
          </a:p>
        </p:txBody>
      </p:sp>
      <p:sp>
        <p:nvSpPr>
          <p:cNvPr id="10" name="Text 8"/>
          <p:cNvSpPr/>
          <p:nvPr/>
        </p:nvSpPr>
        <p:spPr>
          <a:xfrm>
            <a:off x="534924" y="2571750"/>
            <a:ext cx="1776222" cy="10287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38" b="1" dirty="0">
                <a:solidFill>
                  <a:srgbClr val="1A1A2E"/>
                </a:solidFill>
                <a:latin typeface="Calibri" pitchFamily="34" charset="0"/>
                <a:ea typeface="Calibri" pitchFamily="34" charset="-122"/>
                <a:cs typeface="Calibri" pitchFamily="34" charset="-120"/>
              </a:rPr>
              <a:t>Finds NULL or blank cells in any column — CustomerName, Region, etc.</a:t>
            </a:r>
            <a:endParaRPr lang="en-US" sz="938" dirty="0"/>
          </a:p>
        </p:txBody>
      </p:sp>
      <p:sp>
        <p:nvSpPr>
          <p:cNvPr id="11" name="Shape 9"/>
          <p:cNvSpPr/>
          <p:nvPr/>
        </p:nvSpPr>
        <p:spPr>
          <a:xfrm>
            <a:off x="534924" y="3669030"/>
            <a:ext cx="1776222" cy="13716"/>
          </a:xfrm>
          <a:prstGeom prst="rect">
            <a:avLst/>
          </a:prstGeom>
          <a:solidFill>
            <a:srgbClr val="E0E0E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2" name="Text 10"/>
          <p:cNvSpPr/>
          <p:nvPr/>
        </p:nvSpPr>
        <p:spPr>
          <a:xfrm>
            <a:off x="534924" y="3737610"/>
            <a:ext cx="1776222" cy="85725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63" b="1" dirty="0">
                <a:solidFill>
                  <a:srgbClr val="E85D04"/>
                </a:solidFill>
                <a:latin typeface="Calibri" pitchFamily="34" charset="0"/>
                <a:ea typeface="Calibri" pitchFamily="34" charset="-122"/>
                <a:cs typeface="Calibri" pitchFamily="34" charset="-120"/>
              </a:rPr>
              <a:t>💥 Why it matters: </a:t>
            </a:r>
            <a:r>
              <a:rPr lang="en-US" sz="863" dirty="0">
                <a:solidFill>
                  <a:srgbClr val="5A5A6E"/>
                </a:solidFill>
                <a:latin typeface="Calibri" pitchFamily="34" charset="0"/>
                <a:ea typeface="Calibri" pitchFamily="34" charset="-122"/>
                <a:cs typeface="Calibri" pitchFamily="34" charset="-120"/>
              </a:rPr>
              <a:t>A missing region means you can't analyse North vs South sales performance</a:t>
            </a:r>
            <a:endParaRPr lang="en-US" sz="863" dirty="0"/>
          </a:p>
        </p:txBody>
      </p:sp>
      <p:sp>
        <p:nvSpPr>
          <p:cNvPr id="13" name="Shape 11"/>
          <p:cNvSpPr/>
          <p:nvPr/>
        </p:nvSpPr>
        <p:spPr>
          <a:xfrm>
            <a:off x="2503170" y="2125980"/>
            <a:ext cx="2023110" cy="2537460"/>
          </a:xfrm>
          <a:prstGeom prst="roundRect">
            <a:avLst>
              <a:gd name="adj" fmla="val 2373"/>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4" name="Shape 12"/>
          <p:cNvSpPr/>
          <p:nvPr/>
        </p:nvSpPr>
        <p:spPr>
          <a:xfrm>
            <a:off x="2503170" y="2125980"/>
            <a:ext cx="2023110" cy="34290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5" name="Text 13"/>
          <p:cNvSpPr/>
          <p:nvPr/>
        </p:nvSpPr>
        <p:spPr>
          <a:xfrm>
            <a:off x="2606040" y="2125980"/>
            <a:ext cx="181737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FFFFFF"/>
                </a:solidFill>
                <a:latin typeface="Calibri" pitchFamily="34" charset="0"/>
                <a:ea typeface="Calibri" pitchFamily="34" charset="-122"/>
                <a:cs typeface="Calibri" pitchFamily="34" charset="-120"/>
              </a:rPr>
              <a:t>Negative Quantities</a:t>
            </a:r>
            <a:endParaRPr lang="en-US" sz="1013" dirty="0"/>
          </a:p>
        </p:txBody>
      </p:sp>
      <p:sp>
        <p:nvSpPr>
          <p:cNvPr id="16" name="Text 14"/>
          <p:cNvSpPr/>
          <p:nvPr/>
        </p:nvSpPr>
        <p:spPr>
          <a:xfrm>
            <a:off x="2626614" y="2571750"/>
            <a:ext cx="1776222" cy="10287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38" b="1" dirty="0">
                <a:solidFill>
                  <a:srgbClr val="1A1A2E"/>
                </a:solidFill>
                <a:latin typeface="Calibri" pitchFamily="34" charset="0"/>
                <a:ea typeface="Calibri" pitchFamily="34" charset="-122"/>
                <a:cs typeface="Calibri" pitchFamily="34" charset="-120"/>
              </a:rPr>
              <a:t>Finds quantity values below zero — physically impossible for an order</a:t>
            </a:r>
            <a:endParaRPr lang="en-US" sz="938" dirty="0"/>
          </a:p>
        </p:txBody>
      </p:sp>
      <p:sp>
        <p:nvSpPr>
          <p:cNvPr id="17" name="Shape 15"/>
          <p:cNvSpPr/>
          <p:nvPr/>
        </p:nvSpPr>
        <p:spPr>
          <a:xfrm>
            <a:off x="2626614" y="3669030"/>
            <a:ext cx="1776222" cy="13716"/>
          </a:xfrm>
          <a:prstGeom prst="rect">
            <a:avLst/>
          </a:prstGeom>
          <a:solidFill>
            <a:srgbClr val="E0E0E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8" name="Text 16"/>
          <p:cNvSpPr/>
          <p:nvPr/>
        </p:nvSpPr>
        <p:spPr>
          <a:xfrm>
            <a:off x="2626614" y="3737610"/>
            <a:ext cx="1776222" cy="85725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63" b="1" dirty="0">
                <a:solidFill>
                  <a:srgbClr val="E85D04"/>
                </a:solidFill>
                <a:latin typeface="Calibri" pitchFamily="34" charset="0"/>
                <a:ea typeface="Calibri" pitchFamily="34" charset="-122"/>
                <a:cs typeface="Calibri" pitchFamily="34" charset="-120"/>
              </a:rPr>
              <a:t>💥 Why it matters: </a:t>
            </a:r>
            <a:r>
              <a:rPr lang="en-US" sz="863" dirty="0">
                <a:solidFill>
                  <a:srgbClr val="5A5A6E"/>
                </a:solidFill>
                <a:latin typeface="Calibri" pitchFamily="34" charset="0"/>
                <a:ea typeface="Calibri" pitchFamily="34" charset="-122"/>
                <a:cs typeface="Calibri" pitchFamily="34" charset="-120"/>
              </a:rPr>
              <a:t>Negative quantities inflate returns data and corrupt revenue calculations</a:t>
            </a:r>
            <a:endParaRPr lang="en-US" sz="863" dirty="0"/>
          </a:p>
        </p:txBody>
      </p:sp>
      <p:sp>
        <p:nvSpPr>
          <p:cNvPr id="19" name="Shape 17"/>
          <p:cNvSpPr/>
          <p:nvPr/>
        </p:nvSpPr>
        <p:spPr>
          <a:xfrm>
            <a:off x="4594860" y="2125980"/>
            <a:ext cx="2023110" cy="2537460"/>
          </a:xfrm>
          <a:prstGeom prst="roundRect">
            <a:avLst>
              <a:gd name="adj" fmla="val 2373"/>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0" name="Shape 18"/>
          <p:cNvSpPr/>
          <p:nvPr/>
        </p:nvSpPr>
        <p:spPr>
          <a:xfrm>
            <a:off x="4594860" y="2125980"/>
            <a:ext cx="2023110" cy="34290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1" name="Text 19"/>
          <p:cNvSpPr/>
          <p:nvPr/>
        </p:nvSpPr>
        <p:spPr>
          <a:xfrm>
            <a:off x="4697730" y="2125980"/>
            <a:ext cx="181737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FFFFFF"/>
                </a:solidFill>
                <a:latin typeface="Calibri" pitchFamily="34" charset="0"/>
                <a:ea typeface="Calibri" pitchFamily="34" charset="-122"/>
                <a:cs typeface="Calibri" pitchFamily="34" charset="-120"/>
              </a:rPr>
              <a:t>Invalid Prices</a:t>
            </a:r>
            <a:endParaRPr lang="en-US" sz="1013" dirty="0"/>
          </a:p>
        </p:txBody>
      </p:sp>
      <p:sp>
        <p:nvSpPr>
          <p:cNvPr id="22" name="Text 20"/>
          <p:cNvSpPr/>
          <p:nvPr/>
        </p:nvSpPr>
        <p:spPr>
          <a:xfrm>
            <a:off x="4718304" y="2571750"/>
            <a:ext cx="1776222" cy="10287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38" b="1" dirty="0">
                <a:solidFill>
                  <a:srgbClr val="1A1A2E"/>
                </a:solidFill>
                <a:latin typeface="Calibri" pitchFamily="34" charset="0"/>
                <a:ea typeface="Calibri" pitchFamily="34" charset="-122"/>
                <a:cs typeface="Calibri" pitchFamily="34" charset="-120"/>
              </a:rPr>
              <a:t>Finds UnitPrice of zero or below — impossible for a real product sale</a:t>
            </a:r>
            <a:endParaRPr lang="en-US" sz="938" dirty="0"/>
          </a:p>
        </p:txBody>
      </p:sp>
      <p:sp>
        <p:nvSpPr>
          <p:cNvPr id="23" name="Shape 21"/>
          <p:cNvSpPr/>
          <p:nvPr/>
        </p:nvSpPr>
        <p:spPr>
          <a:xfrm>
            <a:off x="4718304" y="3669030"/>
            <a:ext cx="1776222" cy="13716"/>
          </a:xfrm>
          <a:prstGeom prst="rect">
            <a:avLst/>
          </a:prstGeom>
          <a:solidFill>
            <a:srgbClr val="E0E0E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4" name="Text 22"/>
          <p:cNvSpPr/>
          <p:nvPr/>
        </p:nvSpPr>
        <p:spPr>
          <a:xfrm>
            <a:off x="4718304" y="3737610"/>
            <a:ext cx="1776222" cy="85725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63" b="1" dirty="0">
                <a:solidFill>
                  <a:srgbClr val="E85D04"/>
                </a:solidFill>
                <a:latin typeface="Calibri" pitchFamily="34" charset="0"/>
                <a:ea typeface="Calibri" pitchFamily="34" charset="-122"/>
                <a:cs typeface="Calibri" pitchFamily="34" charset="-120"/>
              </a:rPr>
              <a:t>💥 Why it matters: </a:t>
            </a:r>
            <a:r>
              <a:rPr lang="en-US" sz="863" dirty="0">
                <a:solidFill>
                  <a:srgbClr val="5A5A6E"/>
                </a:solidFill>
                <a:latin typeface="Calibri" pitchFamily="34" charset="0"/>
                <a:ea typeface="Calibri" pitchFamily="34" charset="-122"/>
                <a:cs typeface="Calibri" pitchFamily="34" charset="-120"/>
              </a:rPr>
              <a:t>Zero-price rows make average price calculations wildly inaccurate</a:t>
            </a:r>
            <a:endParaRPr lang="en-US" sz="863" dirty="0"/>
          </a:p>
        </p:txBody>
      </p:sp>
      <p:sp>
        <p:nvSpPr>
          <p:cNvPr id="25" name="Shape 23"/>
          <p:cNvSpPr/>
          <p:nvPr/>
        </p:nvSpPr>
        <p:spPr>
          <a:xfrm>
            <a:off x="6686550" y="2125980"/>
            <a:ext cx="2023110" cy="2537460"/>
          </a:xfrm>
          <a:prstGeom prst="roundRect">
            <a:avLst>
              <a:gd name="adj" fmla="val 2373"/>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6" name="Shape 24"/>
          <p:cNvSpPr/>
          <p:nvPr/>
        </p:nvSpPr>
        <p:spPr>
          <a:xfrm>
            <a:off x="6686550" y="2125980"/>
            <a:ext cx="2023110" cy="34290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7" name="Text 25"/>
          <p:cNvSpPr/>
          <p:nvPr/>
        </p:nvSpPr>
        <p:spPr>
          <a:xfrm>
            <a:off x="6789420" y="2125980"/>
            <a:ext cx="181737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FFFFFF"/>
                </a:solidFill>
                <a:latin typeface="Calibri" pitchFamily="34" charset="0"/>
                <a:ea typeface="Calibri" pitchFamily="34" charset="-122"/>
                <a:cs typeface="Calibri" pitchFamily="34" charset="-120"/>
              </a:rPr>
              <a:t>Duplicate Records</a:t>
            </a:r>
            <a:endParaRPr lang="en-US" sz="1013" dirty="0"/>
          </a:p>
        </p:txBody>
      </p:sp>
      <p:sp>
        <p:nvSpPr>
          <p:cNvPr id="28" name="Text 26"/>
          <p:cNvSpPr/>
          <p:nvPr/>
        </p:nvSpPr>
        <p:spPr>
          <a:xfrm>
            <a:off x="6809994" y="2571750"/>
            <a:ext cx="1776222" cy="10287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38" b="1" dirty="0">
                <a:solidFill>
                  <a:srgbClr val="1A1A2E"/>
                </a:solidFill>
                <a:latin typeface="Calibri" pitchFamily="34" charset="0"/>
                <a:ea typeface="Calibri" pitchFamily="34" charset="-122"/>
                <a:cs typeface="Calibri" pitchFamily="34" charset="-120"/>
              </a:rPr>
              <a:t>Finds rows where every column matches another row exactly</a:t>
            </a:r>
            <a:endParaRPr lang="en-US" sz="938" dirty="0"/>
          </a:p>
        </p:txBody>
      </p:sp>
      <p:sp>
        <p:nvSpPr>
          <p:cNvPr id="29" name="Shape 27"/>
          <p:cNvSpPr/>
          <p:nvPr/>
        </p:nvSpPr>
        <p:spPr>
          <a:xfrm>
            <a:off x="6809994" y="3669030"/>
            <a:ext cx="1776222" cy="13716"/>
          </a:xfrm>
          <a:prstGeom prst="rect">
            <a:avLst/>
          </a:prstGeom>
          <a:solidFill>
            <a:srgbClr val="E0E0E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0" name="Text 28"/>
          <p:cNvSpPr/>
          <p:nvPr/>
        </p:nvSpPr>
        <p:spPr>
          <a:xfrm>
            <a:off x="6809994" y="3737610"/>
            <a:ext cx="1776222" cy="85725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63" b="1" dirty="0">
                <a:solidFill>
                  <a:srgbClr val="E85D04"/>
                </a:solidFill>
                <a:latin typeface="Calibri" pitchFamily="34" charset="0"/>
                <a:ea typeface="Calibri" pitchFamily="34" charset="-122"/>
                <a:cs typeface="Calibri" pitchFamily="34" charset="-120"/>
              </a:rPr>
              <a:t>💥 Why it matters: </a:t>
            </a:r>
            <a:r>
              <a:rPr lang="en-US" sz="863" dirty="0">
                <a:solidFill>
                  <a:srgbClr val="5A5A6E"/>
                </a:solidFill>
                <a:latin typeface="Calibri" pitchFamily="34" charset="0"/>
                <a:ea typeface="Calibri" pitchFamily="34" charset="-122"/>
                <a:cs typeface="Calibri" pitchFamily="34" charset="-120"/>
              </a:rPr>
              <a:t>Duplicate orders double-count revenue and distort customer behaviour analysis</a:t>
            </a:r>
            <a:endParaRPr lang="en-US" sz="863" dirty="0"/>
          </a:p>
        </p:txBody>
      </p:sp>
      <p:sp>
        <p:nvSpPr>
          <p:cNvPr id="31" name="Text 29"/>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32" name="Text 30"/>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4</a:t>
            </a:r>
            <a:endParaRPr lang="en-US" sz="675" dirty="0"/>
          </a:p>
        </p:txBody>
      </p:sp>
    </p:spTree>
    <p:extLst>
      <p:ext uri="{BB962C8B-B14F-4D97-AF65-F5344CB8AC3E}">
        <p14:creationId xmlns:p14="http://schemas.microsoft.com/office/powerpoint/2010/main" val="27432318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2</a:t>
            </a:r>
            <a:endParaRPr lang="en-US" sz="900" dirty="0"/>
          </a:p>
        </p:txBody>
      </p:sp>
      <p:sp>
        <p:nvSpPr>
          <p:cNvPr id="4" name="Text 2"/>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Outlier Identification Using Gen AI</a:t>
            </a:r>
            <a:endParaRPr lang="en-US" sz="2025" dirty="0"/>
          </a:p>
        </p:txBody>
      </p:sp>
      <p:sp>
        <p:nvSpPr>
          <p:cNvPr id="5" name="Shape 3"/>
          <p:cNvSpPr/>
          <p:nvPr/>
        </p:nvSpPr>
        <p:spPr>
          <a:xfrm>
            <a:off x="411480" y="994410"/>
            <a:ext cx="8298180" cy="754380"/>
          </a:xfrm>
          <a:prstGeom prst="roundRect">
            <a:avLst>
              <a:gd name="adj" fmla="val 6364"/>
            </a:avLst>
          </a:prstGeom>
          <a:solidFill>
            <a:srgbClr val="DDEE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34924" y="1090422"/>
            <a:ext cx="8051292" cy="56235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006D8F"/>
                </a:solidFill>
                <a:latin typeface="Calibri" pitchFamily="34" charset="0"/>
                <a:ea typeface="Calibri" pitchFamily="34" charset="-122"/>
                <a:cs typeface="Calibri" pitchFamily="34" charset="-120"/>
              </a:rPr>
              <a:t>🔗  CONNECTING TO WHAT YOU KNOW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ETL pattern you've learned: Extract → Transform → Load. This lab adds a Quality Check step BEFORE loading — finding laptop prices so unusual they might be data entry errors, not real prices.</a:t>
            </a:r>
            <a:endParaRPr lang="en-US" sz="975" dirty="0"/>
          </a:p>
        </p:txBody>
      </p:sp>
      <p:sp>
        <p:nvSpPr>
          <p:cNvPr id="7" name="Shape 5"/>
          <p:cNvSpPr/>
          <p:nvPr/>
        </p:nvSpPr>
        <p:spPr>
          <a:xfrm>
            <a:off x="411480" y="1885950"/>
            <a:ext cx="2743200" cy="2811780"/>
          </a:xfrm>
          <a:prstGeom prst="roundRect">
            <a:avLst>
              <a:gd name="adj" fmla="val 1750"/>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Shape 6"/>
          <p:cNvSpPr/>
          <p:nvPr/>
        </p:nvSpPr>
        <p:spPr>
          <a:xfrm>
            <a:off x="548640" y="2023110"/>
            <a:ext cx="445770" cy="445770"/>
          </a:xfrm>
          <a:prstGeom prst="ellipse">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9" name="Text 7"/>
          <p:cNvSpPr/>
          <p:nvPr/>
        </p:nvSpPr>
        <p:spPr>
          <a:xfrm>
            <a:off x="548640" y="2023110"/>
            <a:ext cx="445770" cy="44577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500" b="1" dirty="0">
                <a:solidFill>
                  <a:srgbClr val="1A6B3A"/>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097280" y="2023110"/>
            <a:ext cx="1954530" cy="44577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Handle Missing Values</a:t>
            </a:r>
            <a:endParaRPr lang="en-US" sz="1125" dirty="0"/>
          </a:p>
        </p:txBody>
      </p:sp>
      <p:sp>
        <p:nvSpPr>
          <p:cNvPr id="11" name="Text 9"/>
          <p:cNvSpPr/>
          <p:nvPr/>
        </p:nvSpPr>
        <p:spPr>
          <a:xfrm>
            <a:off x="548640" y="2571750"/>
            <a:ext cx="2468880" cy="20231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938" dirty="0">
                <a:solidFill>
                  <a:srgbClr val="1A1A2E"/>
                </a:solidFill>
                <a:latin typeface="Calibri" pitchFamily="34" charset="0"/>
                <a:ea typeface="Calibri" pitchFamily="34" charset="-122"/>
                <a:cs typeface="Calibri" pitchFamily="34" charset="-120"/>
              </a:rPr>
              <a:t>This dataset uses '?' instead of blank cells for missing data — a real-world pattern common in scraped data. Replace '?' with the column's average value.</a:t>
            </a:r>
            <a:endParaRPr lang="en-US" sz="938" dirty="0"/>
          </a:p>
        </p:txBody>
      </p:sp>
      <p:sp>
        <p:nvSpPr>
          <p:cNvPr id="12" name="Shape 10"/>
          <p:cNvSpPr/>
          <p:nvPr/>
        </p:nvSpPr>
        <p:spPr>
          <a:xfrm>
            <a:off x="3339846" y="1885950"/>
            <a:ext cx="2743200" cy="2811780"/>
          </a:xfrm>
          <a:prstGeom prst="roundRect">
            <a:avLst>
              <a:gd name="adj" fmla="val 1750"/>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3" name="Shape 11"/>
          <p:cNvSpPr/>
          <p:nvPr/>
        </p:nvSpPr>
        <p:spPr>
          <a:xfrm>
            <a:off x="3477006" y="2023110"/>
            <a:ext cx="445770" cy="445770"/>
          </a:xfrm>
          <a:prstGeom prst="ellipse">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4" name="Text 12"/>
          <p:cNvSpPr/>
          <p:nvPr/>
        </p:nvSpPr>
        <p:spPr>
          <a:xfrm>
            <a:off x="3477006" y="2023110"/>
            <a:ext cx="445770" cy="44577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500" b="1" dirty="0">
                <a:solidFill>
                  <a:srgbClr val="006D8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4025646" y="2023110"/>
            <a:ext cx="1954530" cy="44577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Remove Duplicates</a:t>
            </a:r>
            <a:endParaRPr lang="en-US" sz="1125" dirty="0"/>
          </a:p>
        </p:txBody>
      </p:sp>
      <p:sp>
        <p:nvSpPr>
          <p:cNvPr id="16" name="Text 14"/>
          <p:cNvSpPr/>
          <p:nvPr/>
        </p:nvSpPr>
        <p:spPr>
          <a:xfrm>
            <a:off x="3477006" y="2571750"/>
            <a:ext cx="2468880" cy="20231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938" dirty="0">
                <a:solidFill>
                  <a:srgbClr val="1A1A2E"/>
                </a:solidFill>
                <a:latin typeface="Calibri" pitchFamily="34" charset="0"/>
                <a:ea typeface="Calibri" pitchFamily="34" charset="-122"/>
                <a:cs typeface="Calibri" pitchFamily="34" charset="-120"/>
              </a:rPr>
              <a:t>drop_duplicates() removes rows where EVERY column matches another row exactly. The same laptop may have been scraped twice from a shopping site.</a:t>
            </a:r>
            <a:endParaRPr lang="en-US" sz="938" dirty="0"/>
          </a:p>
        </p:txBody>
      </p:sp>
      <p:sp>
        <p:nvSpPr>
          <p:cNvPr id="17" name="Shape 15"/>
          <p:cNvSpPr/>
          <p:nvPr/>
        </p:nvSpPr>
        <p:spPr>
          <a:xfrm>
            <a:off x="6268212" y="1885950"/>
            <a:ext cx="2743200" cy="2811780"/>
          </a:xfrm>
          <a:prstGeom prst="roundRect">
            <a:avLst>
              <a:gd name="adj" fmla="val 1750"/>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8" name="Shape 16"/>
          <p:cNvSpPr/>
          <p:nvPr/>
        </p:nvSpPr>
        <p:spPr>
          <a:xfrm>
            <a:off x="6405372" y="2023110"/>
            <a:ext cx="445770" cy="445770"/>
          </a:xfrm>
          <a:prstGeom prst="ellipse">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9" name="Text 17"/>
          <p:cNvSpPr/>
          <p:nvPr/>
        </p:nvSpPr>
        <p:spPr>
          <a:xfrm>
            <a:off x="6405372" y="2023110"/>
            <a:ext cx="445770" cy="44577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500" b="1" dirty="0">
                <a:solidFill>
                  <a:srgbClr val="5B2D8E"/>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6954012" y="2023110"/>
            <a:ext cx="1954530" cy="44577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dirty="0">
                <a:solidFill>
                  <a:srgbClr val="0A1F44"/>
                </a:solidFill>
                <a:latin typeface="Calibri" pitchFamily="34" charset="0"/>
                <a:ea typeface="Calibri" pitchFamily="34" charset="-122"/>
                <a:cs typeface="Calibri" pitchFamily="34" charset="-120"/>
              </a:rPr>
              <a:t>Identify Price Outliers</a:t>
            </a:r>
            <a:endParaRPr lang="en-US" sz="1125" dirty="0"/>
          </a:p>
        </p:txBody>
      </p:sp>
      <p:sp>
        <p:nvSpPr>
          <p:cNvPr id="21" name="Text 19"/>
          <p:cNvSpPr/>
          <p:nvPr/>
        </p:nvSpPr>
        <p:spPr>
          <a:xfrm>
            <a:off x="6405372" y="2571750"/>
            <a:ext cx="2468880" cy="20231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938" dirty="0">
                <a:solidFill>
                  <a:srgbClr val="1A1A2E"/>
                </a:solidFill>
                <a:latin typeface="Calibri" pitchFamily="34" charset="0"/>
                <a:ea typeface="Calibri" pitchFamily="34" charset="-122"/>
                <a:cs typeface="Calibri" pitchFamily="34" charset="-120"/>
              </a:rPr>
              <a:t>Flag prices more than 3 standard deviations from the mean. Formula: |Price − mean| &gt; 3 × std_deviation. These get flagged for human review.</a:t>
            </a:r>
            <a:endParaRPr lang="en-US" sz="938" dirty="0"/>
          </a:p>
        </p:txBody>
      </p:sp>
      <p:sp>
        <p:nvSpPr>
          <p:cNvPr id="22" name="Text 20"/>
          <p:cNvSpPr/>
          <p:nvPr/>
        </p:nvSpPr>
        <p:spPr>
          <a:xfrm>
            <a:off x="411480" y="4800600"/>
            <a:ext cx="8298180" cy="26060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i="1" dirty="0">
                <a:solidFill>
                  <a:srgbClr val="E85D04"/>
                </a:solidFill>
                <a:latin typeface="Calibri" pitchFamily="34" charset="0"/>
                <a:ea typeface="Calibri" pitchFamily="34" charset="-122"/>
                <a:cs typeface="Calibri" pitchFamily="34" charset="-120"/>
              </a:rPr>
              <a:t>⚠  An outlier is a FLAG for human review — not an automatic delete. A ₹5 lakh laptop is unusual but real (high-end workstation). AI flags; humans decide.</a:t>
            </a:r>
            <a:endParaRPr lang="en-US" sz="863" dirty="0"/>
          </a:p>
        </p:txBody>
      </p:sp>
      <p:sp>
        <p:nvSpPr>
          <p:cNvPr id="23" name="Text 21"/>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24" name="Text 22"/>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5</a:t>
            </a:r>
            <a:endParaRPr lang="en-US" sz="675" dirty="0"/>
          </a:p>
        </p:txBody>
      </p:sp>
    </p:spTree>
    <p:extLst>
      <p:ext uri="{BB962C8B-B14F-4D97-AF65-F5344CB8AC3E}">
        <p14:creationId xmlns:p14="http://schemas.microsoft.com/office/powerpoint/2010/main" val="8651758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C20FCB1B-B795-B996-FBD8-01C2A5495A4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F842643-7958-4696-E20F-B28C6152CAC7}"/>
              </a:ext>
            </a:extLst>
          </p:cNvPr>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a:extLst>
              <a:ext uri="{FF2B5EF4-FFF2-40B4-BE49-F238E27FC236}">
                <a16:creationId xmlns:a16="http://schemas.microsoft.com/office/drawing/2014/main" id="{57B930F8-F09F-AF3A-1654-6859DE919020}"/>
              </a:ext>
            </a:extLst>
          </p:cNvPr>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2</a:t>
            </a:r>
            <a:endParaRPr lang="en-US" sz="900" dirty="0"/>
          </a:p>
        </p:txBody>
      </p:sp>
      <p:sp>
        <p:nvSpPr>
          <p:cNvPr id="4" name="Text 2">
            <a:extLst>
              <a:ext uri="{FF2B5EF4-FFF2-40B4-BE49-F238E27FC236}">
                <a16:creationId xmlns:a16="http://schemas.microsoft.com/office/drawing/2014/main" id="{12F731B4-53FC-1184-6004-79207E944781}"/>
              </a:ext>
            </a:extLst>
          </p:cNvPr>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Outlier Identification Using Gen AI</a:t>
            </a:r>
            <a:endParaRPr lang="en-US" sz="2025" dirty="0"/>
          </a:p>
        </p:txBody>
      </p:sp>
      <p:sp>
        <p:nvSpPr>
          <p:cNvPr id="22" name="Text 20">
            <a:extLst>
              <a:ext uri="{FF2B5EF4-FFF2-40B4-BE49-F238E27FC236}">
                <a16:creationId xmlns:a16="http://schemas.microsoft.com/office/drawing/2014/main" id="{0C7E69B1-C1F0-6394-1D3A-54FE4B47FCCB}"/>
              </a:ext>
            </a:extLst>
          </p:cNvPr>
          <p:cNvSpPr/>
          <p:nvPr/>
        </p:nvSpPr>
        <p:spPr>
          <a:xfrm>
            <a:off x="411480" y="4800600"/>
            <a:ext cx="8298180" cy="26060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i="1" dirty="0">
                <a:solidFill>
                  <a:srgbClr val="E85D04"/>
                </a:solidFill>
                <a:latin typeface="Calibri" pitchFamily="34" charset="0"/>
                <a:ea typeface="Calibri" pitchFamily="34" charset="-122"/>
                <a:cs typeface="Calibri" pitchFamily="34" charset="-120"/>
              </a:rPr>
              <a:t>⚠  An outlier is a FLAG for human review — not an automatic delete. A ₹5 lakh laptop is unusual but real (high-end workstation). AI flags; humans decide.</a:t>
            </a:r>
            <a:endParaRPr lang="en-US" sz="863" dirty="0"/>
          </a:p>
        </p:txBody>
      </p:sp>
      <p:sp>
        <p:nvSpPr>
          <p:cNvPr id="23" name="Text 21">
            <a:extLst>
              <a:ext uri="{FF2B5EF4-FFF2-40B4-BE49-F238E27FC236}">
                <a16:creationId xmlns:a16="http://schemas.microsoft.com/office/drawing/2014/main" id="{7397F96A-3C15-B191-30EF-0F7345E0BC3D}"/>
              </a:ext>
            </a:extLst>
          </p:cNvPr>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24" name="Text 22">
            <a:extLst>
              <a:ext uri="{FF2B5EF4-FFF2-40B4-BE49-F238E27FC236}">
                <a16:creationId xmlns:a16="http://schemas.microsoft.com/office/drawing/2014/main" id="{A9CDA56B-8784-80F7-FA66-53ED0F0B7B11}"/>
              </a:ext>
            </a:extLst>
          </p:cNvPr>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5</a:t>
            </a:r>
            <a:endParaRPr lang="en-US" sz="675" dirty="0"/>
          </a:p>
        </p:txBody>
      </p:sp>
      <p:pic>
        <p:nvPicPr>
          <p:cNvPr id="26" name="Picture 25">
            <a:extLst>
              <a:ext uri="{FF2B5EF4-FFF2-40B4-BE49-F238E27FC236}">
                <a16:creationId xmlns:a16="http://schemas.microsoft.com/office/drawing/2014/main" id="{826ACC10-85F0-43FD-126C-3F91931BC285}"/>
              </a:ext>
            </a:extLst>
          </p:cNvPr>
          <p:cNvPicPr>
            <a:picLocks noChangeAspect="1"/>
          </p:cNvPicPr>
          <p:nvPr/>
        </p:nvPicPr>
        <p:blipFill>
          <a:blip r:embed="rId3"/>
          <a:stretch>
            <a:fillRect/>
          </a:stretch>
        </p:blipFill>
        <p:spPr>
          <a:xfrm>
            <a:off x="0" y="1238250"/>
            <a:ext cx="9144000" cy="2667000"/>
          </a:xfrm>
          <a:prstGeom prst="rect">
            <a:avLst/>
          </a:prstGeom>
        </p:spPr>
      </p:pic>
    </p:spTree>
    <p:extLst>
      <p:ext uri="{BB962C8B-B14F-4D97-AF65-F5344CB8AC3E}">
        <p14:creationId xmlns:p14="http://schemas.microsoft.com/office/powerpoint/2010/main" val="20560927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3</a:t>
            </a:r>
            <a:endParaRPr lang="en-US" sz="900" dirty="0"/>
          </a:p>
        </p:txBody>
      </p:sp>
      <p:sp>
        <p:nvSpPr>
          <p:cNvPr id="4" name="Text 2"/>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Data Mining vs Data Analysis</a:t>
            </a:r>
            <a:endParaRPr lang="en-US" sz="2025" dirty="0"/>
          </a:p>
        </p:txBody>
      </p:sp>
      <p:sp>
        <p:nvSpPr>
          <p:cNvPr id="5" name="Shape 3"/>
          <p:cNvSpPr/>
          <p:nvPr/>
        </p:nvSpPr>
        <p:spPr>
          <a:xfrm>
            <a:off x="411480" y="994410"/>
            <a:ext cx="4114800" cy="3669030"/>
          </a:xfrm>
          <a:prstGeom prst="roundRect">
            <a:avLst>
              <a:gd name="adj" fmla="val 1308"/>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Shape 4"/>
          <p:cNvSpPr/>
          <p:nvPr/>
        </p:nvSpPr>
        <p:spPr>
          <a:xfrm>
            <a:off x="411480" y="994410"/>
            <a:ext cx="4114800" cy="445770"/>
          </a:xfrm>
          <a:prstGeom prst="rect">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7" name="Text 5"/>
          <p:cNvSpPr/>
          <p:nvPr/>
        </p:nvSpPr>
        <p:spPr>
          <a:xfrm>
            <a:off x="548640" y="994410"/>
            <a:ext cx="3840480" cy="44577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500" b="1" dirty="0">
                <a:solidFill>
                  <a:srgbClr val="5B2D8E"/>
                </a:solidFill>
                <a:latin typeface="Calibri" pitchFamily="34" charset="0"/>
                <a:ea typeface="Calibri" pitchFamily="34" charset="-122"/>
                <a:cs typeface="Calibri" pitchFamily="34" charset="-120"/>
              </a:rPr>
              <a:t>Data Mining</a:t>
            </a:r>
            <a:endParaRPr lang="en-US" sz="1500" dirty="0"/>
          </a:p>
        </p:txBody>
      </p:sp>
      <p:sp>
        <p:nvSpPr>
          <p:cNvPr id="8" name="Text 6"/>
          <p:cNvSpPr/>
          <p:nvPr/>
        </p:nvSpPr>
        <p:spPr>
          <a:xfrm>
            <a:off x="548640" y="1556766"/>
            <a:ext cx="3840480" cy="30175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900" b="1" dirty="0">
                <a:solidFill>
                  <a:srgbClr val="0A1F44"/>
                </a:solidFill>
                <a:latin typeface="Calibri" pitchFamily="34" charset="0"/>
                <a:ea typeface="Calibri" pitchFamily="34" charset="-122"/>
                <a:cs typeface="Calibri" pitchFamily="34" charset="-120"/>
              </a:rPr>
              <a:t>Definition
</a:t>
            </a:r>
            <a:r>
              <a:rPr lang="en-US" sz="975" dirty="0">
                <a:solidFill>
                  <a:srgbClr val="1A1A2E"/>
                </a:solidFill>
                <a:latin typeface="Calibri" pitchFamily="34" charset="0"/>
                <a:ea typeface="Calibri" pitchFamily="34" charset="-122"/>
                <a:cs typeface="Calibri" pitchFamily="34" charset="-120"/>
              </a:rPr>
              <a:t>Searching through data to FIND patterns you did NOT know existed
</a:t>
            </a:r>
            <a:r>
              <a:rPr lang="en-US" sz="900" b="1" dirty="0">
                <a:solidFill>
                  <a:srgbClr val="0A1F44"/>
                </a:solidFill>
                <a:latin typeface="Calibri" pitchFamily="34" charset="0"/>
                <a:ea typeface="Calibri" pitchFamily="34" charset="-122"/>
                <a:cs typeface="Calibri" pitchFamily="34" charset="-120"/>
              </a:rPr>
              <a:t>Analogy
</a:t>
            </a:r>
            <a:r>
              <a:rPr lang="en-US" sz="900" i="1" dirty="0">
                <a:solidFill>
                  <a:srgbClr val="5A5A6E"/>
                </a:solidFill>
                <a:latin typeface="Calibri" pitchFamily="34" charset="0"/>
                <a:ea typeface="Calibri" pitchFamily="34" charset="-122"/>
                <a:cs typeface="Calibri" pitchFamily="34" charset="-120"/>
              </a:rPr>
              <a:t>Detective walking through a crime scene — open eyes, no specific question yet
</a:t>
            </a:r>
            <a:r>
              <a:rPr lang="en-US" sz="900" b="1" dirty="0">
                <a:solidFill>
                  <a:srgbClr val="0A1F44"/>
                </a:solidFill>
                <a:latin typeface="Calibri" pitchFamily="34" charset="0"/>
                <a:ea typeface="Calibri" pitchFamily="34" charset="-122"/>
                <a:cs typeface="Calibri" pitchFamily="34" charset="-120"/>
              </a:rPr>
              <a:t>Example question
</a:t>
            </a:r>
            <a:r>
              <a:rPr lang="en-US" sz="975" dirty="0">
                <a:solidFill>
                  <a:srgbClr val="1A1A2E"/>
                </a:solidFill>
                <a:latin typeface="Calibri" pitchFamily="34" charset="0"/>
                <a:ea typeface="Calibri" pitchFamily="34" charset="-122"/>
                <a:cs typeface="Calibri" pitchFamily="34" charset="-120"/>
              </a:rPr>
              <a:t>'What patterns are hiding in this sales data?'</a:t>
            </a:r>
            <a:endParaRPr lang="en-US" sz="900" dirty="0"/>
          </a:p>
        </p:txBody>
      </p:sp>
      <p:sp>
        <p:nvSpPr>
          <p:cNvPr id="9" name="Shape 7"/>
          <p:cNvSpPr/>
          <p:nvPr/>
        </p:nvSpPr>
        <p:spPr>
          <a:xfrm>
            <a:off x="4800600" y="994410"/>
            <a:ext cx="4114800" cy="3669030"/>
          </a:xfrm>
          <a:prstGeom prst="roundRect">
            <a:avLst>
              <a:gd name="adj" fmla="val 1308"/>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0" name="Shape 8"/>
          <p:cNvSpPr/>
          <p:nvPr/>
        </p:nvSpPr>
        <p:spPr>
          <a:xfrm>
            <a:off x="4800600" y="994410"/>
            <a:ext cx="4114800" cy="445770"/>
          </a:xfrm>
          <a:prstGeom prst="rect">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1" name="Text 9"/>
          <p:cNvSpPr/>
          <p:nvPr/>
        </p:nvSpPr>
        <p:spPr>
          <a:xfrm>
            <a:off x="4937760" y="994410"/>
            <a:ext cx="3840480" cy="44577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500" b="1" dirty="0">
                <a:solidFill>
                  <a:srgbClr val="1A6B3A"/>
                </a:solidFill>
                <a:latin typeface="Calibri" pitchFamily="34" charset="0"/>
                <a:ea typeface="Calibri" pitchFamily="34" charset="-122"/>
                <a:cs typeface="Calibri" pitchFamily="34" charset="-120"/>
              </a:rPr>
              <a:t>Data Analysis</a:t>
            </a:r>
            <a:endParaRPr lang="en-US" sz="1500" dirty="0"/>
          </a:p>
        </p:txBody>
      </p:sp>
      <p:sp>
        <p:nvSpPr>
          <p:cNvPr id="12" name="Text 10"/>
          <p:cNvSpPr/>
          <p:nvPr/>
        </p:nvSpPr>
        <p:spPr>
          <a:xfrm>
            <a:off x="4937760" y="1556766"/>
            <a:ext cx="3840480" cy="30175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900" b="1" dirty="0">
                <a:solidFill>
                  <a:srgbClr val="0A1F44"/>
                </a:solidFill>
                <a:latin typeface="Calibri" pitchFamily="34" charset="0"/>
                <a:ea typeface="Calibri" pitchFamily="34" charset="-122"/>
                <a:cs typeface="Calibri" pitchFamily="34" charset="-120"/>
              </a:rPr>
              <a:t>Definition
</a:t>
            </a:r>
            <a:r>
              <a:rPr lang="en-US" sz="975" dirty="0">
                <a:solidFill>
                  <a:srgbClr val="1A1A2E"/>
                </a:solidFill>
                <a:latin typeface="Calibri" pitchFamily="34" charset="0"/>
                <a:ea typeface="Calibri" pitchFamily="34" charset="-122"/>
                <a:cs typeface="Calibri" pitchFamily="34" charset="-120"/>
              </a:rPr>
              <a:t>Examining data to ANSWER a specific question you already have
</a:t>
            </a:r>
            <a:r>
              <a:rPr lang="en-US" sz="900" b="1" dirty="0">
                <a:solidFill>
                  <a:srgbClr val="0A1F44"/>
                </a:solidFill>
                <a:latin typeface="Calibri" pitchFamily="34" charset="0"/>
                <a:ea typeface="Calibri" pitchFamily="34" charset="-122"/>
                <a:cs typeface="Calibri" pitchFamily="34" charset="-120"/>
              </a:rPr>
              <a:t>Analogy
</a:t>
            </a:r>
            <a:r>
              <a:rPr lang="en-US" sz="900" i="1" dirty="0">
                <a:solidFill>
                  <a:srgbClr val="5A5A6E"/>
                </a:solidFill>
                <a:latin typeface="Calibri" pitchFamily="34" charset="0"/>
                <a:ea typeface="Calibri" pitchFamily="34" charset="-122"/>
                <a:cs typeface="Calibri" pitchFamily="34" charset="-120"/>
              </a:rPr>
              <a:t>Detective investigating a suspect with a theory to prove or disprove
</a:t>
            </a:r>
            <a:r>
              <a:rPr lang="en-US" sz="900" b="1" dirty="0">
                <a:solidFill>
                  <a:srgbClr val="0A1F44"/>
                </a:solidFill>
                <a:latin typeface="Calibri" pitchFamily="34" charset="0"/>
                <a:ea typeface="Calibri" pitchFamily="34" charset="-122"/>
                <a:cs typeface="Calibri" pitchFamily="34" charset="-120"/>
              </a:rPr>
              <a:t>Example question
</a:t>
            </a:r>
            <a:r>
              <a:rPr lang="en-US" sz="975" dirty="0">
                <a:solidFill>
                  <a:srgbClr val="1A1A2E"/>
                </a:solidFill>
                <a:latin typeface="Calibri" pitchFamily="34" charset="0"/>
                <a:ea typeface="Calibri" pitchFamily="34" charset="-122"/>
                <a:cs typeface="Calibri" pitchFamily="34" charset="-120"/>
              </a:rPr>
              <a:t>'Why did sales drop 18% in Maharashtra last quarter?'</a:t>
            </a:r>
            <a:endParaRPr lang="en-US" sz="900" dirty="0"/>
          </a:p>
        </p:txBody>
      </p:sp>
      <p:sp>
        <p:nvSpPr>
          <p:cNvPr id="13" name="Text 11"/>
          <p:cNvSpPr/>
          <p:nvPr/>
        </p:nvSpPr>
        <p:spPr>
          <a:xfrm>
            <a:off x="411480" y="4800600"/>
            <a:ext cx="829818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i="1" dirty="0">
                <a:solidFill>
                  <a:srgbClr val="0A1F44"/>
                </a:solidFill>
                <a:latin typeface="Calibri" pitchFamily="34" charset="0"/>
                <a:ea typeface="Calibri" pitchFamily="34" charset="-122"/>
                <a:cs typeface="Calibri" pitchFamily="34" charset="-120"/>
              </a:rPr>
              <a:t>Both are essential — Mining tells you WHAT to analyse.  Analysis tells you WHY it happened.</a:t>
            </a:r>
            <a:endParaRPr lang="en-US" sz="900" dirty="0"/>
          </a:p>
        </p:txBody>
      </p:sp>
      <p:sp>
        <p:nvSpPr>
          <p:cNvPr id="14" name="Text 12"/>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15" name="Text 13"/>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6</a:t>
            </a:r>
            <a:endParaRPr lang="en-US" sz="675" dirty="0"/>
          </a:p>
        </p:txBody>
      </p:sp>
    </p:spTree>
    <p:extLst>
      <p:ext uri="{BB962C8B-B14F-4D97-AF65-F5344CB8AC3E}">
        <p14:creationId xmlns:p14="http://schemas.microsoft.com/office/powerpoint/2010/main" val="30634896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3</a:t>
            </a:r>
            <a:endParaRPr lang="en-US" sz="900" dirty="0"/>
          </a:p>
        </p:txBody>
      </p:sp>
      <p:sp>
        <p:nvSpPr>
          <p:cNvPr id="4" name="Text 2"/>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Correlation Analysis</a:t>
            </a:r>
            <a:endParaRPr lang="en-US" sz="2025" dirty="0"/>
          </a:p>
        </p:txBody>
      </p:sp>
      <p:sp>
        <p:nvSpPr>
          <p:cNvPr id="5" name="Shape 3"/>
          <p:cNvSpPr/>
          <p:nvPr/>
        </p:nvSpPr>
        <p:spPr>
          <a:xfrm>
            <a:off x="411480" y="994410"/>
            <a:ext cx="8298180" cy="857250"/>
          </a:xfrm>
          <a:prstGeom prst="roundRect">
            <a:avLst>
              <a:gd name="adj" fmla="val 5600"/>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34924" y="1090422"/>
            <a:ext cx="8051292" cy="66522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1A6B3A"/>
                </a:solidFill>
                <a:latin typeface="Calibri" pitchFamily="34" charset="0"/>
                <a:ea typeface="Calibri" pitchFamily="34" charset="-122"/>
                <a:cs typeface="Calibri" pitchFamily="34" charset="-120"/>
              </a:rPr>
              <a:t>📊  SIMPLE DEFINITION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Correlation = a number between -1 and +1 that tells you: 'when one thing changes, does the other thing tend to change too — and in which direction?' Everyday analogy: Rain ↑ = Umbrella sales ↑ (positive). Temperature ↑ = Hot chocolate sales ↓ (negative).</a:t>
            </a:r>
            <a:endParaRPr lang="en-US" sz="975" dirty="0"/>
          </a:p>
        </p:txBody>
      </p:sp>
      <p:graphicFrame>
        <p:nvGraphicFramePr>
          <p:cNvPr id="8" name="Table 0"/>
          <p:cNvGraphicFramePr>
            <a:graphicFrameLocks noGrp="1"/>
          </p:cNvGraphicFramePr>
          <p:nvPr/>
        </p:nvGraphicFramePr>
        <p:xfrm>
          <a:off x="411480" y="1988820"/>
          <a:ext cx="4457700" cy="3291840"/>
        </p:xfrm>
        <a:graphic>
          <a:graphicData uri="http://schemas.openxmlformats.org/drawingml/2006/table">
            <a:tbl>
              <a:tblPr/>
              <a:tblGrid>
                <a:gridCol w="1508760">
                  <a:extLst>
                    <a:ext uri="{9D8B030D-6E8A-4147-A177-3AD203B41FA5}">
                      <a16:colId xmlns:a16="http://schemas.microsoft.com/office/drawing/2014/main" val="20000"/>
                    </a:ext>
                  </a:extLst>
                </a:gridCol>
                <a:gridCol w="2948940">
                  <a:extLst>
                    <a:ext uri="{9D8B030D-6E8A-4147-A177-3AD203B41FA5}">
                      <a16:colId xmlns:a16="http://schemas.microsoft.com/office/drawing/2014/main" val="20001"/>
                    </a:ext>
                  </a:extLst>
                </a:gridCol>
              </a:tblGrid>
              <a:tr h="41148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Correlation Value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A1F44"/>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Meaning</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411480">
                <a:tc>
                  <a:txBody>
                    <a:bodyPr/>
                    <a:lstStyle/>
                    <a:p>
                      <a:pPr marL="0" indent="0">
                        <a:buNone/>
                      </a:pPr>
                      <a:r>
                        <a:rPr lang="en-US" sz="900" b="1" dirty="0">
                          <a:solidFill>
                            <a:srgbClr val="0A1F44"/>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E6F4EC"/>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Perfect positive — always move together exactly</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E6F4EC"/>
                    </a:solidFill>
                  </a:tcPr>
                </a:tc>
                <a:extLst>
                  <a:ext uri="{0D108BD9-81ED-4DB2-BD59-A6C34878D82A}">
                    <a16:rowId xmlns:a16="http://schemas.microsoft.com/office/drawing/2014/main" val="10001"/>
                  </a:ext>
                </a:extLst>
              </a:tr>
              <a:tr h="411480">
                <a:tc>
                  <a:txBody>
                    <a:bodyPr/>
                    <a:lstStyle/>
                    <a:p>
                      <a:pPr marL="0" indent="0">
                        <a:buNone/>
                      </a:pPr>
                      <a:r>
                        <a:rPr lang="en-US" sz="900" b="1" dirty="0">
                          <a:solidFill>
                            <a:srgbClr val="0A1F44"/>
                          </a:solidFill>
                          <a:latin typeface="Calibri" pitchFamily="34" charset="0"/>
                          <a:ea typeface="Calibri" pitchFamily="34" charset="-122"/>
                          <a:cs typeface="Calibri" pitchFamily="34" charset="-120"/>
                        </a:rPr>
                        <a:t>+0.7 to +0.9</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E6F4EC"/>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Strong positive — usually move together</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E6F4EC"/>
                    </a:solidFill>
                  </a:tcPr>
                </a:tc>
                <a:extLst>
                  <a:ext uri="{0D108BD9-81ED-4DB2-BD59-A6C34878D82A}">
                    <a16:rowId xmlns:a16="http://schemas.microsoft.com/office/drawing/2014/main" val="10002"/>
                  </a:ext>
                </a:extLst>
              </a:tr>
              <a:tr h="411480">
                <a:tc>
                  <a:txBody>
                    <a:bodyPr/>
                    <a:lstStyle/>
                    <a:p>
                      <a:pPr marL="0" indent="0">
                        <a:buNone/>
                      </a:pPr>
                      <a:r>
                        <a:rPr lang="en-US" sz="900" b="1" dirty="0">
                          <a:solidFill>
                            <a:srgbClr val="0A1F44"/>
                          </a:solidFill>
                          <a:latin typeface="Calibri" pitchFamily="34" charset="0"/>
                          <a:ea typeface="Calibri" pitchFamily="34" charset="-122"/>
                          <a:cs typeface="Calibri" pitchFamily="34" charset="-120"/>
                        </a:rPr>
                        <a:t>+0.3 to +0.6</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Moderate positive — some tendency</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411480">
                <a:tc>
                  <a:txBody>
                    <a:bodyPr/>
                    <a:lstStyle/>
                    <a:p>
                      <a:pPr marL="0" indent="0">
                        <a:buNone/>
                      </a:pPr>
                      <a:r>
                        <a:rPr lang="en-US" sz="900" b="1" dirty="0">
                          <a:solidFill>
                            <a:srgbClr val="0A1F44"/>
                          </a:solidFill>
                          <a:latin typeface="Calibri" pitchFamily="34" charset="0"/>
                          <a:ea typeface="Calibri" pitchFamily="34" charset="-122"/>
                          <a:cs typeface="Calibri" pitchFamily="34" charset="-120"/>
                        </a:rPr>
                        <a:t>-0.3 to +0.3</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Weak / none — barely related</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900" b="1" dirty="0">
                          <a:solidFill>
                            <a:srgbClr val="0A1F44"/>
                          </a:solidFill>
                          <a:latin typeface="Calibri" pitchFamily="34" charset="0"/>
                          <a:ea typeface="Calibri" pitchFamily="34" charset="-122"/>
                          <a:cs typeface="Calibri" pitchFamily="34" charset="-120"/>
                        </a:rPr>
                        <a:t>-0.3 to -0.6</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Moderate negative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r h="411480">
                <a:tc>
                  <a:txBody>
                    <a:bodyPr/>
                    <a:lstStyle/>
                    <a:p>
                      <a:pPr marL="0" indent="0">
                        <a:buNone/>
                      </a:pPr>
                      <a:r>
                        <a:rPr lang="en-US" sz="900" b="1" dirty="0">
                          <a:solidFill>
                            <a:srgbClr val="0A1F44"/>
                          </a:solidFill>
                          <a:latin typeface="Calibri" pitchFamily="34" charset="0"/>
                          <a:ea typeface="Calibri" pitchFamily="34" charset="-122"/>
                          <a:cs typeface="Calibri" pitchFamily="34" charset="-120"/>
                        </a:rPr>
                        <a:t>-0.7 to -0.9</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Strong negative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6"/>
                  </a:ext>
                </a:extLst>
              </a:tr>
              <a:tr h="411480">
                <a:tc>
                  <a:txBody>
                    <a:bodyPr/>
                    <a:lstStyle/>
                    <a:p>
                      <a:pPr marL="0" indent="0">
                        <a:buNone/>
                      </a:pPr>
                      <a:r>
                        <a:rPr lang="en-US" sz="900" b="1" dirty="0">
                          <a:solidFill>
                            <a:srgbClr val="0A1F44"/>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Perfect negative — always move opposite</a:t>
                      </a:r>
                      <a:endParaRPr lang="en-US" sz="900" dirty="0">
                        <a:latin typeface="Calibri" charset="0"/>
                        <a:ea typeface="Calibri" charset="0"/>
                        <a:cs typeface="Calibri" charset="0"/>
                      </a:endParaRPr>
                    </a:p>
                  </a:txBody>
                  <a:tcPr marL="68580" marR="68580" marT="34290" marB="34290"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0E8FF"/>
                    </a:solidFill>
                  </a:tcPr>
                </a:tc>
                <a:extLst>
                  <a:ext uri="{0D108BD9-81ED-4DB2-BD59-A6C34878D82A}">
                    <a16:rowId xmlns:a16="http://schemas.microsoft.com/office/drawing/2014/main" val="10007"/>
                  </a:ext>
                </a:extLst>
              </a:tr>
            </a:tbl>
          </a:graphicData>
        </a:graphic>
      </p:graphicFrame>
      <p:sp>
        <p:nvSpPr>
          <p:cNvPr id="7" name="Shape 5"/>
          <p:cNvSpPr/>
          <p:nvPr/>
        </p:nvSpPr>
        <p:spPr>
          <a:xfrm>
            <a:off x="5040630" y="1988820"/>
            <a:ext cx="3703320" cy="2880360"/>
          </a:xfrm>
          <a:prstGeom prst="roundRect">
            <a:avLst>
              <a:gd name="adj" fmla="val 1667"/>
            </a:avLst>
          </a:prstGeom>
          <a:solidFill>
            <a:srgbClr val="DDEE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9" name="Text 6"/>
          <p:cNvSpPr/>
          <p:nvPr/>
        </p:nvSpPr>
        <p:spPr>
          <a:xfrm>
            <a:off x="5164074" y="2084832"/>
            <a:ext cx="3456432" cy="268833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006D8F"/>
                </a:solidFill>
                <a:latin typeface="Calibri" pitchFamily="34" charset="0"/>
                <a:ea typeface="Calibri" pitchFamily="34" charset="-122"/>
                <a:cs typeface="Calibri" pitchFamily="34" charset="-120"/>
              </a:rPr>
              <a:t>🤎  WHY CORRELATION IS DONE FIRST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The liver dataset has 10 columns. Correlation analysis answers: which ones actually matter for predicting disease?</a:t>
            </a:r>
            <a:endParaRPr lang="en-US" sz="975" dirty="0"/>
          </a:p>
          <a:p>
            <a:pPr marL="0" indent="0">
              <a:lnSpc>
                <a:spcPct val="110000"/>
              </a:lnSpc>
              <a:buNone/>
            </a:pP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After correlation — we feed only the TOP 5 features to the algorithms:</a:t>
            </a:r>
            <a:endParaRPr lang="en-US" sz="975" dirty="0"/>
          </a:p>
          <a:p>
            <a:pPr marL="0" indent="0">
              <a:lnSpc>
                <a:spcPct val="110000"/>
              </a:lnSpc>
              <a:buNone/>
            </a:pP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 Better accuracy</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 Less computation</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 Understand which medical test matters most</a:t>
            </a:r>
            <a:endParaRPr lang="en-US" sz="975" dirty="0"/>
          </a:p>
          <a:p>
            <a:pPr marL="0" indent="0">
              <a:lnSpc>
                <a:spcPct val="110000"/>
              </a:lnSpc>
              <a:buNone/>
            </a:pP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If you skip this step, irrelevant columns confuse some algorithms (especially KNN and MLP).</a:t>
            </a:r>
            <a:endParaRPr lang="en-US" sz="975" dirty="0"/>
          </a:p>
        </p:txBody>
      </p:sp>
      <p:sp>
        <p:nvSpPr>
          <p:cNvPr id="10" name="Text 7"/>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11" name="Text 8"/>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7</a:t>
            </a:r>
            <a:endParaRPr lang="en-US" sz="675" dirty="0"/>
          </a:p>
        </p:txBody>
      </p:sp>
    </p:spTree>
    <p:extLst>
      <p:ext uri="{BB962C8B-B14F-4D97-AF65-F5344CB8AC3E}">
        <p14:creationId xmlns:p14="http://schemas.microsoft.com/office/powerpoint/2010/main" val="12040220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4</a:t>
            </a:r>
            <a:endParaRPr lang="en-US" sz="900" dirty="0"/>
          </a:p>
        </p:txBody>
      </p:sp>
      <p:sp>
        <p:nvSpPr>
          <p:cNvPr id="4" name="Text 2"/>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6-Classifier Comparison — Liver Disease Prediction</a:t>
            </a:r>
            <a:endParaRPr lang="en-US" sz="2025" dirty="0"/>
          </a:p>
        </p:txBody>
      </p:sp>
      <p:sp>
        <p:nvSpPr>
          <p:cNvPr id="5" name="Shape 3"/>
          <p:cNvSpPr/>
          <p:nvPr/>
        </p:nvSpPr>
        <p:spPr>
          <a:xfrm>
            <a:off x="411480" y="994410"/>
            <a:ext cx="8298180" cy="720090"/>
          </a:xfrm>
          <a:prstGeom prst="roundRect">
            <a:avLst>
              <a:gd name="adj" fmla="val 6667"/>
            </a:avLst>
          </a:prstGeom>
          <a:solidFill>
            <a:srgbClr val="F0E8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34924" y="1090422"/>
            <a:ext cx="8051292" cy="52806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5B2D8E"/>
                </a:solidFill>
                <a:latin typeface="Calibri" pitchFamily="34" charset="0"/>
                <a:ea typeface="Calibri" pitchFamily="34" charset="-122"/>
                <a:cs typeface="Calibri" pitchFamily="34" charset="-120"/>
              </a:rPr>
              <a:t>🎯  THE ONE-SENTENCE GOAL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We're teaching a computer to look at a patient's blood test numbers and predict: 'does this person likely have liver disease — yes or no?' All 6 algorithms answer the same question — just using different logic.</a:t>
            </a:r>
            <a:endParaRPr lang="en-US" sz="975" dirty="0"/>
          </a:p>
        </p:txBody>
      </p:sp>
      <p:sp>
        <p:nvSpPr>
          <p:cNvPr id="7" name="Shape 5"/>
          <p:cNvSpPr/>
          <p:nvPr/>
        </p:nvSpPr>
        <p:spPr>
          <a:xfrm>
            <a:off x="411480" y="1865376"/>
            <a:ext cx="2743200" cy="1268730"/>
          </a:xfrm>
          <a:prstGeom prst="roundRect">
            <a:avLst>
              <a:gd name="adj" fmla="val 3784"/>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Shape 6"/>
          <p:cNvSpPr/>
          <p:nvPr/>
        </p:nvSpPr>
        <p:spPr>
          <a:xfrm>
            <a:off x="411480" y="1865376"/>
            <a:ext cx="2743200" cy="329184"/>
          </a:xfrm>
          <a:prstGeom prst="rect">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9" name="Text 7"/>
          <p:cNvSpPr/>
          <p:nvPr/>
        </p:nvSpPr>
        <p:spPr>
          <a:xfrm>
            <a:off x="514350" y="1865376"/>
            <a:ext cx="2537460" cy="32918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1A6B3A"/>
                </a:solidFill>
                <a:latin typeface="Calibri" pitchFamily="34" charset="0"/>
                <a:ea typeface="Calibri" pitchFamily="34" charset="-122"/>
                <a:cs typeface="Calibri" pitchFamily="34" charset="-120"/>
              </a:rPr>
              <a:t>Logistic Regression</a:t>
            </a:r>
            <a:endParaRPr lang="en-US" sz="975" dirty="0"/>
          </a:p>
        </p:txBody>
      </p:sp>
      <p:sp>
        <p:nvSpPr>
          <p:cNvPr id="10" name="Text 8"/>
          <p:cNvSpPr/>
          <p:nvPr/>
        </p:nvSpPr>
        <p:spPr>
          <a:xfrm>
            <a:off x="514350" y="2242566"/>
            <a:ext cx="2537460"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Draws one decision boundary: 'everyone on this side = sick, other side = healthy'</a:t>
            </a:r>
            <a:endParaRPr lang="en-US" sz="863" dirty="0"/>
          </a:p>
        </p:txBody>
      </p:sp>
      <p:sp>
        <p:nvSpPr>
          <p:cNvPr id="11" name="Text 9"/>
          <p:cNvSpPr/>
          <p:nvPr/>
        </p:nvSpPr>
        <p:spPr>
          <a:xfrm>
            <a:off x="514350" y="2859786"/>
            <a:ext cx="253746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88" dirty="0">
                <a:solidFill>
                  <a:srgbClr val="1A6B3A"/>
                </a:solidFill>
                <a:latin typeface="Calibri" pitchFamily="34" charset="0"/>
                <a:ea typeface="Calibri" pitchFamily="34" charset="-122"/>
                <a:cs typeface="Calibri" pitchFamily="34" charset="-120"/>
              </a:rPr>
              <a:t>✨ </a:t>
            </a:r>
            <a:r>
              <a:rPr lang="en-US" sz="788" i="1" dirty="0">
                <a:solidFill>
                  <a:srgbClr val="5A5A6E"/>
                </a:solidFill>
                <a:latin typeface="Calibri" pitchFamily="34" charset="0"/>
                <a:ea typeface="Calibri" pitchFamily="34" charset="-122"/>
                <a:cs typeface="Calibri" pitchFamily="34" charset="-120"/>
              </a:rPr>
              <a:t>Simple, fast, interpretable</a:t>
            </a:r>
            <a:endParaRPr lang="en-US" sz="788" dirty="0"/>
          </a:p>
        </p:txBody>
      </p:sp>
      <p:sp>
        <p:nvSpPr>
          <p:cNvPr id="12" name="Shape 10"/>
          <p:cNvSpPr/>
          <p:nvPr/>
        </p:nvSpPr>
        <p:spPr>
          <a:xfrm>
            <a:off x="3257550" y="1865376"/>
            <a:ext cx="2743200" cy="1268730"/>
          </a:xfrm>
          <a:prstGeom prst="roundRect">
            <a:avLst>
              <a:gd name="adj" fmla="val 3784"/>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3" name="Shape 11"/>
          <p:cNvSpPr/>
          <p:nvPr/>
        </p:nvSpPr>
        <p:spPr>
          <a:xfrm>
            <a:off x="3257550" y="1865376"/>
            <a:ext cx="2743200" cy="329184"/>
          </a:xfrm>
          <a:prstGeom prst="rect">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4" name="Text 12"/>
          <p:cNvSpPr/>
          <p:nvPr/>
        </p:nvSpPr>
        <p:spPr>
          <a:xfrm>
            <a:off x="3360420" y="1865376"/>
            <a:ext cx="2537460" cy="32918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006D8F"/>
                </a:solidFill>
                <a:latin typeface="Calibri" pitchFamily="34" charset="0"/>
                <a:ea typeface="Calibri" pitchFamily="34" charset="-122"/>
                <a:cs typeface="Calibri" pitchFamily="34" charset="-120"/>
              </a:rPr>
              <a:t>KNN</a:t>
            </a:r>
            <a:endParaRPr lang="en-US" sz="975" dirty="0"/>
          </a:p>
        </p:txBody>
      </p:sp>
      <p:sp>
        <p:nvSpPr>
          <p:cNvPr id="15" name="Text 13"/>
          <p:cNvSpPr/>
          <p:nvPr/>
        </p:nvSpPr>
        <p:spPr>
          <a:xfrm>
            <a:off x="3360420" y="2242566"/>
            <a:ext cx="2537460"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'This patient's numbers look like 5 others I've seen — what happened to most of them?'</a:t>
            </a:r>
            <a:endParaRPr lang="en-US" sz="863" dirty="0"/>
          </a:p>
        </p:txBody>
      </p:sp>
      <p:sp>
        <p:nvSpPr>
          <p:cNvPr id="16" name="Text 14"/>
          <p:cNvSpPr/>
          <p:nvPr/>
        </p:nvSpPr>
        <p:spPr>
          <a:xfrm>
            <a:off x="3360420" y="2859786"/>
            <a:ext cx="253746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88" dirty="0">
                <a:solidFill>
                  <a:srgbClr val="006D8F"/>
                </a:solidFill>
                <a:latin typeface="Calibri" pitchFamily="34" charset="0"/>
                <a:ea typeface="Calibri" pitchFamily="34" charset="-122"/>
                <a:cs typeface="Calibri" pitchFamily="34" charset="-120"/>
              </a:rPr>
              <a:t>✨ </a:t>
            </a:r>
            <a:r>
              <a:rPr lang="en-US" sz="788" i="1" dirty="0">
                <a:solidFill>
                  <a:srgbClr val="5A5A6E"/>
                </a:solidFill>
                <a:latin typeface="Calibri" pitchFamily="34" charset="0"/>
                <a:ea typeface="Calibri" pitchFamily="34" charset="-122"/>
                <a:cs typeface="Calibri" pitchFamily="34" charset="-120"/>
              </a:rPr>
              <a:t>Good for small datasets</a:t>
            </a:r>
            <a:endParaRPr lang="en-US" sz="788" dirty="0"/>
          </a:p>
        </p:txBody>
      </p:sp>
      <p:sp>
        <p:nvSpPr>
          <p:cNvPr id="17" name="Shape 15"/>
          <p:cNvSpPr/>
          <p:nvPr/>
        </p:nvSpPr>
        <p:spPr>
          <a:xfrm>
            <a:off x="6103620" y="1865376"/>
            <a:ext cx="2743200" cy="1268730"/>
          </a:xfrm>
          <a:prstGeom prst="roundRect">
            <a:avLst>
              <a:gd name="adj" fmla="val 3784"/>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8" name="Shape 16"/>
          <p:cNvSpPr/>
          <p:nvPr/>
        </p:nvSpPr>
        <p:spPr>
          <a:xfrm>
            <a:off x="6103620" y="1865376"/>
            <a:ext cx="2743200" cy="329184"/>
          </a:xfrm>
          <a:prstGeom prst="rect">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9" name="Text 17"/>
          <p:cNvSpPr/>
          <p:nvPr/>
        </p:nvSpPr>
        <p:spPr>
          <a:xfrm>
            <a:off x="6206490" y="1865376"/>
            <a:ext cx="2537460" cy="32918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5B2D8E"/>
                </a:solidFill>
                <a:latin typeface="Calibri" pitchFamily="34" charset="0"/>
                <a:ea typeface="Calibri" pitchFamily="34" charset="-122"/>
                <a:cs typeface="Calibri" pitchFamily="34" charset="-120"/>
              </a:rPr>
              <a:t>Naive Bayes</a:t>
            </a:r>
            <a:endParaRPr lang="en-US" sz="975" dirty="0"/>
          </a:p>
        </p:txBody>
      </p:sp>
      <p:sp>
        <p:nvSpPr>
          <p:cNvPr id="20" name="Text 18"/>
          <p:cNvSpPr/>
          <p:nvPr/>
        </p:nvSpPr>
        <p:spPr>
          <a:xfrm>
            <a:off x="6206490" y="2242566"/>
            <a:ext cx="2537460"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'Given these numbers, what's the % chance of disease based on past patients?'</a:t>
            </a:r>
            <a:endParaRPr lang="en-US" sz="863" dirty="0"/>
          </a:p>
        </p:txBody>
      </p:sp>
      <p:sp>
        <p:nvSpPr>
          <p:cNvPr id="21" name="Text 19"/>
          <p:cNvSpPr/>
          <p:nvPr/>
        </p:nvSpPr>
        <p:spPr>
          <a:xfrm>
            <a:off x="6206490" y="2859786"/>
            <a:ext cx="253746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88" dirty="0">
                <a:solidFill>
                  <a:srgbClr val="5B2D8E"/>
                </a:solidFill>
                <a:latin typeface="Calibri" pitchFamily="34" charset="0"/>
                <a:ea typeface="Calibri" pitchFamily="34" charset="-122"/>
                <a:cs typeface="Calibri" pitchFamily="34" charset="-120"/>
              </a:rPr>
              <a:t>✨ </a:t>
            </a:r>
            <a:r>
              <a:rPr lang="en-US" sz="788" i="1" dirty="0">
                <a:solidFill>
                  <a:srgbClr val="5A5A6E"/>
                </a:solidFill>
                <a:latin typeface="Calibri" pitchFamily="34" charset="0"/>
                <a:ea typeface="Calibri" pitchFamily="34" charset="-122"/>
                <a:cs typeface="Calibri" pitchFamily="34" charset="-120"/>
              </a:rPr>
              <a:t>Fast; works well with limited data</a:t>
            </a:r>
            <a:endParaRPr lang="en-US" sz="788" dirty="0"/>
          </a:p>
        </p:txBody>
      </p:sp>
      <p:sp>
        <p:nvSpPr>
          <p:cNvPr id="22" name="Shape 20"/>
          <p:cNvSpPr/>
          <p:nvPr/>
        </p:nvSpPr>
        <p:spPr>
          <a:xfrm>
            <a:off x="411480" y="3216402"/>
            <a:ext cx="2743200" cy="1268730"/>
          </a:xfrm>
          <a:prstGeom prst="roundRect">
            <a:avLst>
              <a:gd name="adj" fmla="val 3784"/>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3" name="Shape 21"/>
          <p:cNvSpPr/>
          <p:nvPr/>
        </p:nvSpPr>
        <p:spPr>
          <a:xfrm>
            <a:off x="411480" y="3216402"/>
            <a:ext cx="2743200" cy="329184"/>
          </a:xfrm>
          <a:prstGeom prst="rect">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4" name="Text 22"/>
          <p:cNvSpPr/>
          <p:nvPr/>
        </p:nvSpPr>
        <p:spPr>
          <a:xfrm>
            <a:off x="514350" y="3216402"/>
            <a:ext cx="2537460" cy="32918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1A6B3A"/>
                </a:solidFill>
                <a:latin typeface="Calibri" pitchFamily="34" charset="0"/>
                <a:ea typeface="Calibri" pitchFamily="34" charset="-122"/>
                <a:cs typeface="Calibri" pitchFamily="34" charset="-120"/>
              </a:rPr>
              <a:t>Decision Tree</a:t>
            </a:r>
            <a:endParaRPr lang="en-US" sz="975" dirty="0"/>
          </a:p>
        </p:txBody>
      </p:sp>
      <p:sp>
        <p:nvSpPr>
          <p:cNvPr id="25" name="Text 23"/>
          <p:cNvSpPr/>
          <p:nvPr/>
        </p:nvSpPr>
        <p:spPr>
          <a:xfrm>
            <a:off x="514350" y="3593592"/>
            <a:ext cx="2537460"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A flowchart of yes/no questions narrowing down to a diagnosis</a:t>
            </a:r>
            <a:endParaRPr lang="en-US" sz="863" dirty="0"/>
          </a:p>
        </p:txBody>
      </p:sp>
      <p:sp>
        <p:nvSpPr>
          <p:cNvPr id="26" name="Text 24"/>
          <p:cNvSpPr/>
          <p:nvPr/>
        </p:nvSpPr>
        <p:spPr>
          <a:xfrm>
            <a:off x="514350" y="4210812"/>
            <a:ext cx="253746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88" dirty="0">
                <a:solidFill>
                  <a:srgbClr val="1A6B3A"/>
                </a:solidFill>
                <a:latin typeface="Calibri" pitchFamily="34" charset="0"/>
                <a:ea typeface="Calibri" pitchFamily="34" charset="-122"/>
                <a:cs typeface="Calibri" pitchFamily="34" charset="-120"/>
              </a:rPr>
              <a:t>✨ </a:t>
            </a:r>
            <a:r>
              <a:rPr lang="en-US" sz="788" i="1" dirty="0">
                <a:solidFill>
                  <a:srgbClr val="5A5A6E"/>
                </a:solidFill>
                <a:latin typeface="Calibri" pitchFamily="34" charset="0"/>
                <a:ea typeface="Calibri" pitchFamily="34" charset="-122"/>
                <a:cs typeface="Calibri" pitchFamily="34" charset="-120"/>
              </a:rPr>
              <a:t>Highly interpretable — you can see every decision</a:t>
            </a:r>
            <a:endParaRPr lang="en-US" sz="788" dirty="0"/>
          </a:p>
        </p:txBody>
      </p:sp>
      <p:sp>
        <p:nvSpPr>
          <p:cNvPr id="27" name="Shape 25"/>
          <p:cNvSpPr/>
          <p:nvPr/>
        </p:nvSpPr>
        <p:spPr>
          <a:xfrm>
            <a:off x="3257550" y="3216402"/>
            <a:ext cx="2743200" cy="1268730"/>
          </a:xfrm>
          <a:prstGeom prst="roundRect">
            <a:avLst>
              <a:gd name="adj" fmla="val 3784"/>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8" name="Shape 26"/>
          <p:cNvSpPr/>
          <p:nvPr/>
        </p:nvSpPr>
        <p:spPr>
          <a:xfrm>
            <a:off x="3257550" y="3216402"/>
            <a:ext cx="2743200" cy="329184"/>
          </a:xfrm>
          <a:prstGeom prst="rect">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9" name="Text 27"/>
          <p:cNvSpPr/>
          <p:nvPr/>
        </p:nvSpPr>
        <p:spPr>
          <a:xfrm>
            <a:off x="3360420" y="3216402"/>
            <a:ext cx="2537460" cy="32918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006D8F"/>
                </a:solidFill>
                <a:latin typeface="Calibri" pitchFamily="34" charset="0"/>
                <a:ea typeface="Calibri" pitchFamily="34" charset="-122"/>
                <a:cs typeface="Calibri" pitchFamily="34" charset="-120"/>
              </a:rPr>
              <a:t>Random Forest</a:t>
            </a:r>
            <a:endParaRPr lang="en-US" sz="975" dirty="0"/>
          </a:p>
        </p:txBody>
      </p:sp>
      <p:sp>
        <p:nvSpPr>
          <p:cNvPr id="30" name="Text 28"/>
          <p:cNvSpPr/>
          <p:nvPr/>
        </p:nvSpPr>
        <p:spPr>
          <a:xfrm>
            <a:off x="3360420" y="3593592"/>
            <a:ext cx="2537460"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Many decision trees vote; majority wins — reduces any single tree's mistakes</a:t>
            </a:r>
            <a:endParaRPr lang="en-US" sz="863" dirty="0"/>
          </a:p>
        </p:txBody>
      </p:sp>
      <p:sp>
        <p:nvSpPr>
          <p:cNvPr id="31" name="Text 29"/>
          <p:cNvSpPr/>
          <p:nvPr/>
        </p:nvSpPr>
        <p:spPr>
          <a:xfrm>
            <a:off x="3360420" y="4210812"/>
            <a:ext cx="253746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88" dirty="0">
                <a:solidFill>
                  <a:srgbClr val="006D8F"/>
                </a:solidFill>
                <a:latin typeface="Calibri" pitchFamily="34" charset="0"/>
                <a:ea typeface="Calibri" pitchFamily="34" charset="-122"/>
                <a:cs typeface="Calibri" pitchFamily="34" charset="-120"/>
              </a:rPr>
              <a:t>✨ </a:t>
            </a:r>
            <a:r>
              <a:rPr lang="en-US" sz="788" i="1" dirty="0">
                <a:solidFill>
                  <a:srgbClr val="5A5A6E"/>
                </a:solidFill>
                <a:latin typeface="Calibri" pitchFamily="34" charset="0"/>
                <a:ea typeface="Calibri" pitchFamily="34" charset="-122"/>
                <a:cs typeface="Calibri" pitchFamily="34" charset="-120"/>
              </a:rPr>
              <a:t>More accurate but less interpretable than one tree</a:t>
            </a:r>
            <a:endParaRPr lang="en-US" sz="788" dirty="0"/>
          </a:p>
        </p:txBody>
      </p:sp>
      <p:sp>
        <p:nvSpPr>
          <p:cNvPr id="32" name="Shape 30"/>
          <p:cNvSpPr/>
          <p:nvPr/>
        </p:nvSpPr>
        <p:spPr>
          <a:xfrm>
            <a:off x="6103620" y="3216402"/>
            <a:ext cx="2743200" cy="1268730"/>
          </a:xfrm>
          <a:prstGeom prst="roundRect">
            <a:avLst>
              <a:gd name="adj" fmla="val 3784"/>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3" name="Shape 31"/>
          <p:cNvSpPr/>
          <p:nvPr/>
        </p:nvSpPr>
        <p:spPr>
          <a:xfrm>
            <a:off x="6103620" y="3216402"/>
            <a:ext cx="2743200" cy="329184"/>
          </a:xfrm>
          <a:prstGeom prst="rect">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4" name="Text 32"/>
          <p:cNvSpPr/>
          <p:nvPr/>
        </p:nvSpPr>
        <p:spPr>
          <a:xfrm>
            <a:off x="6206490" y="3216402"/>
            <a:ext cx="2537460" cy="32918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5B2D8E"/>
                </a:solidFill>
                <a:latin typeface="Calibri" pitchFamily="34" charset="0"/>
                <a:ea typeface="Calibri" pitchFamily="34" charset="-122"/>
                <a:cs typeface="Calibri" pitchFamily="34" charset="-120"/>
              </a:rPr>
              <a:t>MLP Neural Network</a:t>
            </a:r>
            <a:endParaRPr lang="en-US" sz="975" dirty="0"/>
          </a:p>
        </p:txBody>
      </p:sp>
      <p:sp>
        <p:nvSpPr>
          <p:cNvPr id="35" name="Text 33"/>
          <p:cNvSpPr/>
          <p:nvPr/>
        </p:nvSpPr>
        <p:spPr>
          <a:xfrm>
            <a:off x="6206490" y="3593592"/>
            <a:ext cx="2537460"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A flexible pattern-matcher that learns curvy, complex relationships</a:t>
            </a:r>
            <a:endParaRPr lang="en-US" sz="863" dirty="0"/>
          </a:p>
        </p:txBody>
      </p:sp>
      <p:sp>
        <p:nvSpPr>
          <p:cNvPr id="36" name="Text 34"/>
          <p:cNvSpPr/>
          <p:nvPr/>
        </p:nvSpPr>
        <p:spPr>
          <a:xfrm>
            <a:off x="6206490" y="4210812"/>
            <a:ext cx="253746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88" dirty="0">
                <a:solidFill>
                  <a:srgbClr val="5B2D8E"/>
                </a:solidFill>
                <a:latin typeface="Calibri" pitchFamily="34" charset="0"/>
                <a:ea typeface="Calibri" pitchFamily="34" charset="-122"/>
                <a:cs typeface="Calibri" pitchFamily="34" charset="-120"/>
              </a:rPr>
              <a:t>✨ </a:t>
            </a:r>
            <a:r>
              <a:rPr lang="en-US" sz="788" i="1" dirty="0">
                <a:solidFill>
                  <a:srgbClr val="5A5A6E"/>
                </a:solidFill>
                <a:latin typeface="Calibri" pitchFamily="34" charset="0"/>
                <a:ea typeface="Calibri" pitchFamily="34" charset="-122"/>
                <a:cs typeface="Calibri" pitchFamily="34" charset="-120"/>
              </a:rPr>
              <a:t>Powerful but needs more data to shine</a:t>
            </a:r>
            <a:endParaRPr lang="en-US" sz="788" dirty="0"/>
          </a:p>
        </p:txBody>
      </p:sp>
      <p:sp>
        <p:nvSpPr>
          <p:cNvPr id="37" name="Text 35"/>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38" name="Text 36"/>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8</a:t>
            </a:r>
            <a:endParaRPr lang="en-US" sz="675" dirty="0"/>
          </a:p>
        </p:txBody>
      </p:sp>
    </p:spTree>
    <p:extLst>
      <p:ext uri="{BB962C8B-B14F-4D97-AF65-F5344CB8AC3E}">
        <p14:creationId xmlns:p14="http://schemas.microsoft.com/office/powerpoint/2010/main" val="25767574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239154CC-B3C3-4FCB-69C9-47125B6210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A3ECDF3-0A25-5BC3-4278-A19CAA141E67}"/>
              </a:ext>
            </a:extLst>
          </p:cNvPr>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a:extLst>
              <a:ext uri="{FF2B5EF4-FFF2-40B4-BE49-F238E27FC236}">
                <a16:creationId xmlns:a16="http://schemas.microsoft.com/office/drawing/2014/main" id="{1C7F28BA-9B38-E5EF-7192-6269AD7CECF5}"/>
              </a:ext>
            </a:extLst>
          </p:cNvPr>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4</a:t>
            </a:r>
            <a:endParaRPr lang="en-US" sz="900" dirty="0"/>
          </a:p>
        </p:txBody>
      </p:sp>
      <p:sp>
        <p:nvSpPr>
          <p:cNvPr id="4" name="Text 2">
            <a:extLst>
              <a:ext uri="{FF2B5EF4-FFF2-40B4-BE49-F238E27FC236}">
                <a16:creationId xmlns:a16="http://schemas.microsoft.com/office/drawing/2014/main" id="{D5BF043C-FC46-F137-80A2-BF8C371CF580}"/>
              </a:ext>
            </a:extLst>
          </p:cNvPr>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6-Classifier Comparison — Liver Disease Prediction</a:t>
            </a:r>
            <a:endParaRPr lang="en-US" sz="2025" dirty="0"/>
          </a:p>
        </p:txBody>
      </p:sp>
      <p:sp>
        <p:nvSpPr>
          <p:cNvPr id="37" name="Text 35">
            <a:extLst>
              <a:ext uri="{FF2B5EF4-FFF2-40B4-BE49-F238E27FC236}">
                <a16:creationId xmlns:a16="http://schemas.microsoft.com/office/drawing/2014/main" id="{1C24A6FF-9BB8-9709-683F-0F074AE10114}"/>
              </a:ext>
            </a:extLst>
          </p:cNvPr>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38" name="Text 36">
            <a:extLst>
              <a:ext uri="{FF2B5EF4-FFF2-40B4-BE49-F238E27FC236}">
                <a16:creationId xmlns:a16="http://schemas.microsoft.com/office/drawing/2014/main" id="{D6EBCB7D-D655-2A4A-0276-E92398EFA9EC}"/>
              </a:ext>
            </a:extLst>
          </p:cNvPr>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8</a:t>
            </a:r>
            <a:endParaRPr lang="en-US" sz="675" dirty="0"/>
          </a:p>
        </p:txBody>
      </p:sp>
      <p:pic>
        <p:nvPicPr>
          <p:cNvPr id="40" name="Picture 39">
            <a:extLst>
              <a:ext uri="{FF2B5EF4-FFF2-40B4-BE49-F238E27FC236}">
                <a16:creationId xmlns:a16="http://schemas.microsoft.com/office/drawing/2014/main" id="{D21DF077-2AAB-5537-6CBD-797B7F56FEB7}"/>
              </a:ext>
            </a:extLst>
          </p:cNvPr>
          <p:cNvPicPr>
            <a:picLocks noChangeAspect="1"/>
          </p:cNvPicPr>
          <p:nvPr/>
        </p:nvPicPr>
        <p:blipFill>
          <a:blip r:embed="rId3"/>
          <a:stretch>
            <a:fillRect/>
          </a:stretch>
        </p:blipFill>
        <p:spPr>
          <a:xfrm>
            <a:off x="459188" y="1080964"/>
            <a:ext cx="7603435" cy="3484907"/>
          </a:xfrm>
          <a:prstGeom prst="rect">
            <a:avLst/>
          </a:prstGeom>
        </p:spPr>
      </p:pic>
    </p:spTree>
    <p:extLst>
      <p:ext uri="{BB962C8B-B14F-4D97-AF65-F5344CB8AC3E}">
        <p14:creationId xmlns:p14="http://schemas.microsoft.com/office/powerpoint/2010/main" val="30522739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4</a:t>
            </a:r>
            <a:endParaRPr lang="en-US" sz="900" dirty="0"/>
          </a:p>
        </p:txBody>
      </p:sp>
      <p:sp>
        <p:nvSpPr>
          <p:cNvPr id="4" name="Text 2"/>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Why the Sequence Matters</a:t>
            </a:r>
            <a:endParaRPr lang="en-US" sz="2025" dirty="0"/>
          </a:p>
        </p:txBody>
      </p:sp>
      <p:sp>
        <p:nvSpPr>
          <p:cNvPr id="5" name="Shape 3"/>
          <p:cNvSpPr/>
          <p:nvPr/>
        </p:nvSpPr>
        <p:spPr>
          <a:xfrm>
            <a:off x="411480" y="994410"/>
            <a:ext cx="8298180" cy="720090"/>
          </a:xfrm>
          <a:prstGeom prst="roundRect">
            <a:avLst>
              <a:gd name="adj" fmla="val 6667"/>
            </a:avLst>
          </a:prstGeom>
          <a:solidFill>
            <a:srgbClr val="FFFBE6"/>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34924" y="1090422"/>
            <a:ext cx="8051292" cy="52806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E85D04"/>
                </a:solidFill>
                <a:latin typeface="Calibri" pitchFamily="34" charset="0"/>
                <a:ea typeface="Calibri" pitchFamily="34" charset="-122"/>
                <a:cs typeface="Calibri" pitchFamily="34" charset="-120"/>
              </a:rPr>
              <a:t>🔑  WHY NOT JUST PICK ONE ALGORITHM?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"Nobody knows in advance which algorithm works best on a NEW dataset. Some work great on simple, straight-line relationships; others work on complex patterns. You don't know which type your data has until you try. So we try ALL 6 on the SAME data and let the numbers decide — like trying 6 keys on a lock."</a:t>
            </a:r>
            <a:endParaRPr lang="en-US" sz="975" dirty="0"/>
          </a:p>
        </p:txBody>
      </p:sp>
      <p:sp>
        <p:nvSpPr>
          <p:cNvPr id="7" name="Shape 5"/>
          <p:cNvSpPr/>
          <p:nvPr/>
        </p:nvSpPr>
        <p:spPr>
          <a:xfrm>
            <a:off x="411480" y="1865376"/>
            <a:ext cx="2023110" cy="2846070"/>
          </a:xfrm>
          <a:prstGeom prst="roundRect">
            <a:avLst>
              <a:gd name="adj" fmla="val 2373"/>
            </a:avLst>
          </a:prstGeom>
          <a:solidFill>
            <a:srgbClr val="FFFFFF"/>
          </a:solidFill>
          <a:ln/>
          <a:effectLst>
            <a:outerShdw blurRad="381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Shape 6"/>
          <p:cNvSpPr/>
          <p:nvPr/>
        </p:nvSpPr>
        <p:spPr>
          <a:xfrm>
            <a:off x="411480" y="1865376"/>
            <a:ext cx="2023110" cy="356616"/>
          </a:xfrm>
          <a:prstGeom prst="rect">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9" name="Text 7"/>
          <p:cNvSpPr/>
          <p:nvPr/>
        </p:nvSpPr>
        <p:spPr>
          <a:xfrm>
            <a:off x="514350" y="1865376"/>
            <a:ext cx="1817370" cy="356616"/>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006D8F"/>
                </a:solidFill>
                <a:latin typeface="Calibri" pitchFamily="34" charset="0"/>
                <a:ea typeface="Calibri" pitchFamily="34" charset="-122"/>
                <a:cs typeface="Calibri" pitchFamily="34" charset="-120"/>
              </a:rPr>
              <a:t>1st — Correlation</a:t>
            </a:r>
            <a:endParaRPr lang="en-US" sz="1013" dirty="0"/>
          </a:p>
        </p:txBody>
      </p:sp>
      <p:sp>
        <p:nvSpPr>
          <p:cNvPr id="10" name="Text 8"/>
          <p:cNvSpPr/>
          <p:nvPr/>
        </p:nvSpPr>
        <p:spPr>
          <a:xfrm>
            <a:off x="514350" y="2311146"/>
            <a:ext cx="1817370" cy="109728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00" b="1" dirty="0">
                <a:solidFill>
                  <a:srgbClr val="1A1A2E"/>
                </a:solidFill>
                <a:latin typeface="Calibri" pitchFamily="34" charset="0"/>
                <a:ea typeface="Calibri" pitchFamily="34" charset="-122"/>
                <a:cs typeface="Calibri" pitchFamily="34" charset="-120"/>
              </a:rPr>
              <a:t>Remove columns that barely predict disease — only top 5 fed to algorithms</a:t>
            </a:r>
            <a:endParaRPr lang="en-US" sz="900" dirty="0"/>
          </a:p>
        </p:txBody>
      </p:sp>
      <p:sp>
        <p:nvSpPr>
          <p:cNvPr id="11" name="Shape 9"/>
          <p:cNvSpPr/>
          <p:nvPr/>
        </p:nvSpPr>
        <p:spPr>
          <a:xfrm>
            <a:off x="514350" y="3477006"/>
            <a:ext cx="1817370" cy="13716"/>
          </a:xfrm>
          <a:prstGeom prst="rect">
            <a:avLst/>
          </a:prstGeom>
          <a:solidFill>
            <a:srgbClr val="E0E0E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2" name="Text 10"/>
          <p:cNvSpPr/>
          <p:nvPr/>
        </p:nvSpPr>
        <p:spPr>
          <a:xfrm>
            <a:off x="514350" y="3579876"/>
            <a:ext cx="1817370" cy="106299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25" b="1" dirty="0">
                <a:solidFill>
                  <a:srgbClr val="006D8F"/>
                </a:solidFill>
                <a:latin typeface="Calibri" pitchFamily="34" charset="0"/>
                <a:ea typeface="Calibri" pitchFamily="34" charset="-122"/>
                <a:cs typeface="Calibri" pitchFamily="34" charset="-120"/>
              </a:rPr>
              <a:t>💡 Why: </a:t>
            </a:r>
            <a:r>
              <a:rPr lang="en-US" sz="825" dirty="0">
                <a:solidFill>
                  <a:srgbClr val="5A5A6E"/>
                </a:solidFill>
                <a:latin typeface="Calibri" pitchFamily="34" charset="0"/>
                <a:ea typeface="Calibri" pitchFamily="34" charset="-122"/>
                <a:cs typeface="Calibri" pitchFamily="34" charset="-120"/>
              </a:rPr>
              <a:t>Feeding irrelevant columns wastes computation and confuses KNN and MLP</a:t>
            </a:r>
            <a:endParaRPr lang="en-US" sz="825" dirty="0"/>
          </a:p>
        </p:txBody>
      </p:sp>
      <p:sp>
        <p:nvSpPr>
          <p:cNvPr id="13" name="Shape 11"/>
          <p:cNvSpPr/>
          <p:nvPr/>
        </p:nvSpPr>
        <p:spPr>
          <a:xfrm>
            <a:off x="2516886" y="1865376"/>
            <a:ext cx="2023110" cy="2846070"/>
          </a:xfrm>
          <a:prstGeom prst="roundRect">
            <a:avLst>
              <a:gd name="adj" fmla="val 2373"/>
            </a:avLst>
          </a:prstGeom>
          <a:solidFill>
            <a:srgbClr val="FFFFFF"/>
          </a:solidFill>
          <a:ln/>
          <a:effectLst>
            <a:outerShdw blurRad="381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4" name="Shape 12"/>
          <p:cNvSpPr/>
          <p:nvPr/>
        </p:nvSpPr>
        <p:spPr>
          <a:xfrm>
            <a:off x="2516886" y="1865376"/>
            <a:ext cx="2023110" cy="356616"/>
          </a:xfrm>
          <a:prstGeom prst="rect">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5" name="Text 13"/>
          <p:cNvSpPr/>
          <p:nvPr/>
        </p:nvSpPr>
        <p:spPr>
          <a:xfrm>
            <a:off x="2619756" y="1865376"/>
            <a:ext cx="1817370" cy="356616"/>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1A6B3A"/>
                </a:solidFill>
                <a:latin typeface="Calibri" pitchFamily="34" charset="0"/>
                <a:ea typeface="Calibri" pitchFamily="34" charset="-122"/>
                <a:cs typeface="Calibri" pitchFamily="34" charset="-120"/>
              </a:rPr>
              <a:t>2nd — Scaling</a:t>
            </a:r>
            <a:endParaRPr lang="en-US" sz="1013" dirty="0"/>
          </a:p>
        </p:txBody>
      </p:sp>
      <p:sp>
        <p:nvSpPr>
          <p:cNvPr id="16" name="Text 14"/>
          <p:cNvSpPr/>
          <p:nvPr/>
        </p:nvSpPr>
        <p:spPr>
          <a:xfrm>
            <a:off x="2619756" y="2311146"/>
            <a:ext cx="1817370" cy="109728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00" b="1" dirty="0">
                <a:solidFill>
                  <a:srgbClr val="1A1A2E"/>
                </a:solidFill>
                <a:latin typeface="Calibri" pitchFamily="34" charset="0"/>
                <a:ea typeface="Calibri" pitchFamily="34" charset="-122"/>
                <a:cs typeface="Calibri" pitchFamily="34" charset="-120"/>
              </a:rPr>
              <a:t>Standardise all feature values (mean = 0, std = 1)</a:t>
            </a:r>
            <a:endParaRPr lang="en-US" sz="900" dirty="0"/>
          </a:p>
        </p:txBody>
      </p:sp>
      <p:sp>
        <p:nvSpPr>
          <p:cNvPr id="17" name="Shape 15"/>
          <p:cNvSpPr/>
          <p:nvPr/>
        </p:nvSpPr>
        <p:spPr>
          <a:xfrm>
            <a:off x="2619756" y="3477006"/>
            <a:ext cx="1817370" cy="13716"/>
          </a:xfrm>
          <a:prstGeom prst="rect">
            <a:avLst/>
          </a:prstGeom>
          <a:solidFill>
            <a:srgbClr val="E0E0E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8" name="Text 16"/>
          <p:cNvSpPr/>
          <p:nvPr/>
        </p:nvSpPr>
        <p:spPr>
          <a:xfrm>
            <a:off x="2619756" y="3579876"/>
            <a:ext cx="1817370" cy="106299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25" b="1" dirty="0">
                <a:solidFill>
                  <a:srgbClr val="1A6B3A"/>
                </a:solidFill>
                <a:latin typeface="Calibri" pitchFamily="34" charset="0"/>
                <a:ea typeface="Calibri" pitchFamily="34" charset="-122"/>
                <a:cs typeface="Calibri" pitchFamily="34" charset="-120"/>
              </a:rPr>
              <a:t>💡 Why: </a:t>
            </a:r>
            <a:r>
              <a:rPr lang="en-US" sz="825" dirty="0">
                <a:solidFill>
                  <a:srgbClr val="5A5A6E"/>
                </a:solidFill>
                <a:latin typeface="Calibri" pitchFamily="34" charset="0"/>
                <a:ea typeface="Calibri" pitchFamily="34" charset="-122"/>
                <a:cs typeface="Calibri" pitchFamily="34" charset="-120"/>
              </a:rPr>
              <a:t>'Alkaline Phosphatase' (values in hundreds) would drown out 'Albumin' (values 2–5) without scaling — even if Albumin matters more medically</a:t>
            </a:r>
            <a:endParaRPr lang="en-US" sz="825" dirty="0"/>
          </a:p>
        </p:txBody>
      </p:sp>
      <p:sp>
        <p:nvSpPr>
          <p:cNvPr id="19" name="Shape 17"/>
          <p:cNvSpPr/>
          <p:nvPr/>
        </p:nvSpPr>
        <p:spPr>
          <a:xfrm>
            <a:off x="4622292" y="1865376"/>
            <a:ext cx="2023110" cy="2846070"/>
          </a:xfrm>
          <a:prstGeom prst="roundRect">
            <a:avLst>
              <a:gd name="adj" fmla="val 2373"/>
            </a:avLst>
          </a:prstGeom>
          <a:solidFill>
            <a:srgbClr val="FFFFFF"/>
          </a:solidFill>
          <a:ln/>
          <a:effectLst>
            <a:outerShdw blurRad="381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0" name="Shape 18"/>
          <p:cNvSpPr/>
          <p:nvPr/>
        </p:nvSpPr>
        <p:spPr>
          <a:xfrm>
            <a:off x="4622292" y="1865376"/>
            <a:ext cx="2023110" cy="356616"/>
          </a:xfrm>
          <a:prstGeom prst="rect">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1" name="Text 19"/>
          <p:cNvSpPr/>
          <p:nvPr/>
        </p:nvSpPr>
        <p:spPr>
          <a:xfrm>
            <a:off x="4725162" y="1865376"/>
            <a:ext cx="1817370" cy="356616"/>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5B2D8E"/>
                </a:solidFill>
                <a:latin typeface="Calibri" pitchFamily="34" charset="0"/>
                <a:ea typeface="Calibri" pitchFamily="34" charset="-122"/>
                <a:cs typeface="Calibri" pitchFamily="34" charset="-120"/>
              </a:rPr>
              <a:t>3rd — Train/Test Split</a:t>
            </a:r>
            <a:endParaRPr lang="en-US" sz="1013" dirty="0"/>
          </a:p>
        </p:txBody>
      </p:sp>
      <p:sp>
        <p:nvSpPr>
          <p:cNvPr id="22" name="Text 20"/>
          <p:cNvSpPr/>
          <p:nvPr/>
        </p:nvSpPr>
        <p:spPr>
          <a:xfrm>
            <a:off x="4725162" y="2311146"/>
            <a:ext cx="1817370" cy="109728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00" b="1" dirty="0">
                <a:solidFill>
                  <a:srgbClr val="1A1A2E"/>
                </a:solidFill>
                <a:latin typeface="Calibri" pitchFamily="34" charset="0"/>
                <a:ea typeface="Calibri" pitchFamily="34" charset="-122"/>
                <a:cs typeface="Calibri" pitchFamily="34" charset="-120"/>
              </a:rPr>
              <a:t>80% of patients used to train; 20% kept hidden for testing</a:t>
            </a:r>
            <a:endParaRPr lang="en-US" sz="900" dirty="0"/>
          </a:p>
        </p:txBody>
      </p:sp>
      <p:sp>
        <p:nvSpPr>
          <p:cNvPr id="23" name="Shape 21"/>
          <p:cNvSpPr/>
          <p:nvPr/>
        </p:nvSpPr>
        <p:spPr>
          <a:xfrm>
            <a:off x="4725162" y="3477006"/>
            <a:ext cx="1817370" cy="13716"/>
          </a:xfrm>
          <a:prstGeom prst="rect">
            <a:avLst/>
          </a:prstGeom>
          <a:solidFill>
            <a:srgbClr val="E0E0E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4" name="Text 22"/>
          <p:cNvSpPr/>
          <p:nvPr/>
        </p:nvSpPr>
        <p:spPr>
          <a:xfrm>
            <a:off x="4725162" y="3579876"/>
            <a:ext cx="1817370" cy="106299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25" b="1" dirty="0">
                <a:solidFill>
                  <a:srgbClr val="5B2D8E"/>
                </a:solidFill>
                <a:latin typeface="Calibri" pitchFamily="34" charset="0"/>
                <a:ea typeface="Calibri" pitchFamily="34" charset="-122"/>
                <a:cs typeface="Calibri" pitchFamily="34" charset="-120"/>
              </a:rPr>
              <a:t>💡 Why: </a:t>
            </a:r>
            <a:r>
              <a:rPr lang="en-US" sz="825" dirty="0">
                <a:solidFill>
                  <a:srgbClr val="5A5A6E"/>
                </a:solidFill>
                <a:latin typeface="Calibri" pitchFamily="34" charset="0"/>
                <a:ea typeface="Calibri" pitchFamily="34" charset="-122"/>
                <a:cs typeface="Calibri" pitchFamily="34" charset="-120"/>
              </a:rPr>
              <a:t>Testing on patients the model NEVER saw proves it actually LEARNED, not just MEMORISED</a:t>
            </a:r>
            <a:endParaRPr lang="en-US" sz="825" dirty="0"/>
          </a:p>
        </p:txBody>
      </p:sp>
      <p:sp>
        <p:nvSpPr>
          <p:cNvPr id="25" name="Shape 23"/>
          <p:cNvSpPr/>
          <p:nvPr/>
        </p:nvSpPr>
        <p:spPr>
          <a:xfrm>
            <a:off x="6727698" y="1865376"/>
            <a:ext cx="2023110" cy="2846070"/>
          </a:xfrm>
          <a:prstGeom prst="roundRect">
            <a:avLst>
              <a:gd name="adj" fmla="val 2373"/>
            </a:avLst>
          </a:prstGeom>
          <a:solidFill>
            <a:srgbClr val="FFFFFF"/>
          </a:solidFill>
          <a:ln/>
          <a:effectLst>
            <a:outerShdw blurRad="381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6" name="Shape 24"/>
          <p:cNvSpPr/>
          <p:nvPr/>
        </p:nvSpPr>
        <p:spPr>
          <a:xfrm>
            <a:off x="6727698" y="1865376"/>
            <a:ext cx="2023110" cy="356616"/>
          </a:xfrm>
          <a:prstGeom prst="rect">
            <a:avLst/>
          </a:prstGeom>
          <a:solidFill>
            <a:srgbClr val="FFFBE6"/>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7" name="Text 25"/>
          <p:cNvSpPr/>
          <p:nvPr/>
        </p:nvSpPr>
        <p:spPr>
          <a:xfrm>
            <a:off x="6830568" y="1865376"/>
            <a:ext cx="1817370" cy="356616"/>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13" b="1" dirty="0">
                <a:solidFill>
                  <a:srgbClr val="E85D04"/>
                </a:solidFill>
                <a:latin typeface="Calibri" pitchFamily="34" charset="0"/>
                <a:ea typeface="Calibri" pitchFamily="34" charset="-122"/>
                <a:cs typeface="Calibri" pitchFamily="34" charset="-120"/>
              </a:rPr>
              <a:t>4th — Compare Results</a:t>
            </a:r>
            <a:endParaRPr lang="en-US" sz="1013" dirty="0"/>
          </a:p>
        </p:txBody>
      </p:sp>
      <p:sp>
        <p:nvSpPr>
          <p:cNvPr id="28" name="Text 26"/>
          <p:cNvSpPr/>
          <p:nvPr/>
        </p:nvSpPr>
        <p:spPr>
          <a:xfrm>
            <a:off x="6830568" y="2311146"/>
            <a:ext cx="1817370" cy="109728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900" b="1" dirty="0">
                <a:solidFill>
                  <a:srgbClr val="1A1A2E"/>
                </a:solidFill>
                <a:latin typeface="Calibri" pitchFamily="34" charset="0"/>
                <a:ea typeface="Calibri" pitchFamily="34" charset="-122"/>
                <a:cs typeface="Calibri" pitchFamily="34" charset="-120"/>
              </a:rPr>
              <a:t>Run all 6 classifiers; print accuracy table</a:t>
            </a:r>
            <a:endParaRPr lang="en-US" sz="900" dirty="0"/>
          </a:p>
        </p:txBody>
      </p:sp>
      <p:sp>
        <p:nvSpPr>
          <p:cNvPr id="29" name="Shape 27"/>
          <p:cNvSpPr/>
          <p:nvPr/>
        </p:nvSpPr>
        <p:spPr>
          <a:xfrm>
            <a:off x="6830568" y="3477006"/>
            <a:ext cx="1817370" cy="13716"/>
          </a:xfrm>
          <a:prstGeom prst="rect">
            <a:avLst/>
          </a:prstGeom>
          <a:solidFill>
            <a:srgbClr val="E0E0E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0" name="Text 28"/>
          <p:cNvSpPr/>
          <p:nvPr/>
        </p:nvSpPr>
        <p:spPr>
          <a:xfrm>
            <a:off x="6830568" y="3579876"/>
            <a:ext cx="1817370" cy="106299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5000"/>
              </a:lnSpc>
              <a:buNone/>
            </a:pPr>
            <a:r>
              <a:rPr lang="en-US" sz="825" b="1" dirty="0">
                <a:solidFill>
                  <a:srgbClr val="E85D04"/>
                </a:solidFill>
                <a:latin typeface="Calibri" pitchFamily="34" charset="0"/>
                <a:ea typeface="Calibri" pitchFamily="34" charset="-122"/>
                <a:cs typeface="Calibri" pitchFamily="34" charset="-120"/>
              </a:rPr>
              <a:t>💡 Why: </a:t>
            </a:r>
            <a:r>
              <a:rPr lang="en-US" sz="825" dirty="0">
                <a:solidFill>
                  <a:srgbClr val="5A5A6E"/>
                </a:solidFill>
                <a:latin typeface="Calibri" pitchFamily="34" charset="0"/>
                <a:ea typeface="Calibri" pitchFamily="34" charset="-122"/>
                <a:cs typeface="Calibri" pitchFamily="34" charset="-120"/>
              </a:rPr>
              <a:t>KNN typically gets ~64.7% — meaning it correctly identifies 65 of 100 patients. This number guides the NEXT step.</a:t>
            </a:r>
            <a:endParaRPr lang="en-US" sz="825" dirty="0"/>
          </a:p>
        </p:txBody>
      </p:sp>
      <p:sp>
        <p:nvSpPr>
          <p:cNvPr id="31" name="Text 29"/>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32" name="Text 30"/>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9</a:t>
            </a:r>
            <a:endParaRPr lang="en-US" sz="675" dirty="0"/>
          </a:p>
        </p:txBody>
      </p:sp>
    </p:spTree>
    <p:extLst>
      <p:ext uri="{BB962C8B-B14F-4D97-AF65-F5344CB8AC3E}">
        <p14:creationId xmlns:p14="http://schemas.microsoft.com/office/powerpoint/2010/main" val="32368868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5</a:t>
            </a:r>
            <a:endParaRPr lang="en-US" sz="900" dirty="0"/>
          </a:p>
        </p:txBody>
      </p:sp>
      <p:sp>
        <p:nvSpPr>
          <p:cNvPr id="4" name="Text 2"/>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Generative AI for Data Lakehouse</a:t>
            </a:r>
            <a:endParaRPr lang="en-US" sz="2025" dirty="0"/>
          </a:p>
        </p:txBody>
      </p:sp>
      <p:sp>
        <p:nvSpPr>
          <p:cNvPr id="5" name="Shape 3"/>
          <p:cNvSpPr/>
          <p:nvPr/>
        </p:nvSpPr>
        <p:spPr>
          <a:xfrm>
            <a:off x="411480" y="994410"/>
            <a:ext cx="2743200" cy="1920240"/>
          </a:xfrm>
          <a:prstGeom prst="roundRect">
            <a:avLst>
              <a:gd name="adj" fmla="val 2500"/>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Shape 4"/>
          <p:cNvSpPr/>
          <p:nvPr/>
        </p:nvSpPr>
        <p:spPr>
          <a:xfrm>
            <a:off x="411480" y="994410"/>
            <a:ext cx="2743200" cy="377190"/>
          </a:xfrm>
          <a:prstGeom prst="rect">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7" name="Text 5"/>
          <p:cNvSpPr/>
          <p:nvPr/>
        </p:nvSpPr>
        <p:spPr>
          <a:xfrm>
            <a:off x="548640" y="994410"/>
            <a:ext cx="24688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75" b="1" dirty="0">
                <a:solidFill>
                  <a:srgbClr val="006D8F"/>
                </a:solidFill>
                <a:latin typeface="Calibri" pitchFamily="34" charset="0"/>
                <a:ea typeface="Calibri" pitchFamily="34" charset="-122"/>
                <a:cs typeface="Calibri" pitchFamily="34" charset="-120"/>
              </a:rPr>
              <a:t>Data Lake</a:t>
            </a:r>
            <a:endParaRPr lang="en-US" sz="1275" dirty="0"/>
          </a:p>
        </p:txBody>
      </p:sp>
      <p:sp>
        <p:nvSpPr>
          <p:cNvPr id="8" name="Text 6"/>
          <p:cNvSpPr/>
          <p:nvPr/>
        </p:nvSpPr>
        <p:spPr>
          <a:xfrm>
            <a:off x="548640" y="1474470"/>
            <a:ext cx="2468880" cy="13373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863" b="1" dirty="0">
                <a:solidFill>
                  <a:srgbClr val="0A1F44"/>
                </a:solidFill>
                <a:latin typeface="Calibri" pitchFamily="34" charset="0"/>
                <a:ea typeface="Calibri" pitchFamily="34" charset="-122"/>
                <a:cs typeface="Calibri" pitchFamily="34" charset="-120"/>
              </a:rPr>
              <a:t>Analogy: </a:t>
            </a:r>
            <a:r>
              <a:rPr lang="en-US" sz="863" dirty="0">
                <a:solidFill>
                  <a:srgbClr val="1A1A2E"/>
                </a:solidFill>
                <a:latin typeface="Calibri" pitchFamily="34" charset="0"/>
                <a:ea typeface="Calibri" pitchFamily="34" charset="-122"/>
                <a:cs typeface="Calibri" pitchFamily="34" charset="-120"/>
              </a:rPr>
              <a:t>Massive warehouse — throw everything in, mixed
</a:t>
            </a:r>
            <a:endParaRPr lang="en-US" sz="863" dirty="0"/>
          </a:p>
          <a:p>
            <a:pPr marL="0" indent="0">
              <a:lnSpc>
                <a:spcPct val="120000"/>
              </a:lnSpc>
              <a:buNone/>
            </a:pPr>
            <a:r>
              <a:rPr lang="en-US" sz="863" b="1" dirty="0">
                <a:solidFill>
                  <a:srgbClr val="0A1F44"/>
                </a:solidFill>
                <a:latin typeface="Calibri" pitchFamily="34" charset="0"/>
                <a:ea typeface="Calibri" pitchFamily="34" charset="-122"/>
                <a:cs typeface="Calibri" pitchFamily="34" charset="-120"/>
              </a:rPr>
              <a:t>Stores: </a:t>
            </a:r>
            <a:r>
              <a:rPr lang="en-US" sz="863" dirty="0">
                <a:solidFill>
                  <a:srgbClr val="1A1A2E"/>
                </a:solidFill>
                <a:latin typeface="Calibri" pitchFamily="34" charset="0"/>
                <a:ea typeface="Calibri" pitchFamily="34" charset="-122"/>
                <a:cs typeface="Calibri" pitchFamily="34" charset="-120"/>
              </a:rPr>
              <a:t>Everything (structured + unstructured)
</a:t>
            </a:r>
            <a:endParaRPr lang="en-US" sz="863" dirty="0"/>
          </a:p>
          <a:p>
            <a:pPr marL="0" indent="0">
              <a:lnSpc>
                <a:spcPct val="120000"/>
              </a:lnSpc>
              <a:buNone/>
            </a:pPr>
            <a:r>
              <a:rPr lang="en-US" sz="863" b="1" dirty="0">
                <a:solidFill>
                  <a:srgbClr val="0A1F44"/>
                </a:solidFill>
                <a:latin typeface="Calibri" pitchFamily="34" charset="0"/>
                <a:ea typeface="Calibri" pitchFamily="34" charset="-122"/>
                <a:cs typeface="Calibri" pitchFamily="34" charset="-120"/>
              </a:rPr>
              <a:t>Cost: </a:t>
            </a:r>
            <a:r>
              <a:rPr lang="en-US" sz="863" dirty="0">
                <a:solidFill>
                  <a:srgbClr val="1A1A2E"/>
                </a:solidFill>
                <a:latin typeface="Calibri" pitchFamily="34" charset="0"/>
                <a:ea typeface="Calibri" pitchFamily="34" charset="-122"/>
                <a:cs typeface="Calibri" pitchFamily="34" charset="-120"/>
              </a:rPr>
              <a:t>Very cheap
</a:t>
            </a:r>
            <a:endParaRPr lang="en-US" sz="863" dirty="0"/>
          </a:p>
          <a:p>
            <a:pPr marL="0" indent="0">
              <a:lnSpc>
                <a:spcPct val="120000"/>
              </a:lnSpc>
              <a:buNone/>
            </a:pPr>
            <a:r>
              <a:rPr lang="en-US" sz="863" b="1" dirty="0">
                <a:solidFill>
                  <a:srgbClr val="0A1F44"/>
                </a:solidFill>
                <a:latin typeface="Calibri" pitchFamily="34" charset="0"/>
                <a:ea typeface="Calibri" pitchFamily="34" charset="-122"/>
                <a:cs typeface="Calibri" pitchFamily="34" charset="-120"/>
              </a:rPr>
              <a:t>Findability: </a:t>
            </a:r>
            <a:r>
              <a:rPr lang="en-US" sz="863" dirty="0">
                <a:solidFill>
                  <a:srgbClr val="1A1A2E"/>
                </a:solidFill>
                <a:latin typeface="Calibri" pitchFamily="34" charset="0"/>
                <a:ea typeface="Calibri" pitchFamily="34" charset="-122"/>
                <a:cs typeface="Calibri" pitchFamily="34" charset="-120"/>
              </a:rPr>
              <a:t>Poor — impossible to find anything</a:t>
            </a:r>
            <a:endParaRPr lang="en-US" sz="863" dirty="0"/>
          </a:p>
        </p:txBody>
      </p:sp>
      <p:sp>
        <p:nvSpPr>
          <p:cNvPr id="9" name="Shape 7"/>
          <p:cNvSpPr/>
          <p:nvPr/>
        </p:nvSpPr>
        <p:spPr>
          <a:xfrm>
            <a:off x="3339846" y="994410"/>
            <a:ext cx="2743200" cy="1920240"/>
          </a:xfrm>
          <a:prstGeom prst="roundRect">
            <a:avLst>
              <a:gd name="adj" fmla="val 2500"/>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0" name="Shape 8"/>
          <p:cNvSpPr/>
          <p:nvPr/>
        </p:nvSpPr>
        <p:spPr>
          <a:xfrm>
            <a:off x="3339846" y="994410"/>
            <a:ext cx="2743200" cy="377190"/>
          </a:xfrm>
          <a:prstGeom prst="rect">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1" name="Text 9"/>
          <p:cNvSpPr/>
          <p:nvPr/>
        </p:nvSpPr>
        <p:spPr>
          <a:xfrm>
            <a:off x="3477006" y="994410"/>
            <a:ext cx="24688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75" b="1" dirty="0">
                <a:solidFill>
                  <a:srgbClr val="5B2D8E"/>
                </a:solidFill>
                <a:latin typeface="Calibri" pitchFamily="34" charset="0"/>
                <a:ea typeface="Calibri" pitchFamily="34" charset="-122"/>
                <a:cs typeface="Calibri" pitchFamily="34" charset="-120"/>
              </a:rPr>
              <a:t>Data Warehouse</a:t>
            </a:r>
            <a:endParaRPr lang="en-US" sz="1275" dirty="0"/>
          </a:p>
        </p:txBody>
      </p:sp>
      <p:sp>
        <p:nvSpPr>
          <p:cNvPr id="12" name="Text 10"/>
          <p:cNvSpPr/>
          <p:nvPr/>
        </p:nvSpPr>
        <p:spPr>
          <a:xfrm>
            <a:off x="3477006" y="1474470"/>
            <a:ext cx="2468880" cy="13373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863" b="1" dirty="0">
                <a:solidFill>
                  <a:srgbClr val="0A1F44"/>
                </a:solidFill>
                <a:latin typeface="Calibri" pitchFamily="34" charset="0"/>
                <a:ea typeface="Calibri" pitchFamily="34" charset="-122"/>
                <a:cs typeface="Calibri" pitchFamily="34" charset="-120"/>
              </a:rPr>
              <a:t>Analogy: </a:t>
            </a:r>
            <a:r>
              <a:rPr lang="en-US" sz="863" dirty="0">
                <a:solidFill>
                  <a:srgbClr val="1A1A2E"/>
                </a:solidFill>
                <a:latin typeface="Calibri" pitchFamily="34" charset="0"/>
                <a:ea typeface="Calibri" pitchFamily="34" charset="-122"/>
                <a:cs typeface="Calibri" pitchFamily="34" charset="-120"/>
              </a:rPr>
              <a:t>Perfectly organised filing cabinets — structured only
</a:t>
            </a:r>
            <a:endParaRPr lang="en-US" sz="863" dirty="0"/>
          </a:p>
          <a:p>
            <a:pPr marL="0" indent="0">
              <a:lnSpc>
                <a:spcPct val="120000"/>
              </a:lnSpc>
              <a:buNone/>
            </a:pPr>
            <a:r>
              <a:rPr lang="en-US" sz="863" b="1" dirty="0">
                <a:solidFill>
                  <a:srgbClr val="0A1F44"/>
                </a:solidFill>
                <a:latin typeface="Calibri" pitchFamily="34" charset="0"/>
                <a:ea typeface="Calibri" pitchFamily="34" charset="-122"/>
                <a:cs typeface="Calibri" pitchFamily="34" charset="-120"/>
              </a:rPr>
              <a:t>Stores: </a:t>
            </a:r>
            <a:r>
              <a:rPr lang="en-US" sz="863" dirty="0">
                <a:solidFill>
                  <a:srgbClr val="1A1A2E"/>
                </a:solidFill>
                <a:latin typeface="Calibri" pitchFamily="34" charset="0"/>
                <a:ea typeface="Calibri" pitchFamily="34" charset="-122"/>
                <a:cs typeface="Calibri" pitchFamily="34" charset="-120"/>
              </a:rPr>
              <a:t>Structured data only
</a:t>
            </a:r>
            <a:endParaRPr lang="en-US" sz="863" dirty="0"/>
          </a:p>
          <a:p>
            <a:pPr marL="0" indent="0">
              <a:lnSpc>
                <a:spcPct val="120000"/>
              </a:lnSpc>
              <a:buNone/>
            </a:pPr>
            <a:r>
              <a:rPr lang="en-US" sz="863" b="1" dirty="0">
                <a:solidFill>
                  <a:srgbClr val="0A1F44"/>
                </a:solidFill>
                <a:latin typeface="Calibri" pitchFamily="34" charset="0"/>
                <a:ea typeface="Calibri" pitchFamily="34" charset="-122"/>
                <a:cs typeface="Calibri" pitchFamily="34" charset="-120"/>
              </a:rPr>
              <a:t>Cost: </a:t>
            </a:r>
            <a:r>
              <a:rPr lang="en-US" sz="863" dirty="0">
                <a:solidFill>
                  <a:srgbClr val="1A1A2E"/>
                </a:solidFill>
                <a:latin typeface="Calibri" pitchFamily="34" charset="0"/>
                <a:ea typeface="Calibri" pitchFamily="34" charset="-122"/>
                <a:cs typeface="Calibri" pitchFamily="34" charset="-120"/>
              </a:rPr>
              <a:t>Expensive
</a:t>
            </a:r>
            <a:endParaRPr lang="en-US" sz="863" dirty="0"/>
          </a:p>
          <a:p>
            <a:pPr marL="0" indent="0">
              <a:lnSpc>
                <a:spcPct val="120000"/>
              </a:lnSpc>
              <a:buNone/>
            </a:pPr>
            <a:r>
              <a:rPr lang="en-US" sz="863" b="1" dirty="0">
                <a:solidFill>
                  <a:srgbClr val="0A1F44"/>
                </a:solidFill>
                <a:latin typeface="Calibri" pitchFamily="34" charset="0"/>
                <a:ea typeface="Calibri" pitchFamily="34" charset="-122"/>
                <a:cs typeface="Calibri" pitchFamily="34" charset="-120"/>
              </a:rPr>
              <a:t>Findability: </a:t>
            </a:r>
            <a:r>
              <a:rPr lang="en-US" sz="863" dirty="0">
                <a:solidFill>
                  <a:srgbClr val="1A1A2E"/>
                </a:solidFill>
                <a:latin typeface="Calibri" pitchFamily="34" charset="0"/>
                <a:ea typeface="Calibri" pitchFamily="34" charset="-122"/>
                <a:cs typeface="Calibri" pitchFamily="34" charset="-120"/>
              </a:rPr>
              <a:t>Excellent — labelled and indexed</a:t>
            </a:r>
            <a:endParaRPr lang="en-US" sz="863" dirty="0"/>
          </a:p>
        </p:txBody>
      </p:sp>
      <p:sp>
        <p:nvSpPr>
          <p:cNvPr id="13" name="Shape 11"/>
          <p:cNvSpPr/>
          <p:nvPr/>
        </p:nvSpPr>
        <p:spPr>
          <a:xfrm>
            <a:off x="6268212" y="994410"/>
            <a:ext cx="2743200" cy="1920240"/>
          </a:xfrm>
          <a:prstGeom prst="roundRect">
            <a:avLst>
              <a:gd name="adj" fmla="val 2500"/>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4" name="Shape 12"/>
          <p:cNvSpPr/>
          <p:nvPr/>
        </p:nvSpPr>
        <p:spPr>
          <a:xfrm>
            <a:off x="6268212" y="994410"/>
            <a:ext cx="2743200" cy="377190"/>
          </a:xfrm>
          <a:prstGeom prst="rect">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5" name="Text 13"/>
          <p:cNvSpPr/>
          <p:nvPr/>
        </p:nvSpPr>
        <p:spPr>
          <a:xfrm>
            <a:off x="6405372" y="994410"/>
            <a:ext cx="246888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75" b="1" dirty="0">
                <a:solidFill>
                  <a:srgbClr val="1A6B3A"/>
                </a:solidFill>
                <a:latin typeface="Calibri" pitchFamily="34" charset="0"/>
                <a:ea typeface="Calibri" pitchFamily="34" charset="-122"/>
                <a:cs typeface="Calibri" pitchFamily="34" charset="-120"/>
              </a:rPr>
              <a:t>Data Lakehouse</a:t>
            </a:r>
            <a:endParaRPr lang="en-US" sz="1275" dirty="0"/>
          </a:p>
        </p:txBody>
      </p:sp>
      <p:sp>
        <p:nvSpPr>
          <p:cNvPr id="16" name="Text 14"/>
          <p:cNvSpPr/>
          <p:nvPr/>
        </p:nvSpPr>
        <p:spPr>
          <a:xfrm>
            <a:off x="6405372" y="1474470"/>
            <a:ext cx="2468880" cy="133731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863" b="1" dirty="0">
                <a:solidFill>
                  <a:srgbClr val="0A1F44"/>
                </a:solidFill>
                <a:latin typeface="Calibri" pitchFamily="34" charset="0"/>
                <a:ea typeface="Calibri" pitchFamily="34" charset="-122"/>
                <a:cs typeface="Calibri" pitchFamily="34" charset="-120"/>
              </a:rPr>
              <a:t>Analogy: </a:t>
            </a:r>
            <a:r>
              <a:rPr lang="en-US" sz="863" dirty="0">
                <a:solidFill>
                  <a:srgbClr val="1A1A2E"/>
                </a:solidFill>
                <a:latin typeface="Calibri" pitchFamily="34" charset="0"/>
                <a:ea typeface="Calibri" pitchFamily="34" charset="-122"/>
                <a:cs typeface="Calibri" pitchFamily="34" charset="-120"/>
              </a:rPr>
              <a:t>Organised warehouse with shelving — stores everything AND finds it fast
</a:t>
            </a:r>
            <a:endParaRPr lang="en-US" sz="863" dirty="0"/>
          </a:p>
          <a:p>
            <a:pPr marL="0" indent="0">
              <a:lnSpc>
                <a:spcPct val="120000"/>
              </a:lnSpc>
              <a:buNone/>
            </a:pPr>
            <a:r>
              <a:rPr lang="en-US" sz="863" b="1" dirty="0">
                <a:solidFill>
                  <a:srgbClr val="0A1F44"/>
                </a:solidFill>
                <a:latin typeface="Calibri" pitchFamily="34" charset="0"/>
                <a:ea typeface="Calibri" pitchFamily="34" charset="-122"/>
                <a:cs typeface="Calibri" pitchFamily="34" charset="-120"/>
              </a:rPr>
              <a:t>Stores: </a:t>
            </a:r>
            <a:r>
              <a:rPr lang="en-US" sz="863" dirty="0">
                <a:solidFill>
                  <a:srgbClr val="1A1A2E"/>
                </a:solidFill>
                <a:latin typeface="Calibri" pitchFamily="34" charset="0"/>
                <a:ea typeface="Calibri" pitchFamily="34" charset="-122"/>
                <a:cs typeface="Calibri" pitchFamily="34" charset="-120"/>
              </a:rPr>
              <a:t>Everything
</a:t>
            </a:r>
            <a:endParaRPr lang="en-US" sz="863" dirty="0"/>
          </a:p>
          <a:p>
            <a:pPr marL="0" indent="0">
              <a:lnSpc>
                <a:spcPct val="120000"/>
              </a:lnSpc>
              <a:buNone/>
            </a:pPr>
            <a:r>
              <a:rPr lang="en-US" sz="863" b="1" dirty="0">
                <a:solidFill>
                  <a:srgbClr val="0A1F44"/>
                </a:solidFill>
                <a:latin typeface="Calibri" pitchFamily="34" charset="0"/>
                <a:ea typeface="Calibri" pitchFamily="34" charset="-122"/>
                <a:cs typeface="Calibri" pitchFamily="34" charset="-120"/>
              </a:rPr>
              <a:t>Cost: </a:t>
            </a:r>
            <a:r>
              <a:rPr lang="en-US" sz="863" dirty="0">
                <a:solidFill>
                  <a:srgbClr val="1A1A2E"/>
                </a:solidFill>
                <a:latin typeface="Calibri" pitchFamily="34" charset="0"/>
                <a:ea typeface="Calibri" pitchFamily="34" charset="-122"/>
                <a:cs typeface="Calibri" pitchFamily="34" charset="-120"/>
              </a:rPr>
              <a:t>Balanced
</a:t>
            </a:r>
            <a:endParaRPr lang="en-US" sz="863" dirty="0"/>
          </a:p>
          <a:p>
            <a:pPr marL="0" indent="0">
              <a:lnSpc>
                <a:spcPct val="120000"/>
              </a:lnSpc>
              <a:buNone/>
            </a:pPr>
            <a:r>
              <a:rPr lang="en-US" sz="863" b="1" dirty="0">
                <a:solidFill>
                  <a:srgbClr val="0A1F44"/>
                </a:solidFill>
                <a:latin typeface="Calibri" pitchFamily="34" charset="0"/>
                <a:ea typeface="Calibri" pitchFamily="34" charset="-122"/>
                <a:cs typeface="Calibri" pitchFamily="34" charset="-120"/>
              </a:rPr>
              <a:t>Findability: </a:t>
            </a:r>
            <a:r>
              <a:rPr lang="en-US" sz="863" dirty="0">
                <a:solidFill>
                  <a:srgbClr val="1A1A2E"/>
                </a:solidFill>
                <a:latin typeface="Calibri" pitchFamily="34" charset="0"/>
                <a:ea typeface="Calibri" pitchFamily="34" charset="-122"/>
                <a:cs typeface="Calibri" pitchFamily="34" charset="-120"/>
              </a:rPr>
              <a:t>Excellent — best of both worlds</a:t>
            </a:r>
            <a:endParaRPr lang="en-US" sz="863" dirty="0"/>
          </a:p>
        </p:txBody>
      </p:sp>
      <p:sp>
        <p:nvSpPr>
          <p:cNvPr id="17" name="Text 15"/>
          <p:cNvSpPr/>
          <p:nvPr/>
        </p:nvSpPr>
        <p:spPr>
          <a:xfrm>
            <a:off x="411480" y="3051810"/>
            <a:ext cx="822960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75" dirty="0">
                <a:solidFill>
                  <a:srgbClr val="0A1F44"/>
                </a:solidFill>
                <a:latin typeface="Calibri" pitchFamily="34" charset="0"/>
                <a:ea typeface="Calibri" pitchFamily="34" charset="-122"/>
                <a:cs typeface="Calibri" pitchFamily="34" charset="-120"/>
              </a:rPr>
              <a:t>GEN AI'S 4 ROLES IN A DATA LAKEHOUSE</a:t>
            </a:r>
            <a:endParaRPr lang="en-US" sz="900" dirty="0"/>
          </a:p>
        </p:txBody>
      </p:sp>
      <p:sp>
        <p:nvSpPr>
          <p:cNvPr id="18" name="Shape 16"/>
          <p:cNvSpPr/>
          <p:nvPr/>
        </p:nvSpPr>
        <p:spPr>
          <a:xfrm>
            <a:off x="411480" y="3346704"/>
            <a:ext cx="2023110" cy="1371600"/>
          </a:xfrm>
          <a:prstGeom prst="roundRect">
            <a:avLst>
              <a:gd name="adj" fmla="val 3500"/>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9" name="Text 17"/>
          <p:cNvSpPr/>
          <p:nvPr/>
        </p:nvSpPr>
        <p:spPr>
          <a:xfrm>
            <a:off x="534924" y="3442716"/>
            <a:ext cx="1776222" cy="117957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1A6B3A"/>
                </a:solidFill>
                <a:latin typeface="Calibri" pitchFamily="34" charset="0"/>
                <a:ea typeface="Calibri" pitchFamily="34" charset="-122"/>
                <a:cs typeface="Calibri" pitchFamily="34" charset="-120"/>
              </a:rPr>
              <a:t>✨  Intelligent Ingestion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Generates ETL code from plain English; auto-detects schema changes</a:t>
            </a:r>
            <a:endParaRPr lang="en-US" sz="975" dirty="0"/>
          </a:p>
        </p:txBody>
      </p:sp>
      <p:sp>
        <p:nvSpPr>
          <p:cNvPr id="20" name="Shape 18"/>
          <p:cNvSpPr/>
          <p:nvPr/>
        </p:nvSpPr>
        <p:spPr>
          <a:xfrm>
            <a:off x="2516886" y="3346704"/>
            <a:ext cx="2023110" cy="1371600"/>
          </a:xfrm>
          <a:prstGeom prst="roundRect">
            <a:avLst>
              <a:gd name="adj" fmla="val 3500"/>
            </a:avLst>
          </a:prstGeom>
          <a:solidFill>
            <a:srgbClr val="DDEE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1" name="Text 19"/>
          <p:cNvSpPr/>
          <p:nvPr/>
        </p:nvSpPr>
        <p:spPr>
          <a:xfrm>
            <a:off x="2640330" y="3442716"/>
            <a:ext cx="1776222" cy="117957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006D8F"/>
                </a:solidFill>
                <a:latin typeface="Calibri" pitchFamily="34" charset="0"/>
                <a:ea typeface="Calibri" pitchFamily="34" charset="-122"/>
                <a:cs typeface="Calibri" pitchFamily="34" charset="-120"/>
              </a:rPr>
              <a:t>✨  Automated Quality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Runs quality checks, flags anomalies before data enters the lakehouse</a:t>
            </a:r>
            <a:endParaRPr lang="en-US" sz="975" dirty="0"/>
          </a:p>
        </p:txBody>
      </p:sp>
      <p:sp>
        <p:nvSpPr>
          <p:cNvPr id="22" name="Shape 20"/>
          <p:cNvSpPr/>
          <p:nvPr/>
        </p:nvSpPr>
        <p:spPr>
          <a:xfrm>
            <a:off x="4622292" y="3346704"/>
            <a:ext cx="2023110" cy="1371600"/>
          </a:xfrm>
          <a:prstGeom prst="roundRect">
            <a:avLst>
              <a:gd name="adj" fmla="val 3500"/>
            </a:avLst>
          </a:prstGeom>
          <a:solidFill>
            <a:srgbClr val="F0E8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3" name="Text 21"/>
          <p:cNvSpPr/>
          <p:nvPr/>
        </p:nvSpPr>
        <p:spPr>
          <a:xfrm>
            <a:off x="4745736" y="3442716"/>
            <a:ext cx="1776222" cy="117957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5B2D8E"/>
                </a:solidFill>
                <a:latin typeface="Calibri" pitchFamily="34" charset="0"/>
                <a:ea typeface="Calibri" pitchFamily="34" charset="-122"/>
                <a:cs typeface="Calibri" pitchFamily="34" charset="-120"/>
              </a:rPr>
              <a:t>✨  Schema Optimisation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Suggests optimal table structure based on query patterns</a:t>
            </a:r>
            <a:endParaRPr lang="en-US" sz="975" dirty="0"/>
          </a:p>
        </p:txBody>
      </p:sp>
      <p:sp>
        <p:nvSpPr>
          <p:cNvPr id="24" name="Shape 22"/>
          <p:cNvSpPr/>
          <p:nvPr/>
        </p:nvSpPr>
        <p:spPr>
          <a:xfrm>
            <a:off x="6727698" y="3346704"/>
            <a:ext cx="2023110" cy="1371600"/>
          </a:xfrm>
          <a:prstGeom prst="roundRect">
            <a:avLst>
              <a:gd name="adj" fmla="val 3500"/>
            </a:avLst>
          </a:prstGeom>
          <a:solidFill>
            <a:srgbClr val="FFFBE6"/>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5" name="Text 23"/>
          <p:cNvSpPr/>
          <p:nvPr/>
        </p:nvSpPr>
        <p:spPr>
          <a:xfrm>
            <a:off x="6851142" y="3442716"/>
            <a:ext cx="1776222" cy="117957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E85D04"/>
                </a:solidFill>
                <a:latin typeface="Calibri" pitchFamily="34" charset="0"/>
                <a:ea typeface="Calibri" pitchFamily="34" charset="-122"/>
                <a:cs typeface="Calibri" pitchFamily="34" charset="-120"/>
              </a:rPr>
              <a:t>✨  NL Query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Translates plain-English questions to SQL on lakehouse tables</a:t>
            </a:r>
            <a:endParaRPr lang="en-US" sz="975" dirty="0"/>
          </a:p>
        </p:txBody>
      </p:sp>
      <p:sp>
        <p:nvSpPr>
          <p:cNvPr id="26" name="Text 24"/>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27" name="Text 25"/>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10</a:t>
            </a:r>
            <a:endParaRPr lang="en-US" sz="675" dirty="0"/>
          </a:p>
        </p:txBody>
      </p:sp>
    </p:spTree>
    <p:extLst>
      <p:ext uri="{BB962C8B-B14F-4D97-AF65-F5344CB8AC3E}">
        <p14:creationId xmlns:p14="http://schemas.microsoft.com/office/powerpoint/2010/main" val="42112478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5</a:t>
            </a:r>
            <a:endParaRPr lang="en-US" sz="900" dirty="0"/>
          </a:p>
        </p:txBody>
      </p:sp>
      <p:sp>
        <p:nvSpPr>
          <p:cNvPr id="4" name="Text 2"/>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Lakehouse Architecture &amp; ACID Transactions</a:t>
            </a:r>
            <a:endParaRPr lang="en-US" sz="2025" dirty="0"/>
          </a:p>
        </p:txBody>
      </p:sp>
      <p:sp>
        <p:nvSpPr>
          <p:cNvPr id="5" name="Shape 3"/>
          <p:cNvSpPr/>
          <p:nvPr/>
        </p:nvSpPr>
        <p:spPr>
          <a:xfrm>
            <a:off x="411480" y="994410"/>
            <a:ext cx="4114800" cy="1440180"/>
          </a:xfrm>
          <a:prstGeom prst="roundRect">
            <a:avLst>
              <a:gd name="adj" fmla="val 3333"/>
            </a:avLst>
          </a:prstGeom>
          <a:solidFill>
            <a:srgbClr val="DDEE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34924" y="1090422"/>
            <a:ext cx="3867912" cy="124815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006D8F"/>
                </a:solidFill>
                <a:latin typeface="Calibri" pitchFamily="34" charset="0"/>
                <a:ea typeface="Calibri" pitchFamily="34" charset="-122"/>
                <a:cs typeface="Calibri" pitchFamily="34" charset="-120"/>
              </a:rPr>
              <a:t>🏦  ACID TRANSACTIONS EXPLAINED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ACID = a bank account rule. When you transfer ₹5,000 from Account A to Account B — BOTH steps must succeed or NEITHER happens. Money never disappears from A without arriving in B.</a:t>
            </a:r>
            <a:endParaRPr lang="en-US" sz="975" dirty="0"/>
          </a:p>
          <a:p>
            <a:pPr marL="0" indent="0">
              <a:lnSpc>
                <a:spcPct val="110000"/>
              </a:lnSpc>
              <a:buNone/>
            </a:pP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Same for data: either the full write completes correctly, or nothing changes.</a:t>
            </a:r>
            <a:endParaRPr lang="en-US" sz="975" dirty="0"/>
          </a:p>
        </p:txBody>
      </p:sp>
      <p:sp>
        <p:nvSpPr>
          <p:cNvPr id="7" name="Shape 5"/>
          <p:cNvSpPr/>
          <p:nvPr/>
        </p:nvSpPr>
        <p:spPr>
          <a:xfrm>
            <a:off x="4697730" y="994410"/>
            <a:ext cx="4011930" cy="1440180"/>
          </a:xfrm>
          <a:prstGeom prst="roundRect">
            <a:avLst>
              <a:gd name="adj" fmla="val 3333"/>
            </a:avLst>
          </a:prstGeom>
          <a:solidFill>
            <a:srgbClr val="E6F4EC"/>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Text 6"/>
          <p:cNvSpPr/>
          <p:nvPr/>
        </p:nvSpPr>
        <p:spPr>
          <a:xfrm>
            <a:off x="4821174" y="1090422"/>
            <a:ext cx="3765042" cy="124815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1A6B3A"/>
                </a:solidFill>
                <a:latin typeface="Calibri" pitchFamily="34" charset="0"/>
                <a:ea typeface="Calibri" pitchFamily="34" charset="-122"/>
                <a:cs typeface="Calibri" pitchFamily="34" charset="-120"/>
              </a:rPr>
              <a:t>⚙️  4 KEY LAKEHOUSE FEATURES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1. Unified Storage — all data types in one place</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2. ACID Transactions — data integrity guaranteed</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3. BI &amp; ML Support — same data feeds dashboards AND models</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4. Open Formats — no vendor lock-in (Delta Lake, Parquet)</a:t>
            </a:r>
            <a:endParaRPr lang="en-US" sz="975" dirty="0"/>
          </a:p>
        </p:txBody>
      </p:sp>
      <p:sp>
        <p:nvSpPr>
          <p:cNvPr id="9" name="Text 7"/>
          <p:cNvSpPr/>
          <p:nvPr/>
        </p:nvSpPr>
        <p:spPr>
          <a:xfrm>
            <a:off x="411480" y="2571750"/>
            <a:ext cx="822960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75" dirty="0">
                <a:solidFill>
                  <a:srgbClr val="0A1F44"/>
                </a:solidFill>
                <a:latin typeface="Calibri" pitchFamily="34" charset="0"/>
                <a:ea typeface="Calibri" pitchFamily="34" charset="-122"/>
                <a:cs typeface="Calibri" pitchFamily="34" charset="-120"/>
              </a:rPr>
              <a:t>THE 3-LAYER ARCHITECTURE</a:t>
            </a:r>
            <a:endParaRPr lang="en-US" sz="900" dirty="0"/>
          </a:p>
        </p:txBody>
      </p:sp>
      <p:sp>
        <p:nvSpPr>
          <p:cNvPr id="10" name="Shape 8"/>
          <p:cNvSpPr/>
          <p:nvPr/>
        </p:nvSpPr>
        <p:spPr>
          <a:xfrm>
            <a:off x="411480" y="2846070"/>
            <a:ext cx="2743200" cy="1885950"/>
          </a:xfrm>
          <a:prstGeom prst="roundRect">
            <a:avLst>
              <a:gd name="adj" fmla="val 2545"/>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1" name="Shape 9"/>
          <p:cNvSpPr/>
          <p:nvPr/>
        </p:nvSpPr>
        <p:spPr>
          <a:xfrm>
            <a:off x="411480" y="2846070"/>
            <a:ext cx="2743200" cy="356616"/>
          </a:xfrm>
          <a:prstGeom prst="rect">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2" name="Text 10"/>
          <p:cNvSpPr/>
          <p:nvPr/>
        </p:nvSpPr>
        <p:spPr>
          <a:xfrm>
            <a:off x="514350" y="2846070"/>
            <a:ext cx="2537460" cy="356616"/>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5B2D8E"/>
                </a:solidFill>
                <a:latin typeface="Calibri" pitchFamily="34" charset="0"/>
                <a:ea typeface="Calibri" pitchFamily="34" charset="-122"/>
                <a:cs typeface="Calibri" pitchFamily="34" charset="-120"/>
              </a:rPr>
              <a:t>Layer 1  —  Raw Storage (Data Lake)</a:t>
            </a:r>
            <a:endParaRPr lang="en-US" sz="975" dirty="0"/>
          </a:p>
        </p:txBody>
      </p:sp>
      <p:sp>
        <p:nvSpPr>
          <p:cNvPr id="13" name="Text 11"/>
          <p:cNvSpPr/>
          <p:nvPr/>
        </p:nvSpPr>
        <p:spPr>
          <a:xfrm>
            <a:off x="514350" y="3291840"/>
            <a:ext cx="2537460" cy="6858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dirty="0">
                <a:solidFill>
                  <a:srgbClr val="1A1A2E"/>
                </a:solidFill>
                <a:latin typeface="Calibri" pitchFamily="34" charset="0"/>
                <a:ea typeface="Calibri" pitchFamily="34" charset="-122"/>
                <a:cs typeface="Calibri" pitchFamily="34" charset="-120"/>
              </a:rPr>
              <a:t>All raw data lands here first. No processing, no structure.</a:t>
            </a:r>
            <a:endParaRPr lang="en-US" sz="938" dirty="0"/>
          </a:p>
        </p:txBody>
      </p:sp>
      <p:sp>
        <p:nvSpPr>
          <p:cNvPr id="14" name="Text 12"/>
          <p:cNvSpPr/>
          <p:nvPr/>
        </p:nvSpPr>
        <p:spPr>
          <a:xfrm>
            <a:off x="514350" y="4046220"/>
            <a:ext cx="253746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5B2D8E"/>
                </a:solidFill>
                <a:latin typeface="Calibri" pitchFamily="34" charset="0"/>
                <a:ea typeface="Calibri" pitchFamily="34" charset="-122"/>
                <a:cs typeface="Calibri" pitchFamily="34" charset="-120"/>
              </a:rPr>
              <a:t>✨ </a:t>
            </a:r>
            <a:r>
              <a:rPr lang="en-US" sz="863" i="1" dirty="0">
                <a:solidFill>
                  <a:srgbClr val="5A5A6E"/>
                </a:solidFill>
                <a:latin typeface="Calibri" pitchFamily="34" charset="0"/>
                <a:ea typeface="Calibri" pitchFamily="34" charset="-122"/>
                <a:cs typeface="Calibri" pitchFamily="34" charset="-120"/>
              </a:rPr>
              <a:t>Gen AI Role: auto-tag and classify incoming data</a:t>
            </a:r>
            <a:endParaRPr lang="en-US" sz="863" dirty="0"/>
          </a:p>
        </p:txBody>
      </p:sp>
      <p:sp>
        <p:nvSpPr>
          <p:cNvPr id="15" name="Shape 13"/>
          <p:cNvSpPr/>
          <p:nvPr/>
        </p:nvSpPr>
        <p:spPr>
          <a:xfrm>
            <a:off x="3339846" y="2846070"/>
            <a:ext cx="2743200" cy="1885950"/>
          </a:xfrm>
          <a:prstGeom prst="roundRect">
            <a:avLst>
              <a:gd name="adj" fmla="val 2545"/>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6" name="Shape 14"/>
          <p:cNvSpPr/>
          <p:nvPr/>
        </p:nvSpPr>
        <p:spPr>
          <a:xfrm>
            <a:off x="3339846" y="2846070"/>
            <a:ext cx="2743200" cy="356616"/>
          </a:xfrm>
          <a:prstGeom prst="rect">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7" name="Text 15"/>
          <p:cNvSpPr/>
          <p:nvPr/>
        </p:nvSpPr>
        <p:spPr>
          <a:xfrm>
            <a:off x="3442716" y="2846070"/>
            <a:ext cx="2537460" cy="356616"/>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1A6B3A"/>
                </a:solidFill>
                <a:latin typeface="Calibri" pitchFamily="34" charset="0"/>
                <a:ea typeface="Calibri" pitchFamily="34" charset="-122"/>
                <a:cs typeface="Calibri" pitchFamily="34" charset="-120"/>
              </a:rPr>
              <a:t>Layer 2  —  Optimised Storage (Delta)</a:t>
            </a:r>
            <a:endParaRPr lang="en-US" sz="975" dirty="0"/>
          </a:p>
        </p:txBody>
      </p:sp>
      <p:sp>
        <p:nvSpPr>
          <p:cNvPr id="18" name="Text 16"/>
          <p:cNvSpPr/>
          <p:nvPr/>
        </p:nvSpPr>
        <p:spPr>
          <a:xfrm>
            <a:off x="3442716" y="3291840"/>
            <a:ext cx="2537460" cy="6858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dirty="0">
                <a:solidFill>
                  <a:srgbClr val="1A1A2E"/>
                </a:solidFill>
                <a:latin typeface="Calibri" pitchFamily="34" charset="0"/>
                <a:ea typeface="Calibri" pitchFamily="34" charset="-122"/>
                <a:cs typeface="Calibri" pitchFamily="34" charset="-120"/>
              </a:rPr>
              <a:t>Data is structured, validated, and versioned.</a:t>
            </a:r>
            <a:endParaRPr lang="en-US" sz="938" dirty="0"/>
          </a:p>
        </p:txBody>
      </p:sp>
      <p:sp>
        <p:nvSpPr>
          <p:cNvPr id="19" name="Text 17"/>
          <p:cNvSpPr/>
          <p:nvPr/>
        </p:nvSpPr>
        <p:spPr>
          <a:xfrm>
            <a:off x="3442716" y="4046220"/>
            <a:ext cx="253746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1A6B3A"/>
                </a:solidFill>
                <a:latin typeface="Calibri" pitchFamily="34" charset="0"/>
                <a:ea typeface="Calibri" pitchFamily="34" charset="-122"/>
                <a:cs typeface="Calibri" pitchFamily="34" charset="-120"/>
              </a:rPr>
              <a:t>✨ </a:t>
            </a:r>
            <a:r>
              <a:rPr lang="en-US" sz="863" i="1" dirty="0">
                <a:solidFill>
                  <a:srgbClr val="5A5A6E"/>
                </a:solidFill>
                <a:latin typeface="Calibri" pitchFamily="34" charset="0"/>
                <a:ea typeface="Calibri" pitchFamily="34" charset="-122"/>
                <a:cs typeface="Calibri" pitchFamily="34" charset="-120"/>
              </a:rPr>
              <a:t>Gen AI Role: auto-generate schemas, run quality checks</a:t>
            </a:r>
            <a:endParaRPr lang="en-US" sz="863" dirty="0"/>
          </a:p>
        </p:txBody>
      </p:sp>
      <p:sp>
        <p:nvSpPr>
          <p:cNvPr id="20" name="Shape 18"/>
          <p:cNvSpPr/>
          <p:nvPr/>
        </p:nvSpPr>
        <p:spPr>
          <a:xfrm>
            <a:off x="6268212" y="2846070"/>
            <a:ext cx="2743200" cy="1885950"/>
          </a:xfrm>
          <a:prstGeom prst="roundRect">
            <a:avLst>
              <a:gd name="adj" fmla="val 2545"/>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1" name="Shape 19"/>
          <p:cNvSpPr/>
          <p:nvPr/>
        </p:nvSpPr>
        <p:spPr>
          <a:xfrm>
            <a:off x="6268212" y="2846070"/>
            <a:ext cx="2743200" cy="356616"/>
          </a:xfrm>
          <a:prstGeom prst="rect">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2" name="Text 20"/>
          <p:cNvSpPr/>
          <p:nvPr/>
        </p:nvSpPr>
        <p:spPr>
          <a:xfrm>
            <a:off x="6371082" y="2846070"/>
            <a:ext cx="2537460" cy="356616"/>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75" b="1" dirty="0">
                <a:solidFill>
                  <a:srgbClr val="006D8F"/>
                </a:solidFill>
                <a:latin typeface="Calibri" pitchFamily="34" charset="0"/>
                <a:ea typeface="Calibri" pitchFamily="34" charset="-122"/>
                <a:cs typeface="Calibri" pitchFamily="34" charset="-120"/>
              </a:rPr>
              <a:t>Layer 3  —  Consumption Layer (BI + ML)</a:t>
            </a:r>
            <a:endParaRPr lang="en-US" sz="975" dirty="0"/>
          </a:p>
        </p:txBody>
      </p:sp>
      <p:sp>
        <p:nvSpPr>
          <p:cNvPr id="23" name="Text 21"/>
          <p:cNvSpPr/>
          <p:nvPr/>
        </p:nvSpPr>
        <p:spPr>
          <a:xfrm>
            <a:off x="6371082" y="3291840"/>
            <a:ext cx="2537460" cy="68580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38" dirty="0">
                <a:solidFill>
                  <a:srgbClr val="1A1A2E"/>
                </a:solidFill>
                <a:latin typeface="Calibri" pitchFamily="34" charset="0"/>
                <a:ea typeface="Calibri" pitchFamily="34" charset="-122"/>
                <a:cs typeface="Calibri" pitchFamily="34" charset="-120"/>
              </a:rPr>
              <a:t>Cleaned data served to dashboards and ML models.</a:t>
            </a:r>
            <a:endParaRPr lang="en-US" sz="938" dirty="0"/>
          </a:p>
        </p:txBody>
      </p:sp>
      <p:sp>
        <p:nvSpPr>
          <p:cNvPr id="24" name="Text 22"/>
          <p:cNvSpPr/>
          <p:nvPr/>
        </p:nvSpPr>
        <p:spPr>
          <a:xfrm>
            <a:off x="6371082" y="4046220"/>
            <a:ext cx="253746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863" dirty="0">
                <a:solidFill>
                  <a:srgbClr val="006D8F"/>
                </a:solidFill>
                <a:latin typeface="Calibri" pitchFamily="34" charset="0"/>
                <a:ea typeface="Calibri" pitchFamily="34" charset="-122"/>
                <a:cs typeface="Calibri" pitchFamily="34" charset="-120"/>
              </a:rPr>
              <a:t>✨ </a:t>
            </a:r>
            <a:r>
              <a:rPr lang="en-US" sz="863" i="1" dirty="0">
                <a:solidFill>
                  <a:srgbClr val="5A5A6E"/>
                </a:solidFill>
                <a:latin typeface="Calibri" pitchFamily="34" charset="0"/>
                <a:ea typeface="Calibri" pitchFamily="34" charset="-122"/>
                <a:cs typeface="Calibri" pitchFamily="34" charset="-120"/>
              </a:rPr>
              <a:t>Gen AI Role: NL-to-SQL, auto-documentation</a:t>
            </a:r>
            <a:endParaRPr lang="en-US" sz="863" dirty="0"/>
          </a:p>
        </p:txBody>
      </p:sp>
      <p:sp>
        <p:nvSpPr>
          <p:cNvPr id="25" name="Text 23"/>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26" name="Text 24"/>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11</a:t>
            </a:r>
            <a:endParaRPr lang="en-US" sz="675" dirty="0"/>
          </a:p>
        </p:txBody>
      </p:sp>
    </p:spTree>
    <p:extLst>
      <p:ext uri="{BB962C8B-B14F-4D97-AF65-F5344CB8AC3E}">
        <p14:creationId xmlns:p14="http://schemas.microsoft.com/office/powerpoint/2010/main" val="2805200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6</a:t>
            </a:r>
            <a:endParaRPr lang="en-US" sz="900" dirty="0"/>
          </a:p>
        </p:txBody>
      </p:sp>
      <p:sp>
        <p:nvSpPr>
          <p:cNvPr id="4" name="Text 2"/>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Industry Considerations for Gen AI</a:t>
            </a:r>
            <a:endParaRPr lang="en-US" sz="2025" dirty="0"/>
          </a:p>
        </p:txBody>
      </p:sp>
      <p:sp>
        <p:nvSpPr>
          <p:cNvPr id="5" name="Shape 3"/>
          <p:cNvSpPr/>
          <p:nvPr/>
        </p:nvSpPr>
        <p:spPr>
          <a:xfrm>
            <a:off x="411480" y="994410"/>
            <a:ext cx="8298180" cy="685800"/>
          </a:xfrm>
          <a:prstGeom prst="roundRect">
            <a:avLst>
              <a:gd name="adj" fmla="val 7000"/>
            </a:avLst>
          </a:prstGeom>
          <a:solidFill>
            <a:srgbClr val="F0E8FF"/>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34924" y="1090422"/>
            <a:ext cx="8051292" cy="49377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5B2D8E"/>
                </a:solidFill>
                <a:latin typeface="Calibri" pitchFamily="34" charset="0"/>
                <a:ea typeface="Calibri" pitchFamily="34" charset="-122"/>
                <a:cs typeface="Calibri" pitchFamily="34" charset="-120"/>
              </a:rPr>
              <a:t>📘  WHY CONSIDERATIONS MATTER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Generative AI has significant potential in data science, but its usage must be guided by important considerations. Broadly these fall into: Data factors, Model factors, and Ethical factors.</a:t>
            </a:r>
            <a:endParaRPr lang="en-US" sz="975" dirty="0"/>
          </a:p>
        </p:txBody>
      </p:sp>
      <p:sp>
        <p:nvSpPr>
          <p:cNvPr id="7" name="Shape 5"/>
          <p:cNvSpPr/>
          <p:nvPr/>
        </p:nvSpPr>
        <p:spPr>
          <a:xfrm>
            <a:off x="411480" y="1817370"/>
            <a:ext cx="2743200" cy="2914650"/>
          </a:xfrm>
          <a:prstGeom prst="roundRect">
            <a:avLst>
              <a:gd name="adj" fmla="val 1750"/>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Shape 6"/>
          <p:cNvSpPr/>
          <p:nvPr/>
        </p:nvSpPr>
        <p:spPr>
          <a:xfrm>
            <a:off x="411480" y="1817370"/>
            <a:ext cx="2743200" cy="377190"/>
          </a:xfrm>
          <a:prstGeom prst="rect">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9" name="Text 7"/>
          <p:cNvSpPr/>
          <p:nvPr/>
        </p:nvSpPr>
        <p:spPr>
          <a:xfrm>
            <a:off x="514350" y="1817370"/>
            <a:ext cx="253746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75" b="1" dirty="0">
                <a:solidFill>
                  <a:srgbClr val="006D8F"/>
                </a:solidFill>
                <a:latin typeface="Calibri" pitchFamily="34" charset="0"/>
                <a:ea typeface="Calibri" pitchFamily="34" charset="-122"/>
                <a:cs typeface="Calibri" pitchFamily="34" charset="-120"/>
              </a:rPr>
              <a:t>Finance</a:t>
            </a:r>
            <a:endParaRPr lang="en-US" sz="1275" dirty="0"/>
          </a:p>
        </p:txBody>
      </p:sp>
      <p:sp>
        <p:nvSpPr>
          <p:cNvPr id="10" name="Text 8"/>
          <p:cNvSpPr/>
          <p:nvPr/>
        </p:nvSpPr>
        <p:spPr>
          <a:xfrm>
            <a:off x="514350" y="2297430"/>
            <a:ext cx="2537460" cy="23317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900" b="1" dirty="0">
                <a:solidFill>
                  <a:srgbClr val="0A1F44"/>
                </a:solidFill>
                <a:latin typeface="Calibri" pitchFamily="34" charset="0"/>
                <a:ea typeface="Calibri" pitchFamily="34" charset="-122"/>
                <a:cs typeface="Calibri" pitchFamily="34" charset="-120"/>
              </a:rPr>
              <a:t>Unique Risk
</a:t>
            </a:r>
            <a:r>
              <a:rPr lang="en-US" sz="938" dirty="0">
                <a:solidFill>
                  <a:srgbClr val="1A1A2E"/>
                </a:solidFill>
                <a:latin typeface="Calibri" pitchFamily="34" charset="0"/>
                <a:ea typeface="Calibri" pitchFamily="34" charset="-122"/>
                <a:cs typeface="Calibri" pitchFamily="34" charset="-120"/>
              </a:rPr>
              <a:t>Biased outputs in credit scoring or fraud detection affect people's financial lives
</a:t>
            </a:r>
            <a:r>
              <a:rPr lang="en-US" sz="900" b="1" dirty="0">
                <a:solidFill>
                  <a:srgbClr val="0A1F44"/>
                </a:solidFill>
                <a:latin typeface="Calibri" pitchFamily="34" charset="0"/>
                <a:ea typeface="Calibri" pitchFamily="34" charset="-122"/>
                <a:cs typeface="Calibri" pitchFamily="34" charset="-120"/>
              </a:rPr>
              <a:t>Key Requirements
</a:t>
            </a:r>
            <a:r>
              <a:rPr lang="en-US" sz="938" dirty="0">
                <a:solidFill>
                  <a:srgbClr val="1A1A2E"/>
                </a:solidFill>
                <a:latin typeface="Calibri" pitchFamily="34" charset="0"/>
                <a:ea typeface="Calibri" pitchFamily="34" charset="-122"/>
                <a:cs typeface="Calibri" pitchFamily="34" charset="-120"/>
              </a:rPr>
              <a:t>Model interpretability, adversarial robustness, fairness metrics, regulatory compliance (SEBI, RBI, IRDAI)</a:t>
            </a:r>
            <a:endParaRPr lang="en-US" sz="900" dirty="0"/>
          </a:p>
        </p:txBody>
      </p:sp>
      <p:sp>
        <p:nvSpPr>
          <p:cNvPr id="11" name="Shape 9"/>
          <p:cNvSpPr/>
          <p:nvPr/>
        </p:nvSpPr>
        <p:spPr>
          <a:xfrm>
            <a:off x="3339846" y="1817370"/>
            <a:ext cx="2743200" cy="2914650"/>
          </a:xfrm>
          <a:prstGeom prst="roundRect">
            <a:avLst>
              <a:gd name="adj" fmla="val 1750"/>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2" name="Shape 10"/>
          <p:cNvSpPr/>
          <p:nvPr/>
        </p:nvSpPr>
        <p:spPr>
          <a:xfrm>
            <a:off x="3339846" y="1817370"/>
            <a:ext cx="2743200" cy="377190"/>
          </a:xfrm>
          <a:prstGeom prst="rect">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3" name="Text 11"/>
          <p:cNvSpPr/>
          <p:nvPr/>
        </p:nvSpPr>
        <p:spPr>
          <a:xfrm>
            <a:off x="3442716" y="1817370"/>
            <a:ext cx="253746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75" b="1" dirty="0">
                <a:solidFill>
                  <a:srgbClr val="1A6B3A"/>
                </a:solidFill>
                <a:latin typeface="Calibri" pitchFamily="34" charset="0"/>
                <a:ea typeface="Calibri" pitchFamily="34" charset="-122"/>
                <a:cs typeface="Calibri" pitchFamily="34" charset="-120"/>
              </a:rPr>
              <a:t>Healthcare</a:t>
            </a:r>
            <a:endParaRPr lang="en-US" sz="1275" dirty="0"/>
          </a:p>
        </p:txBody>
      </p:sp>
      <p:sp>
        <p:nvSpPr>
          <p:cNvPr id="14" name="Text 12"/>
          <p:cNvSpPr/>
          <p:nvPr/>
        </p:nvSpPr>
        <p:spPr>
          <a:xfrm>
            <a:off x="3442716" y="2297430"/>
            <a:ext cx="2537460" cy="23317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900" b="1" dirty="0">
                <a:solidFill>
                  <a:srgbClr val="0A1F44"/>
                </a:solidFill>
                <a:latin typeface="Calibri" pitchFamily="34" charset="0"/>
                <a:ea typeface="Calibri" pitchFamily="34" charset="-122"/>
                <a:cs typeface="Calibri" pitchFamily="34" charset="-120"/>
              </a:rPr>
              <a:t>Unique Risk
</a:t>
            </a:r>
            <a:r>
              <a:rPr lang="en-US" sz="938" dirty="0">
                <a:solidFill>
                  <a:srgbClr val="1A1A2E"/>
                </a:solidFill>
                <a:latin typeface="Calibri" pitchFamily="34" charset="0"/>
                <a:ea typeface="Calibri" pitchFamily="34" charset="-122"/>
                <a:cs typeface="Calibri" pitchFamily="34" charset="-120"/>
              </a:rPr>
              <a:t>Misdiagnosis risk; patient data is extremely sensitive and legally protected
</a:t>
            </a:r>
            <a:r>
              <a:rPr lang="en-US" sz="900" b="1" dirty="0">
                <a:solidFill>
                  <a:srgbClr val="0A1F44"/>
                </a:solidFill>
                <a:latin typeface="Calibri" pitchFamily="34" charset="0"/>
                <a:ea typeface="Calibri" pitchFamily="34" charset="-122"/>
                <a:cs typeface="Calibri" pitchFamily="34" charset="-120"/>
              </a:rPr>
              <a:t>Key Requirements
</a:t>
            </a:r>
            <a:r>
              <a:rPr lang="en-US" sz="938" dirty="0">
                <a:solidFill>
                  <a:srgbClr val="1A1A2E"/>
                </a:solidFill>
                <a:latin typeface="Calibri" pitchFamily="34" charset="0"/>
                <a:ea typeface="Calibri" pitchFamily="34" charset="-122"/>
                <a:cs typeface="Calibri" pitchFamily="34" charset="-120"/>
              </a:rPr>
              <a:t>HIPAA compliance, explainable AI, anonymisation, informed consent, continuous monitoring</a:t>
            </a:r>
            <a:endParaRPr lang="en-US" sz="900" dirty="0"/>
          </a:p>
        </p:txBody>
      </p:sp>
      <p:sp>
        <p:nvSpPr>
          <p:cNvPr id="15" name="Shape 13"/>
          <p:cNvSpPr/>
          <p:nvPr/>
        </p:nvSpPr>
        <p:spPr>
          <a:xfrm>
            <a:off x="6268212" y="1817370"/>
            <a:ext cx="2743200" cy="2914650"/>
          </a:xfrm>
          <a:prstGeom prst="roundRect">
            <a:avLst>
              <a:gd name="adj" fmla="val 1750"/>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6" name="Shape 14"/>
          <p:cNvSpPr/>
          <p:nvPr/>
        </p:nvSpPr>
        <p:spPr>
          <a:xfrm>
            <a:off x="6268212" y="1817370"/>
            <a:ext cx="2743200" cy="377190"/>
          </a:xfrm>
          <a:prstGeom prst="rect">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7" name="Text 15"/>
          <p:cNvSpPr/>
          <p:nvPr/>
        </p:nvSpPr>
        <p:spPr>
          <a:xfrm>
            <a:off x="6371082" y="1817370"/>
            <a:ext cx="253746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275" b="1" dirty="0">
                <a:solidFill>
                  <a:srgbClr val="5B2D8E"/>
                </a:solidFill>
                <a:latin typeface="Calibri" pitchFamily="34" charset="0"/>
                <a:ea typeface="Calibri" pitchFamily="34" charset="-122"/>
                <a:cs typeface="Calibri" pitchFamily="34" charset="-120"/>
              </a:rPr>
              <a:t>Retail</a:t>
            </a:r>
            <a:endParaRPr lang="en-US" sz="1275" dirty="0"/>
          </a:p>
        </p:txBody>
      </p:sp>
      <p:sp>
        <p:nvSpPr>
          <p:cNvPr id="18" name="Text 16"/>
          <p:cNvSpPr/>
          <p:nvPr/>
        </p:nvSpPr>
        <p:spPr>
          <a:xfrm>
            <a:off x="6371082" y="2297430"/>
            <a:ext cx="2537460" cy="23317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20000"/>
              </a:lnSpc>
              <a:buNone/>
            </a:pPr>
            <a:r>
              <a:rPr lang="en-US" sz="900" b="1" dirty="0">
                <a:solidFill>
                  <a:srgbClr val="0A1F44"/>
                </a:solidFill>
                <a:latin typeface="Calibri" pitchFamily="34" charset="0"/>
                <a:ea typeface="Calibri" pitchFamily="34" charset="-122"/>
                <a:cs typeface="Calibri" pitchFamily="34" charset="-120"/>
              </a:rPr>
              <a:t>Unique Risk
</a:t>
            </a:r>
            <a:r>
              <a:rPr lang="en-US" sz="938" dirty="0">
                <a:solidFill>
                  <a:srgbClr val="1A1A2E"/>
                </a:solidFill>
                <a:latin typeface="Calibri" pitchFamily="34" charset="0"/>
                <a:ea typeface="Calibri" pitchFamily="34" charset="-122"/>
                <a:cs typeface="Calibri" pitchFamily="34" charset="-120"/>
              </a:rPr>
              <a:t>Personalisation can reinforce bias; large volumes of customer data create privacy risk
</a:t>
            </a:r>
            <a:r>
              <a:rPr lang="en-US" sz="900" b="1" dirty="0">
                <a:solidFill>
                  <a:srgbClr val="0A1F44"/>
                </a:solidFill>
                <a:latin typeface="Calibri" pitchFamily="34" charset="0"/>
                <a:ea typeface="Calibri" pitchFamily="34" charset="-122"/>
                <a:cs typeface="Calibri" pitchFamily="34" charset="-120"/>
              </a:rPr>
              <a:t>Key Requirements
</a:t>
            </a:r>
            <a:r>
              <a:rPr lang="en-US" sz="938" dirty="0">
                <a:solidFill>
                  <a:srgbClr val="1A1A2E"/>
                </a:solidFill>
                <a:latin typeface="Calibri" pitchFamily="34" charset="0"/>
                <a:ea typeface="Calibri" pitchFamily="34" charset="-122"/>
                <a:cs typeface="Calibri" pitchFamily="34" charset="-120"/>
              </a:rPr>
              <a:t>Data privacy laws, consent, bias mitigation in recommendation engines, robust cybersecurity</a:t>
            </a:r>
            <a:endParaRPr lang="en-US" sz="900" dirty="0"/>
          </a:p>
        </p:txBody>
      </p:sp>
      <p:sp>
        <p:nvSpPr>
          <p:cNvPr id="19" name="Text 17"/>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20" name="Text 18"/>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12</a:t>
            </a:r>
            <a:endParaRPr lang="en-US" sz="675" dirty="0"/>
          </a:p>
        </p:txBody>
      </p:sp>
    </p:spTree>
    <p:extLst>
      <p:ext uri="{BB962C8B-B14F-4D97-AF65-F5344CB8AC3E}">
        <p14:creationId xmlns:p14="http://schemas.microsoft.com/office/powerpoint/2010/main" val="393740377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6</a:t>
            </a:r>
            <a:endParaRPr lang="en-US" sz="900" dirty="0"/>
          </a:p>
        </p:txBody>
      </p:sp>
      <p:sp>
        <p:nvSpPr>
          <p:cNvPr id="4" name="Text 2"/>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Challenges in Using Generative AI</a:t>
            </a:r>
            <a:endParaRPr lang="en-US" sz="2025" dirty="0"/>
          </a:p>
        </p:txBody>
      </p:sp>
      <p:sp>
        <p:nvSpPr>
          <p:cNvPr id="5" name="Shape 3"/>
          <p:cNvSpPr/>
          <p:nvPr/>
        </p:nvSpPr>
        <p:spPr>
          <a:xfrm>
            <a:off x="411480" y="994410"/>
            <a:ext cx="2743200" cy="3703320"/>
          </a:xfrm>
          <a:prstGeom prst="roundRect">
            <a:avLst>
              <a:gd name="adj" fmla="val 1750"/>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Shape 4"/>
          <p:cNvSpPr/>
          <p:nvPr/>
        </p:nvSpPr>
        <p:spPr>
          <a:xfrm>
            <a:off x="411480" y="994410"/>
            <a:ext cx="2743200" cy="377190"/>
          </a:xfrm>
          <a:prstGeom prst="rect">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7" name="Text 5"/>
          <p:cNvSpPr/>
          <p:nvPr/>
        </p:nvSpPr>
        <p:spPr>
          <a:xfrm>
            <a:off x="514350" y="994410"/>
            <a:ext cx="253746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5B2D8E"/>
                </a:solidFill>
                <a:latin typeface="Calibri" pitchFamily="34" charset="0"/>
                <a:ea typeface="Calibri" pitchFamily="34" charset="-122"/>
                <a:cs typeface="Calibri" pitchFamily="34" charset="-120"/>
              </a:rPr>
              <a:t>Technical Challenges</a:t>
            </a:r>
            <a:endParaRPr lang="en-US" sz="1050" dirty="0"/>
          </a:p>
        </p:txBody>
      </p:sp>
      <p:sp>
        <p:nvSpPr>
          <p:cNvPr id="8" name="Shape 6"/>
          <p:cNvSpPr/>
          <p:nvPr/>
        </p:nvSpPr>
        <p:spPr>
          <a:xfrm>
            <a:off x="514350" y="1563624"/>
            <a:ext cx="150876" cy="150876"/>
          </a:xfrm>
          <a:prstGeom prst="ellipse">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9" name="Text 7"/>
          <p:cNvSpPr/>
          <p:nvPr/>
        </p:nvSpPr>
        <p:spPr>
          <a:xfrm>
            <a:off x="720090" y="15087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Data quality &amp; availability — high-quality labelled data is hard to get for niche applications</a:t>
            </a:r>
            <a:endParaRPr lang="en-US" sz="863" dirty="0"/>
          </a:p>
        </p:txBody>
      </p:sp>
      <p:sp>
        <p:nvSpPr>
          <p:cNvPr id="10" name="Shape 8"/>
          <p:cNvSpPr/>
          <p:nvPr/>
        </p:nvSpPr>
        <p:spPr>
          <a:xfrm>
            <a:off x="514350" y="2249424"/>
            <a:ext cx="150876" cy="150876"/>
          </a:xfrm>
          <a:prstGeom prst="ellipse">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1" name="Text 9"/>
          <p:cNvSpPr/>
          <p:nvPr/>
        </p:nvSpPr>
        <p:spPr>
          <a:xfrm>
            <a:off x="720090" y="21945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Model interpretability — complex Gen AI models are hard to explain and audit</a:t>
            </a:r>
            <a:endParaRPr lang="en-US" sz="863" dirty="0"/>
          </a:p>
        </p:txBody>
      </p:sp>
      <p:sp>
        <p:nvSpPr>
          <p:cNvPr id="12" name="Shape 10"/>
          <p:cNvSpPr/>
          <p:nvPr/>
        </p:nvSpPr>
        <p:spPr>
          <a:xfrm>
            <a:off x="514350" y="2935224"/>
            <a:ext cx="150876" cy="150876"/>
          </a:xfrm>
          <a:prstGeom prst="ellipse">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3" name="Text 11"/>
          <p:cNvSpPr/>
          <p:nvPr/>
        </p:nvSpPr>
        <p:spPr>
          <a:xfrm>
            <a:off x="720090" y="28803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AI Hallucinations — models produce confident but factually wrong outputs</a:t>
            </a:r>
            <a:endParaRPr lang="en-US" sz="863" dirty="0"/>
          </a:p>
        </p:txBody>
      </p:sp>
      <p:sp>
        <p:nvSpPr>
          <p:cNvPr id="14" name="Shape 12"/>
          <p:cNvSpPr/>
          <p:nvPr/>
        </p:nvSpPr>
        <p:spPr>
          <a:xfrm>
            <a:off x="514350" y="3621024"/>
            <a:ext cx="150876" cy="150876"/>
          </a:xfrm>
          <a:prstGeom prst="ellipse">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5" name="Text 13"/>
          <p:cNvSpPr/>
          <p:nvPr/>
        </p:nvSpPr>
        <p:spPr>
          <a:xfrm>
            <a:off x="720090" y="35661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Computational demands — large models need significant infrastructure</a:t>
            </a:r>
            <a:endParaRPr lang="en-US" sz="863" dirty="0"/>
          </a:p>
        </p:txBody>
      </p:sp>
      <p:sp>
        <p:nvSpPr>
          <p:cNvPr id="16" name="Shape 14"/>
          <p:cNvSpPr/>
          <p:nvPr/>
        </p:nvSpPr>
        <p:spPr>
          <a:xfrm>
            <a:off x="514350" y="4306824"/>
            <a:ext cx="150876" cy="150876"/>
          </a:xfrm>
          <a:prstGeom prst="ellipse">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7" name="Text 15"/>
          <p:cNvSpPr/>
          <p:nvPr/>
        </p:nvSpPr>
        <p:spPr>
          <a:xfrm>
            <a:off x="720090" y="42519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Lack of standardisation — no agreed evaluation frameworks yet</a:t>
            </a:r>
            <a:endParaRPr lang="en-US" sz="863" dirty="0"/>
          </a:p>
        </p:txBody>
      </p:sp>
      <p:sp>
        <p:nvSpPr>
          <p:cNvPr id="18" name="Shape 16"/>
          <p:cNvSpPr/>
          <p:nvPr/>
        </p:nvSpPr>
        <p:spPr>
          <a:xfrm>
            <a:off x="3339846" y="994410"/>
            <a:ext cx="2743200" cy="3703320"/>
          </a:xfrm>
          <a:prstGeom prst="roundRect">
            <a:avLst>
              <a:gd name="adj" fmla="val 1750"/>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9" name="Shape 17"/>
          <p:cNvSpPr/>
          <p:nvPr/>
        </p:nvSpPr>
        <p:spPr>
          <a:xfrm>
            <a:off x="3339846" y="994410"/>
            <a:ext cx="2743200" cy="377190"/>
          </a:xfrm>
          <a:prstGeom prst="rect">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0" name="Text 18"/>
          <p:cNvSpPr/>
          <p:nvPr/>
        </p:nvSpPr>
        <p:spPr>
          <a:xfrm>
            <a:off x="3442716" y="994410"/>
            <a:ext cx="253746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006D8F"/>
                </a:solidFill>
                <a:latin typeface="Calibri" pitchFamily="34" charset="0"/>
                <a:ea typeface="Calibri" pitchFamily="34" charset="-122"/>
                <a:cs typeface="Calibri" pitchFamily="34" charset="-120"/>
              </a:rPr>
              <a:t>Organisational Challenges</a:t>
            </a:r>
            <a:endParaRPr lang="en-US" sz="1050" dirty="0"/>
          </a:p>
        </p:txBody>
      </p:sp>
      <p:sp>
        <p:nvSpPr>
          <p:cNvPr id="21" name="Shape 19"/>
          <p:cNvSpPr/>
          <p:nvPr/>
        </p:nvSpPr>
        <p:spPr>
          <a:xfrm>
            <a:off x="3442716" y="1563624"/>
            <a:ext cx="150876" cy="150876"/>
          </a:xfrm>
          <a:prstGeom prst="ellipse">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2" name="Text 20"/>
          <p:cNvSpPr/>
          <p:nvPr/>
        </p:nvSpPr>
        <p:spPr>
          <a:xfrm>
            <a:off x="3648456" y="15087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Intellectual property concerns — some companies restrict public Gen AI use</a:t>
            </a:r>
            <a:endParaRPr lang="en-US" sz="863" dirty="0"/>
          </a:p>
        </p:txBody>
      </p:sp>
      <p:sp>
        <p:nvSpPr>
          <p:cNvPr id="23" name="Shape 21"/>
          <p:cNvSpPr/>
          <p:nvPr/>
        </p:nvSpPr>
        <p:spPr>
          <a:xfrm>
            <a:off x="3442716" y="2249424"/>
            <a:ext cx="150876" cy="150876"/>
          </a:xfrm>
          <a:prstGeom prst="ellipse">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4" name="Text 22"/>
          <p:cNvSpPr/>
          <p:nvPr/>
        </p:nvSpPr>
        <p:spPr>
          <a:xfrm>
            <a:off x="3648456" y="21945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Skills shortage — too few people trained in Gen AI implementation</a:t>
            </a:r>
            <a:endParaRPr lang="en-US" sz="863" dirty="0"/>
          </a:p>
        </p:txBody>
      </p:sp>
      <p:sp>
        <p:nvSpPr>
          <p:cNvPr id="25" name="Shape 23"/>
          <p:cNvSpPr/>
          <p:nvPr/>
        </p:nvSpPr>
        <p:spPr>
          <a:xfrm>
            <a:off x="3442716" y="2935224"/>
            <a:ext cx="150876" cy="150876"/>
          </a:xfrm>
          <a:prstGeom prst="ellipse">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6" name="Text 24"/>
          <p:cNvSpPr/>
          <p:nvPr/>
        </p:nvSpPr>
        <p:spPr>
          <a:xfrm>
            <a:off x="3648456" y="28803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Integration with existing systems — time-consuming, requires pipeline adjustments</a:t>
            </a:r>
            <a:endParaRPr lang="en-US" sz="863" dirty="0"/>
          </a:p>
        </p:txBody>
      </p:sp>
      <p:sp>
        <p:nvSpPr>
          <p:cNvPr id="27" name="Shape 25"/>
          <p:cNvSpPr/>
          <p:nvPr/>
        </p:nvSpPr>
        <p:spPr>
          <a:xfrm>
            <a:off x="3442716" y="3621024"/>
            <a:ext cx="150876" cy="150876"/>
          </a:xfrm>
          <a:prstGeom prst="ellipse">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8" name="Text 26"/>
          <p:cNvSpPr/>
          <p:nvPr/>
        </p:nvSpPr>
        <p:spPr>
          <a:xfrm>
            <a:off x="3648456" y="35661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Resistance to change — fears of job displacement and privacy impact</a:t>
            </a:r>
            <a:endParaRPr lang="en-US" sz="863" dirty="0"/>
          </a:p>
        </p:txBody>
      </p:sp>
      <p:sp>
        <p:nvSpPr>
          <p:cNvPr id="29" name="Shape 27"/>
          <p:cNvSpPr/>
          <p:nvPr/>
        </p:nvSpPr>
        <p:spPr>
          <a:xfrm>
            <a:off x="3442716" y="4306824"/>
            <a:ext cx="150876" cy="150876"/>
          </a:xfrm>
          <a:prstGeom prst="ellipse">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0" name="Text 28"/>
          <p:cNvSpPr/>
          <p:nvPr/>
        </p:nvSpPr>
        <p:spPr>
          <a:xfrm>
            <a:off x="3648456" y="42519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Measuring ROI — some Gen AI benefits are hard to quantify financially</a:t>
            </a:r>
            <a:endParaRPr lang="en-US" sz="863" dirty="0"/>
          </a:p>
        </p:txBody>
      </p:sp>
      <p:sp>
        <p:nvSpPr>
          <p:cNvPr id="31" name="Shape 29"/>
          <p:cNvSpPr/>
          <p:nvPr/>
        </p:nvSpPr>
        <p:spPr>
          <a:xfrm>
            <a:off x="6268212" y="994410"/>
            <a:ext cx="2743200" cy="3703320"/>
          </a:xfrm>
          <a:prstGeom prst="roundRect">
            <a:avLst>
              <a:gd name="adj" fmla="val 1750"/>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2" name="Shape 30"/>
          <p:cNvSpPr/>
          <p:nvPr/>
        </p:nvSpPr>
        <p:spPr>
          <a:xfrm>
            <a:off x="6268212" y="994410"/>
            <a:ext cx="2743200" cy="377190"/>
          </a:xfrm>
          <a:prstGeom prst="rect">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3" name="Text 31"/>
          <p:cNvSpPr/>
          <p:nvPr/>
        </p:nvSpPr>
        <p:spPr>
          <a:xfrm>
            <a:off x="6371082" y="994410"/>
            <a:ext cx="2537460" cy="37719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dirty="0">
                <a:solidFill>
                  <a:srgbClr val="1A6B3A"/>
                </a:solidFill>
                <a:latin typeface="Calibri" pitchFamily="34" charset="0"/>
                <a:ea typeface="Calibri" pitchFamily="34" charset="-122"/>
                <a:cs typeface="Calibri" pitchFamily="34" charset="-120"/>
              </a:rPr>
              <a:t>Cultural Challenges</a:t>
            </a:r>
            <a:endParaRPr lang="en-US" sz="1050" dirty="0"/>
          </a:p>
        </p:txBody>
      </p:sp>
      <p:sp>
        <p:nvSpPr>
          <p:cNvPr id="34" name="Shape 32"/>
          <p:cNvSpPr/>
          <p:nvPr/>
        </p:nvSpPr>
        <p:spPr>
          <a:xfrm>
            <a:off x="6371082" y="1563624"/>
            <a:ext cx="150876" cy="150876"/>
          </a:xfrm>
          <a:prstGeom prst="ellipse">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5" name="Text 33"/>
          <p:cNvSpPr/>
          <p:nvPr/>
        </p:nvSpPr>
        <p:spPr>
          <a:xfrm>
            <a:off x="6576822" y="15087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Risk aversion — hesitation to embrace new technology without clear evidence</a:t>
            </a:r>
            <a:endParaRPr lang="en-US" sz="863" dirty="0"/>
          </a:p>
        </p:txBody>
      </p:sp>
      <p:sp>
        <p:nvSpPr>
          <p:cNvPr id="36" name="Shape 34"/>
          <p:cNvSpPr/>
          <p:nvPr/>
        </p:nvSpPr>
        <p:spPr>
          <a:xfrm>
            <a:off x="6371082" y="2249424"/>
            <a:ext cx="150876" cy="150876"/>
          </a:xfrm>
          <a:prstGeom prst="ellipse">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7" name="Text 35"/>
          <p:cNvSpPr/>
          <p:nvPr/>
        </p:nvSpPr>
        <p:spPr>
          <a:xfrm>
            <a:off x="6576822" y="21945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Data sharing reluctance — proprietary data concerns limit collaboration</a:t>
            </a:r>
            <a:endParaRPr lang="en-US" sz="863" dirty="0"/>
          </a:p>
        </p:txBody>
      </p:sp>
      <p:sp>
        <p:nvSpPr>
          <p:cNvPr id="38" name="Shape 36"/>
          <p:cNvSpPr/>
          <p:nvPr/>
        </p:nvSpPr>
        <p:spPr>
          <a:xfrm>
            <a:off x="6371082" y="2935224"/>
            <a:ext cx="150876" cy="150876"/>
          </a:xfrm>
          <a:prstGeom prst="ellipse">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9" name="Text 37"/>
          <p:cNvSpPr/>
          <p:nvPr/>
        </p:nvSpPr>
        <p:spPr>
          <a:xfrm>
            <a:off x="6576822" y="28803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Trust and transparency — opaque AI outputs reduce stakeholder confidence</a:t>
            </a:r>
            <a:endParaRPr lang="en-US" sz="863" dirty="0"/>
          </a:p>
        </p:txBody>
      </p:sp>
      <p:sp>
        <p:nvSpPr>
          <p:cNvPr id="40" name="Shape 38"/>
          <p:cNvSpPr/>
          <p:nvPr/>
        </p:nvSpPr>
        <p:spPr>
          <a:xfrm>
            <a:off x="6371082" y="3621024"/>
            <a:ext cx="150876" cy="150876"/>
          </a:xfrm>
          <a:prstGeom prst="ellipse">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41" name="Text 39"/>
          <p:cNvSpPr/>
          <p:nvPr/>
        </p:nvSpPr>
        <p:spPr>
          <a:xfrm>
            <a:off x="6576822" y="3566160"/>
            <a:ext cx="2331720" cy="61722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Continuous learning requirement — models need ongoing updates to stay relevant</a:t>
            </a:r>
            <a:endParaRPr lang="en-US" sz="863" dirty="0"/>
          </a:p>
        </p:txBody>
      </p:sp>
      <p:sp>
        <p:nvSpPr>
          <p:cNvPr id="42" name="Text 40"/>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43" name="Text 41"/>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13</a:t>
            </a:r>
            <a:endParaRPr lang="en-US" sz="675" dirty="0"/>
          </a:p>
        </p:txBody>
      </p:sp>
    </p:spTree>
    <p:extLst>
      <p:ext uri="{BB962C8B-B14F-4D97-AF65-F5344CB8AC3E}">
        <p14:creationId xmlns:p14="http://schemas.microsoft.com/office/powerpoint/2010/main" val="20932607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1714" cy="788670"/>
          </a:xfrm>
          <a:prstGeom prst="rect">
            <a:avLst/>
          </a:prstGeom>
          <a:solidFill>
            <a:srgbClr val="0A1F44"/>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Text 1"/>
          <p:cNvSpPr/>
          <p:nvPr/>
        </p:nvSpPr>
        <p:spPr>
          <a:xfrm>
            <a:off x="411480" y="123444"/>
            <a:ext cx="82296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b="1" kern="0" spc="150" dirty="0">
                <a:solidFill>
                  <a:srgbClr val="DDEEFF"/>
                </a:solidFill>
                <a:latin typeface="Calibri" pitchFamily="34" charset="0"/>
                <a:ea typeface="Calibri" pitchFamily="34" charset="-122"/>
                <a:cs typeface="Calibri" pitchFamily="34" charset="-120"/>
              </a:rPr>
              <a:t>SECTION 6</a:t>
            </a:r>
            <a:endParaRPr lang="en-US" sz="900" dirty="0"/>
          </a:p>
        </p:txBody>
      </p:sp>
      <p:sp>
        <p:nvSpPr>
          <p:cNvPr id="4" name="Text 2"/>
          <p:cNvSpPr/>
          <p:nvPr/>
        </p:nvSpPr>
        <p:spPr>
          <a:xfrm>
            <a:off x="411480" y="315468"/>
            <a:ext cx="822960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025" b="1" dirty="0">
                <a:solidFill>
                  <a:srgbClr val="FFFFFF"/>
                </a:solidFill>
                <a:latin typeface="Calibri" pitchFamily="34" charset="0"/>
                <a:ea typeface="Calibri" pitchFamily="34" charset="-122"/>
                <a:cs typeface="Calibri" pitchFamily="34" charset="-120"/>
              </a:rPr>
              <a:t>Responsible AI — IBM's 5 Pillars</a:t>
            </a:r>
            <a:endParaRPr lang="en-US" sz="2025" dirty="0"/>
          </a:p>
        </p:txBody>
      </p:sp>
      <p:sp>
        <p:nvSpPr>
          <p:cNvPr id="5" name="Shape 3"/>
          <p:cNvSpPr/>
          <p:nvPr/>
        </p:nvSpPr>
        <p:spPr>
          <a:xfrm>
            <a:off x="411480" y="994410"/>
            <a:ext cx="8298180" cy="685800"/>
          </a:xfrm>
          <a:prstGeom prst="roundRect">
            <a:avLst>
              <a:gd name="adj" fmla="val 7000"/>
            </a:avLst>
          </a:prstGeom>
          <a:solidFill>
            <a:srgbClr val="FFFBE6"/>
          </a:solidFill>
          <a:ln/>
          <a:effectLst>
            <a:outerShdw blurRad="50800" dist="25400" dir="5400000" algn="bl" rotWithShape="0">
              <a:srgbClr val="000000">
                <a:alpha val="8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6" name="Text 4"/>
          <p:cNvSpPr/>
          <p:nvPr/>
        </p:nvSpPr>
        <p:spPr>
          <a:xfrm>
            <a:off x="534924" y="1090422"/>
            <a:ext cx="8051292" cy="493776"/>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975" b="1" dirty="0">
                <a:solidFill>
                  <a:srgbClr val="E85D04"/>
                </a:solidFill>
                <a:latin typeface="Calibri" pitchFamily="34" charset="0"/>
                <a:ea typeface="Calibri" pitchFamily="34" charset="-122"/>
                <a:cs typeface="Calibri" pitchFamily="34" charset="-120"/>
              </a:rPr>
              <a:t>🛡️  WHY RESPONSIBLE AI?
</a:t>
            </a:r>
            <a:endParaRPr lang="en-US" sz="975" dirty="0"/>
          </a:p>
          <a:p>
            <a:pPr marL="0" indent="0">
              <a:lnSpc>
                <a:spcPct val="110000"/>
              </a:lnSpc>
              <a:buNone/>
            </a:pPr>
            <a:r>
              <a:rPr lang="en-US" sz="863" dirty="0">
                <a:solidFill>
                  <a:srgbClr val="1A1A2E"/>
                </a:solidFill>
                <a:latin typeface="Calibri" pitchFamily="34" charset="0"/>
                <a:ea typeface="Calibri" pitchFamily="34" charset="-122"/>
                <a:cs typeface="Calibri" pitchFamily="34" charset="-120"/>
              </a:rPr>
              <a:t>Generative AI can be misused for deepfakes, manipulation, and misinformation. Responsible AI ensures technology is used ethically, builds public trust, ensures legal compliance, and promotes positive social impact.</a:t>
            </a:r>
            <a:endParaRPr lang="en-US" sz="975" dirty="0"/>
          </a:p>
        </p:txBody>
      </p:sp>
      <p:sp>
        <p:nvSpPr>
          <p:cNvPr id="7" name="Shape 5"/>
          <p:cNvSpPr/>
          <p:nvPr/>
        </p:nvSpPr>
        <p:spPr>
          <a:xfrm>
            <a:off x="411480" y="1817370"/>
            <a:ext cx="1611630" cy="2880360"/>
          </a:xfrm>
          <a:prstGeom prst="roundRect">
            <a:avLst>
              <a:gd name="adj" fmla="val 2979"/>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8" name="Shape 6"/>
          <p:cNvSpPr/>
          <p:nvPr/>
        </p:nvSpPr>
        <p:spPr>
          <a:xfrm>
            <a:off x="908685" y="1954530"/>
            <a:ext cx="617220" cy="617220"/>
          </a:xfrm>
          <a:prstGeom prst="ellipse">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9" name="Text 7"/>
          <p:cNvSpPr/>
          <p:nvPr/>
        </p:nvSpPr>
        <p:spPr>
          <a:xfrm>
            <a:off x="908685" y="1954530"/>
            <a:ext cx="617220" cy="6172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950" b="1" dirty="0">
                <a:solidFill>
                  <a:srgbClr val="1A6B3A"/>
                </a:solidFill>
                <a:latin typeface="Calibri" pitchFamily="34" charset="0"/>
                <a:ea typeface="Calibri" pitchFamily="34" charset="-122"/>
                <a:cs typeface="Calibri" pitchFamily="34" charset="-120"/>
              </a:rPr>
              <a:t>5B2D8E</a:t>
            </a:r>
            <a:endParaRPr lang="en-US" sz="1950" dirty="0"/>
          </a:p>
        </p:txBody>
      </p:sp>
      <p:sp>
        <p:nvSpPr>
          <p:cNvPr id="10" name="Text 8"/>
          <p:cNvSpPr/>
          <p:nvPr/>
        </p:nvSpPr>
        <p:spPr>
          <a:xfrm>
            <a:off x="493776" y="2674620"/>
            <a:ext cx="1447038" cy="30861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013" b="1" dirty="0">
                <a:solidFill>
                  <a:srgbClr val="0A1F44"/>
                </a:solidFill>
                <a:latin typeface="Calibri" pitchFamily="34" charset="0"/>
                <a:ea typeface="Calibri" pitchFamily="34" charset="-122"/>
                <a:cs typeface="Calibri" pitchFamily="34" charset="-120"/>
              </a:rPr>
              <a:t>Explainability</a:t>
            </a:r>
            <a:endParaRPr lang="en-US" sz="1013" dirty="0"/>
          </a:p>
        </p:txBody>
      </p:sp>
      <p:sp>
        <p:nvSpPr>
          <p:cNvPr id="11" name="Text 9"/>
          <p:cNvSpPr/>
          <p:nvPr/>
        </p:nvSpPr>
        <p:spPr>
          <a:xfrm>
            <a:off x="493776" y="3038094"/>
            <a:ext cx="1447038" cy="8915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25" dirty="0">
                <a:solidFill>
                  <a:srgbClr val="1A1A2E"/>
                </a:solidFill>
                <a:latin typeface="Calibri" pitchFamily="34" charset="0"/>
                <a:ea typeface="Calibri" pitchFamily="34" charset="-122"/>
                <a:cs typeface="Calibri" pitchFamily="34" charset="-120"/>
              </a:rPr>
              <a:t>The model can justify its decisions — users understand WHY it made a prediction</a:t>
            </a:r>
            <a:endParaRPr lang="en-US" sz="825" dirty="0"/>
          </a:p>
        </p:txBody>
      </p:sp>
      <p:sp>
        <p:nvSpPr>
          <p:cNvPr id="12" name="Shape 10"/>
          <p:cNvSpPr/>
          <p:nvPr/>
        </p:nvSpPr>
        <p:spPr>
          <a:xfrm>
            <a:off x="493776" y="3977640"/>
            <a:ext cx="1447038" cy="13716"/>
          </a:xfrm>
          <a:prstGeom prst="rect">
            <a:avLst/>
          </a:prstGeom>
          <a:solidFill>
            <a:srgbClr val="E0E0E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3" name="Text 11"/>
          <p:cNvSpPr/>
          <p:nvPr/>
        </p:nvSpPr>
        <p:spPr>
          <a:xfrm>
            <a:off x="493776" y="4046220"/>
            <a:ext cx="1447038"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750" i="1" dirty="0">
                <a:solidFill>
                  <a:srgbClr val="5A5A6E"/>
                </a:solidFill>
                <a:latin typeface="Calibri" pitchFamily="34" charset="0"/>
                <a:ea typeface="Calibri" pitchFamily="34" charset="-122"/>
                <a:cs typeface="Calibri" pitchFamily="34" charset="-120"/>
              </a:rPr>
              <a:t>Especially critical in healthcare and finance where decisions affect lives</a:t>
            </a:r>
            <a:endParaRPr lang="en-US" sz="750" dirty="0"/>
          </a:p>
        </p:txBody>
      </p:sp>
      <p:sp>
        <p:nvSpPr>
          <p:cNvPr id="14" name="Shape 12"/>
          <p:cNvSpPr/>
          <p:nvPr/>
        </p:nvSpPr>
        <p:spPr>
          <a:xfrm>
            <a:off x="2105406" y="1817370"/>
            <a:ext cx="1611630" cy="2880360"/>
          </a:xfrm>
          <a:prstGeom prst="roundRect">
            <a:avLst>
              <a:gd name="adj" fmla="val 2979"/>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5" name="Shape 13"/>
          <p:cNvSpPr/>
          <p:nvPr/>
        </p:nvSpPr>
        <p:spPr>
          <a:xfrm>
            <a:off x="2602611" y="1954530"/>
            <a:ext cx="617220" cy="617220"/>
          </a:xfrm>
          <a:prstGeom prst="ellipse">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16" name="Text 14"/>
          <p:cNvSpPr/>
          <p:nvPr/>
        </p:nvSpPr>
        <p:spPr>
          <a:xfrm>
            <a:off x="2602611" y="1954530"/>
            <a:ext cx="617220" cy="6172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950" b="1" dirty="0">
                <a:solidFill>
                  <a:srgbClr val="1A6B3A"/>
                </a:solidFill>
                <a:latin typeface="Calibri" pitchFamily="34" charset="0"/>
                <a:ea typeface="Calibri" pitchFamily="34" charset="-122"/>
                <a:cs typeface="Calibri" pitchFamily="34" charset="-120"/>
              </a:rPr>
              <a:t>1A6B3A</a:t>
            </a:r>
            <a:endParaRPr lang="en-US" sz="1950" dirty="0"/>
          </a:p>
        </p:txBody>
      </p:sp>
      <p:sp>
        <p:nvSpPr>
          <p:cNvPr id="17" name="Text 15"/>
          <p:cNvSpPr/>
          <p:nvPr/>
        </p:nvSpPr>
        <p:spPr>
          <a:xfrm>
            <a:off x="2187702" y="2674620"/>
            <a:ext cx="1447038" cy="30861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013" b="1" dirty="0">
                <a:solidFill>
                  <a:srgbClr val="0A1F44"/>
                </a:solidFill>
                <a:latin typeface="Calibri" pitchFamily="34" charset="0"/>
                <a:ea typeface="Calibri" pitchFamily="34" charset="-122"/>
                <a:cs typeface="Calibri" pitchFamily="34" charset="-120"/>
              </a:rPr>
              <a:t>Fairness</a:t>
            </a:r>
            <a:endParaRPr lang="en-US" sz="1013" dirty="0"/>
          </a:p>
        </p:txBody>
      </p:sp>
      <p:sp>
        <p:nvSpPr>
          <p:cNvPr id="18" name="Text 16"/>
          <p:cNvSpPr/>
          <p:nvPr/>
        </p:nvSpPr>
        <p:spPr>
          <a:xfrm>
            <a:off x="2187702" y="3038094"/>
            <a:ext cx="1447038" cy="8915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25" dirty="0">
                <a:solidFill>
                  <a:srgbClr val="1A1A2E"/>
                </a:solidFill>
                <a:latin typeface="Calibri" pitchFamily="34" charset="0"/>
                <a:ea typeface="Calibri" pitchFamily="34" charset="-122"/>
                <a:cs typeface="Calibri" pitchFamily="34" charset="-120"/>
              </a:rPr>
              <a:t>Outputs are not biased against any group — loan approvals, hiring, diagnostics are equitable</a:t>
            </a:r>
            <a:endParaRPr lang="en-US" sz="825" dirty="0"/>
          </a:p>
        </p:txBody>
      </p:sp>
      <p:sp>
        <p:nvSpPr>
          <p:cNvPr id="19" name="Shape 17"/>
          <p:cNvSpPr/>
          <p:nvPr/>
        </p:nvSpPr>
        <p:spPr>
          <a:xfrm>
            <a:off x="2187702" y="3977640"/>
            <a:ext cx="1447038" cy="13716"/>
          </a:xfrm>
          <a:prstGeom prst="rect">
            <a:avLst/>
          </a:prstGeom>
          <a:solidFill>
            <a:srgbClr val="E0E0E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0" name="Text 18"/>
          <p:cNvSpPr/>
          <p:nvPr/>
        </p:nvSpPr>
        <p:spPr>
          <a:xfrm>
            <a:off x="2187702" y="4046220"/>
            <a:ext cx="1447038"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750" i="1" dirty="0">
                <a:solidFill>
                  <a:srgbClr val="5A5A6E"/>
                </a:solidFill>
                <a:latin typeface="Calibri" pitchFamily="34" charset="0"/>
                <a:ea typeface="Calibri" pitchFamily="34" charset="-122"/>
                <a:cs typeface="Calibri" pitchFamily="34" charset="-120"/>
              </a:rPr>
              <a:t>Use fairness metrics and adversarial training to detect discriminatory patterns</a:t>
            </a:r>
            <a:endParaRPr lang="en-US" sz="750" dirty="0"/>
          </a:p>
        </p:txBody>
      </p:sp>
      <p:sp>
        <p:nvSpPr>
          <p:cNvPr id="21" name="Shape 19"/>
          <p:cNvSpPr/>
          <p:nvPr/>
        </p:nvSpPr>
        <p:spPr>
          <a:xfrm>
            <a:off x="3799332" y="1817370"/>
            <a:ext cx="1611630" cy="2880360"/>
          </a:xfrm>
          <a:prstGeom prst="roundRect">
            <a:avLst>
              <a:gd name="adj" fmla="val 2979"/>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2" name="Shape 20"/>
          <p:cNvSpPr/>
          <p:nvPr/>
        </p:nvSpPr>
        <p:spPr>
          <a:xfrm>
            <a:off x="4296537" y="1954530"/>
            <a:ext cx="617220" cy="617220"/>
          </a:xfrm>
          <a:prstGeom prst="ellipse">
            <a:avLst/>
          </a:prstGeom>
          <a:solidFill>
            <a:srgbClr val="DDEE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3" name="Text 21"/>
          <p:cNvSpPr/>
          <p:nvPr/>
        </p:nvSpPr>
        <p:spPr>
          <a:xfrm>
            <a:off x="4296537" y="1954530"/>
            <a:ext cx="617220" cy="6172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950" b="1" dirty="0">
                <a:solidFill>
                  <a:srgbClr val="1A6B3A"/>
                </a:solidFill>
                <a:latin typeface="Calibri" pitchFamily="34" charset="0"/>
                <a:ea typeface="Calibri" pitchFamily="34" charset="-122"/>
                <a:cs typeface="Calibri" pitchFamily="34" charset="-120"/>
              </a:rPr>
              <a:t>006D8F</a:t>
            </a:r>
            <a:endParaRPr lang="en-US" sz="1950" dirty="0"/>
          </a:p>
        </p:txBody>
      </p:sp>
      <p:sp>
        <p:nvSpPr>
          <p:cNvPr id="24" name="Text 22"/>
          <p:cNvSpPr/>
          <p:nvPr/>
        </p:nvSpPr>
        <p:spPr>
          <a:xfrm>
            <a:off x="3881628" y="2674620"/>
            <a:ext cx="1447038" cy="30861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013" b="1" dirty="0">
                <a:solidFill>
                  <a:srgbClr val="0A1F44"/>
                </a:solidFill>
                <a:latin typeface="Calibri" pitchFamily="34" charset="0"/>
                <a:ea typeface="Calibri" pitchFamily="34" charset="-122"/>
                <a:cs typeface="Calibri" pitchFamily="34" charset="-120"/>
              </a:rPr>
              <a:t>Robustness</a:t>
            </a:r>
            <a:endParaRPr lang="en-US" sz="1013" dirty="0"/>
          </a:p>
        </p:txBody>
      </p:sp>
      <p:sp>
        <p:nvSpPr>
          <p:cNvPr id="25" name="Text 23"/>
          <p:cNvSpPr/>
          <p:nvPr/>
        </p:nvSpPr>
        <p:spPr>
          <a:xfrm>
            <a:off x="3881628" y="3038094"/>
            <a:ext cx="1447038" cy="8915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25" dirty="0">
                <a:solidFill>
                  <a:srgbClr val="1A1A2E"/>
                </a:solidFill>
                <a:latin typeface="Calibri" pitchFamily="34" charset="0"/>
                <a:ea typeface="Calibri" pitchFamily="34" charset="-122"/>
                <a:cs typeface="Calibri" pitchFamily="34" charset="-120"/>
              </a:rPr>
              <a:t>Resistant to adversarial attacks and performs reliably on unseen data</a:t>
            </a:r>
            <a:endParaRPr lang="en-US" sz="825" dirty="0"/>
          </a:p>
        </p:txBody>
      </p:sp>
      <p:sp>
        <p:nvSpPr>
          <p:cNvPr id="26" name="Shape 24"/>
          <p:cNvSpPr/>
          <p:nvPr/>
        </p:nvSpPr>
        <p:spPr>
          <a:xfrm>
            <a:off x="3881628" y="3977640"/>
            <a:ext cx="1447038" cy="13716"/>
          </a:xfrm>
          <a:prstGeom prst="rect">
            <a:avLst/>
          </a:prstGeom>
          <a:solidFill>
            <a:srgbClr val="E0E0E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7" name="Text 25"/>
          <p:cNvSpPr/>
          <p:nvPr/>
        </p:nvSpPr>
        <p:spPr>
          <a:xfrm>
            <a:off x="3881628" y="4046220"/>
            <a:ext cx="1447038"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750" i="1" dirty="0">
                <a:solidFill>
                  <a:srgbClr val="5A5A6E"/>
                </a:solidFill>
                <a:latin typeface="Calibri" pitchFamily="34" charset="0"/>
                <a:ea typeface="Calibri" pitchFamily="34" charset="-122"/>
                <a:cs typeface="Calibri" pitchFamily="34" charset="-120"/>
              </a:rPr>
              <a:t>Models must not be fooled by malicious inputs designed to confuse them</a:t>
            </a:r>
            <a:endParaRPr lang="en-US" sz="750" dirty="0"/>
          </a:p>
        </p:txBody>
      </p:sp>
      <p:sp>
        <p:nvSpPr>
          <p:cNvPr id="28" name="Shape 26"/>
          <p:cNvSpPr/>
          <p:nvPr/>
        </p:nvSpPr>
        <p:spPr>
          <a:xfrm>
            <a:off x="5493258" y="1817370"/>
            <a:ext cx="1611630" cy="2880360"/>
          </a:xfrm>
          <a:prstGeom prst="roundRect">
            <a:avLst>
              <a:gd name="adj" fmla="val 2979"/>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29" name="Shape 27"/>
          <p:cNvSpPr/>
          <p:nvPr/>
        </p:nvSpPr>
        <p:spPr>
          <a:xfrm>
            <a:off x="5990463" y="1954530"/>
            <a:ext cx="617220" cy="617220"/>
          </a:xfrm>
          <a:prstGeom prst="ellipse">
            <a:avLst/>
          </a:prstGeom>
          <a:solidFill>
            <a:srgbClr val="F0E8F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0" name="Text 28"/>
          <p:cNvSpPr/>
          <p:nvPr/>
        </p:nvSpPr>
        <p:spPr>
          <a:xfrm>
            <a:off x="5990463" y="1954530"/>
            <a:ext cx="617220" cy="6172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950" b="1" dirty="0">
                <a:solidFill>
                  <a:srgbClr val="1A6B3A"/>
                </a:solidFill>
                <a:latin typeface="Calibri" pitchFamily="34" charset="0"/>
                <a:ea typeface="Calibri" pitchFamily="34" charset="-122"/>
                <a:cs typeface="Calibri" pitchFamily="34" charset="-120"/>
              </a:rPr>
              <a:t>5B2D8E</a:t>
            </a:r>
            <a:endParaRPr lang="en-US" sz="1950" dirty="0"/>
          </a:p>
        </p:txBody>
      </p:sp>
      <p:sp>
        <p:nvSpPr>
          <p:cNvPr id="31" name="Text 29"/>
          <p:cNvSpPr/>
          <p:nvPr/>
        </p:nvSpPr>
        <p:spPr>
          <a:xfrm>
            <a:off x="5575554" y="2674620"/>
            <a:ext cx="1447038" cy="30861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013" b="1" dirty="0">
                <a:solidFill>
                  <a:srgbClr val="0A1F44"/>
                </a:solidFill>
                <a:latin typeface="Calibri" pitchFamily="34" charset="0"/>
                <a:ea typeface="Calibri" pitchFamily="34" charset="-122"/>
                <a:cs typeface="Calibri" pitchFamily="34" charset="-120"/>
              </a:rPr>
              <a:t>Transparency</a:t>
            </a:r>
            <a:endParaRPr lang="en-US" sz="1013" dirty="0"/>
          </a:p>
        </p:txBody>
      </p:sp>
      <p:sp>
        <p:nvSpPr>
          <p:cNvPr id="32" name="Text 30"/>
          <p:cNvSpPr/>
          <p:nvPr/>
        </p:nvSpPr>
        <p:spPr>
          <a:xfrm>
            <a:off x="5575554" y="3038094"/>
            <a:ext cx="1447038" cy="8915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25" dirty="0">
                <a:solidFill>
                  <a:srgbClr val="1A1A2E"/>
                </a:solidFill>
                <a:latin typeface="Calibri" pitchFamily="34" charset="0"/>
                <a:ea typeface="Calibri" pitchFamily="34" charset="-122"/>
                <a:cs typeface="Calibri" pitchFamily="34" charset="-120"/>
              </a:rPr>
              <a:t>Organisation discloses how AI systems are built, trained, and used</a:t>
            </a:r>
            <a:endParaRPr lang="en-US" sz="825" dirty="0"/>
          </a:p>
        </p:txBody>
      </p:sp>
      <p:sp>
        <p:nvSpPr>
          <p:cNvPr id="33" name="Shape 31"/>
          <p:cNvSpPr/>
          <p:nvPr/>
        </p:nvSpPr>
        <p:spPr>
          <a:xfrm>
            <a:off x="5575554" y="3977640"/>
            <a:ext cx="1447038" cy="13716"/>
          </a:xfrm>
          <a:prstGeom prst="rect">
            <a:avLst/>
          </a:prstGeom>
          <a:solidFill>
            <a:srgbClr val="E0E0E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4" name="Text 32"/>
          <p:cNvSpPr/>
          <p:nvPr/>
        </p:nvSpPr>
        <p:spPr>
          <a:xfrm>
            <a:off x="5575554" y="4046220"/>
            <a:ext cx="1447038"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750" i="1" dirty="0">
                <a:solidFill>
                  <a:srgbClr val="5A5A6E"/>
                </a:solidFill>
                <a:latin typeface="Calibri" pitchFamily="34" charset="0"/>
                <a:ea typeface="Calibri" pitchFamily="34" charset="-122"/>
                <a:cs typeface="Calibri" pitchFamily="34" charset="-120"/>
              </a:rPr>
              <a:t>Stakeholders should know when AI is making decisions that affect them</a:t>
            </a:r>
            <a:endParaRPr lang="en-US" sz="750" dirty="0"/>
          </a:p>
        </p:txBody>
      </p:sp>
      <p:sp>
        <p:nvSpPr>
          <p:cNvPr id="35" name="Shape 33"/>
          <p:cNvSpPr/>
          <p:nvPr/>
        </p:nvSpPr>
        <p:spPr>
          <a:xfrm>
            <a:off x="7187184" y="1817370"/>
            <a:ext cx="1611630" cy="2880360"/>
          </a:xfrm>
          <a:prstGeom prst="roundRect">
            <a:avLst>
              <a:gd name="adj" fmla="val 2979"/>
            </a:avLst>
          </a:prstGeom>
          <a:solidFill>
            <a:srgbClr val="FFFFFF"/>
          </a:solidFill>
          <a:ln/>
          <a:effectLst>
            <a:outerShdw blurRad="50800" dist="25400" dir="5400000" algn="bl" rotWithShape="0">
              <a:srgbClr val="000000">
                <a:alpha val="9000"/>
              </a:srgbClr>
            </a:outerShdw>
          </a:effectLst>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6" name="Shape 34"/>
          <p:cNvSpPr/>
          <p:nvPr/>
        </p:nvSpPr>
        <p:spPr>
          <a:xfrm>
            <a:off x="7684389" y="1954530"/>
            <a:ext cx="617220" cy="617220"/>
          </a:xfrm>
          <a:prstGeom prst="ellipse">
            <a:avLst/>
          </a:prstGeom>
          <a:solidFill>
            <a:srgbClr val="E6F4EC"/>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7" name="Text 35"/>
          <p:cNvSpPr/>
          <p:nvPr/>
        </p:nvSpPr>
        <p:spPr>
          <a:xfrm>
            <a:off x="7684389" y="1954530"/>
            <a:ext cx="617220" cy="6172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950" b="1" dirty="0">
                <a:solidFill>
                  <a:srgbClr val="1A6B3A"/>
                </a:solidFill>
                <a:latin typeface="Calibri" pitchFamily="34" charset="0"/>
                <a:ea typeface="Calibri" pitchFamily="34" charset="-122"/>
                <a:cs typeface="Calibri" pitchFamily="34" charset="-120"/>
              </a:rPr>
              <a:t>1A6B3A</a:t>
            </a:r>
            <a:endParaRPr lang="en-US" sz="1950" dirty="0"/>
          </a:p>
        </p:txBody>
      </p:sp>
      <p:sp>
        <p:nvSpPr>
          <p:cNvPr id="38" name="Text 36"/>
          <p:cNvSpPr/>
          <p:nvPr/>
        </p:nvSpPr>
        <p:spPr>
          <a:xfrm>
            <a:off x="7269480" y="2674620"/>
            <a:ext cx="1447038" cy="30861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1013" b="1" dirty="0">
                <a:solidFill>
                  <a:srgbClr val="0A1F44"/>
                </a:solidFill>
                <a:latin typeface="Calibri" pitchFamily="34" charset="0"/>
                <a:ea typeface="Calibri" pitchFamily="34" charset="-122"/>
                <a:cs typeface="Calibri" pitchFamily="34" charset="-120"/>
              </a:rPr>
              <a:t>Privacy</a:t>
            </a:r>
            <a:endParaRPr lang="en-US" sz="1013" dirty="0"/>
          </a:p>
        </p:txBody>
      </p:sp>
      <p:sp>
        <p:nvSpPr>
          <p:cNvPr id="39" name="Text 37"/>
          <p:cNvSpPr/>
          <p:nvPr/>
        </p:nvSpPr>
        <p:spPr>
          <a:xfrm>
            <a:off x="7269480" y="3038094"/>
            <a:ext cx="1447038" cy="89154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825" dirty="0">
                <a:solidFill>
                  <a:srgbClr val="1A1A2E"/>
                </a:solidFill>
                <a:latin typeface="Calibri" pitchFamily="34" charset="0"/>
                <a:ea typeface="Calibri" pitchFamily="34" charset="-122"/>
                <a:cs typeface="Calibri" pitchFamily="34" charset="-120"/>
              </a:rPr>
              <a:t>Personal data is protected through anonymisation, federated learning, differential privacy</a:t>
            </a:r>
            <a:endParaRPr lang="en-US" sz="825" dirty="0"/>
          </a:p>
        </p:txBody>
      </p:sp>
      <p:sp>
        <p:nvSpPr>
          <p:cNvPr id="40" name="Shape 38"/>
          <p:cNvSpPr/>
          <p:nvPr/>
        </p:nvSpPr>
        <p:spPr>
          <a:xfrm>
            <a:off x="7269480" y="3977640"/>
            <a:ext cx="1447038" cy="13716"/>
          </a:xfrm>
          <a:prstGeom prst="rect">
            <a:avLst/>
          </a:prstGeom>
          <a:solidFill>
            <a:srgbClr val="E0E0E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41" name="Text 39"/>
          <p:cNvSpPr/>
          <p:nvPr/>
        </p:nvSpPr>
        <p:spPr>
          <a:xfrm>
            <a:off x="7269480" y="4046220"/>
            <a:ext cx="1447038" cy="58293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10000"/>
              </a:lnSpc>
              <a:buNone/>
            </a:pPr>
            <a:r>
              <a:rPr lang="en-US" sz="750" i="1" dirty="0">
                <a:solidFill>
                  <a:srgbClr val="5A5A6E"/>
                </a:solidFill>
                <a:latin typeface="Calibri" pitchFamily="34" charset="0"/>
                <a:ea typeface="Calibri" pitchFamily="34" charset="-122"/>
                <a:cs typeface="Calibri" pitchFamily="34" charset="-120"/>
              </a:rPr>
              <a:t>Patients, customers, and employees have rights over how their data is used</a:t>
            </a:r>
            <a:endParaRPr lang="en-US" sz="750" dirty="0"/>
          </a:p>
        </p:txBody>
      </p:sp>
      <p:sp>
        <p:nvSpPr>
          <p:cNvPr id="42" name="Text 40"/>
          <p:cNvSpPr/>
          <p:nvPr/>
        </p:nvSpPr>
        <p:spPr>
          <a:xfrm>
            <a:off x="342900" y="4834890"/>
            <a:ext cx="61722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75" dirty="0">
                <a:solidFill>
                  <a:srgbClr val="5A5A6E"/>
                </a:solidFill>
                <a:latin typeface="Calibri" pitchFamily="34" charset="0"/>
                <a:ea typeface="Calibri" pitchFamily="34" charset="-122"/>
                <a:cs typeface="Calibri" pitchFamily="34" charset="-120"/>
              </a:rPr>
              <a:t>Unit 3  ·  Generative AI for Data Analytics  ·  Day 13</a:t>
            </a:r>
            <a:endParaRPr lang="en-US" sz="675" dirty="0"/>
          </a:p>
        </p:txBody>
      </p:sp>
      <p:sp>
        <p:nvSpPr>
          <p:cNvPr id="43" name="Text 41"/>
          <p:cNvSpPr/>
          <p:nvPr/>
        </p:nvSpPr>
        <p:spPr>
          <a:xfrm>
            <a:off x="8641080" y="4834890"/>
            <a:ext cx="34290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dirty="0">
                <a:solidFill>
                  <a:srgbClr val="5A5A6E"/>
                </a:solidFill>
                <a:latin typeface="Calibri" pitchFamily="34" charset="0"/>
                <a:ea typeface="Calibri" pitchFamily="34" charset="-122"/>
                <a:cs typeface="Calibri" pitchFamily="34" charset="-120"/>
              </a:rPr>
              <a:t>14</a:t>
            </a:r>
            <a:endParaRPr lang="en-US" sz="675" dirty="0"/>
          </a:p>
        </p:txBody>
      </p:sp>
    </p:spTree>
    <p:extLst>
      <p:ext uri="{BB962C8B-B14F-4D97-AF65-F5344CB8AC3E}">
        <p14:creationId xmlns:p14="http://schemas.microsoft.com/office/powerpoint/2010/main" val="821078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15">
    <p:bg>
      <p:bgPr>
        <a:solidFill>
          <a:srgbClr val="0A1F44"/>
        </a:solidFill>
        <a:effectLst/>
      </p:bgPr>
    </p:bg>
    <p:spTree>
      <p:nvGrpSpPr>
        <p:cNvPr id="1" name=""/>
        <p:cNvGrpSpPr/>
        <p:nvPr/>
      </p:nvGrpSpPr>
      <p:grpSpPr>
        <a:xfrm>
          <a:off x="0" y="0"/>
          <a:ext cx="0" cy="0"/>
          <a:chOff x="0" y="0"/>
          <a:chExt cx="0" cy="0"/>
        </a:xfrm>
      </p:grpSpPr>
      <p:sp>
        <p:nvSpPr>
          <p:cNvPr id="2" name="Shape 0"/>
          <p:cNvSpPr/>
          <p:nvPr/>
        </p:nvSpPr>
        <p:spPr>
          <a:xfrm>
            <a:off x="-1028700" y="3086100"/>
            <a:ext cx="3429000" cy="3429000"/>
          </a:xfrm>
          <a:prstGeom prst="ellipse">
            <a:avLst/>
          </a:prstGeom>
          <a:solidFill>
            <a:srgbClr val="1A356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3" name="Shape 1"/>
          <p:cNvSpPr/>
          <p:nvPr/>
        </p:nvSpPr>
        <p:spPr>
          <a:xfrm>
            <a:off x="7200900" y="-1028700"/>
            <a:ext cx="2743200" cy="2743200"/>
          </a:xfrm>
          <a:prstGeom prst="ellipse">
            <a:avLst/>
          </a:prstGeom>
          <a:solidFill>
            <a:srgbClr val="1A3560"/>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4" name="Text 2"/>
          <p:cNvSpPr/>
          <p:nvPr/>
        </p:nvSpPr>
        <p:spPr>
          <a:xfrm>
            <a:off x="480060" y="445770"/>
            <a:ext cx="754380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050" b="1" kern="0" spc="150" dirty="0">
                <a:solidFill>
                  <a:srgbClr val="DDEEFF"/>
                </a:solidFill>
                <a:latin typeface="Calibri" pitchFamily="34" charset="0"/>
                <a:ea typeface="Calibri" pitchFamily="34" charset="-122"/>
                <a:cs typeface="Calibri" pitchFamily="34" charset="-120"/>
              </a:rPr>
              <a:t>RECAP</a:t>
            </a:r>
            <a:endParaRPr lang="en-US" sz="1050" dirty="0"/>
          </a:p>
        </p:txBody>
      </p:sp>
      <p:sp>
        <p:nvSpPr>
          <p:cNvPr id="5" name="Text 3"/>
          <p:cNvSpPr/>
          <p:nvPr/>
        </p:nvSpPr>
        <p:spPr>
          <a:xfrm>
            <a:off x="480060" y="891540"/>
            <a:ext cx="7886700" cy="2880360"/>
          </a:xfrm>
          <a:prstGeom prst="rect">
            <a:avLst/>
          </a:prstGeom>
          <a:noFill/>
          <a:ln/>
        </p:spPr>
        <p:txBody>
          <a:bodyPr wrap="square" lIns="0" tIns="0" rIns="0" bIns="0" rtlCol="0" anchor="t"/>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nSpc>
                <a:spcPct val="165000"/>
              </a:lnSpc>
              <a:buNone/>
            </a:pPr>
            <a:r>
              <a:rPr lang="en-US" sz="1163" dirty="0">
                <a:solidFill>
                  <a:srgbClr val="FFFFFF"/>
                </a:solidFill>
                <a:latin typeface="Calibri" pitchFamily="34" charset="0"/>
                <a:ea typeface="Calibri" pitchFamily="34" charset="-122"/>
                <a:cs typeface="Calibri" pitchFamily="34" charset="-120"/>
              </a:rPr>
              <a:t>1.  Gen AI automates 4 data repository tasks — metadata, documentation, quality checks, access control.</a:t>
            </a:r>
            <a:endParaRPr lang="en-US" sz="1163" dirty="0"/>
          </a:p>
          <a:p>
            <a:pPr marL="0" indent="0">
              <a:lnSpc>
                <a:spcPct val="165000"/>
              </a:lnSpc>
              <a:buNone/>
            </a:pPr>
            <a:r>
              <a:rPr lang="en-US" sz="1163" dirty="0">
                <a:solidFill>
                  <a:srgbClr val="FFFFFF"/>
                </a:solidFill>
                <a:latin typeface="Calibri" pitchFamily="34" charset="0"/>
                <a:ea typeface="Calibri" pitchFamily="34" charset="-122"/>
                <a:cs typeface="Calibri" pitchFamily="34" charset="-120"/>
              </a:rPr>
              <a:t>2.  Outlier detection uses the 3-standard-deviation rule — outliers are FLAGS for review, not automatic deletions.</a:t>
            </a:r>
            <a:endParaRPr lang="en-US" sz="1163" dirty="0"/>
          </a:p>
          <a:p>
            <a:pPr marL="0" indent="0">
              <a:lnSpc>
                <a:spcPct val="165000"/>
              </a:lnSpc>
              <a:buNone/>
            </a:pPr>
            <a:r>
              <a:rPr lang="en-US" sz="1163" dirty="0">
                <a:solidFill>
                  <a:srgbClr val="FFFFFF"/>
                </a:solidFill>
                <a:latin typeface="Calibri" pitchFamily="34" charset="0"/>
                <a:ea typeface="Calibri" pitchFamily="34" charset="-122"/>
                <a:cs typeface="Calibri" pitchFamily="34" charset="-120"/>
              </a:rPr>
              <a:t>3.  Data Mining finds unknown patterns; Data Analysis investigates a known question — both are essential.</a:t>
            </a:r>
            <a:endParaRPr lang="en-US" sz="1163" dirty="0"/>
          </a:p>
          <a:p>
            <a:pPr marL="0" indent="0">
              <a:lnSpc>
                <a:spcPct val="165000"/>
              </a:lnSpc>
              <a:buNone/>
            </a:pPr>
            <a:r>
              <a:rPr lang="en-US" sz="1163" dirty="0">
                <a:solidFill>
                  <a:srgbClr val="FFFFFF"/>
                </a:solidFill>
                <a:latin typeface="Calibri" pitchFamily="34" charset="0"/>
                <a:ea typeface="Calibri" pitchFamily="34" charset="-122"/>
                <a:cs typeface="Calibri" pitchFamily="34" charset="-120"/>
              </a:rPr>
              <a:t>4.  Correlation → Scaling → Train/Test Split → Compare 6 Classifiers is the sequence that ensures reliable results.</a:t>
            </a:r>
            <a:endParaRPr lang="en-US" sz="1163" dirty="0"/>
          </a:p>
          <a:p>
            <a:pPr marL="0" indent="0">
              <a:lnSpc>
                <a:spcPct val="165000"/>
              </a:lnSpc>
              <a:buNone/>
            </a:pPr>
            <a:r>
              <a:rPr lang="en-US" sz="1163" dirty="0">
                <a:solidFill>
                  <a:srgbClr val="FFFFFF"/>
                </a:solidFill>
                <a:latin typeface="Calibri" pitchFamily="34" charset="0"/>
                <a:ea typeface="Calibri" pitchFamily="34" charset="-122"/>
                <a:cs typeface="Calibri" pitchFamily="34" charset="-120"/>
              </a:rPr>
              <a:t>5.  A Data Lakehouse unifies lake flexibility with warehouse structure across 3 layers — Gen AI enhances all of them.</a:t>
            </a:r>
            <a:endParaRPr lang="en-US" sz="1163" dirty="0"/>
          </a:p>
          <a:p>
            <a:pPr marL="0" indent="0">
              <a:lnSpc>
                <a:spcPct val="165000"/>
              </a:lnSpc>
              <a:buNone/>
            </a:pPr>
            <a:r>
              <a:rPr lang="en-US" sz="1163" dirty="0">
                <a:solidFill>
                  <a:srgbClr val="FFFFFF"/>
                </a:solidFill>
                <a:latin typeface="Calibri" pitchFamily="34" charset="0"/>
                <a:ea typeface="Calibri" pitchFamily="34" charset="-122"/>
                <a:cs typeface="Calibri" pitchFamily="34" charset="-120"/>
              </a:rPr>
              <a:t>6.  Responsible AI requires: Explainability, Fairness, Robustness, Transparency, and Privacy — IBM's 5 pillars.</a:t>
            </a:r>
            <a:endParaRPr lang="en-US" sz="1163" dirty="0"/>
          </a:p>
        </p:txBody>
      </p:sp>
      <p:sp>
        <p:nvSpPr>
          <p:cNvPr id="6" name="Shape 4"/>
          <p:cNvSpPr/>
          <p:nvPr/>
        </p:nvSpPr>
        <p:spPr>
          <a:xfrm>
            <a:off x="480060" y="3943350"/>
            <a:ext cx="960120" cy="41148"/>
          </a:xfrm>
          <a:prstGeom prst="rect">
            <a:avLst/>
          </a:prstGeom>
          <a:solidFill>
            <a:srgbClr val="006D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013"/>
          </a:p>
        </p:txBody>
      </p:sp>
      <p:sp>
        <p:nvSpPr>
          <p:cNvPr id="7" name="Text 5"/>
          <p:cNvSpPr/>
          <p:nvPr/>
        </p:nvSpPr>
        <p:spPr>
          <a:xfrm>
            <a:off x="480060" y="4059936"/>
            <a:ext cx="548640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2250" b="1" dirty="0">
                <a:solidFill>
                  <a:srgbClr val="FFFFFF"/>
                </a:solidFill>
                <a:latin typeface="Calibri" pitchFamily="34" charset="0"/>
                <a:ea typeface="Calibri" pitchFamily="34" charset="-122"/>
                <a:cs typeface="Calibri" pitchFamily="34" charset="-120"/>
              </a:rPr>
              <a:t>Thank You</a:t>
            </a:r>
            <a:endParaRPr lang="en-US" sz="2250" dirty="0"/>
          </a:p>
        </p:txBody>
      </p:sp>
      <p:sp>
        <p:nvSpPr>
          <p:cNvPr id="8" name="Text 6"/>
          <p:cNvSpPr/>
          <p:nvPr/>
        </p:nvSpPr>
        <p:spPr>
          <a:xfrm>
            <a:off x="480060" y="4560570"/>
            <a:ext cx="754380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900" dirty="0">
                <a:solidFill>
                  <a:srgbClr val="AFC4E0"/>
                </a:solidFill>
                <a:latin typeface="Calibri" pitchFamily="34" charset="0"/>
                <a:ea typeface="Calibri" pitchFamily="34" charset="-122"/>
                <a:cs typeface="Calibri" pitchFamily="34" charset="-120"/>
              </a:rPr>
              <a:t>Unit 3  ·  Day 13  ·  Generative AI for Data Analytics  ·  Adroit ACE</a:t>
            </a:r>
            <a:endParaRPr lang="en-US" sz="900" dirty="0"/>
          </a:p>
        </p:txBody>
      </p:sp>
    </p:spTree>
    <p:extLst>
      <p:ext uri="{BB962C8B-B14F-4D97-AF65-F5344CB8AC3E}">
        <p14:creationId xmlns:p14="http://schemas.microsoft.com/office/powerpoint/2010/main" val="1387031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1170</Words>
  <Application>Microsoft Office PowerPoint</Application>
  <PresentationFormat>On-screen Show (16:9)</PresentationFormat>
  <Paragraphs>183</Paragraphs>
  <Slides>88</Slides>
  <Notes>83</Notes>
  <HiddenSlides>0</HiddenSlides>
  <MMClips>0</MMClips>
  <ScaleCrop>false</ScaleCrop>
  <HeadingPairs>
    <vt:vector size="4" baseType="variant">
      <vt:variant>
        <vt:lpstr>Theme</vt:lpstr>
      </vt:variant>
      <vt:variant>
        <vt:i4>1</vt:i4>
      </vt:variant>
      <vt:variant>
        <vt:lpstr>Slide Titles</vt:lpstr>
      </vt:variant>
      <vt:variant>
        <vt:i4>88</vt:i4>
      </vt:variant>
    </vt:vector>
  </HeadingPairs>
  <TitlesOfParts>
    <vt:vector size="8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 for Data Analytics – Unit 3 Day 9</dc:title>
  <dc:subject>PptxGenJS Presentation</dc:subject>
  <dc:creator>PptxGenJS</dc:creator>
  <cp:lastModifiedBy>Masil Gokul Selven  S</cp:lastModifiedBy>
  <cp:revision>56</cp:revision>
  <dcterms:created xsi:type="dcterms:W3CDTF">2026-06-04T11:23:10Z</dcterms:created>
  <dcterms:modified xsi:type="dcterms:W3CDTF">2026-06-26T11:16:35Z</dcterms:modified>
</cp:coreProperties>
</file>