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74" r:id="rId4"/>
    <p:sldId id="258" r:id="rId5"/>
    <p:sldId id="275" r:id="rId6"/>
    <p:sldId id="276" r:id="rId7"/>
    <p:sldId id="277" r:id="rId8"/>
    <p:sldId id="259" r:id="rId9"/>
    <p:sldId id="278" r:id="rId10"/>
    <p:sldId id="279" r:id="rId11"/>
    <p:sldId id="260" r:id="rId12"/>
    <p:sldId id="280" r:id="rId13"/>
    <p:sldId id="282" r:id="rId14"/>
    <p:sldId id="281" r:id="rId15"/>
    <p:sldId id="261" r:id="rId16"/>
    <p:sldId id="262" r:id="rId17"/>
    <p:sldId id="263" r:id="rId18"/>
    <p:sldId id="264" r:id="rId19"/>
    <p:sldId id="283" r:id="rId20"/>
    <p:sldId id="284" r:id="rId21"/>
    <p:sldId id="285" r:id="rId22"/>
    <p:sldId id="265" r:id="rId23"/>
    <p:sldId id="266" r:id="rId24"/>
    <p:sldId id="286" r:id="rId25"/>
    <p:sldId id="287" r:id="rId26"/>
    <p:sldId id="288" r:id="rId27"/>
    <p:sldId id="267" r:id="rId28"/>
    <p:sldId id="289" r:id="rId29"/>
    <p:sldId id="290" r:id="rId30"/>
    <p:sldId id="268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69" r:id="rId39"/>
    <p:sldId id="270" r:id="rId40"/>
    <p:sldId id="271" r:id="rId41"/>
    <p:sldId id="272" r:id="rId42"/>
    <p:sldId id="273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6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11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0951-7DAA-DDA1-3538-60363E111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00144-5B5B-3AF2-A91D-F58537489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51B92-1490-D82E-3F36-13831E371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ED9D3-32B1-FAD2-7371-9BE00AF21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64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A973-CB55-30C8-F5C8-7757182F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A3A16-8CA6-BCCA-9B24-1E01A4D1F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BE8A9-D627-0CBE-A67D-51E22E024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F436E-4DDF-1AFB-F520-23DB992CC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48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559F-1E45-8997-68E9-E24A3583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224DE-C80C-1949-637D-1AAE6A004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C500F-D3A7-1ABF-2A38-CED349DB4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172E0-1736-119E-EB88-753E69C6E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37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A7B94-9F01-5914-8966-36ED84AF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CAAB2-F1AF-8A1B-FCF8-ABF883EA6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9024B-D9C3-458D-AD48-40F28DD56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AE180-3F59-98D3-EC70-AC5F05E00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45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B38E2-9283-F948-80CA-033C5FD5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CA264-0231-10E1-53A3-FA326F86F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96D63-93AB-E728-2DD1-0051CB8C0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C202C-AA24-A2C9-525F-D025B9935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49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6912-CF43-94C3-17F5-27386B9A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91CB3-2BC1-7C6E-4414-CFB23BE9F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1B969-7B92-F858-BC64-7D9E4385F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C7877-5FE4-BC84-FEF7-00745A241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81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0174-1D43-82E6-AD60-1105B1A3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0EA00-3DF2-F7CF-511B-A05B5EDBD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24CD0-DCBB-D8D5-F6F7-261BD5727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5DC12-C9EC-1050-4349-F1E9EFBD6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88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BC44-3E29-66F5-2C78-7F767099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003C3-1D2C-8793-9169-D5290E967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656CF-75AA-E948-AC1E-6497D2461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00F5B-5028-510D-30DC-2C6B98621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8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0E231-ADF8-D2D4-8224-619D7D5C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0BCD7-E72C-26C5-0E9C-D6F64CCC4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13495-9E03-0524-E16E-9CC44AA3F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FC761-6C00-9E78-3DD8-823EE0160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83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DA13-AF4D-3DBF-3FEE-0FF042F8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3BF9B-D082-A355-51FB-52E9262A1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8503E-B953-8818-81BF-C53467121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06187-892E-BE13-4680-D89CBDA7F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E464-473B-E7F7-BE7C-B100FCA4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F5EB9-198B-E007-FFC2-D693911DA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40821-3A95-17CF-7B5A-88009895E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79CF0-3F7E-911D-353C-1E538107F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973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884E-AEA8-4391-71C4-47AA4B2A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01843-A5F7-65E1-70B1-0D28A3415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65DE7-4192-276E-26A6-FA2634038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04FB0-9195-989A-089E-B1F6A9815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360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8357-241C-355B-DED1-6497390A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D054F-FBAE-1A47-7B8A-4E0803792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FB362-524A-496E-9E28-947E9D0E9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BE522-7EB3-79B3-697D-553426FAB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35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1B3B3-18BF-2C27-A74D-A1BD171C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FA1A6-DE87-3252-4689-E13B7DEA2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F9593-A8E3-AB5B-90FE-4671BE58C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F6F90-2D8A-4853-FADD-CE20C9DE3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031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B7BA-8598-0A48-C631-9D751869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5C0BD-9F8F-D0DA-6753-39537559E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9CCFD-398C-B280-2B5F-055B814CE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E7A03-0486-32B6-8192-470BF213C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374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8139-EEA9-1914-263A-4AA66173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91916-EA9F-77E8-4898-9FE40B141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E1C24-8348-9CB8-16B3-6F2EEC37A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ED984-8FCD-1BF4-5F3A-98280C4EC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07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E1BD-9A87-5996-3E45-42185254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09BB8-38C2-B363-88B6-33FC3D5E3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9B7C7-8F5E-45B9-20A8-F35E5E1B2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57CFD-31D9-7655-BEE8-AA7DF8BAF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064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7F18-1A18-5D6B-0D43-FEBFF06B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C4B98-CC6A-8559-7067-9DDAFFCAA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5B0C4-EED4-6BDF-33F5-583FB9A42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F02E3-38B2-C65D-9D51-6FC9D8202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781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602D-7DCA-0E59-868A-83955FFD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3728F-9939-91FF-C935-DF8033CDA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7063D-7D1C-8F78-D6A8-F9EBAF6BE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DD7CC-AC90-C308-E0ED-FC59AAD46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627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F4C4-EA22-812A-2FB7-9226467B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40E74-24CD-0910-BE83-3B3AF9F23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8E964-ED9D-C077-FC9F-2A726AD48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CB9C5-510E-A859-0D05-7B299BA7B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798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CA7B-70FB-FC14-E182-13076FF8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F1EC8-6670-4F46-1A0D-A6CA37070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AEB97-260D-8073-ACCF-6B522CD52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3917-40E0-A609-2AEF-63F08DC68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832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2457-FBD5-AD1E-AE9E-492015D5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C7F35-1E6F-21C9-6F31-821CEDADE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552B8-65A3-7BC6-D77A-981FFB955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9AAB6-5978-5687-860C-C67AD856E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51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5830-44A6-E1B2-369D-6010F8247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82EA9-15FF-3F9D-852F-E5D056E21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41ADE-0F3A-3512-783B-9A9320545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7C703-CD26-C280-3E85-2265B777F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798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1301-FD73-8C68-A472-582043E5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39CA5-1FAA-8D6B-F29F-BC0B96BBB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82AE6-FD50-F99C-B860-1A10D7FA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6E71C-C86C-0FE7-D649-38CE2701D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919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7B5EA7">
              <a:alpha val="30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1097280" cy="1097280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766560" y="1645920"/>
            <a:ext cx="822960" cy="822960"/>
          </a:xfrm>
          <a:prstGeom prst="ellipse">
            <a:avLst/>
          </a:prstGeom>
          <a:solidFill>
            <a:srgbClr val="00E5A0">
              <a:alpha val="28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0C8FF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0972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</a:rPr>
              <a:t>Unit 1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A0"/>
                </a:solidFill>
              </a:rPr>
              <a:t>Deep Learning · Transformers · LLMs · GANs · VAEs · Diffusion Models · Platform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VIT College  |  Corporate Training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Unit 1 —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9776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Ch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777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Foundation Models &amp; Gen AI Platforms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1887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Deep learning &amp; neural networks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Foundation models &amp; LLMs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Transformer architecture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IBM Granite &amp; watsonx.ai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Hugging Face ecosystem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Responsible AI basics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D166"/>
                </a:solidFill>
              </a:rPr>
              <a:t>Lab: Text, image &amp; code 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06240" cy="3977640"/>
          </a:xfrm>
          <a:prstGeom prst="rect">
            <a:avLst/>
          </a:prstGeom>
          <a:solidFill>
            <a:srgbClr val="112244"/>
          </a:solidFill>
          <a:ln w="254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0624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777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Ch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777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Generative AI Essentials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73752" y="11887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Discriminative vs. Generative AI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GANs — generator &amp; discriminator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Variational Autoencoders (VAEs)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Diffusion models for images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Text generation techniques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Audio &amp; video generation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Real-world tools: ChatGPT, DALL·E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D166"/>
                </a:solidFill>
              </a:rPr>
              <a:t>Lab: Text &amp; image generation hands-on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4754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9 Hours Total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C1E5D-4984-2215-64D4-213BBA18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38693D-C6ED-CAA2-9778-1DC1710FD1D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AC259B-11F9-AF36-1C4D-0A6D88C57793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CA6D35-5E11-C63A-690E-F19ABD09B777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57B168-89E1-15F6-E79B-C763FF1E1616}"/>
              </a:ext>
            </a:extLst>
          </p:cNvPr>
          <p:cNvSpPr/>
          <p:nvPr/>
        </p:nvSpPr>
        <p:spPr>
          <a:xfrm>
            <a:off x="365760" y="475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AI</a:t>
            </a:r>
            <a:endParaRPr lang="en-US" sz="22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FECE85F-7DE6-85D0-3365-A0CE951DE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AF86FF6-3CA6-A6D6-8CB2-45173A330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2" y="914400"/>
            <a:ext cx="7524898" cy="38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5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Deep Learning Fundamentals &amp; Neural Networks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84217"/>
            <a:ext cx="8595360" cy="777240"/>
          </a:xfrm>
          <a:prstGeom prst="rect">
            <a:avLst/>
          </a:prstGeom>
          <a:solidFill>
            <a:srgbClr val="0F2041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102505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</a:rPr>
              <a:t>Deep Learning:</a:t>
            </a:r>
            <a:r>
              <a:rPr lang="en-US" sz="1150" dirty="0">
                <a:solidFill>
                  <a:srgbClr val="E8F4FD"/>
                </a:solidFill>
              </a:rPr>
              <a:t> A subset of machine learning that uses multi-layered neural networks to learn patterns from large amounts of data — enabling machines to perform tasks that require human-like intelligence.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1998617"/>
            <a:ext cx="274320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74320" y="1998617"/>
            <a:ext cx="27432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65760" y="209005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Neuron (Node)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501537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Basic unit that receives inputs, applies a weight, adds bias, and passes output through an activation function (e.g., ReLU, Sigmoid).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1998617"/>
            <a:ext cx="274320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154680" y="1998617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246120" y="209005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Layers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46120" y="2501537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Input Layer → Hidden Layers → Output Layer. Deep networks have many hidden layers enabling complex feature learning.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1998617"/>
            <a:ext cx="274320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035040" y="1998617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26480" y="209005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Backpropagation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6480" y="2501537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Algorithm that adjusts weights by computing gradients of the loss function. Enables the network to 'learn' from errors.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2A03B-5C06-6827-59CF-33583119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E21486-A3DC-2B13-6774-28260E50236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C1E0E3-B143-1B6B-415B-C28C442EAD52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946F68-01C2-0678-1402-7065F0CE0F61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9818BC-C5F5-F598-FD62-B99B7F1C1E7D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Neural Network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0BF0270-B2A4-7759-DB44-40D64120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275703-C1D0-7E52-77C6-D8D9205D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00" y="2280754"/>
            <a:ext cx="6400800" cy="215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9FD70-910D-3B3E-7781-4E8CFE489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16" y="813816"/>
            <a:ext cx="7388087" cy="125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0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945D1-79BF-ED5F-16DF-8EB735E8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4E2513-5FAE-D7ED-8834-2137814D4D8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6189D2-5223-17B5-8833-4EDF3BE1D652}"/>
              </a:ext>
            </a:extLst>
          </p:cNvPr>
          <p:cNvSpPr/>
          <p:nvPr/>
        </p:nvSpPr>
        <p:spPr>
          <a:xfrm>
            <a:off x="365760" y="137160"/>
            <a:ext cx="4034048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DAC84C-C345-6243-D7C8-294E3C469992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96344F-B878-8DB3-0423-FC887D833397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Layers: From One Neuron to a Network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D17CC9C-9F7B-A853-72CF-E6C5BB7B9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519571-F2EA-0929-E78A-161B56084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08" y="940471"/>
            <a:ext cx="6400800" cy="34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2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1ECFF-BD0D-6738-7696-CF589FD3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51B6F3-3A4B-AB0F-39C0-D3EF302274E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E92F9B-D31E-EF23-9CC5-44438A61DE08}"/>
              </a:ext>
            </a:extLst>
          </p:cNvPr>
          <p:cNvSpPr/>
          <p:nvPr/>
        </p:nvSpPr>
        <p:spPr>
          <a:xfrm>
            <a:off x="365760" y="137160"/>
            <a:ext cx="4034048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316D64-CB30-3999-4044-6E4803CC55F3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312528-7AED-68A9-A1D0-77740E00A3EE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Activation Functions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E124D-FB38-9AF5-6607-0E9C529521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89" y="731520"/>
            <a:ext cx="4034048" cy="2154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45EF9C-A668-45AD-6530-B3360E06D9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119" y="732262"/>
            <a:ext cx="3823854" cy="2156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A4F26A-36C3-0280-D0FD-B5D788374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7571" y="2888916"/>
            <a:ext cx="4004474" cy="215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10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Are Foundation Models?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0F2041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5EA7"/>
                </a:solidFill>
              </a:rPr>
              <a:t>Foundation Model:</a:t>
            </a:r>
            <a:r>
              <a:rPr lang="en-US" sz="1150" dirty="0">
                <a:solidFill>
                  <a:srgbClr val="E8F4FD"/>
                </a:solidFill>
              </a:rPr>
              <a:t> A large AI model trained on broad, diverse data at massive scale that can be adapted (fine-tuned) for a wide range of downstream tasks without training from scratch.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1737360"/>
            <a:ext cx="4114800" cy="2560320"/>
          </a:xfrm>
          <a:prstGeom prst="rect">
            <a:avLst/>
          </a:prstGeom>
          <a:solidFill>
            <a:srgbClr val="112244"/>
          </a:solidFill>
          <a:ln w="127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148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Key Characteristics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2402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Trained on internet-scale data (TB–PB)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Billions to trillions of parameters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Self-supervised / unsupervised learning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Task-agnostic until fine-tuned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Emergent capabilities at scale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One model → many applications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737360"/>
            <a:ext cx="4206240" cy="256032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00600" y="1828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Examples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00600" y="22402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GPT-4 / ChatGPT — </a:t>
            </a:r>
            <a:r>
              <a:rPr lang="en-US" sz="1050" dirty="0">
                <a:solidFill>
                  <a:srgbClr val="E8F4FD"/>
                </a:solidFill>
              </a:rPr>
              <a:t>Text generation, code, reasoning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00600" y="266090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IBM Granite — </a:t>
            </a:r>
            <a:r>
              <a:rPr lang="en-US" sz="1050" dirty="0">
                <a:solidFill>
                  <a:srgbClr val="E8F4FD"/>
                </a:solidFill>
              </a:rPr>
              <a:t>Enterprise AI, code, multi-modal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00600" y="30815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BERT / RoBERTa — </a:t>
            </a:r>
            <a:r>
              <a:rPr lang="en-US" sz="1050" dirty="0">
                <a:solidFill>
                  <a:srgbClr val="E8F4FD"/>
                </a:solidFill>
              </a:rPr>
              <a:t>Understanding, classification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00600" y="35021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DALL·E / Stable Diffusion — </a:t>
            </a:r>
            <a:r>
              <a:rPr lang="en-US" sz="1050" dirty="0">
                <a:solidFill>
                  <a:srgbClr val="E8F4FD"/>
                </a:solidFill>
              </a:rPr>
              <a:t>Image generation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00600" y="392277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Whisper — </a:t>
            </a:r>
            <a:r>
              <a:rPr lang="en-US" sz="1050" dirty="0">
                <a:solidFill>
                  <a:srgbClr val="E8F4FD"/>
                </a:solidFill>
              </a:rPr>
              <a:t>Speech-to-text transcription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7B5EA7">
              <a:alpha val="25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Pre-training → Foundation Model → Fine-tuning → Specialized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CB46E-5DB0-5E36-A7E4-1E7F4058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C05F96-D6CC-05E2-4FE4-E49CD114F7E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E431B8-A9F4-28BA-0E08-27C9FFAD6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994092"/>
            <a:ext cx="6400800" cy="315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49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31E41-826A-F6C2-327C-65F6DC4D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A44398-7118-8C13-D254-DE6D9E3FC67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BE977D-62AA-12CA-8B20-4145A028E9BE}"/>
              </a:ext>
            </a:extLst>
          </p:cNvPr>
          <p:cNvSpPr/>
          <p:nvPr/>
        </p:nvSpPr>
        <p:spPr>
          <a:xfrm>
            <a:off x="365760" y="137160"/>
            <a:ext cx="4034048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2EB499-4E53-B811-7E9F-AE2029205991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FABE2C-AF3F-E293-A913-4CD6C0389891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Pre-training vs Fine-tuning vs Prompting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A2BEE0-BDAC-BA2C-66BE-7149F2F85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09619"/>
              </p:ext>
            </p:extLst>
          </p:nvPr>
        </p:nvGraphicFramePr>
        <p:xfrm>
          <a:off x="1062990" y="1005840"/>
          <a:ext cx="7018020" cy="3824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9366">
                  <a:extLst>
                    <a:ext uri="{9D8B030D-6E8A-4147-A177-3AD203B41FA5}">
                      <a16:colId xmlns:a16="http://schemas.microsoft.com/office/drawing/2014/main" val="312480690"/>
                    </a:ext>
                  </a:extLst>
                </a:gridCol>
                <a:gridCol w="4768654">
                  <a:extLst>
                    <a:ext uri="{9D8B030D-6E8A-4147-A177-3AD203B41FA5}">
                      <a16:colId xmlns:a16="http://schemas.microsoft.com/office/drawing/2014/main" val="3195543625"/>
                    </a:ext>
                  </a:extLst>
                </a:gridCol>
              </a:tblGrid>
              <a:tr h="4463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Method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Description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8561505"/>
                  </a:ext>
                </a:extLst>
              </a:tr>
              <a:tr h="719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Pre-training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Train from scratch on massive data. Expensive ($millions). Done by AI labs (OpenAI, IBM, Google).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83345719"/>
                  </a:ext>
                </a:extLst>
              </a:tr>
              <a:tr h="719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Fine-tuning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Continue training on task-specific labeled data. Modifies model weights. Examples: sentiment analysis, medical Q&amp;A.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17075029"/>
                  </a:ext>
                </a:extLst>
              </a:tr>
              <a:tr h="9923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Prompt Engineering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Use the base model as-is by crafting input prompts. No weight modification. Cheapest and fastest approach. Most practical for end-users.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22527561"/>
                  </a:ext>
                </a:extLst>
              </a:tr>
              <a:tr h="719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RLHF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Reinforcement Learning from Human Feedback — align model outputs with human preferences. Used by ChatGPT, Claude.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43372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24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Transformer Architecture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0F2041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412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Transformer:</a:t>
            </a:r>
            <a:r>
              <a:rPr lang="en-US" sz="1100" dirty="0">
                <a:solidFill>
                  <a:srgbClr val="E8F4FD"/>
                </a:solidFill>
              </a:rPr>
              <a:t> Introduced in 'Attention Is All You Need' (2017). Uses self-attention mechanisms to process sequences in parallel, revolutionizing NLP and beyond.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536192"/>
            <a:ext cx="2743200" cy="242316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74320" y="1536192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65760" y="16276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🔍  Self-Attention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0574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Each token 'attends' to all other tokens in the sequence, computing relevance scores. Captures long-range dependencies that RNNs missed.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1536192"/>
            <a:ext cx="2743200" cy="242316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154680" y="1536192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246120" y="16276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📥  Encoder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46120" y="20574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Processes input sequence and creates rich contextual representations. Used in models like BERT for understanding tasks.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1536192"/>
            <a:ext cx="2743200" cy="242316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035040" y="1536192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26480" y="16276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📤  Decoder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0" y="20574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Generates output tokens one at a time using cross-attention on encoder output. Used in GPT-style models for generation.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4069080"/>
            <a:ext cx="4206240" cy="685800"/>
          </a:xfrm>
          <a:prstGeom prst="rect">
            <a:avLst/>
          </a:prstGeom>
          <a:solidFill>
            <a:srgbClr val="0F2041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11480" y="4096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Multi-Head Attention:</a:t>
            </a:r>
            <a:r>
              <a:rPr lang="en-US" sz="1000" dirty="0">
                <a:solidFill>
                  <a:srgbClr val="E8F4FD"/>
                </a:solidFill>
              </a:rPr>
              <a:t> Runs multiple attention operations in parallel, each focusing on different aspects (syntax, semantics, coreference).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4069080"/>
            <a:ext cx="4206240" cy="685800"/>
          </a:xfrm>
          <a:prstGeom prst="rect">
            <a:avLst/>
          </a:prstGeom>
          <a:solidFill>
            <a:srgbClr val="0F2041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00600" y="409651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</a:rPr>
              <a:t>Positional Encoding:</a:t>
            </a:r>
            <a:r>
              <a:rPr lang="en-US" sz="1000" dirty="0">
                <a:solidFill>
                  <a:srgbClr val="E8F4FD"/>
                </a:solidFill>
              </a:rPr>
              <a:t> Since attention has no sequence order, positions are encoded using sine/cosine functions injected into embeddings.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A4F56-74ED-2754-62A9-2265B910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2D6017-5DEE-CA1F-304E-76E11250004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1DDAD4-7D95-D046-DB44-7C7BECDCC681}"/>
              </a:ext>
            </a:extLst>
          </p:cNvPr>
          <p:cNvSpPr/>
          <p:nvPr/>
        </p:nvSpPr>
        <p:spPr>
          <a:xfrm>
            <a:off x="365760" y="137160"/>
            <a:ext cx="4034048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680F07-7941-60F4-9724-60BF3089C2E1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36FB96-B1E0-7074-7315-B8F7E652ECB0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Self-Attention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0FC7B2-658E-2D2F-F1FB-E45DCCE1F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80" y="1092327"/>
            <a:ext cx="8343640" cy="30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9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F62AF-5A59-C007-B01B-3BC1B604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5FD5CC-0F77-F35C-4F86-5D00C27212D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6D2A4F-2881-DDB5-610E-DFBD2BACDD1C}"/>
              </a:ext>
            </a:extLst>
          </p:cNvPr>
          <p:cNvSpPr/>
          <p:nvPr/>
        </p:nvSpPr>
        <p:spPr>
          <a:xfrm>
            <a:off x="365760" y="137160"/>
            <a:ext cx="4034048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65EB8A-E999-04AD-7B08-F1E2796C9A1E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03A406-4B7E-933E-1079-B3144EDE032A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Self-Attention – Formula with example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F9380-0FC8-6F82-20CE-9B97B295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5087"/>
            <a:ext cx="3190401" cy="1183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06E10C-AF65-1803-1F7A-2DFE5E99C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977" y="632280"/>
            <a:ext cx="3491281" cy="134872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268AAE9C-13F0-6361-543F-FA07D095C57C}"/>
              </a:ext>
            </a:extLst>
          </p:cNvPr>
          <p:cNvSpPr/>
          <p:nvPr/>
        </p:nvSpPr>
        <p:spPr>
          <a:xfrm>
            <a:off x="365760" y="2183512"/>
            <a:ext cx="2615979" cy="34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chemeClr val="bg1"/>
                </a:solidFill>
              </a:rPr>
              <a:t>Step 1 — QKᵀ (Q multiplied by K transpose) </a:t>
            </a:r>
            <a:endParaRPr lang="en-IN" sz="105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2DD16A-6645-9AF1-50B2-815AF18E8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53" y="2613729"/>
            <a:ext cx="3120592" cy="648270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78FBC900-64C1-653F-A4CF-A75F80BDD915}"/>
              </a:ext>
            </a:extLst>
          </p:cNvPr>
          <p:cNvSpPr/>
          <p:nvPr/>
        </p:nvSpPr>
        <p:spPr>
          <a:xfrm>
            <a:off x="3546284" y="2162782"/>
            <a:ext cx="2615979" cy="34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chemeClr val="bg1"/>
                </a:solidFill>
              </a:rPr>
              <a:t>Step 2 — / √d (divide by square root of d)</a:t>
            </a:r>
            <a:endParaRPr lang="en-IN" sz="105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F5E6C6-CD93-9512-4400-6F31E076D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3396" y="2562098"/>
            <a:ext cx="2925868" cy="751532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0E1FD03C-2B0D-2372-25AA-F1B72F970978}"/>
              </a:ext>
            </a:extLst>
          </p:cNvPr>
          <p:cNvSpPr/>
          <p:nvPr/>
        </p:nvSpPr>
        <p:spPr>
          <a:xfrm>
            <a:off x="365760" y="3421738"/>
            <a:ext cx="2615979" cy="34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chemeClr val="bg1"/>
                </a:solidFill>
              </a:rPr>
              <a:t>Step 3 — </a:t>
            </a:r>
            <a:r>
              <a:rPr lang="en-US" sz="1050" b="1" dirty="0" err="1">
                <a:solidFill>
                  <a:schemeClr val="bg1"/>
                </a:solidFill>
              </a:rPr>
              <a:t>softmax</a:t>
            </a:r>
            <a:r>
              <a:rPr lang="en-US" sz="1050" b="1" dirty="0">
                <a:solidFill>
                  <a:schemeClr val="bg1"/>
                </a:solidFill>
              </a:rPr>
              <a:t>(...) (convert scores to percentages)</a:t>
            </a:r>
            <a:endParaRPr lang="en-IN" sz="105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F962DC-6CB7-0A43-7FC0-70DD2698D8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15" y="3977534"/>
            <a:ext cx="2925868" cy="666413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0D127A98-5FEA-4C94-28A3-80B1CCBC51E2}"/>
              </a:ext>
            </a:extLst>
          </p:cNvPr>
          <p:cNvSpPr/>
          <p:nvPr/>
        </p:nvSpPr>
        <p:spPr>
          <a:xfrm>
            <a:off x="3546283" y="3457982"/>
            <a:ext cx="2615979" cy="34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chemeClr val="bg1"/>
                </a:solidFill>
              </a:rPr>
              <a:t>Step 4 — · V (multiply by Values)</a:t>
            </a:r>
            <a:endParaRPr lang="en-IN" sz="1050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EBAB60-C5EF-7D08-5C73-3EFABE9EC3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3396" y="3810607"/>
            <a:ext cx="2781688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1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8B63D-3AE6-B6F7-FEDD-FC5BEBC5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356CF0-F8B8-785F-AB11-7C1C41E90FD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8D92F2-6998-96A2-CD73-B1A7D6003550}"/>
              </a:ext>
            </a:extLst>
          </p:cNvPr>
          <p:cNvSpPr/>
          <p:nvPr/>
        </p:nvSpPr>
        <p:spPr>
          <a:xfrm>
            <a:off x="365760" y="137160"/>
            <a:ext cx="4034048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6E3D52-CC9F-8F0A-4E9D-1008E2C09483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2BCDDE-B4E2-8868-26EC-29A5AA6C0856}"/>
              </a:ext>
            </a:extLst>
          </p:cNvPr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>
                <a:solidFill>
                  <a:schemeClr val="bg1"/>
                </a:solidFill>
              </a:rPr>
              <a:t>Encoder-Only vs Decoder-Only vs Encoder-Decoder</a:t>
            </a:r>
            <a:endParaRPr lang="en-IN" sz="20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A0331D-CFA2-2FEB-288B-79CD73970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74953"/>
              </p:ext>
            </p:extLst>
          </p:nvPr>
        </p:nvGraphicFramePr>
        <p:xfrm>
          <a:off x="925088" y="1356360"/>
          <a:ext cx="6949440" cy="27355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7385">
                  <a:extLst>
                    <a:ext uri="{9D8B030D-6E8A-4147-A177-3AD203B41FA5}">
                      <a16:colId xmlns:a16="http://schemas.microsoft.com/office/drawing/2014/main" val="553911767"/>
                    </a:ext>
                  </a:extLst>
                </a:gridCol>
                <a:gridCol w="4722055">
                  <a:extLst>
                    <a:ext uri="{9D8B030D-6E8A-4147-A177-3AD203B41FA5}">
                      <a16:colId xmlns:a16="http://schemas.microsoft.com/office/drawing/2014/main" val="832398869"/>
                    </a:ext>
                  </a:extLst>
                </a:gridCol>
              </a:tblGrid>
              <a:tr h="468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Architecture Type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Description &amp; Use Cases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62996981"/>
                  </a:ext>
                </a:extLst>
              </a:tr>
              <a:tr h="75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Encoder-Only (BERT)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Reads full sequence bidirectionally. Best for: classification, NER, sentiment, QA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09202539"/>
                  </a:ext>
                </a:extLst>
              </a:tr>
              <a:tr h="75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Decoder-Only (GPT)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Auto-regressive: predicts next token. Best for: text generation, code generation, chat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26822997"/>
                  </a:ext>
                </a:extLst>
              </a:tr>
              <a:tr h="75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Encoder-Decoder (T5, BART)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Encoder reads input, decoder generates output. Best for: translation, summarization, Q&amp;A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5658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900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057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Large Language Models (LLMs)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0F2041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503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LLM:</a:t>
            </a:r>
            <a:r>
              <a:rPr lang="en-US" sz="1100" dirty="0">
                <a:solidFill>
                  <a:srgbClr val="E8F4FD"/>
                </a:solidFill>
              </a:rPr>
              <a:t> A type of foundation model trained on massive text corpora using the Transformer architecture. Learns language patterns, reasoning, and world knowledge through next-token prediction.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627632"/>
            <a:ext cx="274320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✍️  Text Generation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5760" y="213969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Write articles, emails, stories, summaries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627632"/>
            <a:ext cx="274320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46120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❓  Question Answering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46120" y="213969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Answer factual and reasoning questions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1627632"/>
            <a:ext cx="274320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126480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💻  Code Generation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126480" y="213969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Write, debug, explain code in any language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090672"/>
            <a:ext cx="274320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6576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🌍  Translation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65760" y="360273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Translate between 100+ languages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54680" y="3090672"/>
            <a:ext cx="274320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24612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📝  Summarization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246120" y="360273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Condense long documents to key points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3090672"/>
            <a:ext cx="2743200" cy="13258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12648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🧠  Reasoning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126480" y="360273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Solve math, logic, and multi-step problems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D166"/>
                </a:solidFill>
              </a:rPr>
              <a:t>Notable LLMs: GPT-4 · Claude · Gemini · LLaMA · Mistral · IBM Granite · Falcon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TOOL /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IBM Granite &amp; watsonx.ai Platform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004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IBM Granite Foundation Models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26187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Enterprise-focused open-source LLMs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Trained on diverse, curated datasets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Models: Granite 3.x (1B–34B params)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Tasks: text, code, instruct, multi-modal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Available on IBM watsonx.ai &amp; Hugging 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Built-in transparency &amp; governance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Granite Code: specialized for software dev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4206240" cy="3977640"/>
          </a:xfrm>
          <a:prstGeom prst="rect">
            <a:avLst/>
          </a:prstGeom>
          <a:solidFill>
            <a:srgbClr val="112244"/>
          </a:solidFill>
          <a:ln w="254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091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IBM watsonx.ai — Platform Overview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1261872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All-in-one enterprise AI studio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Access to 100+ foundation models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Built-in Prompt Lab for experimentation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Model tuning with few labeled examples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AutoAI for automated model building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Production-grade deployment pipelines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Governance via IBM OpenScale / AI Factsheets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166"/>
                </a:solidFill>
              </a:rPr>
              <a:t>🔗 Access: watsonx.ai  |  cloud.ibm.com/watsonx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TOOL /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Hugging Face Ecosystem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0F2041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503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Hugging Face:</a:t>
            </a:r>
            <a:r>
              <a:rPr lang="en-US" sz="1100" dirty="0">
                <a:solidFill>
                  <a:srgbClr val="E8F4FD"/>
                </a:solidFill>
              </a:rPr>
              <a:t> The 'GitHub of AI' — open platform for sharing and running ML models, datasets, and apps. Central hub for the open-source AI community.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600200"/>
            <a:ext cx="420624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🤗 Model Hub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207568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500,000+ pre-trained models. Filter by task (text-gen, image-class), language, license. Download or run via API.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600200"/>
            <a:ext cx="420624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📚 Datasets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07568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80,000+ datasets for training and benchmarking. Direct integration with training pipelines via datasets library.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154680"/>
            <a:ext cx="420624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576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🚀 Spaces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36301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Host interactive ML demos using Gradio or Streamlit. One-click deployment on HF infrastructure.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154680"/>
            <a:ext cx="420624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5488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🔧 Transformers Library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6301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Python library for loading, fine-tuning, and deploying 100+ architectures with a unified API. pip install transformers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D166"/>
                </a:solidFill>
              </a:rPr>
              <a:t>Quick Access: huggingface.co  |  pip install transformers datasets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ETHICS /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Responsible AI &amp; Governance Basics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2743200" cy="15544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804672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896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⚖️  Fairness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316736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AI systems must not discriminate. Regular bias audits across demographic groups.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54680" y="804672"/>
            <a:ext cx="2743200" cy="15544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54680" y="804672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46120" y="896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🔍  Explainability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1316736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AI decisions must be interpretable. Use SHAP, LIME, or attention visualization.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804672"/>
            <a:ext cx="2743200" cy="15544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035040" y="804672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26480" y="896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🛡️  Robustness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1316736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Reliable under adversarial inputs. Tested for edge cases and distribution shift.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496312"/>
            <a:ext cx="2743200" cy="1554480"/>
          </a:xfrm>
          <a:prstGeom prst="rect">
            <a:avLst/>
          </a:prstGeom>
          <a:solidFill>
            <a:srgbClr val="112244"/>
          </a:solidFill>
          <a:ln w="1905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74320" y="2496312"/>
            <a:ext cx="2743200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65760" y="2587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📋  Transparency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3008376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Document training data, model architecture, and known limitations openly.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54680" y="2496312"/>
            <a:ext cx="2743200" cy="15544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154680" y="2496312"/>
            <a:ext cx="27432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246120" y="2587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🔒  Privacy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46120" y="3008376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Use differential privacy, federated learning. Never expose PII in outputs.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35040" y="2496312"/>
            <a:ext cx="2743200" cy="15544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035040" y="2496312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126480" y="25877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🏛️  Governance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26480" y="3008376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Establish AI policies, human oversight, audit trails, and incident response.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B4C8"/>
                </a:solidFill>
              </a:rPr>
              <a:t>IBM AI Ethics  |  EU AI Act  |  NIST AI Risk Management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CAA87-4911-8116-20EA-3DA58647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E53054-79C6-1D9D-499F-525859F8C08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7F5F45-4D1D-A11E-B2A5-AD5FDDA4283D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BF02E8-A491-BEDC-9FE0-6F8CC6F212D5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4BDB2C-A789-D9E0-F43B-947AA31F2FFF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6 Pillars of Responsible AI</a:t>
            </a:r>
            <a:endParaRPr lang="en-US" sz="2200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7B8EFAB-5543-ADF7-2425-D7C594D81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80774"/>
              </p:ext>
            </p:extLst>
          </p:nvPr>
        </p:nvGraphicFramePr>
        <p:xfrm>
          <a:off x="1280160" y="1366900"/>
          <a:ext cx="5943600" cy="2791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80641615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734694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Pillar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0284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Fairness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AI must not discriminate based on race, gender, age, or other protected characteristics. Regular bias audits required.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77814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Explainability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AI decisions should be interpretable. Humans must be able to understand why a model made a decision.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99748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Robustness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Models should perform reliably under adversarial conditions, distribution shifts, and edge cases.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2621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Transparency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Document training data, model architecture, known limitations, and failure modes.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49758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Privacy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Protect user data. Use techniques like differential privacy, federated learning, and data anonymization.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17557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Accountability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Clear ownership of AI systems. Audit trails. Human oversight. Incident response procedures.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76353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95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5AA42-2964-A81E-71E8-50431BD6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08C050-D2A8-70D5-55C4-BA95700C9B2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035D7F-72F3-B880-626A-163C9E14A509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BFF86C-CC7F-EEC1-4DC2-E2842035AB21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8F2BE9-6F1B-C08D-3DF7-60213DF6B086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6 Pillars of Responsible AI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8C8126-1CCF-2FA6-4780-62FDAE02D1FE}"/>
              </a:ext>
            </a:extLst>
          </p:cNvPr>
          <p:cNvSpPr txBox="1"/>
          <p:nvPr/>
        </p:nvSpPr>
        <p:spPr>
          <a:xfrm>
            <a:off x="750073" y="1069138"/>
            <a:ext cx="7479527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Common AI Harms to Know</a:t>
            </a:r>
            <a:endParaRPr lang="en-IN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Bias &amp; Discrimination: Historical data encodes societal bias → model perpetuates it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Hallucination: Model generates confident but false information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Privacy Leakage: Model memorizes and reproduces training data (PII)</a:t>
            </a: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Toxic Output: Offensive, harmful, or dangerous content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Deepfakes: Synthetic media used for disinformation or fraud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Over-</a:t>
            </a:r>
            <a:r>
              <a:rPr lang="en-IN" dirty="0">
                <a:solidFill>
                  <a:schemeClr val="bg1"/>
                </a:solidFill>
              </a:rPr>
              <a:t>reliance: Humans defer too much to AI without critical evaluation</a:t>
            </a:r>
          </a:p>
        </p:txBody>
      </p:sp>
    </p:spTree>
    <p:extLst>
      <p:ext uri="{BB962C8B-B14F-4D97-AF65-F5344CB8AC3E}">
        <p14:creationId xmlns:p14="http://schemas.microsoft.com/office/powerpoint/2010/main" val="3431849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79E02-31E9-F141-32D3-E361D963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6CFBEF-FD92-3250-D7E7-2A5CF5A7867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7841F5-0F58-B80D-8785-5143150181C4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17E7CF-7EA0-D72C-D846-2DBD1EC7A986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D333F4-939C-3877-8CD3-E36817BDF301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Key Regulations to Know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8DD757-B1DE-0603-1884-D4C1B2227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165835"/>
              </p:ext>
            </p:extLst>
          </p:nvPr>
        </p:nvGraphicFramePr>
        <p:xfrm>
          <a:off x="1209261" y="1517650"/>
          <a:ext cx="5943600" cy="2108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3571068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600255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Regulation/Framework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Key Points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01867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EU AI Act (2024)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World's first comprehensive AI law. Classifies AI systems by risk: Unacceptable, High, Limited, Minimal. High-risk AI needs conformity assessment.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03404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GDPR (Europe)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Data protection. Right to explanation of automated decisions. Affects AI training and deployment.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03203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NIST AI RMF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US framework for AI risk management. Four functions: GOVERN, MAP, MEASURE, MANAGE.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72745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effectLst/>
                        </a:rPr>
                        <a:t>IBM AI Ethics Policy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effectLst/>
                        </a:rPr>
                        <a:t>5 pillars (Explainability, Fairness, etc.). AI Factsheets for model documentation.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48477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78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 ·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Text, Image &amp; Code Generation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8595360" cy="38404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8046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</a:rPr>
              <a:t>Using IBM Granite via watsonx.ai &amp; Hugging Face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5760" y="1353312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</a:rPr>
              <a:t>Text Generation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1480" y="192024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Login to watsonx.ai Prompt Lab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Select Granite 13B Chat model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Prompt: 'Write a summary of AI in healthcare'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Experiment with temperature settings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54680" y="1280160"/>
            <a:ext cx="2743200" cy="3383280"/>
          </a:xfrm>
          <a:prstGeom prst="rect">
            <a:avLst/>
          </a:prstGeom>
          <a:solidFill>
            <a:srgbClr val="112244"/>
          </a:solidFill>
          <a:ln w="1905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46120" y="1353312"/>
            <a:ext cx="502920" cy="5029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24612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5EA7"/>
                </a:solidFill>
              </a:rPr>
              <a:t>Code Generation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291840" y="192024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Use Granite Code model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Prompt: 'Write Python code to sort a list'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Ask for explanation of the code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Try: 'Debug this Python function: ...'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1280160"/>
            <a:ext cx="2743200" cy="33832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126480" y="1353312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1264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2084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</a:rPr>
              <a:t>Image Generation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172200" y="1920240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Open Hugging Face Spaces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Find a Stable Diffusion space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Prompt: 'A futuristic city at sunset'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Compare prompts with/without style keywords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0F2041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E5A0"/>
                </a:solidFill>
              </a:rPr>
              <a:t>🎯  Deliverable: Screenshot + 3-line reflection on what you generated and why it works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Discriminative vs. Generative AI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4114800" cy="3474720"/>
          </a:xfrm>
          <a:prstGeom prst="rect">
            <a:avLst/>
          </a:prstGeom>
          <a:solidFill>
            <a:srgbClr val="112244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0040" y="804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Discriminative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261872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Learns decision boundary between classes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Answers: 'Which class does this belong to?'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Models P(y|x) — conditional probability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Examples: SVM, Logistic Regression, BERT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Use cases: spam filter, image classifier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Generally simpler, requires less 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0520" y="2148840"/>
            <a:ext cx="822960" cy="822960"/>
          </a:xfrm>
          <a:prstGeom prst="ellipse">
            <a:avLst/>
          </a:prstGeom>
          <a:solidFill>
            <a:srgbClr val="7B5EA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16052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804672"/>
            <a:ext cx="4114800" cy="3474720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00600" y="804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92040" y="1261872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Learns the full data distribution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Answers: 'How can I create new data?'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Models P(x) or P(x,y) — joint probability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Examples: GPT, GAN, VAE, Diffusion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Use cases: image gen, text writing, music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Requires massive data, compute power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0F2041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FF"/>
                </a:solidFill>
              </a:rPr>
              <a:t>💡  Key Insight: Discriminative models classify existing data; Generative models CREATE new data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5B2B3-FA15-4598-263C-7115FBF5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0562A0-B975-5ED9-5560-21D25C5214F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E768C03-9ADE-3839-FA42-1F341DE897C7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C1475C-DA3D-45BB-A179-D38E426AD7A5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6FC721-C3C8-7D2A-AF2B-3568970D24C5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Discriminative vs. Generative AI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775DD-C416-5A90-469E-5E44A928B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2143"/>
            <a:ext cx="9144000" cy="28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A7E51-02C0-AF12-3A21-9128E47F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46E00E-7250-5E7A-F668-80FCEE5B595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84BC94-FB3E-F708-1307-4C5DDA329351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A17314-C041-7CAF-1B3E-3A15AFA0CCCA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E1EAFB-91A6-AACE-53F6-E255451BF9A9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Discriminative vs. Generative AI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0AA6C3-DED9-606F-EFC9-DE2A81F2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14107"/>
            <a:ext cx="6400800" cy="291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68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86EF2-E8A7-24BA-6BDE-D0CDD219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FFA0AC-B326-AA46-0BF8-88FB3AE5D4A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6E9773-8213-E648-2B2C-66FFFA41E686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1B92EB-6629-1B6D-293B-195E06129797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DB6AED-1520-E521-FEB0-436A0E1E0756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Discriminative vs. Generative AI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63C65-2ADD-2D47-2863-64C7BFEE8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73" y="1192696"/>
            <a:ext cx="7418854" cy="309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0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GANs — Generative Adversarial Networks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0F2041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GAN:</a:t>
            </a:r>
            <a:r>
              <a:rPr lang="en-US" sz="1100" dirty="0">
                <a:solidFill>
                  <a:srgbClr val="E8F4FD"/>
                </a:solidFill>
              </a:rPr>
              <a:t> Proposed by Ian Goodfellow (2014). Two neural networks — Generator and Discriminator — compete in a minimax game to produce increasingly realistic synthetic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508760"/>
            <a:ext cx="2926080" cy="2651760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572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A0"/>
                </a:solidFill>
              </a:rPr>
              <a:t>🎨  Generator (G)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2029968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Takes random noise vector (z) as input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Outputs synthetic data (fake images)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Goal: fool the Discriminator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Never sees real data directly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Learns to mimic real data distribution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2743200"/>
            <a:ext cx="6400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004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8FF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114800" y="1508760"/>
            <a:ext cx="2926080" cy="2651760"/>
          </a:xfrm>
          <a:prstGeom prst="rect">
            <a:avLst/>
          </a:prstGeom>
          <a:solidFill>
            <a:srgbClr val="112244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206240" y="1572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6B"/>
                </a:solidFill>
              </a:rPr>
              <a:t>🔍  Discriminator (D)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06240" y="2029968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Takes real OR fake data as input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Outputs probability: Real or Fake?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Goal: correctly classify all inputs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Trains on both real and generated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Gets better at detecting fakes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178040" y="1508760"/>
            <a:ext cx="1645920" cy="2651760"/>
          </a:xfrm>
          <a:prstGeom prst="rect">
            <a:avLst/>
          </a:prstGeom>
          <a:solidFill>
            <a:srgbClr val="0F2041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178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Result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78040" y="196596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Photorealistic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Images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Deepfakes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Augment.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Art &amp; Style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</a:rPr>
              <a:t>Transfer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0F2041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B4C8"/>
                </a:solidFill>
              </a:rPr>
              <a:t>GAN Types: DCGAN · StyleGAN · CycleGAN · Conditional GAN · Pix2Pix · BigGAN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E6780-6B79-BD6E-4532-2CFB9C07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59A751-20E9-75AA-7E0E-CAC284F13BE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957586-020C-B0F8-33DB-8AF85DA6579E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D9D0E7-8916-DED3-79D6-6C87A488AC5E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FDD557-EEF2-E686-51ED-1C2B550CCB8C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GANs — Generative Adversarial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ABDA83-BF0A-8BF2-CE19-68256FC48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6848"/>
            <a:ext cx="9144000" cy="302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19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F7342-EFD6-E068-BECC-A4D09800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54655D-B88B-DEB1-C8D6-44272AFD1F8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D197B3-591E-BBEC-CBEE-BC9E932A1B66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FF6E03-76A4-3588-F432-584D2F111372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79200F-FDC7-BD8B-8D0C-4ECCFD91E5F4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GANs — Generative Adversarial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E6A450-46C5-2710-DD2C-6C9D288A1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" y="671247"/>
            <a:ext cx="9011908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78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Variational Autoencoders (VAEs)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0F2041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VAE:</a:t>
            </a:r>
            <a:r>
              <a:rPr lang="en-US" sz="1100" dirty="0">
                <a:solidFill>
                  <a:srgbClr val="E8F4FD"/>
                </a:solidFill>
              </a:rPr>
              <a:t> A generative model that learns a compressed probabilistic latent space representation of data. Encodes data into a distribution (not a single point) and samples from it to generate new variations.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536192"/>
            <a:ext cx="1463040" cy="1005840"/>
          </a:xfrm>
          <a:prstGeom prst="rect">
            <a:avLst/>
          </a:prstGeom>
          <a:solidFill>
            <a:srgbClr val="112244"/>
          </a:solidFill>
          <a:ln w="25400">
            <a:solidFill>
              <a:srgbClr val="A0B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B4C8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0B4C8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x (image,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text, etc.)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55648" y="173736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FF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920240" y="1536192"/>
            <a:ext cx="1463040" cy="10058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92024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</a:rPr>
              <a:t>Encoder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Compresses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to latent z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01568" y="173736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FF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566160" y="1536192"/>
            <a:ext cx="1463040" cy="1005840"/>
          </a:xfrm>
          <a:prstGeom prst="rect">
            <a:avLst/>
          </a:prstGeom>
          <a:solidFill>
            <a:srgbClr val="112244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56616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Latent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</a:rPr>
              <a:t>Space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6616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μ &amp; σ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(mean, std)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47488" y="173736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FF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212080" y="1536192"/>
            <a:ext cx="1463040" cy="1005840"/>
          </a:xfrm>
          <a:prstGeom prst="rect">
            <a:avLst/>
          </a:prstGeom>
          <a:solidFill>
            <a:srgbClr val="112244"/>
          </a:solidFill>
          <a:ln w="254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21208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5EA7"/>
                </a:solidFill>
              </a:rPr>
              <a:t>Decoder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1208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Reconstructs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from z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693408" y="173736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FF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858000" y="1536192"/>
            <a:ext cx="1463040" cy="10058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</a:rPr>
              <a:t>Generated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</a:rPr>
              <a:t>Output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x̂ (new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variation)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2743200"/>
            <a:ext cx="274320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6576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Latent Space Interpolation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65760" y="3200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Smoothly morph between two generated outputs by walking through the latent space.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154680" y="2743200"/>
            <a:ext cx="274320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324612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Controlled Generation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246120" y="3200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Edit specific attributes by manipulating dimensions of the latent vector z.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35040" y="2743200"/>
            <a:ext cx="2743200" cy="141732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12648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126480" y="3200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High reconstruction error signals anomaly — used in fraud detection, medical imaging.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B4C8"/>
                </a:solidFill>
              </a:rPr>
              <a:t>VAE vs GAN: VAEs → smooth latent space, stable training  |  GANs → sharper outputs, harder to train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0A531-94AB-5DF5-4BC6-A3FA3FFF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15C9D5-D3E1-6025-2B7E-582B528E4A3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3D0DF7-4D20-C98E-A2EF-C8B4432CF1FA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142DDF-79EF-77D7-31E3-8069B3EC9357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C2CF54-B47D-0633-D985-A5CF5C5449E3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Variational Autoencoders (VAEs)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F6BFA-88DB-7BA1-FE50-D0976C646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750"/>
            <a:ext cx="9144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75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07040-1626-F3AE-22B7-B56617BD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A5ABBC-2D53-1DCA-CF0D-88DDECDC512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A01786-FFF0-9A1C-81EA-2CDFA8B05A7E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43519F-0D05-31BA-52F8-1327C2E3899E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0EC352-0460-8F28-2B64-77AF03D36F22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What is an Autoencoder — In One Sentence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2DFA5-12DB-0100-95DD-5FBC99E1F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75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11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074E0-A42B-E2C2-B257-F704C1D1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3BF463-A5CF-3028-3DA3-E98A1BFB267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626208-8FD4-D23B-4C5B-D07D3B92D7D3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831303-B6BD-6024-131B-2C8200D1C330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FAD565-9121-9046-A908-76A232192899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Regular AE vs VAE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872A01-0266-CA24-7BD7-1A8F03A5E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750"/>
            <a:ext cx="9144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46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7BC18-D2F3-D1B5-3D10-2C6E2045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10DA93-DC82-80AC-6D19-D5C2709049D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00C894-7CA9-FC3F-87D3-1FC53D1780F4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718AAF-58C6-C215-0F38-AB77D566E359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219CF3-1219-67DD-C6EC-68AB0D048093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The Reparameterization Trick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69D7A-945D-E3C4-EC93-E3F57CBDD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4750"/>
            <a:ext cx="914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59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141C2-FAD3-9D91-945D-E73645C6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A5B7F9-4CDA-17A5-E0B5-FE98E4AF893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31D080-C73D-33B5-E5AE-15270DD78DE3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93136E-CF69-1C74-BAD5-1DC8AFEA5FA4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F96CF8-BCE1-623C-70A5-BAE84A490EAE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The Loss Function 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C7117-B742-759F-12C0-3A9FB7855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3750"/>
            <a:ext cx="9144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37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2F8F4-F266-BB7C-DEE6-5877DCBA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5D65AC-75BB-57C6-B60D-B984F4E619B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42E67E-E21E-111D-D030-3FF84077FF0C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65B574-AA01-3926-8292-CFEF5976CD56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8300A2-D569-6CB1-85DD-466DC05FCBAD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Two Processes — Simple Table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E749DC-1971-540E-7BD7-E3AB373FF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4750"/>
            <a:ext cx="914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77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6C054-C61C-6AA9-76D8-B9C6E84C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FA0D07-FDCA-B860-1FEF-F8317B09406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110FA1-3D10-5BBE-6635-5424D6EDD89B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D5D34E-010D-F858-6D68-D2C84FB6AA56}"/>
              </a:ext>
            </a:extLst>
          </p:cNvPr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E73DDB-23E7-CFC2-6501-7F92924E4BAB}"/>
              </a:ext>
            </a:extLst>
          </p:cNvPr>
          <p:cNvSpPr/>
          <p:nvPr/>
        </p:nvSpPr>
        <p:spPr>
          <a:xfrm>
            <a:off x="365760" y="27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U-Net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85436-EECA-121C-2069-B25ED8D2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1400"/>
            <a:ext cx="91440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40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Diffusion Models for Image Generation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8595360" cy="621792"/>
          </a:xfrm>
          <a:prstGeom prst="rect">
            <a:avLst/>
          </a:prstGeom>
          <a:solidFill>
            <a:srgbClr val="0F2041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</a:rPr>
              <a:t>Diffusion Model:</a:t>
            </a:r>
            <a:r>
              <a:rPr lang="en-US" sz="1100" dirty="0">
                <a:solidFill>
                  <a:srgbClr val="E8F4FD"/>
                </a:solidFill>
              </a:rPr>
              <a:t> Learns to generate data by reversing a gradual noise-adding process. State-of-the-art for image generation — powers DALL·E 3, Stable Diffusion, and Midjourney.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536192"/>
            <a:ext cx="4160520" cy="2743200"/>
          </a:xfrm>
          <a:prstGeom prst="rect">
            <a:avLst/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5727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Forward Process (Noising)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196596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Start with a real image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Gradually add Gaussian noise over T steps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After ~1000 steps: pure random noise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This is the 'training signal'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Markov chain: each step depends only on previous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No neural network needed in forward pass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536192"/>
            <a:ext cx="4206240" cy="274320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1572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Reverse Process (Denoising)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196596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Start with random Gaussian noise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Neural network predicts noise at each step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Iteratively remove noise over T steps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Guided by text prompt (CLIP embeddings)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Result: photorealistic image from 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• U-Net architecture is typically used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0F2041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</a:rPr>
              <a:t>Key Models: DALL·E 3 · Stable Diffusion · Midjourney · Imagen · Firefly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Text Generation — Sampling, Temperature, Top-k/p</a:t>
            </a:r>
            <a:endParaRPr lang="en-US" sz="2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2743200" cy="38404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804672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Temperature (T)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1353312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Controls randomness of predictions.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T = 0.0 → deterministic (always picks most likely token)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T = 1.0 → default sampling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T &gt; 1.0 → more creative but less coherent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T &lt; 0.5 → more focused and conservative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Use low T for factual tasks, high T for creative writing.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54680" y="804672"/>
            <a:ext cx="2743200" cy="38404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54680" y="804672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4612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Top-k Sampling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353312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At each step, only consider the top k most probable tokens.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k = 1 → greedy (always picks most likely)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k = 50 → balanced diversity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k = 0 → disabled (use all tokens)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Prevents extremely unlikely tokens from being selected.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804672"/>
            <a:ext cx="2743200" cy="38404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035040" y="804672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26480" y="886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Top-p (Nucleus) Sampling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1353312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Pick from smallest set of tokens whose cumulative probability ≥ p.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p = 0.9 → top 90% of probability mass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Adapts dynamically to the distribution shape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• Often combined with temperature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More flexible than top-k for diverse outputs.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0F2041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8"/>
                </a:solidFill>
              </a:rPr>
              <a:t>Typical defaults: temperature=0.7, top_p=0.95, top_k=50  |  Always combine for best results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Audio &amp; Video Generation Capabilities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393192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804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Audio Generation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▸ Text-to-Speech (TTS): </a:t>
            </a:r>
            <a:r>
              <a:rPr lang="en-US" sz="1050" dirty="0">
                <a:solidFill>
                  <a:srgbClr val="E8F4FD"/>
                </a:solidFill>
              </a:rPr>
              <a:t>ElevenLabs, Google WaveNet — natural voices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▸ Music Generation: </a:t>
            </a:r>
            <a:r>
              <a:rPr lang="en-US" sz="1050" dirty="0">
                <a:solidFill>
                  <a:srgbClr val="E8F4FD"/>
                </a:solidFill>
              </a:rPr>
              <a:t>MusicLM, Suno, Udio — full songs from text prompts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▸ Speech Recognition: </a:t>
            </a:r>
            <a:r>
              <a:rPr lang="en-US" sz="1050" dirty="0">
                <a:solidFill>
                  <a:srgbClr val="E8F4FD"/>
                </a:solidFill>
              </a:rPr>
              <a:t>Whisper (OpenAI) — multilingual transcription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2926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▸ Voice Cloning: </a:t>
            </a:r>
            <a:r>
              <a:rPr lang="en-US" sz="1050" dirty="0">
                <a:solidFill>
                  <a:srgbClr val="E8F4FD"/>
                </a:solidFill>
              </a:rPr>
              <a:t>Replicate a voice with just seconds of audio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▸ Sound FX Generation: </a:t>
            </a:r>
            <a:r>
              <a:rPr lang="en-US" sz="1050" dirty="0">
                <a:solidFill>
                  <a:srgbClr val="E8F4FD"/>
                </a:solidFill>
              </a:rPr>
              <a:t>AudioGen — create sound effects from descriptions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804672"/>
            <a:ext cx="4206240" cy="3931920"/>
          </a:xfrm>
          <a:prstGeom prst="rect">
            <a:avLst/>
          </a:prstGeom>
          <a:solidFill>
            <a:srgbClr val="112244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663440" y="804672"/>
            <a:ext cx="420624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2296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804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Video Generation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0060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▸ Text-to-Video: </a:t>
            </a:r>
            <a:r>
              <a:rPr lang="en-US" sz="1050" dirty="0">
                <a:solidFill>
                  <a:srgbClr val="E8F4FD"/>
                </a:solidFill>
              </a:rPr>
              <a:t>Sora (OpenAI), Runway Gen-3 — cinematic from text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00600" y="1828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▸ Image Animation: </a:t>
            </a:r>
            <a:r>
              <a:rPr lang="en-US" sz="1050" dirty="0">
                <a:solidFill>
                  <a:srgbClr val="E8F4FD"/>
                </a:solidFill>
              </a:rPr>
              <a:t>Animate still photos — lip sync, facial expressions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0060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▸ Video Editing: </a:t>
            </a:r>
            <a:r>
              <a:rPr lang="en-US" sz="1050" dirty="0">
                <a:solidFill>
                  <a:srgbClr val="E8F4FD"/>
                </a:solidFill>
              </a:rPr>
              <a:t>Remove objects, change scenes using prompts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00600" y="2926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▸ Deepfake Detection: </a:t>
            </a:r>
            <a:r>
              <a:rPr lang="en-US" sz="1050" dirty="0">
                <a:solidFill>
                  <a:srgbClr val="E8F4FD"/>
                </a:solidFill>
              </a:rPr>
              <a:t>Models that detect synthetically generated faces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00600" y="3474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▸ Avatar Creation: </a:t>
            </a:r>
            <a:r>
              <a:rPr lang="en-US" sz="1050" dirty="0">
                <a:solidFill>
                  <a:srgbClr val="E8F4FD"/>
                </a:solidFill>
              </a:rPr>
              <a:t>HeyGen — AI video avatars for presentations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166"/>
                </a:solidFill>
              </a:rPr>
              <a:t>⚠️  Ethical Use: Always disclose AI-generated audio/video. Misuse = deepfakes, misinformation.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TOOL /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Real-World Gen AI Tools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2743200" cy="17830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804672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896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ChatGPT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280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OpenAI  ·  Text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Conversational AI. Excels at writing, coding, analysis, Q&amp;A. GPT-4o supports multi-modal.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804672"/>
            <a:ext cx="2743200" cy="17830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154680" y="804672"/>
            <a:ext cx="2743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46120" y="896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DALL·E 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46120" y="1280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OpenAI  ·  Image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4612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Text-to-image model. Integrated in ChatGPT. Photorealistic and artistic styles.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804672"/>
            <a:ext cx="2743200" cy="1783080"/>
          </a:xfrm>
          <a:prstGeom prst="rect">
            <a:avLst/>
          </a:prstGeom>
          <a:solidFill>
            <a:srgbClr val="112244"/>
          </a:solidFill>
          <a:ln w="1905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035040" y="804672"/>
            <a:ext cx="2743200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26480" y="896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</a:rPr>
              <a:t>Midjourney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1280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Midjourney Inc.  ·  Image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Premium image generation via Discord. Known for artistic, painterly aesthetics.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724912"/>
            <a:ext cx="2743200" cy="17830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74320" y="2724912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6576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Stable Diffusion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6576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Stability AI  ·  Image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Open-source image generation. Run locally or via API. Highly customizable with LoRA.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54680" y="2724912"/>
            <a:ext cx="2743200" cy="17830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154680" y="2724912"/>
            <a:ext cx="27432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24612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Claude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24612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Anthropic  ·  Text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4612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Long context, nuanced reasoning. Excels at documents, coding, and safe responses.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0" y="2724912"/>
            <a:ext cx="2743200" cy="1783080"/>
          </a:xfrm>
          <a:prstGeom prst="rect">
            <a:avLst/>
          </a:prstGeom>
          <a:solidFill>
            <a:srgbClr val="11224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035040" y="2724912"/>
            <a:ext cx="2743200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12648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</a:rPr>
              <a:t>Gemini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12648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B4C8"/>
                </a:solidFill>
              </a:rPr>
              <a:t>Google  ·  Multi-modal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12648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Integrated with Google Workspace. Handles text, image, audio, video natively.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C8FF"/>
                </a:solidFill>
              </a:rPr>
              <a:t>Access these tools → Try them in labs → Compare outputs → Discuss limitations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2 · LAB +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 2 &amp; Unit 1 Summary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4160520" cy="23774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804672"/>
            <a:ext cx="416052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0040" y="80467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Lab: Text &amp; Image Generation Hands-on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207008"/>
            <a:ext cx="3886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Generate creative text with ChatGPT (change temperature)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Create 4 images with DALL·E or Stable Diffusion — same prompt, different styles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Use Hugging Face text-gen pipeline in Python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Compare outputs from 2 different models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Document: prompt used, output, quality rating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804672"/>
            <a:ext cx="4206240" cy="2377440"/>
          </a:xfrm>
          <a:prstGeom prst="rect">
            <a:avLst/>
          </a:prstGeom>
          <a:solidFill>
            <a:srgbClr val="1122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63440" y="804672"/>
            <a:ext cx="420624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Unit 1 — Key Takeaways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1207008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Deep learning + Transformers power modern 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Foundation models = train once, use everywhere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GANs, VAEs, Diffusion = 3 generative paradigms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LLMs excel at language; multi-modal models expand to images/audio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Responsible AI is not optional — it's built-in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watsonx.ai + Hugging Face are your practical labs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310128"/>
            <a:ext cx="8595360" cy="1417320"/>
          </a:xfrm>
          <a:prstGeom prst="rect">
            <a:avLst/>
          </a:prstGeom>
          <a:solidFill>
            <a:srgbClr val="0F2041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1148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Coming Up — Unit 2: Prompt Engineering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3767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Zero-shot · Few-shot · Chain-of-Thought · Tree-of-Thought · Persona Prompting · IBM watsonx Prompt Lab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D166"/>
                </a:solidFill>
              </a:rPr>
              <a:t>"The quality of the prompt determines the quality of the output."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2998</Words>
  <Application>Microsoft Office PowerPoint</Application>
  <PresentationFormat>On-screen Show (16:9)</PresentationFormat>
  <Paragraphs>438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Generative AI – Unit 1</dc:title>
  <dc:subject>PptxGenJS Presentation</dc:subject>
  <dc:creator>PptxGenJS</dc:creator>
  <cp:lastModifiedBy>Masil Gokul Selven S</cp:lastModifiedBy>
  <cp:revision>12</cp:revision>
  <dcterms:created xsi:type="dcterms:W3CDTF">2026-05-12T11:46:39Z</dcterms:created>
  <dcterms:modified xsi:type="dcterms:W3CDTF">2026-05-30T11:09:36Z</dcterms:modified>
</cp:coreProperties>
</file>