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556" autoAdjust="0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772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A3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332720" y="4389120"/>
            <a:ext cx="4114800" cy="4114800"/>
          </a:xfrm>
          <a:prstGeom prst="ellipse">
            <a:avLst/>
          </a:prstGeom>
          <a:solidFill>
            <a:srgbClr val="1A3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CAREER EDUCATION  ·  VIT COLLEGE  ·  CORPORATE TRAINING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Elevating Businesses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Generative AI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·  Strategy · RAG · Industry Impact · Careers · Content · IT · Leadership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1280160" cy="54864"/>
          </a:xfrm>
          <a:prstGeom prst="rect">
            <a:avLst/>
          </a:prstGeom>
          <a:solidFill>
            <a:srgbClr val="006D8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13716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Elevating Businesses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417320" y="175564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 to AI adoption — feasibility, prioritisation, ethics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17320" y="246888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Business Functions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417320" y="285292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Gen AI changes departments + feasibility vs impact analysis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49300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5800" y="356616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17320" y="356616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of AI Providers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417320" y="395020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 buy, multinationals, start-ups, and consulting firms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59028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85800" y="466344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17320" y="466344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Industry Impact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417320" y="50474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+ industry-wise transformation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568756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85800" y="576072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417320" y="57607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Your Career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417320" y="614476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professionals across fields leverage Gen AI for growth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82512" y="129844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519672" y="137160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251192" y="13716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Professionals Use Gen AI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251192" y="175564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tools for filmmakers, lawyers, marketers, architects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82512" y="239572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519672" y="246888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251192" y="246888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for Content Creators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251192" y="285292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marketing, L&amp;D, media — applications and key skills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82512" y="349300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519672" y="356616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251192" y="356616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 for Gen AI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251192" y="395020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every content creator and professional needs to develop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82512" y="459028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519672" y="466344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251192" y="466344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for IT Professionals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251192" y="50474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Developers, IT admins, data scientists, DevOps engineers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82512" y="568756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519672" y="576072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7251192" y="57607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for Executives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251192" y="614476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leaders and managers use AI to make smarter decisions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Elevating Businesses through Generative AI  ·  Day 19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Elevating Businesses through Generative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82296" cy="1188720"/>
          </a:xfrm>
          <a:prstGeom prst="rect">
            <a:avLst/>
          </a:prstGeom>
          <a:solidFill>
            <a:srgbClr val="1A6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'Elevating a Business' Mean?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Gen AI strategically — not just for isolated tasks — to transform entire business functions. Requires leaders to think about feasibility, prioritisation, integration, governance, and ROI.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670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STEPS IN THE PROCESS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2148840" cy="3291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2148840" cy="438912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8368" y="3017520"/>
            <a:ext cx="1929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" y="3547872"/>
            <a:ext cx="19293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parts of the business benefit most from Gen AI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07208" y="3017520"/>
            <a:ext cx="2148840" cy="3291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807208" y="3017520"/>
            <a:ext cx="2148840" cy="438912"/>
          </a:xfrm>
          <a:prstGeom prst="rect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916936" y="3017520"/>
            <a:ext cx="1929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916936" y="3547872"/>
            <a:ext cx="19293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which business functions to focus on first based on impact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65776" y="3017520"/>
            <a:ext cx="2148840" cy="3291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065776" y="3017520"/>
            <a:ext cx="2148840" cy="438912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175504" y="3017520"/>
            <a:ext cx="1929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vs Growth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175504" y="3547872"/>
            <a:ext cx="19293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cut costs (automation) or grow revenue (personalisation)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24344" y="3017520"/>
            <a:ext cx="2148840" cy="3291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324344" y="3017520"/>
            <a:ext cx="2148840" cy="438912"/>
          </a:xfrm>
          <a:prstGeom prst="rect">
            <a:avLst/>
          </a:prstGeom>
          <a:solidFill>
            <a:srgbClr val="FFFB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434072" y="3017520"/>
            <a:ext cx="1929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Building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434072" y="3547872"/>
            <a:ext cx="19293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AI specialists, outsource to platforms, or upskill existing staff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582912" y="3017520"/>
            <a:ext cx="2148840" cy="3291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582912" y="3017520"/>
            <a:ext cx="2148840" cy="438912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692640" y="3017520"/>
            <a:ext cx="1929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Trust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692640" y="3547872"/>
            <a:ext cx="19293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bias, track performance, ensure explainability and compliance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4648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to any business — banking, tech, healthcare, education, sports, and more.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Elevating Businesses through Generative AI  ·  Day 19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Generative AI Transforms Business Functions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58191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30552"/>
            <a:ext cx="3200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chatbots adapt tone and responses to each customer — improving satisfaction and reducing wait times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06240" y="1417320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389120" y="158191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Sales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0" y="2130552"/>
            <a:ext cx="3200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generate personalised campaigns, ad copy, and product descriptions at scale for any audience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63840" y="1417320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46720" y="158191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Operations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0" y="2130552"/>
            <a:ext cx="3200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job descriptions, onboarding materials, and routine internal communications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99816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FFFB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1520" y="326440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813048"/>
            <a:ext cx="3200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Assists with risk analysis, automated reporting, and financial document summarisation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06240" y="3099816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389120" y="326440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Development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3813048"/>
            <a:ext cx="3200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ideation, design documentation, and technical writing across the development cycle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63840" y="3099816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046720" y="326440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0" y="3813048"/>
            <a:ext cx="3200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contracts, compares documents against policies, and flags potential compliance issues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31520" y="5047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vs IMPACT ANALYSIS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5394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adopting Gen AI: (1) Define the problem clearly  ·  (2) Understand the cost-benefit trade-off  ·  (3) Choose functions based on highest impact and organisational goals  ·  Note: Gen AI is NOT the best solution for every problem — simpler tasks like text classification may not need it.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Elevating Businesses through Generative AI  ·  Day 19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Ecosystem of Generative AI Providers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is expected to represent 30% of the global AI market ($60B) by 2025, growing to $1.3 trillion by 2032. 60% of organisations are already using or exploring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3657600" cy="3657600"/>
          </a:xfrm>
          <a:prstGeom prst="roundRect">
            <a:avLst>
              <a:gd name="adj" fmla="val 175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2084832"/>
            <a:ext cx="3657600" cy="502920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20848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Multinational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706624"/>
            <a:ext cx="338328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NVIDIA, Google, Microsoft, Meta, IBM, AWS. Set industry standards, provide foundational models and infrastructure that others build on.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GPT, Gemini, Granite, AWS SageMaker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53128" y="2084832"/>
            <a:ext cx="3657600" cy="3657600"/>
          </a:xfrm>
          <a:prstGeom prst="roundRect">
            <a:avLst>
              <a:gd name="adj" fmla="val 175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453128" y="2084832"/>
            <a:ext cx="3657600" cy="502920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90288" y="20848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Generative AI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Start-ups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0288" y="2706624"/>
            <a:ext cx="338328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entrants leveraging open-source AI and cloud access.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Cohere (multilingual LLMs) · Hugging Face (open-source hub) · Tabnine (AI code assistant) · Runway (video generation)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57616" y="2084832"/>
            <a:ext cx="3657600" cy="3657600"/>
          </a:xfrm>
          <a:prstGeom prst="roundRect">
            <a:avLst>
              <a:gd name="adj" fmla="val 175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357616" y="2084832"/>
            <a:ext cx="3657600" cy="502920"/>
          </a:xfrm>
          <a:prstGeom prst="rect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494776" y="20848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Consulting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94776" y="2706624"/>
            <a:ext cx="338328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Consulting, BCG, McKinsey, Accenture help businesses plan and implement AI strategy.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with: use case identification · governance · change management · ROI measurement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961888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B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31520" y="6071616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 Buy?  Most businesses PREFER to buy/subscribe — saves time and cost of building, provides expert tech and ongoing support, and allows safe experimentation without high risk.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Elevating Businesses through Generative AI  ·  Day 19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The Impact of Generative AI Across Industries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1737360"/>
          </a:xfrm>
          <a:prstGeom prst="roundRect">
            <a:avLst>
              <a:gd name="adj" fmla="val 3684"/>
            </a:avLst>
          </a:prstGeom>
          <a:solidFill>
            <a:srgbClr val="1A3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Retrieval-Augmented Generation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10512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LLM accuracy by retrieving the most relevant context from a vector database before generating a response. Reduces hallucinations and grounds answers in real data.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uses: personalised product descriptions · internal knowledge Q&amp;A · customer support · regulatory document search.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21868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McKinsey: Gen AI could contribute $2.6T–$4.4T annually to the global economy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584448"/>
            <a:ext cx="2148840" cy="274320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2148840" cy="411480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" y="3584448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High-Tech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4087368"/>
            <a:ext cx="19293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design, cybersecurity threat detection, AI-assisted software development and robotics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07208" y="3584448"/>
            <a:ext cx="2148840" cy="274320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807208" y="3584448"/>
            <a:ext cx="2148840" cy="411480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916936" y="3584448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916936" y="4087368"/>
            <a:ext cx="19293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product design, automates complex assembly tasks, reduces waste and costs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65776" y="3584448"/>
            <a:ext cx="2148840" cy="274320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065776" y="3584448"/>
            <a:ext cx="2148840" cy="411480"/>
          </a:xfrm>
          <a:prstGeom prst="rect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175504" y="3584448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Banking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75504" y="4087368"/>
            <a:ext cx="19293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routine tasks, assists with risk analysis, fraud detection, and customer service. Goldman Sachs: AI in finance drives significant productivity gains.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24344" y="3584448"/>
            <a:ext cx="2148840" cy="274320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324344" y="3584448"/>
            <a:ext cx="2148840" cy="411480"/>
          </a:xfrm>
          <a:prstGeom prst="rect">
            <a:avLst/>
          </a:prstGeom>
          <a:solidFill>
            <a:srgbClr val="FFFB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434072" y="3584448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CPG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34072" y="4087368"/>
            <a:ext cx="19293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customer experiences, AI-generated marketing content, dynamic pricing strategies. McKinsey estimates significant value unlock.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582912" y="3584448"/>
            <a:ext cx="2148840" cy="274320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9582912" y="3584448"/>
            <a:ext cx="2148840" cy="411480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692640" y="3584448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Pharma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92640" y="4087368"/>
            <a:ext cx="19293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drug discovery, personalises treatment plans, supports medical research and clinical documentation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Elevating Businesses through Generative AI  ·  Day 19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Your Career with Generative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82296" cy="1005840"/>
          </a:xfrm>
          <a:prstGeom prst="rect">
            <a:avLst/>
          </a:prstGeom>
          <a:solidFill>
            <a:srgbClr val="1A6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is a Career Multiplier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professionals in every field — filmmakers, artists, lawyers, marketers, architects, journalists, and financial analysts. Learn general-purpose LLMs (free) or invest in industry-specific tools.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MAJOR CAREER ADVANTAGES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299923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547872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 new ideas, generate creative content (videos, images), develop materials in different languages — all using foundation models trained on multi-domain data.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53128" y="28346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36008" y="299923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&amp;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Professionalism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36008" y="3547872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repetitive tasks, accelerate content production, and deliver higher quality work in less time across any professional domain.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357616" y="28346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540496" y="299923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40496" y="3547872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as a problem-solver or virtual expert to validate ideas, complete complex tasks, and refine work to better align with professional goals.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2303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STEPS TO GET STARTED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57784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Learn AI basics and how generative models work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76072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Get familiar with 1–2 Gen AI tools in your domain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Experiment with prompts and study the outputs critically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12648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Apply Gen AI to a real project — treat output as a first draft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3093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Stay updated as the field evolves rapidly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Elevating Businesses through Generative AI  ·  Day 19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Professionals Use Generative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4290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429000" cy="438912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Filmmakers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1837944"/>
            <a:ext cx="3154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Runway, Synthesia, DeepBrain AI
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Screenwriting, previsualization, editing, localization, adding visual effects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69080" y="1325880"/>
            <a:ext cx="34290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069080" y="1325880"/>
            <a:ext cx="3429000" cy="438912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206240" y="132588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206240" y="1837944"/>
            <a:ext cx="3154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DALL·E 2, Midjourney, Canva.ai
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styles, automate shading and colourizing, create accessible artwork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89520" y="1325880"/>
            <a:ext cx="34290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589520" y="1325880"/>
            <a:ext cx="3429000" cy="438912"/>
          </a:xfrm>
          <a:prstGeom prst="rect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726680" y="132588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26680" y="1837944"/>
            <a:ext cx="3154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ClickUp, Lawgeex, Detangle.ai
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documents, compare contracts against policies, brainstorm legal strategies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109960" y="1325880"/>
            <a:ext cx="34290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1109960" y="1325880"/>
            <a:ext cx="3429000" cy="438912"/>
          </a:xfrm>
          <a:prstGeom prst="rect">
            <a:avLst/>
          </a:prstGeom>
          <a:solidFill>
            <a:srgbClr val="FFFB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1247120" y="132588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Marketers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247120" y="1837944"/>
            <a:ext cx="3154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Jasper, Einstein GPT, Flick
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content, analyse customer behaviour, design personalised campaigns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417320" y="3063240"/>
            <a:ext cx="34290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417320" y="3063240"/>
            <a:ext cx="3429000" cy="438912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554480" y="306324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 &amp; Engineers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554480" y="3575304"/>
            <a:ext cx="3154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Market.ai, Finch, Tessa Modulous
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thousands of building designs based on specific requirements quickly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3063240"/>
            <a:ext cx="34290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937760" y="3063240"/>
            <a:ext cx="3429000" cy="438912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74920" y="306324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Journalists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74920" y="3575304"/>
            <a:ext cx="3154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LongShot AI, Google Pinpoint, Descript
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fake news, summarise reports, write articles, generate personalised updates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58200" y="3063240"/>
            <a:ext cx="34290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458200" y="3063240"/>
            <a:ext cx="3429000" cy="438912"/>
          </a:xfrm>
          <a:prstGeom prst="rect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595360" y="306324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Analysts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595360" y="3575304"/>
            <a:ext cx="3154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Planful Predict AI, Datarails, Anaplan
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analysis, news classification, financial forecasting, FP&amp;A automation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846320"/>
            <a:ext cx="11064240" cy="1444752"/>
          </a:xfrm>
          <a:prstGeom prst="roundRect">
            <a:avLst>
              <a:gd name="adj" fmla="val 3797"/>
            </a:avLst>
          </a:prstGeom>
          <a:solidFill>
            <a:srgbClr val="FFFB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31520" y="49834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 Reminder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31520" y="533095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all Gen AI outputs as FIRST DRAFTS only. Revise, rewrite, and keep only what makes sense in your professional context. Copyright and accuracy issues remain the professional's responsibility.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Elevating Businesses through Generative AI  ·  Day 19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 &amp;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Content Creators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697480" cy="2423160"/>
          </a:xfrm>
          <a:prstGeom prst="roundRect">
            <a:avLst>
              <a:gd name="adj" fmla="val 3019"/>
            </a:avLst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49047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39112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 job descriptions · Personalise candidate communication · Tailor onboarding content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325880"/>
            <a:ext cx="2697480" cy="2423160"/>
          </a:xfrm>
          <a:prstGeom prst="roundRect">
            <a:avLst>
              <a:gd name="adj" fmla="val 3019"/>
            </a:avLst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520440" y="149047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2039112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personalised campaigns · Produce product content at scale · A/B test messaging variations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1325880"/>
            <a:ext cx="2697480" cy="2423160"/>
          </a:xfrm>
          <a:prstGeom prst="roundRect">
            <a:avLst>
              <a:gd name="adj" fmla="val 3019"/>
            </a:avLst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9360" y="149047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&amp;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2039112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adaptive learning paths · Auto-generate training materials · Personalise course content for learners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15400" y="1325880"/>
            <a:ext cx="2697480" cy="2423160"/>
          </a:xfrm>
          <a:prstGeom prst="roundRect">
            <a:avLst>
              <a:gd name="adj" fmla="val 3019"/>
            </a:avLst>
          </a:prstGeom>
          <a:solidFill>
            <a:srgbClr val="FFFB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098280" y="149047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Media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98280" y="2039112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game characters and worlds · Analyse audience preferences · Auto-generate scripts and storyboards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9502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 EVERY CONTENT CREATOR NEEDS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315968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48640" y="4315968"/>
            <a:ext cx="2697480" cy="411480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8368" y="4315968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AI Models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" y="4818888"/>
            <a:ext cx="247802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how different models work, their strengths, and their limitations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37560" y="4315968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337560" y="4315968"/>
            <a:ext cx="2697480" cy="411480"/>
          </a:xfrm>
          <a:prstGeom prst="rect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47288" y="4315968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447288" y="4818888"/>
            <a:ext cx="247802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clear, specific prompts to get more relevant and useful AI outputs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26480" y="4315968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126480" y="4315968"/>
            <a:ext cx="2697480" cy="411480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236208" y="4315968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AI Output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36208" y="4818888"/>
            <a:ext cx="247802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refine, and rewrite AI content to match your voice and professional standards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915400" y="4315968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915400" y="4315968"/>
            <a:ext cx="2697480" cy="411480"/>
          </a:xfrm>
          <a:prstGeom prst="rect">
            <a:avLst/>
          </a:prstGeom>
          <a:solidFill>
            <a:srgbClr val="FFFB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9025128" y="4315968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Awareness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025128" y="4818888"/>
            <a:ext cx="247802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copyright, bias, accuracy risks, and responsible use guidelines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Elevating Businesses through Generative AI  ·  Day 19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IT Professionals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697480" cy="347472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2697480" cy="475488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58368" y="1325880"/>
            <a:ext cx="2478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1892808"/>
            <a:ext cx="247802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complete, and review code. Debug faster. Auto-generate unit tests and documentation.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GitHub Copilot, OpenAI Codex, Kite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325880"/>
            <a:ext cx="2697480" cy="347472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37560" y="1325880"/>
            <a:ext cx="2697480" cy="475488"/>
          </a:xfrm>
          <a:prstGeom prst="rect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47288" y="1325880"/>
            <a:ext cx="2478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Administrators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47288" y="1892808"/>
            <a:ext cx="247802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server updates, user management, and configurations. Run infrastructure tasks at scale.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Ansible, Rundeck, Terraform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2697480" cy="347472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697480" cy="475488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36208" y="1325880"/>
            <a:ext cx="2478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36208" y="1892808"/>
            <a:ext cx="247802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synthetic training data when real data is scarce. Automate feature engineering and code.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Vertex AI, SageMaker, Azure ML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15400" y="1325880"/>
            <a:ext cx="2697480" cy="347472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915400" y="1325880"/>
            <a:ext cx="2697480" cy="475488"/>
          </a:xfrm>
          <a:prstGeom prst="rect">
            <a:avLst/>
          </a:prstGeom>
          <a:solidFill>
            <a:srgbClr val="FFFB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025128" y="1325880"/>
            <a:ext cx="2478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25128" y="1892808"/>
            <a:ext cx="247802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CI/CD pipelines, testing, and deployment. Monitor systems and get intelligent alerts.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GitLab, Jenkins, CircleCI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010912"/>
            <a:ext cx="5394960" cy="1325880"/>
          </a:xfrm>
          <a:prstGeom prst="roundRect">
            <a:avLst>
              <a:gd name="adj" fmla="val 4138"/>
            </a:avLst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31520" y="51389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5504688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routine tasks · Save time and reduce errors · Focus on creative and strategic problem-solving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5010912"/>
            <a:ext cx="5440680" cy="1325880"/>
          </a:xfrm>
          <a:prstGeom prst="roundRect">
            <a:avLst>
              <a:gd name="adj" fmla="val 4138"/>
            </a:avLst>
          </a:prstGeom>
          <a:solidFill>
            <a:srgbClr val="FFFB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355080" y="5138928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5504688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infrastructure costs · Risk of AI bias in automated decisions · Skill gaps in prompt design and AI governance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Elevating Businesses through Generative AI  ·  Day 19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Executives and Managers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82296" cy="960120"/>
          </a:xfrm>
          <a:prstGeom prst="rect">
            <a:avLst/>
          </a:prstGeom>
          <a:solidFill>
            <a:srgbClr val="006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Key Roles, One Powerful Tool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10652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(CEOs) define vision and strategy. Managers deliver results through teams and operations. Both benefit from Gen AI — but in different ways.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4414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GEN AI HELPS LEADERS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98064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5800" y="2798064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large volumes of market data and competitor intelligence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64992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85800" y="336499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strategic scenario plans and risk assessments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5800" y="39319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executive communications, presentations, and board reports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498848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5800" y="4498848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high-level decision-making with AI-powered forecasting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24414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GEN AI HELPS MANAGERS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2798064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00800" y="2798064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routine reporting, status updates, and meeting summaries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3364992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FFFB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0" y="336499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project plans, timelines, and resource allocation documents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3931920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00800" y="39319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team performance data and surface actionable insights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4498848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FFFB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0" y="4498848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employee feedback, performance reviews, and team communications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102352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1A3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31520" y="523036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Shift for Both Roles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55778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does not replace leadership judgment — it removes time spent on information gathering and document drafting, freeing leaders and managers to focus on strategy, people, and innovation.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Elevating Businesses through Generative AI  ·  Day 19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A3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1A3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 TODAY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Elevating a business with Gen AI requires a strategic approach: feasibility, prioritisation, team building, ethics, and governance</a:t>
            </a:r>
            <a:endParaRPr lang="en-US" sz="1350" dirty="0"/>
          </a:p>
          <a:p>
            <a:pPr marL="0" indent="0">
              <a:lnSpc>
                <a:spcPct val="15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Gen AI transforms every business function — customer service, marketing, HR, finance, product development, and legal</a:t>
            </a:r>
            <a:endParaRPr lang="en-US" sz="1350" dirty="0"/>
          </a:p>
          <a:p>
            <a:pPr marL="0" indent="0">
              <a:lnSpc>
                <a:spcPct val="15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AI provider ecosystem includes multinationals (OpenAI, IBM, Google), start-ups (Hugging Face, Cohere), and consulting firms</a:t>
            </a:r>
            <a:endParaRPr lang="en-US" sz="1350" dirty="0"/>
          </a:p>
          <a:p>
            <a:pPr marL="0" indent="0">
              <a:lnSpc>
                <a:spcPct val="15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RAG grounds LLM responses in real retrieved data — reducing hallucinations and improving accuracy for business use cases</a:t>
            </a:r>
            <a:endParaRPr lang="en-US" sz="1350" dirty="0"/>
          </a:p>
          <a:p>
            <a:pPr marL="0" indent="0">
              <a:lnSpc>
                <a:spcPct val="15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Gen AI contributes $2.6T–$4.4T annually to the global economy across high-tech, manufacturing, finance, retail, and healthcare</a:t>
            </a:r>
            <a:endParaRPr lang="en-US" sz="1350" dirty="0"/>
          </a:p>
          <a:p>
            <a:pPr marL="0" indent="0">
              <a:lnSpc>
                <a:spcPct val="15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Every professional — filmmakers, lawyers, marketers, architects, journalists — has domain-specific Gen AI tools available now</a:t>
            </a:r>
            <a:endParaRPr lang="en-US" sz="1350" dirty="0"/>
          </a:p>
          <a:p>
            <a:pPr marL="0" indent="0">
              <a:lnSpc>
                <a:spcPct val="15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Content creators need prompt engineering, editing skills, AI literacy, and ethical awareness to use Gen AI responsibly</a:t>
            </a:r>
            <a:endParaRPr lang="en-US" sz="1350" dirty="0"/>
          </a:p>
          <a:p>
            <a:pPr marL="0" indent="0">
              <a:lnSpc>
                <a:spcPct val="15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IT professionals (developers, admins, data scientists, DevOps) use Gen AI to automate, accelerate, and innovate</a:t>
            </a:r>
            <a:endParaRPr lang="en-US" sz="1350" dirty="0"/>
          </a:p>
          <a:p>
            <a:pPr marL="0" indent="0">
              <a:lnSpc>
                <a:spcPct val="15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Leaders use Gen AI for strategic analysis and communications; managers use it for operational reporting and team insights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5376672"/>
            <a:ext cx="1280160" cy="54864"/>
          </a:xfrm>
          <a:prstGeom prst="rect">
            <a:avLst/>
          </a:prstGeom>
          <a:solidFill>
            <a:srgbClr val="006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55321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614476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·  Elevating Businesses through Generative AI  ·  IBM Career Education  ·  VIT College  ·  Adroit ACE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069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A356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332720" y="4389120"/>
            <a:ext cx="4114800" cy="4114800"/>
          </a:xfrm>
          <a:prstGeom prst="ellipse">
            <a:avLst/>
          </a:prstGeom>
          <a:solidFill>
            <a:srgbClr val="1A356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DDEE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IBM CAREER EDUCATION  ·  VIT COLLEGE  ·  CORPORATE TRAINING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058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AI: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Issues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&amp; Responsible Use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7D6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Day 20  ·  Hallucinations · RAG · Legal Issues · Ethics · Economic &amp; Social Impact · Workforce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4800600"/>
            <a:ext cx="1280160" cy="54864"/>
          </a:xfrm>
          <a:prstGeom prst="rect">
            <a:avLst/>
          </a:prstGeom>
          <a:solidFill>
            <a:srgbClr val="006D8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DDEE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Session Agenda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3474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1316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FE3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70432" y="131673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Generative AI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70432" y="164592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 key constraints every AI practitioner must understand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3474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928" y="21396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FE3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70432" y="213969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Issues and Concerns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70432" y="246888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Inaccuracies, bias, privacy, copyright, and ethical use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907792"/>
            <a:ext cx="3474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66928" y="29626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FE3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70432" y="296265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of Text &amp; Image LLMs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70432" y="329184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Causes, effects, and mitigation techniques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730752"/>
            <a:ext cx="3474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66928" y="37856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FE3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70432" y="378561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of Code-Generating LLMs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70432" y="411480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 types of code hallucinations with examples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4553712"/>
            <a:ext cx="3474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6928" y="46085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FE3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70432" y="460857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Portraits and Deepfakes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70432" y="493776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GANs, style transfer, challenges, and concerns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5376672"/>
            <a:ext cx="3474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66928" y="54315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FE3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70432" y="543153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Enhancing LLM Accuracy with RAG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70432" y="576072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retrieval-augmented generation reduces hallucination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6199632"/>
            <a:ext cx="3474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66928" y="62544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FE3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70432" y="625449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Legal Issues and Implications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70432" y="658368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privacy, copyright law, regulations across regions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105656" y="1261872"/>
            <a:ext cx="3474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215384" y="1316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FE3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818888" y="131673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Generative AI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818888" y="164592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 pillars: Transparency, Accountability, Privacy, Safety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105656" y="2084832"/>
            <a:ext cx="3474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215384" y="21396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FE3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818888" y="213969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Responsible AI Across Domains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818888" y="246888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creation, customer service, developers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105656" y="2907792"/>
            <a:ext cx="3474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215384" y="29626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FE3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818888" y="296265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Ethics — Key Players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818888" y="329184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IBM, Google, OpenAI, Microsoft ethical frameworks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105656" y="3730752"/>
            <a:ext cx="3474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215384" y="37856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FE3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818888" y="378561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Implications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4818888" y="411480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GDP impact, job market changes, reskilling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105656" y="4553712"/>
            <a:ext cx="3474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215384" y="46085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FE3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818888" y="460857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Social Implications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4818888" y="493776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Advocacy, digital exclusion, healthcare, environment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105656" y="5376672"/>
            <a:ext cx="3474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4215384" y="54315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FE3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4818888" y="543153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Reimagined Workforce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4818888" y="576072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workers, upskilling, 4 transformation steps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AI: Limitations, Issues &amp; Responsible Use  ·  Day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DDEE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Generative AI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984248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Does not store facts — generates content based on patterns learned from training data only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78808" y="1298448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DDEE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61688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Outdated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61688" y="1984248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Training has a cutoff date (e.g., GPT-3.5 cut off Jan 2022) — cannot answer questions about recent events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854696" y="1298448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0E8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037576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2D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2D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Internet Access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37576" y="1984248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Most models are not connected to the internet — cannot verify or update knowledge after training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2920" y="3803904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B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" y="39684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Needs High-Quality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Diverse Data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5800" y="4489704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Poor, biased, or incomplete training data leads to biased, incorrect, or low-quality outputs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178808" y="3803904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361688" y="39684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 Computational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61688" y="4489704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requires substantial computing power, memory, and time — expensive for most organisations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854696" y="3803904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DDEE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037576" y="39684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Cannot Grasp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Abstract Concepts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037576" y="4489704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Cannot truly understand humour, sarcasm, emotions, or cultural context the way humans do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AI: Limitations, Issues &amp; Responsible Use  ·  Day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DDEE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Issues and Concerns About Generative AI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55680" cy="658368"/>
          </a:xfrm>
          <a:prstGeom prst="roundRect">
            <a:avLst>
              <a:gd name="adj" fmla="val 8333"/>
            </a:avLst>
          </a:prstGeom>
          <a:solidFill>
            <a:srgbClr val="1A356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By 2025, Gartner estimates generative AI will produce about 10% of all data worldwide — making responsible use critical.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2084832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224942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1. Inaccuracies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277063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can produce factually incorrect or misleading content — models do not always stay updated and may generate plausible-sounding but wrong information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78808" y="2084832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DDEE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61688" y="224942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2. Bias in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61688" y="277063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Bias enters when training data over-represents certain groups — outputs reinforce stereotypes and unfair portrayals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854696" y="2084832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0E8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037576" y="224942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2D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3. Data Privacy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2D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&amp; Security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037576" y="277063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Inputs to online AI tools can be stored and used to train future models — sensitive information shared with AI may be retained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2920" y="4178808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B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85800" y="4343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4. Copyright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Infringement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800" y="4864608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can reuse or replicate copyrighted logos, images, or written content from training data without attribution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78808" y="4178808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361688" y="4343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5. Ownership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Ambiguity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361688" y="4864608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Unclear who legally owns AI-generated content — the trainer, the user, or nobody? Legal frameworks are still catching up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854696" y="4178808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DDEE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037576" y="4343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6. Ethical Use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&amp; Development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037576" y="4864608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must follow ethical guidelines: representative data, bias reduction, privacy-preserving techniques, transparency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2920" y="608076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 Steps to Reduce Bias: (1) Use diverse, representative training data  ·  (2) Apply bias detection testing  ·  (3) Continuous monitoring and correction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AI: Limitations, Issues &amp; Responsible Use  ·  Day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DDEE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of Text and Image Generating LLMs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556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82296" cy="1005840"/>
          </a:xfrm>
          <a:prstGeom prst="rect">
            <a:avLst/>
          </a:prstGeom>
          <a:solidFill>
            <a:srgbClr val="1A6B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10744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Are Hallucinations?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When generative AI produces content that lacks factual basis — text that is inaccurate or incoherent, or images containing objects and scenes that do not exist. Occurs because LLMs maximise likelihood of the next token rather than truth.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10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CAUSES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3566160" cy="566928"/>
          </a:xfrm>
          <a:prstGeom prst="roundRect">
            <a:avLst>
              <a:gd name="adj" fmla="val 8065"/>
            </a:avLst>
          </a:prstGeom>
          <a:solidFill>
            <a:srgbClr val="F0E8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5B2D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Errors &amp; Inconsistencies in Training Data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LLMs learn from massive datasets containing mistakes — these errors become part of the model's learned patterns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" y="3474720"/>
            <a:ext cx="3566160" cy="566928"/>
          </a:xfrm>
          <a:prstGeom prst="roundRect">
            <a:avLst>
              <a:gd name="adj" fmla="val 8065"/>
            </a:avLst>
          </a:prstGeom>
          <a:solidFill>
            <a:srgbClr val="F0E8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5B2D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 becomes too proficient at training data and struggles with genuinely new inputs — generates novel but wrong content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251960" y="24871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10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EFFECTS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251960" y="2834640"/>
            <a:ext cx="3566160" cy="566928"/>
          </a:xfrm>
          <a:prstGeom prst="roundRect">
            <a:avLst>
              <a:gd name="adj" fmla="val 8065"/>
            </a:avLst>
          </a:prstGeom>
          <a:solidFill>
            <a:srgbClr val="FFFB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38912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Spread of Misinformation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89120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facts, fake news articles, and fabricated images make it hard to trust AI outputs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251960" y="3474720"/>
            <a:ext cx="3566160" cy="566928"/>
          </a:xfrm>
          <a:prstGeom prst="roundRect">
            <a:avLst>
              <a:gd name="adj" fmla="val 8065"/>
            </a:avLst>
          </a:prstGeom>
          <a:solidFill>
            <a:srgbClr val="FFFB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389120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Harm to Individuals &amp; Society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38912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Fake content can be used to bully, harass, spread propaganda, or damage reputations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001000" y="24871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10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TECHNIQUES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001000" y="2834640"/>
            <a:ext cx="3749040" cy="566928"/>
          </a:xfrm>
          <a:prstGeom prst="roundRect">
            <a:avLst>
              <a:gd name="adj" fmla="val 8065"/>
            </a:avLst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138160" y="283464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COPA Dataset (Allen Institute) — curated commonsense QA dataset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001000" y="3474720"/>
            <a:ext cx="3749040" cy="566928"/>
          </a:xfrm>
          <a:prstGeom prst="roundRect">
            <a:avLst>
              <a:gd name="adj" fmla="val 8065"/>
            </a:avLst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138160" y="34747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Factcheck.net (FAIR/Facebook) — post-processing to detect inaccuracies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001000" y="4114800"/>
            <a:ext cx="3749040" cy="566928"/>
          </a:xfrm>
          <a:prstGeom prst="roundRect">
            <a:avLst>
              <a:gd name="adj" fmla="val 8065"/>
            </a:avLst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138160" y="41148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Control — lower temperature reduces hallucination likelihood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001000" y="4754880"/>
            <a:ext cx="3749040" cy="566928"/>
          </a:xfrm>
          <a:prstGeom prst="roundRect">
            <a:avLst>
              <a:gd name="adj" fmla="val 8065"/>
            </a:avLst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138160" y="47548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Ensemble Generation — combine outputs from multiple models to cross-validate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AI: Limitations, Issues &amp; Responsible Use  ·  Day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DDEE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TOPIC 4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of Code-Generating LLMs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1. Incomplete Logic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&amp; Edge Cases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984248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code that works for obvious inputs but fails on edge cases — e.g., a function checking if a number is even fails for decimal inputs like 12.2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310128" y="1298448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DDEE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493008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2. Loss of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Context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93008" y="1984248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LLMs have a limited context window — in large programs they lose track of earlier variables or functions, causing errors in longer code generation sessions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117336" y="1298448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F0E8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00216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2D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3. Misinterpretation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2D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Logic/Syntax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300216" y="1984248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has strict rules — LLMs may misunderstand subtle nuances, generating broken, inefficient, or logically incomplete code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924544" y="1298448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FFFB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07424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4. Unsafe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Code Practices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107424" y="1984248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code may look correct but introduce security risks, data loss, or missing error handling — dangerous in production environments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920" y="4407408"/>
            <a:ext cx="11155680" cy="566928"/>
          </a:xfrm>
          <a:prstGeom prst="roundRect">
            <a:avLst>
              <a:gd name="adj" fmla="val 9677"/>
            </a:avLst>
          </a:prstGeom>
          <a:solidFill>
            <a:srgbClr val="1A356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800" y="451713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Ethical &amp; Legal Implications: Medical device code, autonomous vehicle code, or financial systems code with hallucinations can cause real-world harm and legal liability.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2920" y="51206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10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TO REDUCE CODE HALLUCINATIONS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2920" y="5458968"/>
            <a:ext cx="2633472" cy="1188720"/>
          </a:xfrm>
          <a:prstGeom prst="roundRect">
            <a:avLst>
              <a:gd name="adj" fmla="val 4615"/>
            </a:avLst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545896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 clear, detailed prompts specifying language, constraints, and expected behaviour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310128" y="5458968"/>
            <a:ext cx="2633472" cy="1188720"/>
          </a:xfrm>
          <a:prstGeom prst="roundRect">
            <a:avLst>
              <a:gd name="adj" fmla="val 4615"/>
            </a:avLst>
          </a:prstGeom>
          <a:solidFill>
            <a:srgbClr val="DDEE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447288" y="545896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Apply prompt engineering — experiment with prompt structure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17336" y="5458968"/>
            <a:ext cx="2633472" cy="1188720"/>
          </a:xfrm>
          <a:prstGeom prst="roundRect">
            <a:avLst>
              <a:gd name="adj" fmla="val 4615"/>
            </a:avLst>
          </a:prstGeom>
          <a:solidFill>
            <a:srgbClr val="F0E8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54496" y="545896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B2D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Include human review of all AI-generated code before deployment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924544" y="5458968"/>
            <a:ext cx="2633472" cy="1188720"/>
          </a:xfrm>
          <a:prstGeom prst="roundRect">
            <a:avLst>
              <a:gd name="adj" fmla="val 4615"/>
            </a:avLst>
          </a:prstGeom>
          <a:solidFill>
            <a:srgbClr val="FFFB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061704" y="545896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Run comprehensive automated tests including edge cases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AI: Limitations, Issues &amp; Responsible Use  ·  Day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DDEE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TOPIC 5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Portraits and Deepfakes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556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82296" cy="841248"/>
          </a:xfrm>
          <a:prstGeom prst="rect">
            <a:avLst/>
          </a:prstGeom>
          <a:solidFill>
            <a:srgbClr val="1A6B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10744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Are AI Portraits?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10744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algorithms trained on large sets of artistically curated images that learn to replicate human artistic techniques — identifying facial features, colours, textures, and brushstrokes to generate new portraits.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10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TWO KEY TECHNIQUES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26517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28163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GANs (Generative Adversarial Networks)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33375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generator creates fake images while a discriminator tries to detect them — both improve continuously until fakes become indistinguishable from real images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72200" y="26517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DDEE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55080" y="28163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Style Transfer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55080" y="33375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Transfers the artistic style of one image to another — allows artists to experiment with impressionist, cubist, or other styles applied to any subject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920" y="43708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10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&amp; CHALLENGES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920" y="4736592"/>
            <a:ext cx="2633472" cy="1874520"/>
          </a:xfrm>
          <a:prstGeom prst="roundRect">
            <a:avLst>
              <a:gd name="adj" fmla="val 3902"/>
            </a:avLst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800" y="4901184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5800" y="5422392"/>
            <a:ext cx="2267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Cultural heritage preservation · Commemorating individuals · Reconnecting with history · Artistic experimentation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310128" y="4736592"/>
            <a:ext cx="2633472" cy="1874520"/>
          </a:xfrm>
          <a:prstGeom prst="roundRect">
            <a:avLst>
              <a:gd name="adj" fmla="val 3902"/>
            </a:avLst>
          </a:prstGeom>
          <a:solidFill>
            <a:srgbClr val="FFFB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493008" y="4901184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Lack of Creative Control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493008" y="5422392"/>
            <a:ext cx="2267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Results depend on training data — difficult to create something that significantly deviates from learned patterns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17336" y="4736592"/>
            <a:ext cx="2633472" cy="1874520"/>
          </a:xfrm>
          <a:prstGeom prst="roundRect">
            <a:avLst>
              <a:gd name="adj" fmla="val 3902"/>
            </a:avLst>
          </a:prstGeom>
          <a:solidFill>
            <a:srgbClr val="F0E8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00216" y="4901184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2D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Deepfake Risk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00216" y="5422392"/>
            <a:ext cx="2267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Deepfakes can be used for identity fraud, reputation damage, and spreading disinformation — detection is increasingly difficult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924544" y="4736592"/>
            <a:ext cx="2633472" cy="1874520"/>
          </a:xfrm>
          <a:prstGeom prst="roundRect">
            <a:avLst>
              <a:gd name="adj" fmla="val 3902"/>
            </a:avLst>
          </a:prstGeom>
          <a:solidFill>
            <a:srgbClr val="DDEE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107424" y="4901184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Essence Gap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07424" y="5422392"/>
            <a:ext cx="2267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portraits represent data-driven approximations — capturing the true essence of a subject remains an ongoing challenge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AI: Limitations, Issues &amp; Responsible Use  ·  Day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DDEE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TOPIC 6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Enhancing LLM Accuracy with RAG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55680" cy="1024128"/>
          </a:xfrm>
          <a:prstGeom prst="roundRect">
            <a:avLst>
              <a:gd name="adj" fmla="val 6250"/>
            </a:avLst>
          </a:prstGeom>
          <a:solidFill>
            <a:srgbClr val="1A356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DEE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Is RAG?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71907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 combines the text-generation capabilities of LLMs with real-time retrieval from trusted external data sources — grounding responses in actual evidence rather than training memory alone.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248716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10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RAG WORKS — THE PIPELINE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2834640"/>
            <a:ext cx="2084832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52728" y="2880360"/>
            <a:ext cx="585216" cy="585216"/>
          </a:xfrm>
          <a:prstGeom prst="ellipse">
            <a:avLst/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52728" y="28803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94360" y="349300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query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87752" y="324612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61488" y="2834640"/>
            <a:ext cx="2084832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511296" y="2880360"/>
            <a:ext cx="585216" cy="585216"/>
          </a:xfrm>
          <a:prstGeom prst="ellipse">
            <a:avLst/>
          </a:prstGeom>
          <a:solidFill>
            <a:srgbClr val="DDEE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11296" y="28803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852928" y="349300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Retriever searches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relevant content store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46320" y="324612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020056" y="2834640"/>
            <a:ext cx="2084832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769864" y="2880360"/>
            <a:ext cx="585216" cy="585216"/>
          </a:xfrm>
          <a:prstGeom prst="ellipse">
            <a:avLst/>
          </a:prstGeom>
          <a:solidFill>
            <a:srgbClr val="F0E8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769864" y="28803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B2D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111496" y="349300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Most relevant documents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are extracted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104888" y="324612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278624" y="2834640"/>
            <a:ext cx="2084832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028432" y="2880360"/>
            <a:ext cx="585216" cy="585216"/>
          </a:xfrm>
          <a:prstGeom prst="ellipse">
            <a:avLst/>
          </a:prstGeom>
          <a:solidFill>
            <a:srgbClr val="FFFB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028432" y="28803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70064" y="349300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Documents injected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into LLM prompt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363456" y="324612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537192" y="2834640"/>
            <a:ext cx="2084832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0287000" y="2880360"/>
            <a:ext cx="585216" cy="585216"/>
          </a:xfrm>
          <a:prstGeom prst="ellipse">
            <a:avLst/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287000" y="28803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628632" y="349300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response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02920" y="43251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10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LIMITATIONS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02920" y="4681728"/>
            <a:ext cx="2633472" cy="1965960"/>
          </a:xfrm>
          <a:prstGeom prst="roundRect">
            <a:avLst>
              <a:gd name="adj" fmla="val 3721"/>
            </a:avLst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85800" y="48463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Solves Outdated Info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85800" y="5367528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real-time or updated documents — no need to retrain the entire model for new knowledge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310128" y="4681728"/>
            <a:ext cx="2633472" cy="1965960"/>
          </a:xfrm>
          <a:prstGeom prst="roundRect">
            <a:avLst>
              <a:gd name="adj" fmla="val 3721"/>
            </a:avLst>
          </a:prstGeom>
          <a:solidFill>
            <a:srgbClr val="DDEE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493008" y="48463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Reduces Hallucination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493008" y="5367528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Responses are grounded in retrieved evidence rather than the model's uncertain memory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117336" y="4681728"/>
            <a:ext cx="2633472" cy="1965960"/>
          </a:xfrm>
          <a:prstGeom prst="roundRect">
            <a:avLst>
              <a:gd name="adj" fmla="val 3721"/>
            </a:avLst>
          </a:prstGeom>
          <a:solidFill>
            <a:srgbClr val="F0E8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300216" y="48463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2D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Adds Citations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300216" y="5367528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RAG can include source references — making answers verifiable and trustworthy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924544" y="4681728"/>
            <a:ext cx="2633472" cy="1965960"/>
          </a:xfrm>
          <a:prstGeom prst="roundRect">
            <a:avLst>
              <a:gd name="adj" fmla="val 3721"/>
            </a:avLst>
          </a:prstGeom>
          <a:solidFill>
            <a:srgbClr val="FFFB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107424" y="48463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Retriever Quality Risk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107424" y="5367528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If retriever fails to find relevant documents, even a capable LLM cannot produce a useful response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AI: Limitations, Issues &amp; Responsible Use  ·  Day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DDEE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TOPIC 7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Legal Issues and Implications of Generative AI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3584448" cy="1874520"/>
          </a:xfrm>
          <a:prstGeom prst="roundRect">
            <a:avLst>
              <a:gd name="adj" fmla="val 3902"/>
            </a:avLst>
          </a:prstGeom>
          <a:solidFill>
            <a:srgbClr val="F0E8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2D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2D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Copyright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984248"/>
            <a:ext cx="3218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trained on vast internet datasets may include copyrighted text and private data — raising infringement and consent concerns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70248" y="1298448"/>
            <a:ext cx="3584448" cy="1874520"/>
          </a:xfrm>
          <a:prstGeom prst="roundRect">
            <a:avLst>
              <a:gd name="adj" fmla="val 3902"/>
            </a:avLst>
          </a:prstGeom>
          <a:solidFill>
            <a:srgbClr val="FFFB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53128" y="146304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Deepfake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Legislation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453128" y="1984248"/>
            <a:ext cx="3218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deepfakes create legal challenges around identity, fraud, defamation, and the right to one's own likeness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37576" y="1298448"/>
            <a:ext cx="3584448" cy="1874520"/>
          </a:xfrm>
          <a:prstGeom prst="roundRect">
            <a:avLst>
              <a:gd name="adj" fmla="val 3902"/>
            </a:avLst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0456" y="146304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&amp; Defamation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0456" y="1984248"/>
            <a:ext cx="3218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false content about individuals or organisations can constitute defamation — existing laws apply but enforcement is difficult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" y="333756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10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LANDSCAPE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2920" y="3703320"/>
            <a:ext cx="5394960" cy="1664208"/>
          </a:xfrm>
          <a:prstGeom prst="roundRect">
            <a:avLst>
              <a:gd name="adj" fmla="val 4396"/>
            </a:avLst>
          </a:prstGeom>
          <a:solidFill>
            <a:srgbClr val="DDEE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5800" y="38679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85800" y="4389120"/>
            <a:ext cx="5029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direct AI law yet. Online Harms Bill includes deepfake provisions. Existing defamation, privacy, and harassment laws apply to AI misuse.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72200" y="3703320"/>
            <a:ext cx="5394960" cy="1664208"/>
          </a:xfrm>
          <a:prstGeom prst="roundRect">
            <a:avLst>
              <a:gd name="adj" fmla="val 4396"/>
            </a:avLst>
          </a:prstGeom>
          <a:solidFill>
            <a:srgbClr val="F0E8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55080" y="38679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2D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55080" y="4389120"/>
            <a:ext cx="5029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IT Act Section 66 — complaints about digital image misuse. Digital Personal Data Protection Act — protects against unauthorised distribution of sensitive personal information.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2920" y="5486400"/>
            <a:ext cx="11155680" cy="1170432"/>
          </a:xfrm>
          <a:prstGeom prst="roundRect">
            <a:avLst>
              <a:gd name="adj" fmla="val 4688"/>
            </a:avLst>
          </a:prstGeom>
          <a:solidFill>
            <a:srgbClr val="FFFB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85800" y="55778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&amp; Solutions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5800" y="589788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Rapid AI advancement outpaces legislation.  Solution: AI-powered deepfake detection tools · International regulation frameworks · Platform accountability requirements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AI: Limitations, Issues &amp; Responsible Use  ·  Day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DDEE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TOPIC 8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Considerations for Responsible Generative AI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556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82296" cy="841248"/>
          </a:xfrm>
          <a:prstGeom prst="rect">
            <a:avLst/>
          </a:prstGeom>
          <a:solidFill>
            <a:srgbClr val="1A6B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10744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 Vital Considerations That Promote Responsible AI Use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10744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 AI systems become increasingly advanced, adopting responsible practices is essential to protect users, build trust, and ensure AI benefits rather than harms society.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2697480" cy="4407408"/>
          </a:xfrm>
          <a:prstGeom prst="roundRect">
            <a:avLst>
              <a:gd name="adj" fmla="val 2712"/>
            </a:avLst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67512" y="2450592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67512" y="2999232"/>
            <a:ext cx="2368296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Being open and clear about how Gen AI systems function, make decisions, and produce content — including capabilities, limitations, and risks.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streaming platform shows users how its AI recommendation engine works based on their history and viewing diversity.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310128" y="2286000"/>
            <a:ext cx="2697480" cy="4407408"/>
          </a:xfrm>
          <a:prstGeom prst="roundRect">
            <a:avLst>
              <a:gd name="adj" fmla="val 2712"/>
            </a:avLst>
          </a:prstGeom>
          <a:solidFill>
            <a:srgbClr val="DDEE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74720" y="2450592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74720" y="2999232"/>
            <a:ext cx="2368296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who is responsible for AI actions and outcomes. Since AI lacks intent, the organisation that deploys it bears responsibility — not the model itself.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news agency using Gen AI to write articles is accountable for factual errors — the AI model is not.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17336" y="2286000"/>
            <a:ext cx="2697480" cy="4407408"/>
          </a:xfrm>
          <a:prstGeom prst="roundRect">
            <a:avLst>
              <a:gd name="adj" fmla="val 2712"/>
            </a:avLst>
          </a:prstGeom>
          <a:solidFill>
            <a:srgbClr val="F0E8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81928" y="2450592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B2D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81928" y="2999232"/>
            <a:ext cx="2368296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personal and sensitive data used in AI systems. AI models trained on data including private information must implement safeguards.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customer service chatbot that reveals personal purchase details in responses violates privacy — this must be prevented.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924544" y="2286000"/>
            <a:ext cx="2697480" cy="4407408"/>
          </a:xfrm>
          <a:prstGeom prst="roundRect">
            <a:avLst>
              <a:gd name="adj" fmla="val 2712"/>
            </a:avLst>
          </a:prstGeom>
          <a:solidFill>
            <a:srgbClr val="FFFB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089136" y="2450592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Guardrails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089136" y="2999232"/>
            <a:ext cx="2368296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controls, policies, and ethical standards designed to prevent harmful, unethical, or illegal outputs.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Includes: content filtering · security controls against hacking · ethical usage standards · preventing AI being used for illegal activities.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AI: Limitations, Issues &amp; Responsible Use  ·  Day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DDEE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TOPIC 9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Responsible AI Across Domains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556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82296" cy="777240"/>
          </a:xfrm>
          <a:prstGeom prst="rect">
            <a:avLst/>
          </a:prstGeom>
          <a:solidFill>
            <a:srgbClr val="E85D0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10744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Treat AI Output as a First Draft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10744200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 must always be reviewed for accuracy, authenticity, copyright compliance, and data security before use — regardless of domain.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2212848"/>
            <a:ext cx="3584448" cy="2331720"/>
          </a:xfrm>
          <a:prstGeom prst="roundRect">
            <a:avLst>
              <a:gd name="adj" fmla="val 3137"/>
            </a:avLst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HR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2898648"/>
            <a:ext cx="3218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concerns: accuracy, authenticity, copyright infringement. AI may cite fake sources or generate plagiarised content. Human review essential before publishing.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70248" y="2212848"/>
            <a:ext cx="3584448" cy="2331720"/>
          </a:xfrm>
          <a:prstGeom prst="roundRect">
            <a:avLst>
              <a:gd name="adj" fmla="val 3137"/>
            </a:avLst>
          </a:prstGeom>
          <a:solidFill>
            <a:srgbClr val="DDEE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53128" y="237744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Chatbots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53128" y="2898648"/>
            <a:ext cx="3218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Clearly communicate when customers are interacting with AI, not a human. Continuously monitor chatbot performance and responses for quality and safety.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37576" y="2212848"/>
            <a:ext cx="3584448" cy="2331720"/>
          </a:xfrm>
          <a:prstGeom prst="roundRect">
            <a:avLst>
              <a:gd name="adj" fmla="val 3137"/>
            </a:avLst>
          </a:prstGeom>
          <a:solidFill>
            <a:srgbClr val="F0E8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0456" y="237744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2D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Developer /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2D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Software Use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0456" y="2898648"/>
            <a:ext cx="3218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Ensure generated code is transparent with inline comments. Human review required. Understand ownership rights of AI-generated code — check platform terms of use.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2920" y="470916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10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BROADER CONSIDERATIONS FOR ALL DOMAINS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02920" y="5074920"/>
            <a:ext cx="11155680" cy="329184"/>
          </a:xfrm>
          <a:prstGeom prst="roundRect">
            <a:avLst>
              <a:gd name="adj" fmla="val 11111"/>
            </a:avLst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5074920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AI platform's data retention, usage, and sharing policies — know how your data is used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2920" y="5458968"/>
            <a:ext cx="11155680" cy="329184"/>
          </a:xfrm>
          <a:prstGeom prst="roundRect">
            <a:avLst>
              <a:gd name="adj" fmla="val 11111"/>
            </a:avLst>
          </a:prstGeom>
          <a:solidFill>
            <a:srgbClr val="DDEE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8368" y="5458968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Getty Images sued Stability AI for using copyrighted images without consent — a precedent for all organisations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02920" y="5843016"/>
            <a:ext cx="11155680" cy="329184"/>
          </a:xfrm>
          <a:prstGeom prst="roundRect">
            <a:avLst>
              <a:gd name="adj" fmla="val 11111"/>
            </a:avLst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8368" y="5843016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Consider using individually trained AI models to avoid bias and protect both organisational and consumer data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2920" y="6227064"/>
            <a:ext cx="11155680" cy="329184"/>
          </a:xfrm>
          <a:prstGeom prst="roundRect">
            <a:avLst>
              <a:gd name="adj" fmla="val 11111"/>
            </a:avLst>
          </a:prstGeom>
          <a:solidFill>
            <a:srgbClr val="DDEE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8368" y="6227064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OpenAI's terms assign content ownership to users — but policies vary significantly across platforms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AI: Limitations, Issues &amp; Responsible Use  ·  Day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DDEE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TOPIC 10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Ethics — Perspectives of Key Players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2697480" cy="4407408"/>
          </a:xfrm>
          <a:prstGeom prst="roundRect">
            <a:avLst>
              <a:gd name="adj" fmla="val 2712"/>
            </a:avLst>
          </a:prstGeom>
          <a:solidFill>
            <a:srgbClr val="1A356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467612" y="1463040"/>
            <a:ext cx="768096" cy="768096"/>
          </a:xfrm>
          <a:prstGeom prst="ellipse">
            <a:avLst/>
          </a:prstGeom>
          <a:solidFill>
            <a:srgbClr val="7FE0A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67612" y="14630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IBM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7512" y="2377440"/>
            <a:ext cx="236829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· Fairness · Robustness · Transparency · Privacy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watsonx.governance — cost-effective platform for risk mitigation, regulatory compliance, and AI workflow governance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10128" y="1298448"/>
            <a:ext cx="2697480" cy="4407408"/>
          </a:xfrm>
          <a:prstGeom prst="roundRect">
            <a:avLst>
              <a:gd name="adj" fmla="val 2712"/>
            </a:avLst>
          </a:prstGeom>
          <a:solidFill>
            <a:srgbClr val="1A356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74820" y="1463040"/>
            <a:ext cx="768096" cy="768096"/>
          </a:xfrm>
          <a:prstGeom prst="ellipse">
            <a:avLst/>
          </a:prstGeom>
          <a:solidFill>
            <a:srgbClr val="DDEE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74820" y="14630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74720" y="2377440"/>
            <a:ext cx="236829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Social benefit (AI must improve society without reinforcing bias) · Safety and design · Privacy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Google's tools help developers detect bias, understand decision-making, and safeguard privacy in AI systems.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17336" y="1298448"/>
            <a:ext cx="2697480" cy="4407408"/>
          </a:xfrm>
          <a:prstGeom prst="roundRect">
            <a:avLst>
              <a:gd name="adj" fmla="val 2712"/>
            </a:avLst>
          </a:prstGeom>
          <a:solidFill>
            <a:srgbClr val="1A356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82028" y="1463040"/>
            <a:ext cx="768096" cy="768096"/>
          </a:xfrm>
          <a:prstGeom prst="ellipse">
            <a:avLst/>
          </a:prstGeom>
          <a:solidFill>
            <a:srgbClr val="C7B8E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82028" y="14630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81928" y="2377440"/>
            <a:ext cx="236829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Misuse prevention — developing Gen AI aligned with human values · Member of Partnership on AI — coalition promoting safe and beneficial AI development · Heavy investment in safety research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924544" y="1298448"/>
            <a:ext cx="2697480" cy="4407408"/>
          </a:xfrm>
          <a:prstGeom prst="roundRect">
            <a:avLst>
              <a:gd name="adj" fmla="val 2712"/>
            </a:avLst>
          </a:prstGeom>
          <a:solidFill>
            <a:srgbClr val="1A356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889236" y="1463040"/>
            <a:ext cx="768096" cy="768096"/>
          </a:xfrm>
          <a:prstGeom prst="ellipse">
            <a:avLst/>
          </a:prstGeom>
          <a:solidFill>
            <a:srgbClr val="FFD96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889236" y="14630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089136" y="2377440"/>
            <a:ext cx="236829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Fairness · Reliability &amp; Safety · Privacy &amp; Security · Inclusiveness · Transparency · Accountability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Microsoft is dedicated to using AI ethically across all its products and services.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AI: Limitations, Issues &amp; Responsible Use  ·  Day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DDEE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TOPIC 11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Implications of Generative AI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2697480" cy="1389888"/>
          </a:xfrm>
          <a:prstGeom prst="roundRect">
            <a:avLst>
              <a:gd name="adj" fmla="val 5263"/>
            </a:avLst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43560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$7 Trillion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1671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Predicted increase in global GDP (Goldman Sachs)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310128" y="1298448"/>
            <a:ext cx="2697480" cy="1389888"/>
          </a:xfrm>
          <a:prstGeom prst="roundRect">
            <a:avLst>
              <a:gd name="adj" fmla="val 5263"/>
            </a:avLst>
          </a:prstGeom>
          <a:solidFill>
            <a:srgbClr val="DDEE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447288" y="143560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47288" y="21671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global GDP growth rate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117336" y="1298448"/>
            <a:ext cx="2697480" cy="1389888"/>
          </a:xfrm>
          <a:prstGeom prst="roundRect">
            <a:avLst>
              <a:gd name="adj" fmla="val 5263"/>
            </a:avLst>
          </a:prstGeom>
          <a:solidFill>
            <a:srgbClr val="F0E8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54496" y="143560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5B2D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54496" y="21671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improvement over 10 years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924544" y="1298448"/>
            <a:ext cx="2697480" cy="1389888"/>
          </a:xfrm>
          <a:prstGeom prst="roundRect">
            <a:avLst>
              <a:gd name="adj" fmla="val 5263"/>
            </a:avLst>
          </a:prstGeom>
          <a:solidFill>
            <a:srgbClr val="FFFB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061704" y="143560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300M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061704" y="21671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Full-time jobs partially automatable (Goldman Sachs)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920" y="2834640"/>
            <a:ext cx="111556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2920" y="2834640"/>
            <a:ext cx="82296" cy="749808"/>
          </a:xfrm>
          <a:prstGeom prst="rect">
            <a:avLst/>
          </a:prstGeom>
          <a:solidFill>
            <a:srgbClr val="1A6B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1520" y="2953512"/>
            <a:ext cx="10744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GPT-4 scored in the 90th percentile on the U.S. Bar Exam — demonstrating near-human intelligence in specialised domain tasks.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3456432"/>
            <a:ext cx="107442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McKinsey identifies 4 key growth areas: Customer Operations · Marketing &amp; Sales · Software Engineering · R&amp;D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2920" y="3749040"/>
            <a:ext cx="2633472" cy="2926080"/>
          </a:xfrm>
          <a:prstGeom prst="roundRect">
            <a:avLst>
              <a:gd name="adj" fmla="val 2778"/>
            </a:avLst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85800" y="391363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New Job Roles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5800" y="4434840"/>
            <a:ext cx="226771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Entirely new positions are being created — the Prompt Engineer role now requires no traditional coding background but commands high salaries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310128" y="3749040"/>
            <a:ext cx="2633472" cy="2926080"/>
          </a:xfrm>
          <a:prstGeom prst="roundRect">
            <a:avLst>
              <a:gd name="adj" fmla="val 2778"/>
            </a:avLst>
          </a:prstGeom>
          <a:solidFill>
            <a:srgbClr val="DDEE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493008" y="391363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Job Market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493008" y="4434840"/>
            <a:ext cx="226771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Up to 300M jobs could be partially automated — affecting routine knowledge work more than creative or interpersonal roles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117336" y="3749040"/>
            <a:ext cx="2633472" cy="2926080"/>
          </a:xfrm>
          <a:prstGeom prst="roundRect">
            <a:avLst>
              <a:gd name="adj" fmla="val 2778"/>
            </a:avLst>
          </a:prstGeom>
          <a:solidFill>
            <a:srgbClr val="F0E8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00216" y="391363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2D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Reskilling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2D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Imperative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300216" y="4434840"/>
            <a:ext cx="226771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60% of current jobs didn't exist in 1940 — history shows technology creates new jobs but requires proactive reskilling and adaptation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924544" y="3749040"/>
            <a:ext cx="2633472" cy="2926080"/>
          </a:xfrm>
          <a:prstGeom prst="roundRect">
            <a:avLst>
              <a:gd name="adj" fmla="val 2778"/>
            </a:avLst>
          </a:prstGeom>
          <a:solidFill>
            <a:srgbClr val="FFFB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107424" y="391363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in Education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— Concerns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107424" y="4434840"/>
            <a:ext cx="226771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Some AI proctoring tools show bias: misinterpreting headscarves, inaccessible to students with disabilities, falsely accusing students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AI: Limitations, Issues &amp; Responsible Use  ·  Day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DDEE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TOPIC 12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Social Implications of Generative AI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Advocacy &amp;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984248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 AI helps governments analyse data faster, predict problems, and suggest preventive solutions — supporting better international cooperation and public debate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78808" y="1298448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B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61688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Exclusion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61688" y="1984248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2.9 billion people (37% of global population) lacked internet access in 2021 — Gen AI benefits are not equally accessible to all communities and nations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854696" y="1298448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DDEE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037576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Inclusion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37576" y="1984248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 AI promotes inclusion through multilingual translation, text-to-speech for people who cannot read, and AI assistance for people with disabilities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2920" y="3803904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0E8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" y="39684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2D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2D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5800" y="4489704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Speeds up medical research, early disease detection, and personalised treatment planning — but healthcare AI has shown racial bias in past systems (ACLU 2019)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178808" y="3803904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361688" y="39684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Loneliness &amp;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61688" y="4489704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U.S. Surgeon General warns that lack of social connection increases illness risk — excessive reliance on AI interaction may worsen social isolation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854696" y="3803904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B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037576" y="39684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037576" y="4489704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 AI models require huge computing power, rare minerals, and massive cloud storage — leading to high energy use, hardware waste, and significant carbon footprint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AI: Limitations, Issues &amp; Responsible Use  ·  Day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DDEE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TOPIC 13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Reimagined Workforce with Generative AI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5568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82296" cy="960120"/>
          </a:xfrm>
          <a:prstGeom prst="rect">
            <a:avLst/>
          </a:prstGeom>
          <a:solidFill>
            <a:srgbClr val="1A6B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10744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Workers Are Being Transformed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10744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Just as machines transformed factory workers, Gen AI is reshaping knowledge workers — people whose jobs involve thinking, analysing, and decision-making. AI handles routine tasks; humans focus on emotional intelligence, ethics, and context.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2395728"/>
            <a:ext cx="5394960" cy="1645920"/>
          </a:xfrm>
          <a:prstGeom prst="roundRect">
            <a:avLst>
              <a:gd name="adj" fmla="val 3889"/>
            </a:avLst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8368" y="2487168"/>
            <a:ext cx="5102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Example Roles Being Augmented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8368" y="2834640"/>
            <a:ext cx="5102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Josh (Accountant): AI handles data entry and fraud detection — Josh focuses on interpreting results and ethical judgment.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Banona (PR Manager): AI drafts and edits content — Banona ensures strategic alignment and authentic brand voice.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80760" y="2395728"/>
            <a:ext cx="5577840" cy="1645920"/>
          </a:xfrm>
          <a:prstGeom prst="roundRect">
            <a:avLst>
              <a:gd name="adj" fmla="val 3889"/>
            </a:avLst>
          </a:prstGeom>
          <a:solidFill>
            <a:srgbClr val="FFFB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36208" y="2487168"/>
            <a:ext cx="5285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Upskilling Challenge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36208" y="2834640"/>
            <a:ext cx="52852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World Economic Forum: 44% of workers' skills will need to be updated within 5 years.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challenge is NOT job loss — it is the need for proactive reskilling to work alongside AI systems effectively.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20" y="420624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100" normalizeH="0" baseline="0" noProof="0" dirty="0">
                <a:ln>
                  <a:noFill/>
                </a:ln>
                <a:solidFill>
                  <a:srgbClr val="0A1F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 KEY STEPS TO WORKFORCE TRANSFORMATION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2920" y="4590288"/>
            <a:ext cx="2633472" cy="2084832"/>
          </a:xfrm>
          <a:prstGeom prst="roundRect">
            <a:avLst>
              <a:gd name="adj" fmla="val 3509"/>
            </a:avLst>
          </a:prstGeom>
          <a:solidFill>
            <a:srgbClr val="E6F4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85800" y="47548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Redesign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6B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800" y="5276088"/>
            <a:ext cx="226771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Update business processes to include AI tools — redefine job roles to focus on uniquely human skills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310128" y="4590288"/>
            <a:ext cx="2633472" cy="2084832"/>
          </a:xfrm>
          <a:prstGeom prst="roundRect">
            <a:avLst>
              <a:gd name="adj" fmla="val 3509"/>
            </a:avLst>
          </a:prstGeom>
          <a:solidFill>
            <a:srgbClr val="DDEE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493008" y="47548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Reskilling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Programs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493008" y="5276088"/>
            <a:ext cx="226771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 current employees to use AI tools effectively — prioritise continuous learning pathways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17336" y="4590288"/>
            <a:ext cx="2633472" cy="2084832"/>
          </a:xfrm>
          <a:prstGeom prst="roundRect">
            <a:avLst>
              <a:gd name="adj" fmla="val 3509"/>
            </a:avLst>
          </a:prstGeom>
          <a:solidFill>
            <a:srgbClr val="F0E8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00216" y="47548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2D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2D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00216" y="5276088"/>
            <a:ext cx="226771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 an organisational culture that embraces AI — address employee concerns openly and transparently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924544" y="4590288"/>
            <a:ext cx="2633472" cy="2084832"/>
          </a:xfrm>
          <a:prstGeom prst="roundRect">
            <a:avLst>
              <a:gd name="adj" fmla="val 3509"/>
            </a:avLst>
          </a:prstGeom>
          <a:solidFill>
            <a:srgbClr val="FFFB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07424" y="47548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Ethical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5D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107424" y="5276088"/>
            <a:ext cx="226771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clear ethical guidelines for AI use at work — ensure fairness, accountability, and responsible deployment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AI: Limitations, Issues &amp; Responsible Use  ·  Day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A356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1A356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DDEE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 TODAY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515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1.  Limitations of Gen AI: training data dependence, cutoff dates, no internet access, cost, and abstract concept gap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2.  Issues &amp; Concerns: inaccuracies, bias, data privacy, copyright infringement, ownership ambiguity, ethical use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3.  Hallucinations in text/image LLMs: causes (training errors, overfitting), effects (misinformation), and 4 mitigation techniques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4.  Code hallucinations: 4 types — incomplete logic, context loss, syntax misinterpretation, unsafe practices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5.  AI portraits and deepfakes: GANs, style transfer, cultural heritage uses, and identity fraud risks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6.  RAG: 5-step pipeline grounding LLM responses in retrieved evidence, solving outdated info and hallucination issues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7.  Legal issues: data privacy, copyright, deepfake legislation, UK Online Harms Bill, India IT Act &amp; DPDPA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8.  Responsible AI: 4 pillars — Transparency, Accountability, Privacy, Safety Guardrails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9.  Domain implementation: marketing, customer service, software — always treat AI output as a first draft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10.  AI Ethics: IBM (5 pillars + watsonx.governance) · Google · OpenAI · Microsoft ethical frameworks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11.  Economic impact: $7T GDP increase, 300M jobs partially automated, new roles like Prompt Engineer, reskilling imperative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12.  Social impact: digital exclusion (2.9B offline), healthcare bias, loneliness, environmental cost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13.  Workforce transformation: 4 steps — redesign workflow, reskilling programs, change management, ethical framework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5413248"/>
            <a:ext cx="1280160" cy="54864"/>
          </a:xfrm>
          <a:prstGeom prst="rect">
            <a:avLst/>
          </a:prstGeom>
          <a:solidFill>
            <a:srgbClr val="006D8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555955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61447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F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Day 20  ·  Limitations, Issues &amp; Responsible Use  ·  IBM Career Education  ·  VIT College  ·  Adroit ACE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5104</Words>
  <Application>Microsoft Office PowerPoint</Application>
  <PresentationFormat>Widescreen</PresentationFormat>
  <Paragraphs>616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Elevating Businesses through Generative AI - Day 19</dc:title>
  <dc:subject>PptxGenJS Presentation</dc:subject>
  <dc:creator>PptxGenJS</dc:creator>
  <cp:lastModifiedBy>Masil Gokul Selven  S</cp:lastModifiedBy>
  <cp:revision>2</cp:revision>
  <dcterms:created xsi:type="dcterms:W3CDTF">2026-06-24T12:43:04Z</dcterms:created>
  <dcterms:modified xsi:type="dcterms:W3CDTF">2026-06-30T04:58:01Z</dcterms:modified>
</cp:coreProperties>
</file>