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70" r:id="rId5"/>
    <p:sldId id="259" r:id="rId6"/>
    <p:sldId id="271" r:id="rId7"/>
    <p:sldId id="260" r:id="rId8"/>
    <p:sldId id="261" r:id="rId9"/>
    <p:sldId id="262" r:id="rId10"/>
    <p:sldId id="272" r:id="rId11"/>
    <p:sldId id="263" r:id="rId12"/>
    <p:sldId id="264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28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9ACE-7ED3-D2F9-AA65-C14D2E35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8EEEF-44D4-53C8-B6B4-3762C76C1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B9E48-4DC7-9C53-BD38-E14B676A7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694DA-2C60-2862-1AF2-04D62E0E5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13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3220-F39C-163D-234E-703926E6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01D26-74A6-AC76-560D-E49B72753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AB7A2-5ECD-73F1-F245-AEC822CC6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1CCEB-4713-D5A9-047A-52CD0D3A0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24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CCD1-52CB-CA6A-7BF0-7766AA48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C4215-143E-2D21-8008-CB3ADAEDC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2BDF8-D938-3B24-0A06-CCEC9F580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13A60-9902-A87D-788D-E6DD1789A9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50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226A-7D8F-A966-9ECC-30F5D6FD7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44B0B-0BBA-2DFD-8FB3-A15E4C37D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0EECF-4547-2F10-94F4-8BC8D6576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26CA1-C174-74B4-7B5C-989B96A11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04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7B5EA7">
              <a:alpha val="30000"/>
            </a:srgb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1097280" cy="1097280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766560" y="1645920"/>
            <a:ext cx="822960" cy="822960"/>
          </a:xfrm>
          <a:prstGeom prst="ellipse">
            <a:avLst/>
          </a:prstGeom>
          <a:solidFill>
            <a:srgbClr val="00E5A0">
              <a:alpha val="28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0C8FF"/>
                </a:solidFill>
              </a:rPr>
              <a:t>PROMPT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681049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10972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</a:rPr>
              <a:t>Unit 2  ·  Chapters 9 &amp; 10  ·  10 Hours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E5A0"/>
                </a:solidFill>
              </a:rPr>
              <a:t>Prompt Anatomy · Zero/Few-shot · CoT · ToT · Persona · Output Formatting · watsonx Prompt Lab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VIT College  |  Corporate Training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Prompt?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0F2041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3327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</a:rPr>
              <a:t>Prompt:</a:t>
            </a:r>
            <a:r>
              <a:rPr lang="en-US" sz="1150" dirty="0">
                <a:solidFill>
                  <a:srgbClr val="E8F4FD"/>
                </a:solidFill>
              </a:rPr>
              <a:t> The input you give to a generative AI model — instructions, context, examples, and format specs — that fully shape the output. Same model, better prompt = dramatically better results.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Why Prompt Engineering Is the Most Important Skill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2029968" cy="13258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</a:rPr>
              <a:t>💰  Zero extra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Same API, same model — just a better prompt. No training required.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0592" y="2176272"/>
            <a:ext cx="2029968" cy="132588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42032" y="22402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⚡  Immediately usable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633472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Use it today in ChatGPT, Claude, watsonx.ai — no setup needed.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2176272"/>
            <a:ext cx="2029968" cy="13258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18304" y="22402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🔁  Transfers everywhere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2633472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What works on GPT-4 works on Granite, Claude, Gemini.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03136" y="2176272"/>
            <a:ext cx="2029968" cy="1325880"/>
          </a:xfrm>
          <a:prstGeom prst="rect">
            <a:avLst/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94576" y="22402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📈  Compounds over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94576" y="2633472"/>
            <a:ext cx="1847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Each new technique improves every future prompt you write.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61188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Before vs After Prompt Engineering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4160520" cy="914400"/>
          </a:xfrm>
          <a:prstGeom prst="rect">
            <a:avLst/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4005072"/>
            <a:ext cx="3931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❌  Before: </a:t>
            </a:r>
            <a:r>
              <a:rPr lang="en-US" sz="1050" i="1" dirty="0">
                <a:solidFill>
                  <a:srgbClr val="A0B4C8"/>
                </a:solidFill>
              </a:rPr>
              <a:t>"Summarise this text."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→ Generic output. Wrong length. Missing key points.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977640"/>
            <a:ext cx="4206240" cy="91440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00600" y="4005072"/>
            <a:ext cx="3931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✅  After: </a:t>
            </a:r>
            <a:r>
              <a:rPr lang="en-US" sz="1050" i="1" dirty="0">
                <a:solidFill>
                  <a:srgbClr val="A0B4C8"/>
                </a:solidFill>
              </a:rPr>
              <a:t>"Summarise in 3 bullets, action verbs, max 15 words each, audience: C-suite."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→ Precisely what you needed.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7479B-F9F0-F7D7-C98B-FBE1BB45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307116-6510-74DF-E339-7DA99659E5C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E6ED795-C72F-79B1-4922-EA19228E121B}"/>
              </a:ext>
            </a:extLst>
          </p:cNvPr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8A73DF-CC99-6908-9970-DCEDFBD70051}"/>
              </a:ext>
            </a:extLst>
          </p:cNvPr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9EB0AF6-CAD3-38D7-7EBB-1CAD25AFD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31" y="960324"/>
            <a:ext cx="5349834" cy="300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8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B039F-E36B-3EA4-D312-FF04E138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8CDFDD-52D3-7557-818F-8A709F5295B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4BD1B5-6465-2524-A701-CADAA6548EA4}"/>
              </a:ext>
            </a:extLst>
          </p:cNvPr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ADA60A-018A-F4C6-9765-8600BCF64226}"/>
              </a:ext>
            </a:extLst>
          </p:cNvPr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4A570-0D69-3A8A-4457-BFEB0BC1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1750"/>
            <a:ext cx="9144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4-Part Anatomy of a Prompt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87952" cy="1865376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87952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475488" cy="47548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09728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Instruction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What task to perform. Use imperative verbs.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848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'Summarise', 'Write', 'Classify', 'Compare', 'Debug'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987552"/>
            <a:ext cx="4187952" cy="1865376"/>
          </a:xfrm>
          <a:prstGeom prst="rect">
            <a:avLst/>
          </a:prstGeom>
          <a:solidFill>
            <a:srgbClr val="112244"/>
          </a:solidFill>
          <a:ln w="254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45152" y="987552"/>
            <a:ext cx="4187952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36592" y="1078992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36592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109728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</a:rPr>
              <a:t>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6592" y="16093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Background the model needs: role, audience, domain.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20848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'You are a senior analyst. Audience: board of directors.'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4187952" cy="1865376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4187952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475488" cy="47548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090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10896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Input Data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6210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The actual content to work 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0965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'Article: [paste]. Code: [paste]. Dataset: [paste]'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45152" y="2999232"/>
            <a:ext cx="4187952" cy="1865376"/>
          </a:xfrm>
          <a:prstGeom prst="rect">
            <a:avLst/>
          </a:prstGeom>
          <a:solidFill>
            <a:srgbClr val="1122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45152" y="2999232"/>
            <a:ext cx="418795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36592" y="3090672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36592" y="3090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10896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Output Indicator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36592" y="36210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Format, length, tone, structure of the response.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40965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'Format: JSON. Length: 3 bullets. Tone: formal.'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0F2041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B4C8"/>
                </a:solidFill>
              </a:rPr>
              <a:t>Not all 4 parts are always needed — the more complete your prompt, the more precise the output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B3D6D-4102-175F-D3FD-3AE7CC04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A68554-3E44-8B57-980D-6B32CDE9439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6D6CA5-EB6E-E54B-D2DD-AFFCB1116BA7}"/>
              </a:ext>
            </a:extLst>
          </p:cNvPr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579DC3-6DB6-C72C-DB96-250CFD99F0C5}"/>
              </a:ext>
            </a:extLst>
          </p:cNvPr>
          <p:cNvSpPr/>
          <p:nvPr/>
        </p:nvSpPr>
        <p:spPr>
          <a:xfrm>
            <a:off x="-121128" y="128016"/>
            <a:ext cx="37846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4-Part Anatomy of a Prompt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BB2C1-3A7B-FD41-8559-85D0CB0B4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3750"/>
            <a:ext cx="9144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1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Best Practices &amp; Common Pitfalls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456432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✅  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Be specific — format, length, tone, audience every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Use positive language — say what TO do, not just what NOT 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Provide examples inside the prompt (few-shot)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Assign a role: 'You are a senior data analyst...'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Break complex tasks into smaller steps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Iterate — treat prompting as a loop, not one-shot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206240" cy="3456432"/>
          </a:xfrm>
          <a:prstGeom prst="rect">
            <a:avLst/>
          </a:prstGeom>
          <a:solidFill>
            <a:srgbClr val="112244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DON'T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9319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Vague: 'Tell me about AI' — model has no direction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Overloaded: asking for 10 things at once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Assuming context: model doesn't know your project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No output format: unpredictable structure every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Accepting first output without refinement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Ignoring temperature — wrong setting destroys quality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535424"/>
            <a:ext cx="8595360" cy="384048"/>
          </a:xfrm>
          <a:prstGeom prst="rect">
            <a:avLst/>
          </a:prstGeom>
          <a:solidFill>
            <a:srgbClr val="0F2041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4535424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E5A0"/>
                </a:solidFill>
              </a:rPr>
              <a:t>💡  Lab: Trainer shows 5 badly-written prompts. Students rewrite in pairs. Compare before vs after outputs.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Zero-shot, One-shot &amp; Few-shot Prompting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798064" cy="402336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798064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</a:rPr>
              <a:t>Zero-Shot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40817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</a:rPr>
              <a:t>No examples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700784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Relies on model training. Works for simple, well-known tasks.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340864"/>
            <a:ext cx="2615184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0624" y="2395728"/>
            <a:ext cx="245059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Classify: 'Broke on day 2.'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POSITIVE/NEGATIVE/NEUTRAL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822192"/>
            <a:ext cx="2615184" cy="420624"/>
          </a:xfrm>
          <a:prstGeom prst="rect">
            <a:avLst/>
          </a:prstGeom>
          <a:solidFill>
            <a:srgbClr val="0F2041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382219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When: Simple, well-known tasks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987552"/>
            <a:ext cx="2798064" cy="4023360"/>
          </a:xfrm>
          <a:prstGeom prst="rect">
            <a:avLst/>
          </a:prstGeom>
          <a:solidFill>
            <a:srgbClr val="112244"/>
          </a:solidFill>
          <a:ln w="2540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987552"/>
            <a:ext cx="2798064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91840" y="102412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</a:rPr>
              <a:t>One-Shot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40817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</a:rPr>
              <a:t>One example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700784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One worked example calibrates format and reasoning style.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340864"/>
            <a:ext cx="2615184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64992" y="2395728"/>
            <a:ext cx="245059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'Amazing!' → POSITIVE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'Broke on day 2.'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822192"/>
            <a:ext cx="2615184" cy="420624"/>
          </a:xfrm>
          <a:prstGeom prst="rect">
            <a:avLst/>
          </a:prstGeom>
          <a:solidFill>
            <a:srgbClr val="0F2041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382219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When: Format matters, new task type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44768" y="987552"/>
            <a:ext cx="2798064" cy="4023360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44768" y="987552"/>
            <a:ext cx="2798064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36208" y="102412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Few-Shot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36208" y="140817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4C8"/>
                </a:solidFill>
              </a:rPr>
              <a:t>2–5 examples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1700784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Multiple examples lock in consistent pattern. Best accuracy.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2340864"/>
            <a:ext cx="2615184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09360" y="2395728"/>
            <a:ext cx="245059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'Amazing!' → POSITIVE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'Broken' → NEGATIVE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'Okay' → NEUTRAL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'Best ever.'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36208" y="3822192"/>
            <a:ext cx="2615184" cy="420624"/>
          </a:xfrm>
          <a:prstGeom prst="rect">
            <a:avLst/>
          </a:prstGeom>
          <a:solidFill>
            <a:srgbClr val="0F2041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36208" y="382219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When: Complex, domain-specific tasks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51023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B4C8"/>
                </a:solidFill>
              </a:rPr>
              <a:t>Rule: Start zero-shot → if quality is low → add examples one at a time until output quality meets your bar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9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Chain-of-Thought &amp; Tree-of-Thought Prompting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9776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Chain-of-Thought (CoT)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Forces step-by-step reasoning before the answer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Improves accuracy on math, logic, multi-step tasks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Zero-shot trigger: 'Let's think step by step.'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FF"/>
                </a:solidFill>
              </a:rPr>
              <a:t>Example: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23744"/>
            <a:ext cx="397764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37673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Train goes 60 km/h for 2h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km/h for 1.5h. Total distance?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think step by step: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60 × 2 = 120 km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80 × 1.5 = 120 km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120 + 120 = 240 km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405993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166"/>
                </a:solidFill>
              </a:rPr>
              <a:t>CoT = one chain of reasoning — linear step-by-step path to the answer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87552"/>
            <a:ext cx="4206240" cy="3977640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Tree-of-Thought (ToT)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389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Explores multiple reasoning branches simultaneously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Model backtracks bad paths, picks the best solution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D"/>
                </a:solidFill>
              </a:rPr>
              <a:t>Best for: planning, strategy, creative problem-solving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231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ToT Prompt Template: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523744"/>
            <a:ext cx="402336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"Imagine 3 experts solving this.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writes one reasoning step.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 expert is wrong they leave.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until one expert reaches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final answer. Question: [...]"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405993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166"/>
                </a:solidFill>
              </a:rPr>
              <a:t>ToT = a tree of reasoning chains — multiple branches, best path wins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155DD-2A2B-C031-4FC3-03B17EA5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C0CBD7-155C-39C7-BF0D-BB6F7263C23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BB3710-28C1-051E-C304-BBFB3560B7BA}"/>
              </a:ext>
            </a:extLst>
          </p:cNvPr>
          <p:cNvSpPr/>
          <p:nvPr/>
        </p:nvSpPr>
        <p:spPr>
          <a:xfrm>
            <a:off x="365760" y="128016"/>
            <a:ext cx="219456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8FB680-1E4C-873E-A8D2-FF8850D39591}"/>
              </a:ext>
            </a:extLst>
          </p:cNvPr>
          <p:cNvSpPr/>
          <p:nvPr/>
        </p:nvSpPr>
        <p:spPr>
          <a:xfrm>
            <a:off x="-121129" y="128016"/>
            <a:ext cx="55837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Chain-of-Thought &amp; Tree-of-Thought Prompting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5FB21-566E-D776-14C0-B5D7F966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500"/>
            <a:ext cx="91440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51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37744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10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Persona-Based &amp; Interview-Style Prompting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621792"/>
          </a:xfrm>
          <a:prstGeom prst="rect">
            <a:avLst/>
          </a:prstGeom>
          <a:solidFill>
            <a:srgbClr val="0F2041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</a:rPr>
              <a:t>Persona Prompting:</a:t>
            </a:r>
            <a:r>
              <a:rPr lang="en-US" sz="1150" dirty="0">
                <a:solidFill>
                  <a:srgbClr val="E8F4FD"/>
                </a:solidFill>
              </a:rPr>
              <a:t> Assigning a role changes everything — vocabulary, depth, tone, and assumptions all shift to match the assigned persona. Same question, different persona = completely different answer.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</a:rPr>
              <a:t>Same Question. 4 Personas. 4 Completely Different Answers.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048256"/>
            <a:ext cx="4187952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</a:rPr>
              <a:t>'You are a senior cybersecurity engineer'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→ Technical, precise, mentions CVEs and mitigations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2048256"/>
            <a:ext cx="4187952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36592" y="204825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</a:rPr>
              <a:t>'You are a 10-year-old explaining AI to friends'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→ Simple words, analogies, no jargon at 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87952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'You are a sceptical investigative journalist'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→ Questions assumptions, asks for evidence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2834640"/>
            <a:ext cx="4187952" cy="658368"/>
          </a:xfrm>
          <a:prstGeom prst="rect">
            <a:avLst/>
          </a:prstGeom>
          <a:solidFill>
            <a:srgbClr val="112244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36592" y="28346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'You are a Socratic tutor — never give answers'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→ Guides thinking with questions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Interview-Style Prompting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059936"/>
            <a:ext cx="8595360" cy="896112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408736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A0"/>
                </a:solidFill>
              </a:rPr>
              <a:t>Definition:</a:t>
            </a:r>
            <a:r>
              <a:rPr lang="en-US" sz="1050" dirty="0">
                <a:solidFill>
                  <a:srgbClr val="E8F4FD"/>
                </a:solidFill>
              </a:rPr>
              <a:t> The model asks YOU questions before generating output. Instead of front-loading all context, the model interviews you first — building richer understanding.
</a:t>
            </a:r>
            <a:r>
              <a:rPr lang="en-US" sz="1050" b="1" dirty="0">
                <a:solidFill>
                  <a:srgbClr val="00E5A0"/>
                </a:solidFill>
              </a:rPr>
              <a:t>Trigger: </a:t>
            </a:r>
            <a:r>
              <a:rPr lang="en-US" sz="1050" i="1" dirty="0">
                <a:solidFill>
                  <a:srgbClr val="FFD166"/>
                </a:solidFill>
              </a:rPr>
              <a:t>"Before writing my CV, ask me all the questions you need. Do NOT generate anything yet."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37744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10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Output Structure, Format &amp; Verbosity Control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475488"/>
          </a:xfrm>
          <a:prstGeom prst="rect">
            <a:avLst/>
          </a:prstGeom>
          <a:solidFill>
            <a:srgbClr val="0F2041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4FD"/>
                </a:solidFill>
              </a:rPr>
              <a:t>If you don't specify output format, the model picks one. Specify the format and it obeys — every single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187952" cy="1609344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187952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Output ONLY valid JSON. No explanation. Schema: {name, role, salary}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{"name":"Priya","role":"Engineer","salary":85000}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1554480"/>
            <a:ext cx="4187952" cy="1609344"/>
          </a:xfrm>
          <a:prstGeom prst="rect">
            <a:avLst/>
          </a:prstGeom>
          <a:solidFill>
            <a:srgbClr val="112244"/>
          </a:solidFill>
          <a:ln w="1905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45152" y="1554480"/>
            <a:ext cx="4187952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36592" y="1627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Markdown 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9751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Return a Markdown table. Columns: Tool | Category | Cost | Best For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Tool  | Category | Cost | Best For |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4187952" cy="1609344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4187952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Output only Python code. No markdown. No explanation. Just runnable code.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206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get_active(data):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[d for d in data if d['status']=='active']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5152" y="3291840"/>
            <a:ext cx="4187952" cy="1609344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45152" y="3291840"/>
            <a:ext cx="418795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36592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Verbosity 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Explain in: (a) 1 sentence, (b) 1 paragraph, (c) 5 bullet points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4206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Forces model to try multiple densities — compare which suits your audience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37744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10 ·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Advanced Prompting Patterns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87952" cy="128016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87952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0607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FF"/>
                </a:solidFill>
              </a:rPr>
              <a:t>Self-Consistency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Run CoT 5× with temp &gt; 0. Take majority vote. Reduces hallucination on complex reasoning.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Best for: math, logic, factual QA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45152" y="987552"/>
            <a:ext cx="4187952" cy="1280160"/>
          </a:xfrm>
          <a:prstGeom prst="rect">
            <a:avLst/>
          </a:prstGeom>
          <a:solidFill>
            <a:srgbClr val="112244"/>
          </a:solidFill>
          <a:ln w="19050">
            <a:solidFill>
              <a:srgbClr val="7B5E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45152" y="987552"/>
            <a:ext cx="4187952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36592" y="10607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5EA7"/>
                </a:solidFill>
              </a:rPr>
              <a:t>Prompt Chaining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36592" y="14264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Output of Prompt N becomes input of Prompt N+1. Each prompt does one job well.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1938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Research → Draft → Edit → Format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4187952" cy="1280160"/>
          </a:xfrm>
          <a:prstGeom prst="rect">
            <a:avLst/>
          </a:prstGeom>
          <a:solidFill>
            <a:srgbClr val="112244"/>
          </a:solidFill>
          <a:ln w="1905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404872"/>
            <a:ext cx="4187952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24780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A0"/>
                </a:solidFill>
              </a:rPr>
              <a:t>Negative Prompting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28437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Tell model what NOT to do, NOT to include, what style to AVOID.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55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'No jargon. No passive voice. No examples.'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2404872"/>
            <a:ext cx="4187952" cy="1280160"/>
          </a:xfrm>
          <a:prstGeom prst="rect">
            <a:avLst/>
          </a:prstGeom>
          <a:solidFill>
            <a:srgbClr val="1122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45152" y="2404872"/>
            <a:ext cx="4187952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36592" y="24780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</a:rPr>
              <a:t>Role + Constraint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36592" y="28437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Combine persona with strict output constraints — most powerful production pattern.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33558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'Tax accountant. Bullets only. Max 5. India law.'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22192"/>
            <a:ext cx="4187952" cy="1280160"/>
          </a:xfrm>
          <a:prstGeom prst="rect">
            <a:avLst/>
          </a:prstGeom>
          <a:solidFill>
            <a:srgbClr val="112244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4187952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38953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</a:rPr>
              <a:t>RAG-Ready Prompting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261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Structure prompts to use retrieved context. Foundation for enterprise AI chatbots.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773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Context: [retrieved]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Answer ONLY from context above: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45152" y="3822192"/>
            <a:ext cx="4187952" cy="1280160"/>
          </a:xfrm>
          <a:prstGeom prst="rect">
            <a:avLst/>
          </a:prstGeom>
          <a:solidFill>
            <a:srgbClr val="112244"/>
          </a:solidFill>
          <a:ln w="1905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45152" y="3822192"/>
            <a:ext cx="4187952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36592" y="389534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A"/>
                </a:solidFill>
              </a:rPr>
              <a:t>Iterative Refinement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36592" y="42611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Generate → Evaluate → Identify weakness → Add constraint → Repeat.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4773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B4C8"/>
                </a:solidFill>
              </a:rPr>
              <a:t>Start simple. Add one constraint per iteration.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28016"/>
            <a:ext cx="2926080" cy="2743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28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 10 · PROJECT +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Real-World Prompt Project &amp; Unit 2 Summary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2304288"/>
          </a:xfrm>
          <a:prstGeom prst="rect">
            <a:avLst/>
          </a:prstGeom>
          <a:solidFill>
            <a:srgbClr val="112244"/>
          </a:solidFill>
          <a:ln w="254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3474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Real-World Prompt Project (Day 10)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Choose a real domain (HR, Finance, Healthcare...)
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Build a complete 4-part prompt pipeline
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Present in 2 min: prompt + output + v1 vs final
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Peer review: class votes best prompt per category
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8F4FD"/>
                </a:solidFill>
              </a:rPr>
              <a:t>Submit: prompt text + 3 versions + output screenshot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206240" cy="2304288"/>
          </a:xfrm>
          <a:prstGeom prst="rect">
            <a:avLst/>
          </a:prstGeom>
          <a:solidFill>
            <a:srgbClr val="1122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Unit 2 — Key Takeaways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Prompt = Instruction + Context + Input Data + Output Indicator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Zero-shot → Few-shot → CoT → ToT: escalate as needed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Persona + Format constraint = most powerful combo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Same model, better prompt = completely different quality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watsonx Prompt Lab: compare, version, export to code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</a:rPr>
              <a:t>Prompt engineering is a skill — iterate, don't settle for v1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01568"/>
            <a:ext cx="8595360" cy="1444752"/>
          </a:xfrm>
          <a:prstGeom prst="rect">
            <a:avLst/>
          </a:prstGeom>
          <a:solidFill>
            <a:srgbClr val="0F2041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Coming Up — Unit 3: Gen AI for Data Professionals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Days 11–17  ·  Data Analysts · Data Engineers · Data Scientists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</a:rPr>
              <a:t>NL-to-SQL · Visualisation · ETL Automation · Data Augmentation · AutoML · Microsoft Copilot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443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166"/>
                </a:solidFill>
              </a:rPr>
              <a:t>"The quality of your prompt determines the quality of your output — every single time."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1533</Words>
  <Application>Microsoft Office PowerPoint</Application>
  <PresentationFormat>On-screen Show (16:9)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– Unit 2</dc:title>
  <dc:subject>PptxGenJS Presentation</dc:subject>
  <dc:creator>PptxGenJS</dc:creator>
  <cp:lastModifiedBy>Masil Gokul Selven S</cp:lastModifiedBy>
  <cp:revision>4</cp:revision>
  <dcterms:created xsi:type="dcterms:W3CDTF">2026-05-30T11:00:38Z</dcterms:created>
  <dcterms:modified xsi:type="dcterms:W3CDTF">2026-06-06T04:46:04Z</dcterms:modified>
</cp:coreProperties>
</file>