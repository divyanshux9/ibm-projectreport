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296C71-F37F-04A3-E43B-2074037F3B7D}" v="61" dt="2026-06-26T11:22:18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0" autoAdjust="0"/>
    <p:restoredTop sz="90066" autoAdjust="0"/>
  </p:normalViewPr>
  <p:slideViewPr>
    <p:cSldViewPr snapToGrid="0" snapToObjects="1">
      <p:cViewPr>
        <p:scale>
          <a:sx n="78" d="100"/>
          <a:sy n="78" d="100"/>
        </p:scale>
        <p:origin x="64" y="-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hik" userId="S::swathik@adroittechnologies.in::d78ea159-0184-4562-b6aa-bbe80c6b055e" providerId="AD" clId="Web-{E1296C71-F37F-04A3-E43B-2074037F3B7D}"/>
    <pc:docChg chg="addSld delSld modSld">
      <pc:chgData name="Swathik" userId="S::swathik@adroittechnologies.in::d78ea159-0184-4562-b6aa-bbe80c6b055e" providerId="AD" clId="Web-{E1296C71-F37F-04A3-E43B-2074037F3B7D}" dt="2026-06-26T11:22:18.262" v="50" actId="14100"/>
      <pc:docMkLst>
        <pc:docMk/>
      </pc:docMkLst>
      <pc:sldChg chg="addSp modSp new">
        <pc:chgData name="Swathik" userId="S::swathik@adroittechnologies.in::d78ea159-0184-4562-b6aa-bbe80c6b055e" providerId="AD" clId="Web-{E1296C71-F37F-04A3-E43B-2074037F3B7D}" dt="2026-06-26T11:21:37.480" v="41" actId="14100"/>
        <pc:sldMkLst>
          <pc:docMk/>
          <pc:sldMk cId="3155115763" sldId="271"/>
        </pc:sldMkLst>
        <pc:spChg chg="add mod">
          <ac:chgData name="Swathik" userId="S::swathik@adroittechnologies.in::d78ea159-0184-4562-b6aa-bbe80c6b055e" providerId="AD" clId="Web-{E1296C71-F37F-04A3-E43B-2074037F3B7D}" dt="2026-06-26T11:21:37.480" v="41" actId="14100"/>
          <ac:spMkLst>
            <pc:docMk/>
            <pc:sldMk cId="3155115763" sldId="271"/>
            <ac:spMk id="2" creationId="{0D99F8C7-B8C5-7A38-2C6B-9F26EA3FA9B7}"/>
          </ac:spMkLst>
        </pc:spChg>
      </pc:sldChg>
      <pc:sldChg chg="new del">
        <pc:chgData name="Swathik" userId="S::swathik@adroittechnologies.in::d78ea159-0184-4562-b6aa-bbe80c6b055e" providerId="AD" clId="Web-{E1296C71-F37F-04A3-E43B-2074037F3B7D}" dt="2026-06-26T11:18:10.101" v="1"/>
        <pc:sldMkLst>
          <pc:docMk/>
          <pc:sldMk cId="4173033450" sldId="271"/>
        </pc:sldMkLst>
      </pc:sldChg>
      <pc:sldChg chg="add">
        <pc:chgData name="Swathik" userId="S::swathik@adroittechnologies.in::d78ea159-0184-4562-b6aa-bbe80c6b055e" providerId="AD" clId="Web-{E1296C71-F37F-04A3-E43B-2074037F3B7D}" dt="2026-06-26T11:18:36.727" v="3"/>
        <pc:sldMkLst>
          <pc:docMk/>
          <pc:sldMk cId="2494004526" sldId="272"/>
        </pc:sldMkLst>
      </pc:sldChg>
      <pc:sldChg chg="add">
        <pc:chgData name="Swathik" userId="S::swathik@adroittechnologies.in::d78ea159-0184-4562-b6aa-bbe80c6b055e" providerId="AD" clId="Web-{E1296C71-F37F-04A3-E43B-2074037F3B7D}" dt="2026-06-26T11:18:37.008" v="4"/>
        <pc:sldMkLst>
          <pc:docMk/>
          <pc:sldMk cId="2007246146" sldId="273"/>
        </pc:sldMkLst>
      </pc:sldChg>
      <pc:sldChg chg="add">
        <pc:chgData name="Swathik" userId="S::swathik@adroittechnologies.in::d78ea159-0184-4562-b6aa-bbe80c6b055e" providerId="AD" clId="Web-{E1296C71-F37F-04A3-E43B-2074037F3B7D}" dt="2026-06-26T11:18:37.211" v="5"/>
        <pc:sldMkLst>
          <pc:docMk/>
          <pc:sldMk cId="1288911656" sldId="274"/>
        </pc:sldMkLst>
      </pc:sldChg>
      <pc:sldChg chg="add">
        <pc:chgData name="Swathik" userId="S::swathik@adroittechnologies.in::d78ea159-0184-4562-b6aa-bbe80c6b055e" providerId="AD" clId="Web-{E1296C71-F37F-04A3-E43B-2074037F3B7D}" dt="2026-06-26T11:18:37.383" v="6"/>
        <pc:sldMkLst>
          <pc:docMk/>
          <pc:sldMk cId="7631053" sldId="275"/>
        </pc:sldMkLst>
      </pc:sldChg>
      <pc:sldChg chg="add">
        <pc:chgData name="Swathik" userId="S::swathik@adroittechnologies.in::d78ea159-0184-4562-b6aa-bbe80c6b055e" providerId="AD" clId="Web-{E1296C71-F37F-04A3-E43B-2074037F3B7D}" dt="2026-06-26T11:18:37.461" v="7"/>
        <pc:sldMkLst>
          <pc:docMk/>
          <pc:sldMk cId="865639380" sldId="276"/>
        </pc:sldMkLst>
      </pc:sldChg>
      <pc:sldChg chg="add">
        <pc:chgData name="Swathik" userId="S::swathik@adroittechnologies.in::d78ea159-0184-4562-b6aa-bbe80c6b055e" providerId="AD" clId="Web-{E1296C71-F37F-04A3-E43B-2074037F3B7D}" dt="2026-06-26T11:18:37.571" v="8"/>
        <pc:sldMkLst>
          <pc:docMk/>
          <pc:sldMk cId="1399183014" sldId="277"/>
        </pc:sldMkLst>
      </pc:sldChg>
      <pc:sldChg chg="add">
        <pc:chgData name="Swathik" userId="S::swathik@adroittechnologies.in::d78ea159-0184-4562-b6aa-bbe80c6b055e" providerId="AD" clId="Web-{E1296C71-F37F-04A3-E43B-2074037F3B7D}" dt="2026-06-26T11:18:37.633" v="9"/>
        <pc:sldMkLst>
          <pc:docMk/>
          <pc:sldMk cId="3935549190" sldId="278"/>
        </pc:sldMkLst>
      </pc:sldChg>
      <pc:sldChg chg="add">
        <pc:chgData name="Swathik" userId="S::swathik@adroittechnologies.in::d78ea159-0184-4562-b6aa-bbe80c6b055e" providerId="AD" clId="Web-{E1296C71-F37F-04A3-E43B-2074037F3B7D}" dt="2026-06-26T11:18:37.774" v="10"/>
        <pc:sldMkLst>
          <pc:docMk/>
          <pc:sldMk cId="3174041252" sldId="279"/>
        </pc:sldMkLst>
      </pc:sldChg>
      <pc:sldChg chg="add">
        <pc:chgData name="Swathik" userId="S::swathik@adroittechnologies.in::d78ea159-0184-4562-b6aa-bbe80c6b055e" providerId="AD" clId="Web-{E1296C71-F37F-04A3-E43B-2074037F3B7D}" dt="2026-06-26T11:18:37.867" v="11"/>
        <pc:sldMkLst>
          <pc:docMk/>
          <pc:sldMk cId="766497063" sldId="280"/>
        </pc:sldMkLst>
      </pc:sldChg>
      <pc:sldChg chg="add">
        <pc:chgData name="Swathik" userId="S::swathik@adroittechnologies.in::d78ea159-0184-4562-b6aa-bbe80c6b055e" providerId="AD" clId="Web-{E1296C71-F37F-04A3-E43B-2074037F3B7D}" dt="2026-06-26T11:18:37.992" v="12"/>
        <pc:sldMkLst>
          <pc:docMk/>
          <pc:sldMk cId="1305064177" sldId="281"/>
        </pc:sldMkLst>
      </pc:sldChg>
      <pc:sldChg chg="add">
        <pc:chgData name="Swathik" userId="S::swathik@adroittechnologies.in::d78ea159-0184-4562-b6aa-bbe80c6b055e" providerId="AD" clId="Web-{E1296C71-F37F-04A3-E43B-2074037F3B7D}" dt="2026-06-26T11:18:38.149" v="13"/>
        <pc:sldMkLst>
          <pc:docMk/>
          <pc:sldMk cId="822359904" sldId="282"/>
        </pc:sldMkLst>
      </pc:sldChg>
      <pc:sldChg chg="add">
        <pc:chgData name="Swathik" userId="S::swathik@adroittechnologies.in::d78ea159-0184-4562-b6aa-bbe80c6b055e" providerId="AD" clId="Web-{E1296C71-F37F-04A3-E43B-2074037F3B7D}" dt="2026-06-26T11:18:38.367" v="14"/>
        <pc:sldMkLst>
          <pc:docMk/>
          <pc:sldMk cId="3067829016" sldId="283"/>
        </pc:sldMkLst>
      </pc:sldChg>
      <pc:sldChg chg="add">
        <pc:chgData name="Swathik" userId="S::swathik@adroittechnologies.in::d78ea159-0184-4562-b6aa-bbe80c6b055e" providerId="AD" clId="Web-{E1296C71-F37F-04A3-E43B-2074037F3B7D}" dt="2026-06-26T11:18:38.430" v="15"/>
        <pc:sldMkLst>
          <pc:docMk/>
          <pc:sldMk cId="1515465280" sldId="284"/>
        </pc:sldMkLst>
      </pc:sldChg>
      <pc:sldChg chg="addSp modSp new">
        <pc:chgData name="Swathik" userId="S::swathik@adroittechnologies.in::d78ea159-0184-4562-b6aa-bbe80c6b055e" providerId="AD" clId="Web-{E1296C71-F37F-04A3-E43B-2074037F3B7D}" dt="2026-06-26T11:22:18.262" v="50" actId="14100"/>
        <pc:sldMkLst>
          <pc:docMk/>
          <pc:sldMk cId="3636685529" sldId="285"/>
        </pc:sldMkLst>
        <pc:spChg chg="add mod">
          <ac:chgData name="Swathik" userId="S::swathik@adroittechnologies.in::d78ea159-0184-4562-b6aa-bbe80c6b055e" providerId="AD" clId="Web-{E1296C71-F37F-04A3-E43B-2074037F3B7D}" dt="2026-06-26T11:22:18.262" v="50" actId="14100"/>
          <ac:spMkLst>
            <pc:docMk/>
            <pc:sldMk cId="3636685529" sldId="285"/>
            <ac:spMk id="2" creationId="{A7E6B0AD-BDF1-1DE6-17BE-793945557544}"/>
          </ac:spMkLst>
        </pc:spChg>
      </pc:sldChg>
      <pc:sldChg chg="add">
        <pc:chgData name="Swathik" userId="S::swathik@adroittechnologies.in::d78ea159-0184-4562-b6aa-bbe80c6b055e" providerId="AD" clId="Web-{E1296C71-F37F-04A3-E43B-2074037F3B7D}" dt="2026-06-26T11:20:30.682" v="17"/>
        <pc:sldMkLst>
          <pc:docMk/>
          <pc:sldMk cId="3574486001" sldId="286"/>
        </pc:sldMkLst>
      </pc:sldChg>
      <pc:sldChg chg="add">
        <pc:chgData name="Swathik" userId="S::swathik@adroittechnologies.in::d78ea159-0184-4562-b6aa-bbe80c6b055e" providerId="AD" clId="Web-{E1296C71-F37F-04A3-E43B-2074037F3B7D}" dt="2026-06-26T11:20:30.932" v="18"/>
        <pc:sldMkLst>
          <pc:docMk/>
          <pc:sldMk cId="3615100369" sldId="287"/>
        </pc:sldMkLst>
      </pc:sldChg>
      <pc:sldChg chg="add">
        <pc:chgData name="Swathik" userId="S::swathik@adroittechnologies.in::d78ea159-0184-4562-b6aa-bbe80c6b055e" providerId="AD" clId="Web-{E1296C71-F37F-04A3-E43B-2074037F3B7D}" dt="2026-06-26T11:20:31.088" v="19"/>
        <pc:sldMkLst>
          <pc:docMk/>
          <pc:sldMk cId="3638796691" sldId="288"/>
        </pc:sldMkLst>
      </pc:sldChg>
      <pc:sldChg chg="add">
        <pc:chgData name="Swathik" userId="S::swathik@adroittechnologies.in::d78ea159-0184-4562-b6aa-bbe80c6b055e" providerId="AD" clId="Web-{E1296C71-F37F-04A3-E43B-2074037F3B7D}" dt="2026-06-26T11:20:31.245" v="20"/>
        <pc:sldMkLst>
          <pc:docMk/>
          <pc:sldMk cId="3231131685" sldId="289"/>
        </pc:sldMkLst>
      </pc:sldChg>
      <pc:sldChg chg="add">
        <pc:chgData name="Swathik" userId="S::swathik@adroittechnologies.in::d78ea159-0184-4562-b6aa-bbe80c6b055e" providerId="AD" clId="Web-{E1296C71-F37F-04A3-E43B-2074037F3B7D}" dt="2026-06-26T11:20:31.370" v="21"/>
        <pc:sldMkLst>
          <pc:docMk/>
          <pc:sldMk cId="895040421" sldId="290"/>
        </pc:sldMkLst>
      </pc:sldChg>
      <pc:sldChg chg="add">
        <pc:chgData name="Swathik" userId="S::swathik@adroittechnologies.in::d78ea159-0184-4562-b6aa-bbe80c6b055e" providerId="AD" clId="Web-{E1296C71-F37F-04A3-E43B-2074037F3B7D}" dt="2026-06-26T11:20:31.479" v="22"/>
        <pc:sldMkLst>
          <pc:docMk/>
          <pc:sldMk cId="3088365861" sldId="291"/>
        </pc:sldMkLst>
      </pc:sldChg>
      <pc:sldChg chg="add">
        <pc:chgData name="Swathik" userId="S::swathik@adroittechnologies.in::d78ea159-0184-4562-b6aa-bbe80c6b055e" providerId="AD" clId="Web-{E1296C71-F37F-04A3-E43B-2074037F3B7D}" dt="2026-06-26T11:20:31.713" v="23"/>
        <pc:sldMkLst>
          <pc:docMk/>
          <pc:sldMk cId="640581506" sldId="292"/>
        </pc:sldMkLst>
      </pc:sldChg>
      <pc:sldChg chg="add">
        <pc:chgData name="Swathik" userId="S::swathik@adroittechnologies.in::d78ea159-0184-4562-b6aa-bbe80c6b055e" providerId="AD" clId="Web-{E1296C71-F37F-04A3-E43B-2074037F3B7D}" dt="2026-06-26T11:20:31.901" v="24"/>
        <pc:sldMkLst>
          <pc:docMk/>
          <pc:sldMk cId="1858717318" sldId="293"/>
        </pc:sldMkLst>
      </pc:sldChg>
      <pc:sldChg chg="add">
        <pc:chgData name="Swathik" userId="S::swathik@adroittechnologies.in::d78ea159-0184-4562-b6aa-bbe80c6b055e" providerId="AD" clId="Web-{E1296C71-F37F-04A3-E43B-2074037F3B7D}" dt="2026-06-26T11:20:32.026" v="25"/>
        <pc:sldMkLst>
          <pc:docMk/>
          <pc:sldMk cId="540724547" sldId="294"/>
        </pc:sldMkLst>
      </pc:sldChg>
      <pc:sldChg chg="add">
        <pc:chgData name="Swathik" userId="S::swathik@adroittechnologies.in::d78ea159-0184-4562-b6aa-bbe80c6b055e" providerId="AD" clId="Web-{E1296C71-F37F-04A3-E43B-2074037F3B7D}" dt="2026-06-26T11:20:32.182" v="26"/>
        <pc:sldMkLst>
          <pc:docMk/>
          <pc:sldMk cId="1777081937" sldId="295"/>
        </pc:sldMkLst>
      </pc:sldChg>
      <pc:sldChg chg="add">
        <pc:chgData name="Swathik" userId="S::swathik@adroittechnologies.in::d78ea159-0184-4562-b6aa-bbe80c6b055e" providerId="AD" clId="Web-{E1296C71-F37F-04A3-E43B-2074037F3B7D}" dt="2026-06-26T11:20:32.354" v="27"/>
        <pc:sldMkLst>
          <pc:docMk/>
          <pc:sldMk cId="4104677287" sldId="296"/>
        </pc:sldMkLst>
      </pc:sldChg>
      <pc:sldChg chg="add">
        <pc:chgData name="Swathik" userId="S::swathik@adroittechnologies.in::d78ea159-0184-4562-b6aa-bbe80c6b055e" providerId="AD" clId="Web-{E1296C71-F37F-04A3-E43B-2074037F3B7D}" dt="2026-06-26T11:20:32.526" v="28"/>
        <pc:sldMkLst>
          <pc:docMk/>
          <pc:sldMk cId="4038645869" sldId="297"/>
        </pc:sldMkLst>
      </pc:sldChg>
      <pc:sldChg chg="add">
        <pc:chgData name="Swathik" userId="S::swathik@adroittechnologies.in::d78ea159-0184-4562-b6aa-bbe80c6b055e" providerId="AD" clId="Web-{E1296C71-F37F-04A3-E43B-2074037F3B7D}" dt="2026-06-26T11:20:32.588" v="29"/>
        <pc:sldMkLst>
          <pc:docMk/>
          <pc:sldMk cId="912765090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358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939DD-B633-B0E4-F187-ED44B09C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B814A-F969-E673-9040-375128BB6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938C6-3167-EEC9-7213-CC061F6A9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6792B-AD57-02D0-B6CE-FBC3C15F6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43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8D54-C443-0D1C-C5D6-F5065587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5F049-2CD5-7B8A-2494-970532740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5127D-2E96-BFAD-EA77-0EBDA6C1C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F96F9-CCFA-E425-98B2-C8CB9CFA7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53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332720" y="4389120"/>
            <a:ext cx="4114800" cy="41148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CAREER EDUCATION  ·  VIT COLLEGE  ·  CORPORATE TRAINING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Software Development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 ·  Applications · SDLC · LLMs · NLP · Tools · Tokens &amp; Cost Estimation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1280160" cy="54864"/>
          </a:xfrm>
          <a:prstGeom prst="rect">
            <a:avLst/>
          </a:prstGeom>
          <a:solidFill>
            <a:srgbClr val="006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4864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      </a:t>
            </a:r>
            <a:r>
              <a:rPr lang="en-US" sz="1300" b="1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Demo + Live Cost Calculation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4406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89888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14081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in Software 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892808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+ 8 key applications across the dev lifecycle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54406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13232" y="2953512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00200" y="2971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Future Trends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456432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Efficiency, Collaboration, NLP, Low-Code, XAI, Ethics &amp; more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25696"/>
            <a:ext cx="54406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13232" y="4517136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00200" y="453542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Across the SDLC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5020056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enhances all 6 phases — Requirements to Maintenance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989320"/>
            <a:ext cx="54406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3232" y="60807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600200" y="60990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6583680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popular models, role in development, limitations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64408" y="1298448"/>
            <a:ext cx="54406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29000" y="1389888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315968" y="14081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and Its Significance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15968" y="1892808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tools, use cases, and ethical considerations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98280" y="2862072"/>
            <a:ext cx="54406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262872" y="2953512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0149840" y="2971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Gen AI Dev Tools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49840" y="3456432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watsonx, CodeWhisperer, Mintlify &amp; more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932152" y="4425696"/>
            <a:ext cx="54406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5096744" y="4517136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5983712" y="453542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Cost Estimation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983712" y="5020056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tokens are, pricing models, and live cost calculation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Software Development  ·  Day 15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CORE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 Software Development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E6F4EC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26464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CORE CONCEPT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produces new content — code, images, text, documentation — that resembles existing data. In software development, it acts as a co-pilot: reading every line of code ever written, suggesting the next line, spotting errors, writing documentation, and generating tests — while YOU focus on architecture and business logic.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269748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265176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Architecture &amp;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3163824"/>
            <a:ext cx="24780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architectural diagrams, software designs, and synthetic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265176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37560" y="2651760"/>
            <a:ext cx="269748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47288" y="265176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Automation of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47288" y="3163824"/>
            <a:ext cx="24780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repetitive tasks and manual processes — boilerplate, scripts, pipelines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265176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2651760"/>
            <a:ext cx="2697480" cy="438912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36208" y="265176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Code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36208" y="3163824"/>
            <a:ext cx="24780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performance bottlenecks, suggests memory and speed improvements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265176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915400" y="2651760"/>
            <a:ext cx="269748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025128" y="265176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Bug Detection &amp;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25128" y="3163824"/>
            <a:ext cx="24780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bugs and vulnerabilities from past patterns — proactive, not reactive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269748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8368" y="443484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Enhancing User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" y="4946904"/>
            <a:ext cx="24780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analyses user feedback, understands sentiment, improves usability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37560" y="443484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337560" y="4434840"/>
            <a:ext cx="2697480" cy="438912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47288" y="443484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Creativity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447288" y="4946904"/>
            <a:ext cx="24780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create innovative UI/UX designs and generate realistic test data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26480" y="443484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26480" y="4434840"/>
            <a:ext cx="269748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36208" y="443484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Code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36208" y="4946904"/>
            <a:ext cx="24780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Restructures code, renames variables, removes duplicates, applies design patterns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915400" y="443484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915400" y="4434840"/>
            <a:ext cx="269748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025128" y="443484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Smart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025128" y="4946904"/>
            <a:ext cx="24780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code and comments to auto-generate descriptive documentation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Software Development  ·  Day 15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8 KEY TRENDS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 of AI in Software Development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69748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269748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1801368"/>
            <a:ext cx="2478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automates data generation, design, and code scaffolding — faster development cycles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298448"/>
            <a:ext cx="269748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37560" y="1298448"/>
            <a:ext cx="269748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47288" y="1298448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47288" y="1801368"/>
            <a:ext cx="2478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expertise + machine ideas = novel software solutions neither could create alone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298448"/>
            <a:ext cx="269748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26480" y="1298448"/>
            <a:ext cx="2697480" cy="438912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36208" y="1298448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Application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1801368"/>
            <a:ext cx="2478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expands into materials science, drug discovery, legal tech — beyond traditional software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1298448"/>
            <a:ext cx="269748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915400" y="1298448"/>
            <a:ext cx="269748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025128" y="1298448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NLP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25128" y="1801368"/>
            <a:ext cx="2478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through voice or plain-language text — coding for non-technical professionals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269748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3108960"/>
            <a:ext cx="269748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" y="310896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/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3611880"/>
            <a:ext cx="2478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AI-driven interfaces democratise software creation — domain experts build their own tools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3108960"/>
            <a:ext cx="269748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337560" y="3108960"/>
            <a:ext cx="2697480" cy="438912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47288" y="310896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(XAI)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47288" y="3611880"/>
            <a:ext cx="2478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decisions become auditable and understandable — essential for regulated industries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3108960"/>
            <a:ext cx="269748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269748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36208" y="310896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36208" y="3611880"/>
            <a:ext cx="2478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supports the ENTIRE SDLC — real-time help in coding, debugging, and documentation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15400" y="3108960"/>
            <a:ext cx="269748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8915400" y="3108960"/>
            <a:ext cx="269748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025128" y="310896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025128" y="3611880"/>
            <a:ext cx="2478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transparency, privacy, accountability — professional obligations, not optional extras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BE6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31520" y="645566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DISCUSSION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Low-Code/No-Code becomes powerful enough, do we still need software engineers? (Answer: YES — architecture, security, validation, edge cases, and ethics still need expert human judgement.)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Software Development  ·  Day 15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6 PHASES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Across the SDLC — Overview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6F4EC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26464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THE 6-PHASE SDLC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Development Lifecycle: Requirements Gathering → Design → Development → Testing → Deployment → Maintenance. Generative AI enhances EVERY phase — automating tasks, improving quality, and accelerating timelines.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892808" cy="385876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892808" cy="475488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1709928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NLP extracts and validates requirements from user inputs automatically. ML detects hidden patterns. AI flags inconsistencies early.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41448" y="416966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42032" y="2423160"/>
            <a:ext cx="1892808" cy="385876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542032" y="2423160"/>
            <a:ext cx="1892808" cy="475488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633472" y="2423160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33472" y="2971800"/>
            <a:ext cx="1709928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historical data to recommend optimal architectures. Identifies proven design patterns. Optimises for performance and scalability.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416966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35424" y="2423160"/>
            <a:ext cx="1892808" cy="385876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35424" y="2423160"/>
            <a:ext cx="1892808" cy="475488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26864" y="2423160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26864" y="2971800"/>
            <a:ext cx="1709928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generate code from prompts. AI supports code completion, refactoring, and static analysis. Finds bugs before they compile.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416966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28816" y="2423160"/>
            <a:ext cx="1892808" cy="385876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528816" y="2423160"/>
            <a:ext cx="1892808" cy="475488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20256" y="2423160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0256" y="2971800"/>
            <a:ext cx="1709928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auto-generates test cases. ML predicts high-risk code areas. Intelligent regression testing adapts to codebase changes.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21624" y="416966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22208" y="2423160"/>
            <a:ext cx="1892808" cy="385876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522208" y="2423160"/>
            <a:ext cx="1892808" cy="475488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613648" y="2423160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13648" y="2971800"/>
            <a:ext cx="1709928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automates deployments for consistency. Monitors performance in real-time. Auto-detects issues and alerts teams instantly.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415016" y="416966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515600" y="2423160"/>
            <a:ext cx="1892808" cy="385876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0515600" y="2423160"/>
            <a:ext cx="1892808" cy="475488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607040" y="2423160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607040" y="2971800"/>
            <a:ext cx="1709928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logs to predict failures before they occur. Suggests optimisations. Recommends bug fixes from historical patterns.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Software Development  ·  Day 15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Applications in the SDLC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148840" cy="49834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2148840" cy="502920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192938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interprets natural-language inputs — making documentation more accurate. AI validates requirements against rules for clarity and consistency.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07208" y="1298448"/>
            <a:ext cx="2148840" cy="49834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807208" y="1298448"/>
            <a:ext cx="2148840" cy="50292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16936" y="1298448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16936" y="1920240"/>
            <a:ext cx="192938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data from successful past projects to suggest scalable, optimised architectures. AI-driven tools propose solutions based on system goals.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65776" y="1298448"/>
            <a:ext cx="2148840" cy="49834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65776" y="1298448"/>
            <a:ext cx="2148840" cy="502920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75504" y="1298448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75504" y="1920240"/>
            <a:ext cx="192938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produce syntactically correct, context-aware code. Support: code prediction, snippet generation, auto-completion, static analysis.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24344" y="1298448"/>
            <a:ext cx="2148840" cy="49834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24344" y="1298448"/>
            <a:ext cx="2148840" cy="502920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434072" y="1298448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34072" y="1920240"/>
            <a:ext cx="192938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and executes test cases. Defect prediction preempts bugs. Targeted regression testing assesses impact of recent changes.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82912" y="1298448"/>
            <a:ext cx="2148840" cy="49834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582912" y="1298448"/>
            <a:ext cx="2148840" cy="50292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692640" y="1298448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DevOps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CI/CD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0" y="1920240"/>
            <a:ext cx="192938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decision-making in build, test, and deploy. Intelligent release management forecasts performance impact. Handles scheduling, resource allocation, and monitoring.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Software Development  ·  Day 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WHAT THEY ARE &amp; HOW THEY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6F4EC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26464"/>
            <a:ext cx="10698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WHAT IS AN LLM?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are advanced AI models trained on massive datasets — books, articles, websites, code repositories. They recognise language patterns, generate coherent text, and perform NLP tasks: text generation, translation, summarisation, sentiment analysis, and Q&amp;A.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An LLM has 'read' everything ever written. It doesn't look things up — it pattern-matches from everything it learned, then COMPOSES a new answer for you.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LARGE LANGUAGE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14884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2148840" cy="411480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30632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3538728"/>
            <a:ext cx="19293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ChatGPT, Microsoft Copilot, and Bing Chat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07208" y="3063240"/>
            <a:ext cx="214884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807208" y="3063240"/>
            <a:ext cx="2148840" cy="411480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16936" y="30632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LaMDA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16936" y="3538728"/>
            <a:ext cx="19293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Google Bard / Gemini conversational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65776" y="3063240"/>
            <a:ext cx="214884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65776" y="3063240"/>
            <a:ext cx="2148840" cy="41148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75504" y="30632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75504" y="3538728"/>
            <a:ext cx="19293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(Open-source)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custom fine-tuning by developers worldwide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24344" y="3063240"/>
            <a:ext cx="214884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24344" y="3063240"/>
            <a:ext cx="2148840" cy="411480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34072" y="30632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34072" y="3538728"/>
            <a:ext cx="19293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 long context and safety-focused design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82912" y="3063240"/>
            <a:ext cx="214884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582912" y="3063240"/>
            <a:ext cx="2148840" cy="411480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692640" y="30632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0" y="3538728"/>
            <a:ext cx="19293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LLM powering IBM watsonx.ai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754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IN SOFTWARE DEVELOPMENT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102352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6F4EC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31520" y="5230368"/>
            <a:ext cx="2331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Code Generation
&amp; Auto-Completion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code from prompts, reduce boilerplate, accelerate coding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37560" y="5102352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E8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520440" y="5230368"/>
            <a:ext cx="2331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Automated Bug
Detection &amp; Fixing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code for syntactic and semantic errors, provide fix suggestions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26480" y="5102352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DDEE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09360" y="5230368"/>
            <a:ext cx="2331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NL Programming
Interfaces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in plain English — 'Sort this list by date descending'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915400" y="5102352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E8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098280" y="5230368"/>
            <a:ext cx="2331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Access to
Expert Knowledge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programming insights — like a senior dev available 24/7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Software Development  ·  Day 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STRENGTHS AND WATCH-OUTS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Capabilities &amp; Limitations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78608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578608" cy="475488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Templates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Snippets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258568"/>
            <a:ext cx="23042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reusable code structures — saving hours of repetitive setup work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36976" y="1691640"/>
            <a:ext cx="2578608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36976" y="1691640"/>
            <a:ext cx="2578608" cy="475488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74136" y="169164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Documentation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74136" y="2258568"/>
            <a:ext cx="23042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function docs and comments from existing code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25312" y="1691640"/>
            <a:ext cx="2578608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25312" y="1691640"/>
            <a:ext cx="2578608" cy="475488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62472" y="169164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62472" y="2258568"/>
            <a:ext cx="23042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 cases, validate outputs — 40–60% less manual testing effort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13648" y="1691640"/>
            <a:ext cx="2578608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13648" y="1691640"/>
            <a:ext cx="2578608" cy="475488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750808" y="169164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750808" y="2258568"/>
            <a:ext cx="23042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pair programming assistance — junior devs get senior-level feedback instantly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3456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2578608" cy="2450592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578608" cy="475488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384048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" y="4407408"/>
            <a:ext cx="230428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reflect biases in training data — outputs may favour certain languages, styles, or approaches. Audit regularly.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36976" y="3840480"/>
            <a:ext cx="2578608" cy="2450592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36976" y="3840480"/>
            <a:ext cx="2578608" cy="475488"/>
          </a:xfrm>
          <a:prstGeom prst="rect">
            <a:avLst/>
          </a:prstGeom>
          <a:solidFill>
            <a:srgbClr val="FFFB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74136" y="384048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Privacy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374136" y="4407408"/>
            <a:ext cx="230428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API keys, customer data, or proprietary code into a public LLM. Use private/on-premises deployments.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25312" y="3840480"/>
            <a:ext cx="2578608" cy="2450592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925312" y="3840480"/>
            <a:ext cx="2578608" cy="475488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062472" y="384048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062472" y="4407408"/>
            <a:ext cx="230428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struggle with highly intricate, domain-specific code. They are NOT substitutes for deep programming expertise.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613648" y="3840480"/>
            <a:ext cx="2578608" cy="2450592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613648" y="3840480"/>
            <a:ext cx="2578608" cy="475488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50808" y="384048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750808" y="4407408"/>
            <a:ext cx="230428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can look correct but fail under edge cases. Always treat it as a first draft — test thoroughly.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Software Development  ·  Day 15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CONCEPTS &amp; 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2646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WHAT IS NLP?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the branch of AI that enables computers to understand, interpret, and generate human language — combining linguistics, computer science, and machine learning. It powers chatbots, translation, sentiment analysis, text summarisation, and information extraction.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NLP COMPONENTS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50292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329184" cy="329184"/>
          </a:xfrm>
          <a:prstGeom prst="ellipse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51560" y="270662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23160" y="270662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word structures — 'running' = 'run' + '-ing'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50292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329184" cy="329184"/>
          </a:xfrm>
          <a:prstGeom prst="ellipse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51560" y="327355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23160" y="327355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words combine to form correct sentences — subject-verb-object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0292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329184" cy="329184"/>
          </a:xfrm>
          <a:prstGeom prst="ellipse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51560" y="384048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23160" y="384048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conveyed — 'bank' means different things in different contexts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07408"/>
            <a:ext cx="50292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0080" y="4498848"/>
            <a:ext cx="329184" cy="329184"/>
          </a:xfrm>
          <a:prstGeom prst="ellipse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51560" y="44074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23160" y="440740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text into smaller units — 'Hello World' → ['Hello', 'World']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74336"/>
            <a:ext cx="50292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0080" y="5065776"/>
            <a:ext cx="329184" cy="329184"/>
          </a:xfrm>
          <a:prstGeom prst="ellipse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51560" y="497433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423160" y="497433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words to their root — 'running' → 'run'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0" y="23591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USE CASES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2706624"/>
            <a:ext cx="5303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00800" y="2706624"/>
            <a:ext cx="5303520" cy="475488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37960" y="270662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537960" y="3273552"/>
            <a:ext cx="5029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positive/negative/neutral emotions in text — customer feedback, reviews, social media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0" y="3374136"/>
            <a:ext cx="5303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400800" y="3374136"/>
            <a:ext cx="5303520" cy="475488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37960" y="337413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(NER)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537960" y="3941064"/>
            <a:ext cx="5029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people, organisations, locations — for info retrieval and content tagging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4041648"/>
            <a:ext cx="5303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400800" y="4041648"/>
            <a:ext cx="5303520" cy="475488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37960" y="40416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537960" y="4608576"/>
            <a:ext cx="5029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Categorises text automatically — spam vs. not spam, topic labelling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0" y="4709160"/>
            <a:ext cx="5303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400800" y="4709160"/>
            <a:ext cx="5303520" cy="475488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537960" y="47091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537960" y="5276088"/>
            <a:ext cx="5029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between languages — seq-to-seq models with attention mechanisms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0" y="5376672"/>
            <a:ext cx="5303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400800" y="5376672"/>
            <a:ext cx="5303520" cy="475488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37960" y="537667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537960" y="5943600"/>
            <a:ext cx="5029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 inputs and respond meaningfully — intent recognition and dialogue flow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Software Development  ·  Day 15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TOOL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Gen AI Tools for Software Development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548640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r>
              <a:rPr lang="en-US" sz="11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Code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01368"/>
            <a:ext cx="5212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code suggestions, function completion, boilerplate — in VS Code, JetBrains &amp; more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298448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0" y="1298448"/>
            <a:ext cx="548640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37960" y="129844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GPT-4</a:t>
            </a:r>
            <a:r>
              <a:rPr lang="en-US" sz="11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General LLM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1801368"/>
            <a:ext cx="5212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architecture advice, debugging, documentation — in plain English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2825496"/>
            <a:ext cx="5486400" cy="438912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2825496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CodeWhisperer</a:t>
            </a:r>
            <a:r>
              <a:rPr lang="en-US" sz="1150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Code Generation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328416"/>
            <a:ext cx="5212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AWS-optimised suggestions + built-in security scanning — for Lambda, DynamoDB, S3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825496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00800" y="2825496"/>
            <a:ext cx="548640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37960" y="2825496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Tabnine</a:t>
            </a:r>
            <a:r>
              <a:rPr lang="en-US" sz="11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Code Completion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328416"/>
            <a:ext cx="5212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on YOUR codebase — follows your team's exact coding standards and patterns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52544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4352544"/>
            <a:ext cx="548640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" y="435254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Code</a:t>
            </a:r>
            <a:r>
              <a:rPr lang="en-US" sz="11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Enterprise Code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855464"/>
            <a:ext cx="5212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modernisation, COBOL-to-Java transformation, enterprise governance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352544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00800" y="4352544"/>
            <a:ext cx="5486400" cy="438912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37960" y="435254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Ghostwriter</a:t>
            </a:r>
            <a:r>
              <a:rPr lang="en-US" sz="1150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Code Generation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4855464"/>
            <a:ext cx="5212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AI coding — generation, explanation, debugging in any language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79592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48640" y="5879592"/>
            <a:ext cx="5486400" cy="43891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5800" y="587959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DeepCode / Snyk</a:t>
            </a:r>
            <a:r>
              <a:rPr lang="en-US" sz="11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Security Scanning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6382512"/>
            <a:ext cx="5212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vulnerability detection — catches security issues before they reach production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5879592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400800" y="5879592"/>
            <a:ext cx="5486400" cy="43891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37960" y="587959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Mintlify</a:t>
            </a:r>
            <a:r>
              <a:rPr lang="en-US" sz="11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Documentation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6382512"/>
            <a:ext cx="5212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developer docs from code — keeps documentation up-to-date automatically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Software Development  ·  Day 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CORE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 Generative AI — What They Are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E6F4EC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26464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WHAT IS A TOKEN?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the fundamental fragments the API breaks text into before processing. They are NOT exactly words — they can be parts of words, trailing spaces, or punctuation. The API shares a token budget between your prompt AND the model's response — exceed the limit and the response gets cut off.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TOKEN GUIDELINES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80944"/>
            <a:ext cx="54864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98094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29809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characters in English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298094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¾ of a word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5486400" cy="530352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/>
          <a:effectLst>
            <a:outerShdw blurRad="254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57530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tokens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35753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75 words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57530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one short paragraph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69664"/>
            <a:ext cx="54864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16966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sentences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41696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tokens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416966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conversational exchange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64024"/>
            <a:ext cx="5486400" cy="530352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/>
          <a:effectLst>
            <a:outerShdw blurRad="254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476402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paragraph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47640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100 tokens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47640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paragraph of prose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58384"/>
            <a:ext cx="54864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53583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words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53583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2,048 tokens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0" y="535838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 pages of text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952744"/>
            <a:ext cx="5486400" cy="530352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/>
          <a:effectLst>
            <a:outerShdw blurRad="254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0080" y="595274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tokens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194560" y="59527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750 words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97680" y="595274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API billing unit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0" y="2633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MODEL PRICING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80944"/>
          <a:ext cx="5577840" cy="364845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/1K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gpt-4-32k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GPT-3.5-Turbo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gpt-3.5-turbo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DALL-E 3 Std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1024×1024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$0.040 / img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DALL-E 3 HD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1024×1024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$0.080 / img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Interpreter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Interpreter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 / 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6400800" y="662025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Prices as of writing — check openai.com/pricing for current rates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Software Development  ·  Day 15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CALCULATE BEFORE YOU BUILD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 Estimation — Live Worked Example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2646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EXAMPLE PROMPT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"Can you provide a brief overview of the benefits of exercise?"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GPT-4 · Input price: $0.03/1K tokens · Output price: $0.06/1K tokens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2505456"/>
            <a:ext cx="402336" cy="402336"/>
          </a:xfrm>
          <a:prstGeom prst="ellipse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008" y="23957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words in prompt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239572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provide a brief overview of the benefits of exercise?"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81160" y="2395728"/>
            <a:ext cx="2286000" cy="62179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281160" y="239572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words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85800" y="3200400"/>
            <a:ext cx="402336" cy="402336"/>
          </a:xfrm>
          <a:prstGeom prst="ellipse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309067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words to tokens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30906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words ÷ 0.75 words/token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81160" y="3090672"/>
            <a:ext cx="2286000" cy="621792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281160" y="30906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tokens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78561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5800" y="3895344"/>
            <a:ext cx="402336" cy="402336"/>
          </a:xfrm>
          <a:prstGeom prst="ellipse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7008" y="378561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prompt cost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069080" y="378561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÷ 1000) × $0.03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81160" y="3785616"/>
            <a:ext cx="2286000" cy="62179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281160" y="378561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$0.00036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85800" y="4590288"/>
            <a:ext cx="402336" cy="402336"/>
          </a:xfrm>
          <a:prstGeom prst="ellipse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85800" y="4590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07008" y="44805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output tokens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069080" y="448056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word output ÷ 0.75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281160" y="4480560"/>
            <a:ext cx="2286000" cy="621792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281160" y="44805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667 tokens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175504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85800" y="5285232"/>
            <a:ext cx="402336" cy="402336"/>
          </a:xfrm>
          <a:prstGeom prst="ellipse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85800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07008" y="51755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output cost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069080" y="517550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(667 ÷ 1000) × $0.06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281160" y="5175504"/>
            <a:ext cx="2286000" cy="621792"/>
          </a:xfrm>
          <a:prstGeom prst="rect">
            <a:avLst/>
          </a:prstGeom>
          <a:solidFill>
            <a:srgbClr val="DD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281160" y="51755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$0.04002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587044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85800" y="5980176"/>
            <a:ext cx="402336" cy="402336"/>
          </a:xfrm>
          <a:prstGeom prst="ellipse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85800" y="5980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07008" y="587044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per call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069080" y="587044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$0.00036 + $0.04002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281160" y="5870448"/>
            <a:ext cx="2286000" cy="621792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9281160" y="58704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$0.04038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48640" y="6437376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FFFBE6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315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SCALE: 1,000 calls/day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$0.04038 × 1,000 = $40.38/day  ·  $40.38 × 30 = $1,211.40/month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080760" y="6437376"/>
            <a:ext cx="5349240" cy="420624"/>
          </a:xfrm>
          <a:prstGeom prst="roundRect">
            <a:avLst>
              <a:gd name="adj" fmla="val 17391"/>
            </a:avLst>
          </a:prstGeom>
          <a:solidFill>
            <a:srgbClr val="F0E8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263640" y="656539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LESSON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GPT-4 when GPT-3.5-Turbo would suffice costs 30× more. Model selection = cost engineering.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Software Development  ·  Day 15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CB114-046E-F891-A17C-C4225415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CB6E6DD-E51B-FB42-5E51-0B079B911EF5}"/>
              </a:ext>
            </a:extLst>
          </p:cNvPr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0D3F68-AEBB-63D8-4F02-3B7466D523BA}"/>
              </a:ext>
            </a:extLst>
          </p:cNvPr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3AAF0E5F-6887-EEAD-5925-3802623C0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536" y="0"/>
            <a:ext cx="7600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48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C3812-A545-F897-8B12-CB304BC4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0509CC4-8676-D18B-B4EB-BE4B65DC7853}"/>
              </a:ext>
            </a:extLst>
          </p:cNvPr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CF34FF-51FF-49B6-2998-B79EC6558AFD}"/>
              </a:ext>
            </a:extLst>
          </p:cNvPr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25807-1F86-655D-79DC-F15B87402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70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1A3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Gen AI has 8 core applications in software development — from architecture and code generation to bug detection, refactoring, and smart documentation.</a:t>
            </a:r>
            <a:endParaRPr lang="en-US" sz="14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8 future trends will reshape the field: efficiency, collaboration, new domains, enhanced NLP, low-code/no-code, XAI, intelligent assistants, and ethical AI.</a:t>
            </a:r>
            <a:endParaRPr lang="en-US" sz="14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Gen AI enhances ALL 6 SDLC phases — automating requirements analysis, design, code generation, testing, deployment, and maintenance.</a:t>
            </a:r>
            <a:endParaRPr lang="en-US" sz="14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LLMs (GPT-4, Gemini, Claude, LLaMA, Granite) power code generation, bug detection, NL programming, and expert knowledge access — with mandatory human oversight.</a:t>
            </a:r>
            <a:endParaRPr lang="en-US" sz="14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NLP enables sentiment analysis, NER, text classification, translation, and chatbots — with ethics around privacy, bias, fairness, and accountability.</a:t>
            </a:r>
            <a:endParaRPr lang="en-US" sz="14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Tokens are the currency of AI APIs: 1 token ≈ 4 chars ≈ ¾ word. Model selection and token cost estimation are critical professional skills.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1280160" cy="54864"/>
          </a:xfrm>
          <a:prstGeom prst="rect">
            <a:avLst/>
          </a:prstGeom>
          <a:solidFill>
            <a:srgbClr val="006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5230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59253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 ·  Generative AI for Software Development  ·  IBM Career Education  ·  VIT College  ·  Adroit ACE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99F8C7-B8C5-7A38-2C6B-9F26EA3FA9B7}"/>
              </a:ext>
            </a:extLst>
          </p:cNvPr>
          <p:cNvSpPr txBox="1"/>
          <p:nvPr/>
        </p:nvSpPr>
        <p:spPr>
          <a:xfrm>
            <a:off x="3767504" y="2329771"/>
            <a:ext cx="908588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 b="1">
                <a:ea typeface="Calibri"/>
                <a:cs typeface="Calibri"/>
              </a:rPr>
              <a:t>DAY 17</a:t>
            </a:r>
            <a:endParaRPr lang="en-US" sz="9600" b="1"/>
          </a:p>
        </p:txBody>
      </p:sp>
    </p:spTree>
    <p:extLst>
      <p:ext uri="{BB962C8B-B14F-4D97-AF65-F5344CB8AC3E}">
        <p14:creationId xmlns:p14="http://schemas.microsoft.com/office/powerpoint/2010/main" val="3155115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389120"/>
            <a:ext cx="4114800" cy="41148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CAREER EDUCATION  ·  VIT COLLEGE  ·  CORPORATE TRAINING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of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·  Benefits, Risks, LLM Threats, Analytics, Incident Response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1280160" cy="54864"/>
          </a:xfrm>
          <a:prstGeom prst="rect">
            <a:avLst/>
          </a:prstGeom>
          <a:solidFill>
            <a:srgbClr val="006D8F"/>
          </a:solidFill>
          <a:ln/>
        </p:spPr>
      </p:sp>
    </p:spTree>
    <p:extLst>
      <p:ext uri="{BB962C8B-B14F-4D97-AF65-F5344CB8AC3E}">
        <p14:creationId xmlns:p14="http://schemas.microsoft.com/office/powerpoint/2010/main" val="2494004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Topics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AI vs Generative AI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17320" y="17556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generative AI differs and why it matters for cybersecurity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46888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Applications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17320" y="28529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tasks where Gen AI is transforming threat detection and response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56616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5661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Cybersecurity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17320" y="39502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Passkeys, deepfakes, and combating AI hallucinations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59028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66344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46634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Risks &amp; Bias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17320" y="50474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security risks and 9 types of bias in language models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68756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576072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17320" y="5760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 of Gen AI Tools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17320" y="61447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data quality, and transparency concerns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82512" y="129844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9672" y="137160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251192" y="1371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Analytics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51192" y="17556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types of analytics and the StreamCraft case study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82512" y="239572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19672" y="246888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251192" y="24688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 &amp; Threats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251192" y="28529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against threats targeting AI models themselves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82512" y="349300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19672" y="356616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251192" y="35661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Attacks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251192" y="39502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data leakage, sandboxing, code execution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82512" y="459028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519672" y="466344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251192" y="46634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Defense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251192" y="50474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EDR, SIEM, and the real cost of a data breach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82512" y="568756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19672" y="576072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251192" y="5760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&amp; Forensics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251192" y="61447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IR process and Gen AI-powered playbooks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07246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AI vs Generative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82296" cy="182880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819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4983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and task-specific. Operates on static, predefined rules and historical data. Good at structured, rule-based tasks.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463040"/>
            <a:ext cx="82296" cy="1828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819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029968"/>
            <a:ext cx="4983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and original. Adaptive, continuously improving, and capable of open-ended, imaginative problem-solving and human-like comprehension.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BENEFITS OF GENERATIVE AI IN CYBERSECURITY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21488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005072"/>
            <a:ext cx="82296" cy="210312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239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to Novel Threats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572000"/>
            <a:ext cx="1737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solutions for previously unseen risks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88920" y="4005072"/>
            <a:ext cx="21488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88920" y="4005072"/>
            <a:ext cx="82296" cy="210312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41239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Playbook Creation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4572000"/>
            <a:ext cx="1737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refines incident response strategies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0" y="4005072"/>
            <a:ext cx="21488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4005072"/>
            <a:ext cx="82296" cy="210312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41239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4572000"/>
            <a:ext cx="1737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and improves security protocols over time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69480" y="4005072"/>
            <a:ext cx="21488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69480" y="4005072"/>
            <a:ext cx="82296" cy="210312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1239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Response Time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98080" y="4572000"/>
            <a:ext cx="1737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detection, analysis, and response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509760" y="4005072"/>
            <a:ext cx="21488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09760" y="4005072"/>
            <a:ext cx="82296" cy="210312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32" name="Text 30"/>
          <p:cNvSpPr/>
          <p:nvPr/>
        </p:nvSpPr>
        <p:spPr>
          <a:xfrm>
            <a:off x="9738360" y="41239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Threat Creativity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38360" y="4572000"/>
            <a:ext cx="1737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subtle anomalies conventional AI misses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88911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Applications Across Cybersecurity Tasks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82296" cy="160020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447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&amp; Forecasting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future attacks from historical threat patterns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325880"/>
            <a:ext cx="82296" cy="160020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4447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189280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cyberattacks to train response teams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325880"/>
            <a:ext cx="82296" cy="16002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4447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Threat Hunting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189280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scans for suspicious behaviour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17520"/>
            <a:ext cx="82296" cy="16002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136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Alerts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58444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accurate, real-time threat alerts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301752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3017520"/>
            <a:ext cx="82296" cy="160020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136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358444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attacks to prioritise patching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301752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0" y="3017520"/>
            <a:ext cx="82296" cy="160020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27" name="Text 25"/>
          <p:cNvSpPr/>
          <p:nvPr/>
        </p:nvSpPr>
        <p:spPr>
          <a:xfrm>
            <a:off x="8275320" y="3136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Behaviour Analytics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75320" y="358444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insider threats via behaviour deviation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709160"/>
            <a:ext cx="82296" cy="16002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8280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Compliance Management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27608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security policies aligned with regulations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631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Cybersecurity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6F4E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+ Cybersecurity Symbiosis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strengthens the other — AI improves defense, cybersecurity drives more robust AI models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DDEE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45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to Passkeys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FIDO-standard passkeys eliminate passwords, reducing phishing and credential-theft risk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0E8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60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Threats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754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focus from detecting fakes to verification systems independent of content authenticity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9776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BE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160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Combating Hallucinations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754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 grounds AI answers in real data to reduce false outputs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65639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Risks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 SECURITY &amp; PRIVACY RISKS OF LLMS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0E8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DDEEF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0E8FF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Sandboxing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169164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DDEEFF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15768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0E8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157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Attacks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2715768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DDEE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7157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Attacks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715768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0E8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7157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15400" y="2715768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DDEEFF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27157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Violations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TYPES OF BIAS IN LLMS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BE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2519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Bias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04872" y="425196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BE6"/>
          </a:solidFill>
          <a:ln/>
        </p:spPr>
      </p:sp>
      <p:sp>
        <p:nvSpPr>
          <p:cNvPr id="26" name="Text 24"/>
          <p:cNvSpPr/>
          <p:nvPr/>
        </p:nvSpPr>
        <p:spPr>
          <a:xfrm>
            <a:off x="2478024" y="42519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Bias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61104" y="425196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BE6"/>
          </a:solidFill>
          <a:ln/>
        </p:spPr>
      </p:sp>
      <p:sp>
        <p:nvSpPr>
          <p:cNvPr id="28" name="Text 26"/>
          <p:cNvSpPr/>
          <p:nvPr/>
        </p:nvSpPr>
        <p:spPr>
          <a:xfrm>
            <a:off x="4334256" y="42519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Bias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17336" y="425196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BE6"/>
          </a:solidFill>
          <a:ln/>
        </p:spPr>
      </p:sp>
      <p:sp>
        <p:nvSpPr>
          <p:cNvPr id="30" name="Text 28"/>
          <p:cNvSpPr/>
          <p:nvPr/>
        </p:nvSpPr>
        <p:spPr>
          <a:xfrm>
            <a:off x="6190488" y="42519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73568" y="425196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BE6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42519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Attribution Bias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829800" y="425196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BE6"/>
          </a:solidFill>
          <a:ln/>
        </p:spPr>
      </p:sp>
      <p:sp>
        <p:nvSpPr>
          <p:cNvPr id="34" name="Text 32"/>
          <p:cNvSpPr/>
          <p:nvPr/>
        </p:nvSpPr>
        <p:spPr>
          <a:xfrm>
            <a:off x="9902952" y="42519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Bias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12064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BE6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" y="512064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Bias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404872" y="512064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BE6"/>
          </a:solidFill>
          <a:ln/>
        </p:spPr>
      </p:sp>
      <p:sp>
        <p:nvSpPr>
          <p:cNvPr id="38" name="Text 36"/>
          <p:cNvSpPr/>
          <p:nvPr/>
        </p:nvSpPr>
        <p:spPr>
          <a:xfrm>
            <a:off x="2478024" y="512064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Bias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61104" y="512064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BE6"/>
          </a:solidFill>
          <a:ln/>
        </p:spPr>
      </p:sp>
      <p:sp>
        <p:nvSpPr>
          <p:cNvPr id="40" name="Text 38"/>
          <p:cNvSpPr/>
          <p:nvPr/>
        </p:nvSpPr>
        <p:spPr>
          <a:xfrm>
            <a:off x="4334256" y="512064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Bias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99183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 of Using Generative AI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E6F4E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may unintentionally retain and reproduce sensitive personal data from training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53128" y="182880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DDEEFF"/>
          </a:solidFill>
          <a:ln/>
        </p:spPr>
      </p:sp>
      <p:sp>
        <p:nvSpPr>
          <p:cNvPr id="9" name="Text 7"/>
          <p:cNvSpPr/>
          <p:nvPr/>
        </p:nvSpPr>
        <p:spPr>
          <a:xfrm>
            <a:off x="4681728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Training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81728" y="2788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Biased, incomplete, or inaccurate training data leads to unreliable or insecure outputs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57616" y="182880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0E8FF"/>
          </a:solidFill>
          <a:ln/>
        </p:spPr>
      </p:sp>
      <p:sp>
        <p:nvSpPr>
          <p:cNvPr id="12" name="Text 10"/>
          <p:cNvSpPr/>
          <p:nvPr/>
        </p:nvSpPr>
        <p:spPr>
          <a:xfrm>
            <a:off x="8586216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86216" y="2788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'Black box' decision-making makes it hard to validate AI content or trace reasoning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35549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Analytics Using Generative 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TYPES OF CYBERSECURITY ANALYTICS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62763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70632" y="1627632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DDEEFF"/>
          </a:solidFill>
          <a:ln/>
        </p:spPr>
      </p:sp>
      <p:sp>
        <p:nvSpPr>
          <p:cNvPr id="9" name="Text 7"/>
          <p:cNvSpPr/>
          <p:nvPr/>
        </p:nvSpPr>
        <p:spPr>
          <a:xfrm>
            <a:off x="2843784" y="162763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92624" y="1627632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</p:spPr>
      </p:sp>
      <p:sp>
        <p:nvSpPr>
          <p:cNvPr id="11" name="Text 9"/>
          <p:cNvSpPr/>
          <p:nvPr/>
        </p:nvSpPr>
        <p:spPr>
          <a:xfrm>
            <a:off x="5065776" y="162763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14616" y="1627632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/>
        </p:spPr>
      </p:sp>
      <p:sp>
        <p:nvSpPr>
          <p:cNvPr id="13" name="Text 11"/>
          <p:cNvSpPr/>
          <p:nvPr/>
        </p:nvSpPr>
        <p:spPr>
          <a:xfrm>
            <a:off x="7287768" y="162763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436608" y="1627632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DDEEFF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0" y="162763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203704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203704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70632" y="2203704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/>
        </p:spPr>
      </p:sp>
      <p:sp>
        <p:nvSpPr>
          <p:cNvPr id="19" name="Text 17"/>
          <p:cNvSpPr/>
          <p:nvPr/>
        </p:nvSpPr>
        <p:spPr>
          <a:xfrm>
            <a:off x="2843784" y="2203704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Risk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92624" y="2203704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DDEE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65776" y="2203704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14616" y="2203704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87768" y="2203704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36608" y="2203704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/>
        </p:spPr>
      </p:sp>
      <p:sp>
        <p:nvSpPr>
          <p:cNvPr id="25" name="Text 23"/>
          <p:cNvSpPr/>
          <p:nvPr/>
        </p:nvSpPr>
        <p:spPr>
          <a:xfrm>
            <a:off x="9509760" y="2203704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2779776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DDEE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2779776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70632" y="2779776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</p:spPr>
      </p:sp>
      <p:sp>
        <p:nvSpPr>
          <p:cNvPr id="29" name="Text 27"/>
          <p:cNvSpPr/>
          <p:nvPr/>
        </p:nvSpPr>
        <p:spPr>
          <a:xfrm>
            <a:off x="2843784" y="2779776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92624" y="2779776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/>
        </p:spPr>
      </p:sp>
      <p:sp>
        <p:nvSpPr>
          <p:cNvPr id="31" name="Text 29"/>
          <p:cNvSpPr/>
          <p:nvPr/>
        </p:nvSpPr>
        <p:spPr>
          <a:xfrm>
            <a:off x="5065776" y="2779776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14616" y="2779776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DDEEFF"/>
          </a:solidFill>
          <a:ln/>
        </p:spPr>
      </p:sp>
      <p:sp>
        <p:nvSpPr>
          <p:cNvPr id="33" name="Text 31"/>
          <p:cNvSpPr/>
          <p:nvPr/>
        </p:nvSpPr>
        <p:spPr>
          <a:xfrm>
            <a:off x="7287768" y="2779776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Security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436608" y="2779776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</p:spPr>
      </p:sp>
      <p:sp>
        <p:nvSpPr>
          <p:cNvPr id="35" name="Text 33"/>
          <p:cNvSpPr/>
          <p:nvPr/>
        </p:nvSpPr>
        <p:spPr>
          <a:xfrm>
            <a:off x="9509760" y="2779776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657600"/>
            <a:ext cx="11064240" cy="2606040"/>
          </a:xfrm>
          <a:prstGeom prst="roundRect">
            <a:avLst>
              <a:gd name="adj" fmla="val 2807"/>
            </a:avLst>
          </a:prstGeom>
          <a:solidFill>
            <a:srgbClr val="1A3560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3840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STREAMCRAFT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724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platform used Generative AI (GPTs, GANs, XAI) across data ingestion, feature engineering, and deployment to break through the recommendation 'filter bubble' and boost content discovery.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" y="5166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77240" y="5669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Time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343400" y="5166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343400" y="5669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Discovery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909560" y="5166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909560" y="5669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74041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Filtering, Monitoring &amp; Threats on Gen AI Models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 OF GEN AI IN CONTENT FILTERING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493776"/>
          </a:xfrm>
          <a:prstGeom prst="roundRect">
            <a:avLst>
              <a:gd name="adj" fmla="val 9259"/>
            </a:avLst>
          </a:prstGeom>
          <a:solidFill>
            <a:srgbClr val="E6F4E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5394960" cy="493776"/>
          </a:xfrm>
          <a:prstGeom prst="roundRect">
            <a:avLst>
              <a:gd name="adj" fmla="val 9259"/>
            </a:avLst>
          </a:prstGeom>
          <a:solidFill>
            <a:srgbClr val="DDEE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128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Detection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5394960" cy="493776"/>
          </a:xfrm>
          <a:prstGeom prst="roundRect">
            <a:avLst>
              <a:gd name="adj" fmla="val 9259"/>
            </a:avLst>
          </a:prstGeom>
          <a:solidFill>
            <a:srgbClr val="E6F4E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79776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Analysis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5394960" cy="493776"/>
          </a:xfrm>
          <a:prstGeom prst="roundRect">
            <a:avLst>
              <a:gd name="adj" fmla="val 9259"/>
            </a:avLst>
          </a:prstGeom>
          <a:solidFill>
            <a:srgbClr val="DDEE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46704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Analysis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5394960" cy="493776"/>
          </a:xfrm>
          <a:prstGeom prst="roundRect">
            <a:avLst>
              <a:gd name="adj" fmla="val 9259"/>
            </a:avLst>
          </a:prstGeom>
          <a:solidFill>
            <a:srgbClr val="E6F4E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1363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Policy Adaptation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12984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THREATS ON GEN AI MODELS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645920"/>
            <a:ext cx="5394960" cy="493776"/>
          </a:xfrm>
          <a:prstGeom prst="roundRect">
            <a:avLst>
              <a:gd name="adj" fmla="val 9259"/>
            </a:avLst>
          </a:prstGeom>
          <a:solidFill>
            <a:srgbClr val="F0E8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64592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212848"/>
            <a:ext cx="5394960" cy="493776"/>
          </a:xfrm>
          <a:prstGeom prst="roundRect">
            <a:avLst>
              <a:gd name="adj" fmla="val 9259"/>
            </a:avLst>
          </a:prstGeom>
          <a:solidFill>
            <a:srgbClr val="FFFBE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2128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2779776"/>
            <a:ext cx="5394960" cy="493776"/>
          </a:xfrm>
          <a:prstGeom prst="roundRect">
            <a:avLst>
              <a:gd name="adj" fmla="val 9259"/>
            </a:avLst>
          </a:prstGeom>
          <a:solidFill>
            <a:srgbClr val="F0E8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779776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Training Data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346704"/>
            <a:ext cx="5394960" cy="493776"/>
          </a:xfrm>
          <a:prstGeom prst="roundRect">
            <a:avLst>
              <a:gd name="adj" fmla="val 9259"/>
            </a:avLst>
          </a:prstGeom>
          <a:solidFill>
            <a:srgbClr val="FFFBE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346704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Breaches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913632"/>
            <a:ext cx="5394960" cy="493776"/>
          </a:xfrm>
          <a:prstGeom prst="roundRect">
            <a:avLst>
              <a:gd name="adj" fmla="val 9259"/>
            </a:avLst>
          </a:prstGeom>
          <a:solidFill>
            <a:srgbClr val="F0E8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91363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Outputs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content filtering and threat awareness protect the confidentiality, integrity, and availability of organisational data — and ensure AI models themselves remain trustworthy and secure.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66497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Against NLP-Based Attacks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E6F4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8308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2368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inputs bypass filters or access sensitive info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DDEEFF"/>
          </a:solidFill>
          <a:ln/>
        </p:spPr>
      </p:sp>
      <p:sp>
        <p:nvSpPr>
          <p:cNvPr id="9" name="Text 7"/>
          <p:cNvSpPr/>
          <p:nvPr/>
        </p:nvSpPr>
        <p:spPr>
          <a:xfrm>
            <a:off x="3502152" y="178308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02152" y="2743200"/>
            <a:ext cx="2368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may reveal confidential or memorised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0E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78308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Sandboxing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91072" y="2743200"/>
            <a:ext cx="2368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isolation allows unintended system access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15544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BE6"/>
          </a:solidFill>
          <a:ln/>
        </p:spPr>
      </p:sp>
      <p:sp>
        <p:nvSpPr>
          <p:cNvPr id="15" name="Text 13"/>
          <p:cNvSpPr/>
          <p:nvPr/>
        </p:nvSpPr>
        <p:spPr>
          <a:xfrm>
            <a:off x="9079992" y="178308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Code Execution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79992" y="2743200"/>
            <a:ext cx="2368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input triggers unsafe operations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vulnerability has specific, learnable prevention strategies — input sanitisation, sandboxing, access control, and continuous monitoring.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05064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Defense &amp; The Cost of a Data Breach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82296" cy="146304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819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(Endpoint Detection &amp; Response)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monitoring of individual devices in real time to quickly detect and respond to threats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463040"/>
            <a:ext cx="82296" cy="1463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819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(Security Information &amp; Event Management)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029968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Centralises and correlates security data across systems for fast incident detection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1A356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$4.45M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breach cost (2023)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37560" y="320040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1A35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 days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7472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detection delay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20040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1A3560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$1.76M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6364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by extensive AI users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15400" y="320040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1A3560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05256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involving cloud data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RECOMMENDATIONS TO REDUCE RISK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FFFBE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394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Measures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70632" y="5394960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FFFBE6"/>
          </a:solidFill>
          <a:ln/>
        </p:spPr>
      </p:sp>
      <p:sp>
        <p:nvSpPr>
          <p:cNvPr id="29" name="Text 27"/>
          <p:cNvSpPr/>
          <p:nvPr/>
        </p:nvSpPr>
        <p:spPr>
          <a:xfrm>
            <a:off x="2862072" y="5394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AI &amp; Automation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92624" y="5394960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FFFBE6"/>
          </a:solidFill>
          <a:ln/>
        </p:spPr>
      </p:sp>
      <p:sp>
        <p:nvSpPr>
          <p:cNvPr id="31" name="Text 29"/>
          <p:cNvSpPr/>
          <p:nvPr/>
        </p:nvSpPr>
        <p:spPr>
          <a:xfrm>
            <a:off x="5084064" y="5394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Hybrid Cloud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14616" y="5394960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FFFBE6"/>
          </a:solidFill>
          <a:ln/>
        </p:spPr>
      </p:sp>
      <p:sp>
        <p:nvSpPr>
          <p:cNvPr id="33" name="Text 31"/>
          <p:cNvSpPr/>
          <p:nvPr/>
        </p:nvSpPr>
        <p:spPr>
          <a:xfrm>
            <a:off x="7306056" y="5394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Vulnerabilities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436608" y="5394960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FFFBE6"/>
          </a:solidFill>
          <a:ln/>
        </p:spPr>
      </p:sp>
      <p:sp>
        <p:nvSpPr>
          <p:cNvPr id="35" name="Text 33"/>
          <p:cNvSpPr/>
          <p:nvPr/>
        </p:nvSpPr>
        <p:spPr>
          <a:xfrm>
            <a:off x="9528048" y="5394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Attack Surface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22359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— 6 Phases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783080" cy="2926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7572" y="1627632"/>
            <a:ext cx="585216" cy="585216"/>
          </a:xfrm>
          <a:prstGeom prst="ellipse">
            <a:avLst/>
          </a:prstGeom>
          <a:solidFill>
            <a:srgbClr val="E6F4EC"/>
          </a:solidFill>
          <a:ln/>
        </p:spPr>
      </p:sp>
      <p:sp>
        <p:nvSpPr>
          <p:cNvPr id="7" name="Text 5"/>
          <p:cNvSpPr/>
          <p:nvPr/>
        </p:nvSpPr>
        <p:spPr>
          <a:xfrm>
            <a:off x="114757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IR team and plan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2788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41448" y="1463040"/>
            <a:ext cx="1783080" cy="2926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40380" y="1627632"/>
            <a:ext cx="585216" cy="585216"/>
          </a:xfrm>
          <a:prstGeom prst="ellipse">
            <a:avLst/>
          </a:prstGeom>
          <a:solidFill>
            <a:srgbClr val="DDEEFF"/>
          </a:solidFill>
          <a:ln/>
        </p:spPr>
      </p:sp>
      <p:sp>
        <p:nvSpPr>
          <p:cNvPr id="13" name="Text 11"/>
          <p:cNvSpPr/>
          <p:nvPr/>
        </p:nvSpPr>
        <p:spPr>
          <a:xfrm>
            <a:off x="3040380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32888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32888" y="28803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classify the incident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24528" y="2788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34256" y="1463040"/>
            <a:ext cx="1783080" cy="2926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3188" y="1627632"/>
            <a:ext cx="585216" cy="585216"/>
          </a:xfrm>
          <a:prstGeom prst="ellipse">
            <a:avLst/>
          </a:prstGeom>
          <a:solidFill>
            <a:srgbClr val="F0E8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33188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25696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5696" y="28803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affected systems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17336" y="2788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27064" y="1463040"/>
            <a:ext cx="1783080" cy="2926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25996" y="1627632"/>
            <a:ext cx="585216" cy="585216"/>
          </a:xfrm>
          <a:prstGeom prst="ellipse">
            <a:avLst/>
          </a:prstGeom>
          <a:solidFill>
            <a:srgbClr val="FFFBE6"/>
          </a:solidFill>
          <a:ln/>
        </p:spPr>
      </p:sp>
      <p:sp>
        <p:nvSpPr>
          <p:cNvPr id="25" name="Text 23"/>
          <p:cNvSpPr/>
          <p:nvPr/>
        </p:nvSpPr>
        <p:spPr>
          <a:xfrm>
            <a:off x="6825996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18504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18504" y="28803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root cause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10144" y="2788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19872" y="1463040"/>
            <a:ext cx="1783080" cy="2926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718804" y="1627632"/>
            <a:ext cx="585216" cy="585216"/>
          </a:xfrm>
          <a:prstGeom prst="ellipse">
            <a:avLst/>
          </a:prstGeom>
          <a:solidFill>
            <a:srgbClr val="E6F4EC"/>
          </a:solidFill>
          <a:ln/>
        </p:spPr>
      </p:sp>
      <p:sp>
        <p:nvSpPr>
          <p:cNvPr id="31" name="Text 29"/>
          <p:cNvSpPr/>
          <p:nvPr/>
        </p:nvSpPr>
        <p:spPr>
          <a:xfrm>
            <a:off x="8718804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11312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11312" y="28803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systems to normal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02952" y="2788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012680" y="1463040"/>
            <a:ext cx="1783080" cy="2926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611612" y="1627632"/>
            <a:ext cx="585216" cy="585216"/>
          </a:xfrm>
          <a:prstGeom prst="ellipse">
            <a:avLst/>
          </a:prstGeom>
          <a:solidFill>
            <a:srgbClr val="DDEE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61161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104120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104120" y="28803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for next time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6177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SUPPORTS IR THROUGH: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956048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9560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88920" y="4956048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/>
        </p:spPr>
      </p:sp>
      <p:sp>
        <p:nvSpPr>
          <p:cNvPr id="44" name="Text 42"/>
          <p:cNvSpPr/>
          <p:nvPr/>
        </p:nvSpPr>
        <p:spPr>
          <a:xfrm>
            <a:off x="2880360" y="49560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Triage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0" y="4956048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/>
        </p:spPr>
      </p:sp>
      <p:sp>
        <p:nvSpPr>
          <p:cNvPr id="46" name="Text 44"/>
          <p:cNvSpPr/>
          <p:nvPr/>
        </p:nvSpPr>
        <p:spPr>
          <a:xfrm>
            <a:off x="5120640" y="49560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Analysis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69480" y="4956048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/>
        </p:spPr>
      </p:sp>
      <p:sp>
        <p:nvSpPr>
          <p:cNvPr id="48" name="Text 46"/>
          <p:cNvSpPr/>
          <p:nvPr/>
        </p:nvSpPr>
        <p:spPr>
          <a:xfrm>
            <a:off x="7360920" y="49560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Creation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509760" y="4956048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/>
        </p:spPr>
      </p:sp>
      <p:sp>
        <p:nvSpPr>
          <p:cNvPr id="50" name="Text 48"/>
          <p:cNvSpPr/>
          <p:nvPr/>
        </p:nvSpPr>
        <p:spPr>
          <a:xfrm>
            <a:off x="9601200" y="49560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Summarisation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67829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TODAY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Conventional AI vs Generative AI, and 5 cybersecurity benefits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Gen AI applications across 7 cybersecurity tasks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future: passkeys, deepfakes, and combating hallucinations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LLM risks and 9 types of bias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Security risks of using Gen AI tools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Cybersecurity analytics and the StreamCraft case study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Content filtering, monitoring, and threats on Gen AI models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NLP-based attacks and prevention strategies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AI-enhanced defense tools and the cost of a data breach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Incident response (6 phases) and forensic analysis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5166360"/>
            <a:ext cx="1280160" cy="54864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321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6016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Implications of Generative AI  ·  Day 17  ·  IBM Career Education  ·  VIT College  ·  Adroit ACE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15465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E6B0AD-BDF1-1DE6-17BE-793945557544}"/>
              </a:ext>
            </a:extLst>
          </p:cNvPr>
          <p:cNvSpPr txBox="1"/>
          <p:nvPr/>
        </p:nvSpPr>
        <p:spPr>
          <a:xfrm>
            <a:off x="3848544" y="2529206"/>
            <a:ext cx="943125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 b="1">
                <a:ea typeface="Calibri"/>
                <a:cs typeface="Calibri"/>
              </a:rPr>
              <a:t>DAY 18</a:t>
            </a:r>
            <a:endParaRPr lang="en-US" sz="9600" b="1"/>
          </a:p>
        </p:txBody>
      </p:sp>
    </p:spTree>
    <p:extLst>
      <p:ext uri="{BB962C8B-B14F-4D97-AF65-F5344CB8AC3E}">
        <p14:creationId xmlns:p14="http://schemas.microsoft.com/office/powerpoint/2010/main" val="3636685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389120"/>
            <a:ext cx="4114800" cy="41148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CAREER EDUCATION  ·  VIT COLLEGE  ·  CORPORATE TRAINING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Management,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UEBA &amp; SOAR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·  Threat Detection, IBM QRadar, Responsible AI, Incident Response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280160" cy="54864"/>
          </a:xfrm>
          <a:prstGeom prst="rect">
            <a:avLst/>
          </a:prstGeom>
          <a:solidFill>
            <a:srgbClr val="006D8F"/>
          </a:solidFill>
          <a:ln/>
        </p:spPr>
      </p:sp>
    </p:spTree>
    <p:extLst>
      <p:ext uri="{BB962C8B-B14F-4D97-AF65-F5344CB8AC3E}">
        <p14:creationId xmlns:p14="http://schemas.microsoft.com/office/powerpoint/2010/main" val="3574486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Topics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17320" y="17556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steps and how AI transforms each 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46888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&amp; Incident Response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17320" y="28529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 and contextual remediation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56616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5661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Detection in SIEM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17320" y="39502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ML strengthens detection and cuts false positives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59028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66344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46634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+ SIEM + IBM QRadar/EDR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17320" y="50474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monitoring, automated investigation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68756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576072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17320" y="5760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Generative AI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17320" y="61447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5 Pillars for data professionals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82512" y="129844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9672" y="137160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251192" y="1371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with QRadar/SIEM Tools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51192" y="17556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Investigator, Unified Analyst Experience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82512" y="239572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19672" y="246888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251192" y="24688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+ SOAR + UEBA Integration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251192" y="28529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use cases of Gen AI in cybersecurity operations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82512" y="349300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19672" y="356616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251192" y="35661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UEBA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251192" y="39502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advantages and 4 limitations of Gen AI anomaly detection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82512" y="459028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519672" y="466344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251192" y="46634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in Cybersecurity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251192" y="50474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benefits, and Gen AI's transformative role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82512" y="5687568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19672" y="576072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251192" y="5760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Future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251192" y="61447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concerns, and ethical considerations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151003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Vulnerability Management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82296" cy="91440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8191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process of identifying, classifying, mitigating, and monitoring vulnerabilities in software, networks, and systems.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06040"/>
            <a:ext cx="82296" cy="128016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24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1729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tools detect vulnerabilities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26060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2606040"/>
            <a:ext cx="82296" cy="128016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724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Categorisation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1729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 by severity and exploitability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6060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606040"/>
            <a:ext cx="82296" cy="12801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724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Remediation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1729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Patching, updating, reconfiguring systems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15400" y="26060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15400" y="2606040"/>
            <a:ext cx="82296" cy="128016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2724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Continuous Monitoring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31729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scans and threat intelligence feeds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TRANSFORMS IT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462272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E6F4E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622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Efficiency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88920" y="4462272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DDEEFF"/>
          </a:solidFill>
          <a:ln/>
        </p:spPr>
      </p:sp>
      <p:sp>
        <p:nvSpPr>
          <p:cNvPr id="29" name="Text 27"/>
          <p:cNvSpPr/>
          <p:nvPr/>
        </p:nvSpPr>
        <p:spPr>
          <a:xfrm>
            <a:off x="2880360" y="44622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Prioritisation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4462272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E6F4EC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44622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69480" y="4462272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DDEEFF"/>
          </a:solidFill>
          <a:ln/>
        </p:spPr>
      </p:sp>
      <p:sp>
        <p:nvSpPr>
          <p:cNvPr id="33" name="Text 31"/>
          <p:cNvSpPr/>
          <p:nvPr/>
        </p:nvSpPr>
        <p:spPr>
          <a:xfrm>
            <a:off x="7360920" y="44622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509760" y="4462272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E6F4EC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0" y="44622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38796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Role in Threat Intelligence &amp; Incident Response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82296" cy="155448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819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logs and traffic to identify hidden patterns and anomalies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463040"/>
            <a:ext cx="82296" cy="155448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5819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02996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alerts and mitigations for immediate containment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82296" cy="155448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5819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Defense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202996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and prepares for future vulnerabilities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91840"/>
            <a:ext cx="82296" cy="2377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107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858768"/>
            <a:ext cx="4983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query systems conversationally — 'What are the top risks on S3?' — instead of learning complex tool-specific interfaces or query languages. Saves time and increases data accessibility across roles.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29184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3291840"/>
            <a:ext cx="82296" cy="23774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4107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Remediation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3858768"/>
            <a:ext cx="4983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recommends or executes temporary mitigations until full fixes are deployed, supports secure delegation of actions, and reduces manual coordination across teams.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11316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Detection Using Gen AI in SIEM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THREATS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642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Exploits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FFBE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585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Persistent Threats (APTs)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529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Malware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1325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ML STRENGTHENS SIEM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64208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642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Vast Amounts of Data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258568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DDEE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2585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Patterns &amp; Anomalies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2852928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8529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Emerging Threats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49040"/>
            <a:ext cx="82296" cy="201168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679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Mitigating False Positives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315968"/>
            <a:ext cx="4983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establishes behavioural baselines from historical data — distinguishing normal from abnormal activity so analysts focus on genuine incidents, not alert fatigue.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749040"/>
            <a:ext cx="82296" cy="201168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8679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&amp; Behavioural 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4315968"/>
            <a:ext cx="4983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potential threats from trends, integrates external threat intelligence, and detects deviations from learned user/system behaviour baselines.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95040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+ SIEM + IBM QRadar &amp; EDR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82296" cy="100584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8191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Integrate Gen AI with SIEM?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complex tasks, enhances detection of sophisticated threats (insider risks, zero-days), and proactively defends by continuously learning from past data.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QRADAR SIEM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DDEE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3580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monitoring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F0E8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3872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&amp; correlation across sources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41648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DDEE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4164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incident response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F0E8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54456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Cloud-native: merges XDR, SOAR, log management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EDR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035808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E6F4E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03580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endpoint activities continuously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538728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FFFBE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53872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analytics for insider threats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041648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E6F4E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04164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incident response via playbooks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544568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FFFBE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54456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UEBA for holistic visibility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88365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Generative AI for Data Professionals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148840" cy="29260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9012" y="1847088"/>
            <a:ext cx="768096" cy="768096"/>
          </a:xfrm>
          <a:prstGeom prst="ellipse">
            <a:avLst/>
          </a:prstGeom>
          <a:solidFill>
            <a:srgbClr val="F0E8FF"/>
          </a:solidFill>
          <a:ln/>
        </p:spPr>
      </p:sp>
      <p:sp>
        <p:nvSpPr>
          <p:cNvPr id="7" name="Text 5"/>
          <p:cNvSpPr/>
          <p:nvPr/>
        </p:nvSpPr>
        <p:spPr>
          <a:xfrm>
            <a:off x="1239012" y="18470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18211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decisions clearly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07208" y="1645920"/>
            <a:ext cx="2148840" cy="29260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7580" y="1847088"/>
            <a:ext cx="768096" cy="768096"/>
          </a:xfrm>
          <a:prstGeom prst="ellipse">
            <a:avLst/>
          </a:prstGeom>
          <a:solidFill>
            <a:srgbClr val="E6F4EC"/>
          </a:solidFill>
          <a:ln/>
        </p:spPr>
      </p:sp>
      <p:sp>
        <p:nvSpPr>
          <p:cNvPr id="12" name="Text 10"/>
          <p:cNvSpPr/>
          <p:nvPr/>
        </p:nvSpPr>
        <p:spPr>
          <a:xfrm>
            <a:off x="3497580" y="18470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16936" y="274320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44368" y="318211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bias against any group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65776" y="1645920"/>
            <a:ext cx="2148840" cy="29260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56148" y="1847088"/>
            <a:ext cx="768096" cy="768096"/>
          </a:xfrm>
          <a:prstGeom prst="ellipse">
            <a:avLst/>
          </a:prstGeom>
          <a:solidFill>
            <a:srgbClr val="DDEEFF"/>
          </a:solidFill>
          <a:ln/>
        </p:spPr>
      </p:sp>
      <p:sp>
        <p:nvSpPr>
          <p:cNvPr id="17" name="Text 15"/>
          <p:cNvSpPr/>
          <p:nvPr/>
        </p:nvSpPr>
        <p:spPr>
          <a:xfrm>
            <a:off x="5756148" y="18470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75504" y="274320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02936" y="318211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on new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24344" y="1645920"/>
            <a:ext cx="2148840" cy="29260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14716" y="1847088"/>
            <a:ext cx="768096" cy="768096"/>
          </a:xfrm>
          <a:prstGeom prst="ellipse">
            <a:avLst/>
          </a:prstGeom>
          <a:solidFill>
            <a:srgbClr val="F0E8FF"/>
          </a:solidFill>
          <a:ln/>
        </p:spPr>
      </p:sp>
      <p:sp>
        <p:nvSpPr>
          <p:cNvPr id="22" name="Text 20"/>
          <p:cNvSpPr/>
          <p:nvPr/>
        </p:nvSpPr>
        <p:spPr>
          <a:xfrm>
            <a:off x="8014716" y="18470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34072" y="274320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61504" y="318211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Discloses how AI is built/used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82912" y="1645920"/>
            <a:ext cx="2148840" cy="29260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73284" y="1847088"/>
            <a:ext cx="768096" cy="768096"/>
          </a:xfrm>
          <a:prstGeom prst="ellipse">
            <a:avLst/>
          </a:prstGeom>
          <a:solidFill>
            <a:srgbClr val="E6F4EC"/>
          </a:solidFill>
          <a:ln/>
        </p:spPr>
      </p:sp>
      <p:sp>
        <p:nvSpPr>
          <p:cNvPr id="27" name="Text 25"/>
          <p:cNvSpPr/>
          <p:nvPr/>
        </p:nvSpPr>
        <p:spPr>
          <a:xfrm>
            <a:off x="10273284" y="18470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692640" y="274320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720072" y="318211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personal data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80060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800600"/>
            <a:ext cx="82296" cy="109728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91947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3675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compliance, positive social impact, and long-term viability of AI technologies all depend on responsible AI practices — transparency, inclusivity, continuous monitoring, and human oversight.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405815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with QRadar / SIEM Tools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82296" cy="100584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8191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QRadar Suite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AI-enhanced platform combining SIEM, EDR/XDR, SOAR, and Security Log Management — originally Q1 Labs, acquired by IBM in 2011.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269748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97480"/>
            <a:ext cx="82296" cy="26517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16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Analyst Experience (UAX)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264408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interface across SIEM, SOAR, EDR/XDR, and log management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2697480"/>
            <a:ext cx="269748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2697480"/>
            <a:ext cx="82296" cy="265176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816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Investigation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264408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'Threat Investigator' AI tool — 900+ integrations, MITRE ATT&amp;CK &amp; SIGMA support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697480"/>
            <a:ext cx="269748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697480"/>
            <a:ext cx="82296" cy="265176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816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Purchase Options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264408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components or full suite, hosted on AWS / IBM Cloud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15400" y="2697480"/>
            <a:ext cx="269748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15400" y="2697480"/>
            <a:ext cx="82296" cy="265176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2816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3264408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compliance checks and security management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587173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Cybersecurity: SIEM + SOAR + UEBA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82296" cy="91440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8191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Working Together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strengthens threat detection, automates routine tasks, and provides deeper insights into user and entity behaviour across all three systems.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OF THE 25 USE CASES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97180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Threat Detection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29718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DDEEFF"/>
          </a:solidFill>
          <a:ln/>
        </p:spPr>
      </p:sp>
      <p:sp>
        <p:nvSpPr>
          <p:cNvPr id="13" name="Text 11"/>
          <p:cNvSpPr/>
          <p:nvPr/>
        </p:nvSpPr>
        <p:spPr>
          <a:xfrm>
            <a:off x="2862072" y="297180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9718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297180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Incident Response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29718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FFBE6"/>
          </a:solidFill>
          <a:ln/>
        </p:spPr>
      </p:sp>
      <p:sp>
        <p:nvSpPr>
          <p:cNvPr id="17" name="Text 15"/>
          <p:cNvSpPr/>
          <p:nvPr/>
        </p:nvSpPr>
        <p:spPr>
          <a:xfrm>
            <a:off x="7342632" y="297180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Detection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509760" y="29718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912" y="297180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Phishing Detection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DDE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74904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Management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88920" y="374904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/>
        </p:spPr>
      </p:sp>
      <p:sp>
        <p:nvSpPr>
          <p:cNvPr id="23" name="Text 21"/>
          <p:cNvSpPr/>
          <p:nvPr/>
        </p:nvSpPr>
        <p:spPr>
          <a:xfrm>
            <a:off x="2862072" y="374904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Forensics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374904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FFBE6"/>
          </a:solidFill>
          <a:ln/>
        </p:spPr>
      </p:sp>
      <p:sp>
        <p:nvSpPr>
          <p:cNvPr id="25" name="Text 23"/>
          <p:cNvSpPr/>
          <p:nvPr/>
        </p:nvSpPr>
        <p:spPr>
          <a:xfrm>
            <a:off x="5102352" y="374904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69480" y="374904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/>
        </p:spPr>
      </p:sp>
      <p:sp>
        <p:nvSpPr>
          <p:cNvPr id="27" name="Text 25"/>
          <p:cNvSpPr/>
          <p:nvPr/>
        </p:nvSpPr>
        <p:spPr>
          <a:xfrm>
            <a:off x="7342632" y="374904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 Automation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09760" y="374904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DDEEFF"/>
          </a:solidFill>
          <a:ln/>
        </p:spPr>
      </p:sp>
      <p:sp>
        <p:nvSpPr>
          <p:cNvPr id="29" name="Text 27"/>
          <p:cNvSpPr/>
          <p:nvPr/>
        </p:nvSpPr>
        <p:spPr>
          <a:xfrm>
            <a:off x="9582912" y="374904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15 more, spanning malware classification, network traffic analysis, incident visualisation, and security orchestration.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407245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UEBA Using Generative AI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82296" cy="91440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8191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UEBA?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Entity Behavior Analytics — monitors behaviour of users and devices to detect deviations from normal patterns, used in cybersecurity, fraud detection, and system monitoring.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ADVANTAGES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5394960" cy="384048"/>
          </a:xfrm>
          <a:prstGeom prst="roundRect">
            <a:avLst>
              <a:gd name="adj" fmla="val 9524"/>
            </a:avLst>
          </a:prstGeom>
          <a:solidFill>
            <a:srgbClr val="E6F4E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443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Dependency on Labelled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5394960" cy="384048"/>
          </a:xfrm>
          <a:prstGeom prst="roundRect">
            <a:avLst>
              <a:gd name="adj" fmla="val 9524"/>
            </a:avLst>
          </a:prstGeom>
          <a:solidFill>
            <a:srgbClr val="E6F4E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015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Discovery of Unknown Anomalies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5394960" cy="384048"/>
          </a:xfrm>
          <a:prstGeom prst="roundRect">
            <a:avLst>
              <a:gd name="adj" fmla="val 9524"/>
            </a:avLst>
          </a:prstGeom>
          <a:solidFill>
            <a:srgbClr val="E6F4E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58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Data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5394960" cy="384048"/>
          </a:xfrm>
          <a:prstGeom prst="roundRect">
            <a:avLst>
              <a:gd name="adj" fmla="val 9524"/>
            </a:avLst>
          </a:prstGeom>
          <a:solidFill>
            <a:srgbClr val="E6F4E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159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5394960" cy="384048"/>
          </a:xfrm>
          <a:prstGeom prst="roundRect">
            <a:avLst>
              <a:gd name="adj" fmla="val 9524"/>
            </a:avLst>
          </a:prstGeom>
          <a:solidFill>
            <a:srgbClr val="E6F4E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7731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30368"/>
            <a:ext cx="5394960" cy="384048"/>
          </a:xfrm>
          <a:prstGeom prst="roundRect">
            <a:avLst>
              <a:gd name="adj" fmla="val 9524"/>
            </a:avLst>
          </a:prstGeom>
          <a:solidFill>
            <a:srgbClr val="E6F4E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2303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606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LIMITATIONS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2944368"/>
            <a:ext cx="5394960" cy="475488"/>
          </a:xfrm>
          <a:prstGeom prst="roundRect">
            <a:avLst>
              <a:gd name="adj" fmla="val 7692"/>
            </a:avLst>
          </a:prstGeom>
          <a:solidFill>
            <a:srgbClr val="FFFBE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94436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False Positives/Negatives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511296"/>
            <a:ext cx="5394960" cy="475488"/>
          </a:xfrm>
          <a:prstGeom prst="roundRect">
            <a:avLst>
              <a:gd name="adj" fmla="val 7692"/>
            </a:avLst>
          </a:prstGeom>
          <a:solidFill>
            <a:srgbClr val="FFFBE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51129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Challenges (Black Box)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078224"/>
            <a:ext cx="5394960" cy="475488"/>
          </a:xfrm>
          <a:prstGeom prst="roundRect">
            <a:avLst>
              <a:gd name="adj" fmla="val 7692"/>
            </a:avLst>
          </a:prstGeom>
          <a:solidFill>
            <a:srgbClr val="FFFBE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07822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Data Quality/Quantity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645152"/>
            <a:ext cx="5394960" cy="475488"/>
          </a:xfrm>
          <a:prstGeom prst="roundRect">
            <a:avLst>
              <a:gd name="adj" fmla="val 7692"/>
            </a:avLst>
          </a:prstGeom>
          <a:solidFill>
            <a:srgbClr val="FFFBE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6451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Resource Requirements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65099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Polymer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6099048"/>
            <a:ext cx="106527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prompts/content for sensitive data, applies automatic remediation, supports audits and compliance, and provides real-time alerts.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770819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in Cybersecurity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82296" cy="137160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819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Orchestration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workflows across tools and teams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463040"/>
            <a:ext cx="82296" cy="137160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5819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02996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repetitive manual processes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82296" cy="13716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5819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202996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Decisive, automated actions to remediate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BENEFITS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01568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DDEE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01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88920" y="3401568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DDEE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88920" y="3401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0" y="3401568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DDEE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401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69480" y="3401568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DDEEFF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3401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509760" y="3401568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DDEEFF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3401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251960"/>
            <a:ext cx="110642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51960"/>
            <a:ext cx="82296" cy="201168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37083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AI's Role in SOAR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4818888"/>
            <a:ext cx="10652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novel threats · Builds dynamic response playbooks · Automates threat intelligence analysis · Improves incident triage · Enhances log analysis (NLP) · Summarises alerts · Enables adversarial simulation testing · Delivers cost-effective risk management.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04677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Future: Issues, Concerns &amp; Ethics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82296" cy="169164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81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2286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AI adoption → data breaches, financial damage (e.g. Bard demo error)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63040"/>
            <a:ext cx="82296" cy="1691640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581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029968"/>
            <a:ext cx="2286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believe nation-states may weaponize generative AI in cyberattacks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82296" cy="16916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581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Oversight Failures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029968"/>
            <a:ext cx="2286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bypass AI safety restrictions; platforms face impersonation attacks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146304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15400" y="1463040"/>
            <a:ext cx="82296" cy="16916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1581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2029968"/>
            <a:ext cx="2286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training data, address bias, encrypt data, conduct regular audits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ETHICAL CHALLENGES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30752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F0E8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3075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Unfairness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33672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FFFBE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23367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736592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F0E8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73659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Violations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239512"/>
            <a:ext cx="5394960" cy="429768"/>
          </a:xfrm>
          <a:prstGeom prst="roundRect">
            <a:avLst>
              <a:gd name="adj" fmla="val 10638"/>
            </a:avLst>
          </a:prstGeom>
          <a:solidFill>
            <a:srgbClr val="FFFBE6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23951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Vulnerabilities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63640" y="33832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BEST PRACTICES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3730752"/>
            <a:ext cx="5394960" cy="347472"/>
          </a:xfrm>
          <a:prstGeom prst="roundRect">
            <a:avLst>
              <a:gd name="adj" fmla="val 10526"/>
            </a:avLst>
          </a:prstGeom>
          <a:solidFill>
            <a:srgbClr val="E6F4E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7307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Guidelines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4142232"/>
            <a:ext cx="5394960" cy="347472"/>
          </a:xfrm>
          <a:prstGeom prst="roundRect">
            <a:avLst>
              <a:gd name="adj" fmla="val 10526"/>
            </a:avLst>
          </a:prstGeom>
          <a:solidFill>
            <a:srgbClr val="E6F4E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1422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Explainability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4553712"/>
            <a:ext cx="5394960" cy="347472"/>
          </a:xfrm>
          <a:prstGeom prst="roundRect">
            <a:avLst>
              <a:gd name="adj" fmla="val 10526"/>
            </a:avLst>
          </a:prstGeom>
          <a:solidFill>
            <a:srgbClr val="E6F4EC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5537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63640" y="4965192"/>
            <a:ext cx="5394960" cy="347472"/>
          </a:xfrm>
          <a:prstGeom prst="roundRect">
            <a:avLst>
              <a:gd name="adj" fmla="val 10526"/>
            </a:avLst>
          </a:prstGeom>
          <a:solidFill>
            <a:srgbClr val="E6F4EC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9651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Privacy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5376672"/>
            <a:ext cx="5394960" cy="347472"/>
          </a:xfrm>
          <a:prstGeom prst="roundRect">
            <a:avLst>
              <a:gd name="adj" fmla="val 10526"/>
            </a:avLst>
          </a:prstGeom>
          <a:solidFill>
            <a:srgbClr val="E6F4EC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53766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+ Automation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386458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TODAY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Vulnerability management — 4 steps and how AI transforms each one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AI's role in threat intelligence and incident response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Advanced threat detection using Gen AI in SIEM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Integrating Gen AI into SIEM, IBM QRadar, and IBM EDR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Responsible Generative AI — IBM's 5 Pillars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ChatGPT with QRadar/SIEM tools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Optimising cybersecurity: SIEM + SOAR + UEBA (25 use cases)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Decoding UEBA using Generative AI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SOAR in cybersecurity</a:t>
            </a:r>
            <a:endParaRPr lang="en-US" sz="13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Securing the future: issues, concerns, and ethical considerations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5166360"/>
            <a:ext cx="1280160" cy="54864"/>
          </a:xfrm>
          <a:prstGeom prst="rect">
            <a:avLst/>
          </a:prstGeom>
          <a:solidFill>
            <a:srgbClr val="006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321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6016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VM, SIEM, UEBA &amp; SOAR  ·  Day 18  ·  IBM Career Education  ·  VIT College  ·  Adroit ACE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12765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2371</Words>
  <Application>Microsoft Office PowerPoint</Application>
  <PresentationFormat>Widescreen</PresentationFormat>
  <Paragraphs>362</Paragraphs>
  <Slides>43</Slides>
  <Notes>41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15 - GenAI for Software Development</dc:title>
  <dc:subject>PptxGenJS Presentation</dc:subject>
  <dc:creator>PptxGenJS</dc:creator>
  <cp:lastModifiedBy>Masil Gokul Selven  S</cp:lastModifiedBy>
  <cp:revision>17</cp:revision>
  <dcterms:created xsi:type="dcterms:W3CDTF">2026-06-17T04:57:15Z</dcterms:created>
  <dcterms:modified xsi:type="dcterms:W3CDTF">2026-06-26T11:22:22Z</dcterms:modified>
</cp:coreProperties>
</file>